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e4d1ba49af4b27" /><Relationship Type="http://schemas.openxmlformats.org/officeDocument/2006/relationships/extended-properties" Target="/docProps/app.xml" Id="R04fe5eb397694091" /><Relationship Type="http://schemas.openxmlformats.org/officeDocument/2006/relationships/officeDocument" Target="/ppt/presentation.xml" Id="R23f1df22f8db4be6" /></Relationships>
</file>

<file path=ppt/presentation.xml><?xml version="1.0" encoding="utf-8"?>
<p:presentation xmlns:p="http://schemas.openxmlformats.org/presentationml/2006/main">
  <p:sldMasterIdLst>
    <p:sldMasterId xmlns:r="http://schemas.openxmlformats.org/officeDocument/2006/relationships" id="2147483648" r:id="R23163257bb8241d2"/>
  </p:sldMasterIdLst>
  <p:notesMasterIdLst>
    <p:notesMasterId xmlns:r="http://schemas.openxmlformats.org/officeDocument/2006/relationships" r:id="Rb6224928635741c0"/>
  </p:notesMasterIdLst>
  <p:sldIdLst>
    <p:sldId xmlns:r="http://schemas.openxmlformats.org/officeDocument/2006/relationships" id="256" r:id="Rcbbc8f0556384ac5"/>
    <p:sldId xmlns:r="http://schemas.openxmlformats.org/officeDocument/2006/relationships" id="257" r:id="R9776ae9cd6cf48b8"/>
    <p:sldId xmlns:r="http://schemas.openxmlformats.org/officeDocument/2006/relationships" id="258" r:id="Rd9e44908163d40f6"/>
    <p:sldId xmlns:r="http://schemas.openxmlformats.org/officeDocument/2006/relationships" id="259" r:id="R8b799799c729426e"/>
    <p:sldId xmlns:r="http://schemas.openxmlformats.org/officeDocument/2006/relationships" id="260" r:id="Re2c5b02ca9c7403f"/>
    <p:sldId xmlns:r="http://schemas.openxmlformats.org/officeDocument/2006/relationships" id="261" r:id="R764349873a574209"/>
    <p:sldId xmlns:r="http://schemas.openxmlformats.org/officeDocument/2006/relationships" id="262" r:id="R37e0eb8e7bd548c5"/>
    <p:sldId xmlns:r="http://schemas.openxmlformats.org/officeDocument/2006/relationships" id="263" r:id="R8b19bbbbb80a4ef3"/>
    <p:sldId xmlns:r="http://schemas.openxmlformats.org/officeDocument/2006/relationships" id="264" r:id="Rae5480670af04295"/>
    <p:sldId xmlns:r="http://schemas.openxmlformats.org/officeDocument/2006/relationships" id="265" r:id="Rcd2a0cbf4f2c4f2d"/>
    <p:sldId xmlns:r="http://schemas.openxmlformats.org/officeDocument/2006/relationships" id="266" r:id="Ref02ede0a94f43af"/>
    <p:sldId xmlns:r="http://schemas.openxmlformats.org/officeDocument/2006/relationships" id="267" r:id="Re9c2950e501f4698"/>
    <p:sldId xmlns:r="http://schemas.openxmlformats.org/officeDocument/2006/relationships" id="268" r:id="Ra13d8ee813694527"/>
    <p:sldId xmlns:r="http://schemas.openxmlformats.org/officeDocument/2006/relationships" id="269" r:id="R03d63195e064441c"/>
    <p:sldId xmlns:r="http://schemas.openxmlformats.org/officeDocument/2006/relationships" id="270" r:id="Raf96c83edc1c49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11237bb583b4566" /><Relationship Type="http://schemas.openxmlformats.org/officeDocument/2006/relationships/slideMaster" Target="/ppt/slideMasters/slideMaster1.xml" Id="R23163257bb8241d2" /><Relationship Type="http://schemas.openxmlformats.org/officeDocument/2006/relationships/notesMaster" Target="/ppt/notesMasters/notesMaster1.xml" Id="Rb6224928635741c0" /><Relationship Type="http://schemas.openxmlformats.org/officeDocument/2006/relationships/presProps" Target="/ppt/presProps.xml" Id="R3a93d4dfcc134654" /><Relationship Type="http://schemas.openxmlformats.org/officeDocument/2006/relationships/viewProps" Target="/ppt/viewProps.xml" Id="R0190762125bb45d5" /><Relationship Type="http://schemas.openxmlformats.org/officeDocument/2006/relationships/tableStyles" Target="/ppt/tableStyles.xml" Id="R3d9764d6781b491b" /><Relationship Type="http://schemas.openxmlformats.org/officeDocument/2006/relationships/slide" Target="/ppt/slides/slide1.xml" Id="Rcbbc8f0556384ac5" /><Relationship Type="http://schemas.openxmlformats.org/officeDocument/2006/relationships/slide" Target="/ppt/slides/slide2.xml" Id="R9776ae9cd6cf48b8" /><Relationship Type="http://schemas.openxmlformats.org/officeDocument/2006/relationships/slide" Target="/ppt/slides/slide3.xml" Id="Rd9e44908163d40f6" /><Relationship Type="http://schemas.openxmlformats.org/officeDocument/2006/relationships/slide" Target="/ppt/slides/slide4.xml" Id="R8b799799c729426e" /><Relationship Type="http://schemas.openxmlformats.org/officeDocument/2006/relationships/slide" Target="/ppt/slides/slide5.xml" Id="Re2c5b02ca9c7403f" /><Relationship Type="http://schemas.openxmlformats.org/officeDocument/2006/relationships/slide" Target="/ppt/slides/slide6.xml" Id="R764349873a574209" /><Relationship Type="http://schemas.openxmlformats.org/officeDocument/2006/relationships/slide" Target="/ppt/slides/slide7.xml" Id="R37e0eb8e7bd548c5" /><Relationship Type="http://schemas.openxmlformats.org/officeDocument/2006/relationships/slide" Target="/ppt/slides/slide8.xml" Id="R8b19bbbbb80a4ef3" /><Relationship Type="http://schemas.openxmlformats.org/officeDocument/2006/relationships/slide" Target="/ppt/slides/slide9.xml" Id="Rae5480670af04295" /><Relationship Type="http://schemas.openxmlformats.org/officeDocument/2006/relationships/slide" Target="/ppt/slides/slide10.xml" Id="Rcd2a0cbf4f2c4f2d" /><Relationship Type="http://schemas.openxmlformats.org/officeDocument/2006/relationships/slide" Target="/ppt/slides/slide11.xml" Id="Ref02ede0a94f43af" /><Relationship Type="http://schemas.openxmlformats.org/officeDocument/2006/relationships/slide" Target="/ppt/slides/slide12.xml" Id="Re9c2950e501f4698" /><Relationship Type="http://schemas.openxmlformats.org/officeDocument/2006/relationships/slide" Target="/ppt/slides/slide13.xml" Id="Ra13d8ee813694527" /><Relationship Type="http://schemas.openxmlformats.org/officeDocument/2006/relationships/slide" Target="/ppt/slides/slide14.xml" Id="R03d63195e064441c" /><Relationship Type="http://schemas.openxmlformats.org/officeDocument/2006/relationships/slide" Target="/ppt/slides/slide15.xml" Id="Raf96c83edc1c49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5aec5411b54c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a47131517345d6" /><Relationship Type="http://schemas.openxmlformats.org/officeDocument/2006/relationships/notesMaster" Target="/ppt/notesMasters/notesMaster1.xml" Id="Rcf97912139ad4f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49e177584c41fb" /><Relationship Type="http://schemas.openxmlformats.org/officeDocument/2006/relationships/notesMaster" Target="/ppt/notesMasters/notesMaster1.xml" Id="Rad3585e48c204c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4687c7cec245c6" /><Relationship Type="http://schemas.openxmlformats.org/officeDocument/2006/relationships/notesMaster" Target="/ppt/notesMasters/notesMaster1.xml" Id="Rc4a245ec9a6f4b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6e2dce21ae4b00" /><Relationship Type="http://schemas.openxmlformats.org/officeDocument/2006/relationships/notesMaster" Target="/ppt/notesMasters/notesMaster1.xml" Id="R2cfdd52b01cb47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7398e4ddb24d36" /><Relationship Type="http://schemas.openxmlformats.org/officeDocument/2006/relationships/notesMaster" Target="/ppt/notesMasters/notesMaster1.xml" Id="R75cea0a98a534b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193724ae044177" /><Relationship Type="http://schemas.openxmlformats.org/officeDocument/2006/relationships/notesMaster" Target="/ppt/notesMasters/notesMaster1.xml" Id="R4ad113d18bfc44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a08dc47c0b4758" /><Relationship Type="http://schemas.openxmlformats.org/officeDocument/2006/relationships/notesMaster" Target="/ppt/notesMasters/notesMaster1.xml" Id="Rf8302e7b129a4f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bc3c1630c241b4" /><Relationship Type="http://schemas.openxmlformats.org/officeDocument/2006/relationships/notesMaster" Target="/ppt/notesMasters/notesMaster1.xml" Id="Rbbc9228d473543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d7e0d2fce64b72" /><Relationship Type="http://schemas.openxmlformats.org/officeDocument/2006/relationships/notesMaster" Target="/ppt/notesMasters/notesMaster1.xml" Id="Rc1ed023211e340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839484d6614955" /><Relationship Type="http://schemas.openxmlformats.org/officeDocument/2006/relationships/notesMaster" Target="/ppt/notesMasters/notesMaster1.xml" Id="R308376de38c64c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7ca62e96b044ff" /><Relationship Type="http://schemas.openxmlformats.org/officeDocument/2006/relationships/notesMaster" Target="/ppt/notesMasters/notesMaster1.xml" Id="R6fce2d269e9f48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dbc1ddfacc48d8" /><Relationship Type="http://schemas.openxmlformats.org/officeDocument/2006/relationships/notesMaster" Target="/ppt/notesMasters/notesMaster1.xml" Id="R9788cff9ac8b4f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e74dce33c544eb" /><Relationship Type="http://schemas.openxmlformats.org/officeDocument/2006/relationships/notesMaster" Target="/ppt/notesMasters/notesMaster1.xml" Id="R0076592596384e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397fa592a84e44" /><Relationship Type="http://schemas.openxmlformats.org/officeDocument/2006/relationships/notesMaster" Target="/ppt/notesMasters/notesMaster1.xml" Id="R30ba3431b31f42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6bd4f68a134cff" /><Relationship Type="http://schemas.openxmlformats.org/officeDocument/2006/relationships/notesMaster" Target="/ppt/notesMasters/notesMaster1.xml" Id="R4e9c10d4cb7446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sleep staging supports descriptive sleep architecture; the project does not diagnose disorders. Method: the saved Fast SCFormer-U classifier uses four-channel 100 Hz EEG, 30-second epochs, with Conv1D, self-attention and BiLSTM within an epoch. The refinement uses nine spectral features, StandardScaler and balanced logistic regression; training uses training recordings only and inference gates on predicted N1/N2. Results are measured on the identical 3,109 held-out epochs: accuracy 55.4519% to 59.3438% (+3.89 percentage points); macro-F1 57.4155% to 59.5122% (+2.10 percentage points). Future work is proposed, not implemented: hierarchical coarse and NREM experts, probabilistic composition, optional baseline fusion, temporal context and external validation. Sources: Biomarker_N1_N2_Refinement.ipynb; refinement_artifacts/verified/final_results.json.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project exists: Sleep supports learning, memory and physical health. Time asleep does not describe interruptions or stage distribution. Sleep staging creates a hypnogram and enables onset, Wake after sleep onset, stage durations and stage proportions to be measured. These measurements describe sleep organization and can support research and expert sleep-study review.</a:t>
            </a:r>
          </a:p>
          <a:p xmlns:a="http://schemas.openxmlformats.org/drawingml/2006/main">
            <a:r>
              <a:t/>
            </a:r>
          </a:p>
          <a:p xmlns:a="http://schemas.openxmlformats.org/drawingml/2006/main">
            <a:r>
              <a:t>Why choose this engineering project: EEG provides brain activity used in staging; the public HMC dataset provides expert labels for reproducible testing. Our saved baseline has 506 true N2 epochs predicted as N1, giving a specific, measurable weakness to investigate with complementary spectral features. N1/N2 errors can distort their proportions and transition counts. Relabeling between two sleep stages does not change total sleep time or efficiency. This is the reason for targeted refinement rather than a general claim of improving every aspect of sleep quality.</a:t>
            </a:r>
          </a:p>
          <a:p xmlns:a="http://schemas.openxmlformats.org/drawingml/2006/main">
            <a:r>
              <a:t/>
            </a:r>
          </a:p>
          <a:p xmlns:a="http://schemas.openxmlformats.org/drawingml/2006/main">
            <a:r>
              <a:t>Potential users: researchers analyzing recordings and, after suitable external and clinical validation, experts reviewing sleep studies. Automation could reduce repetitive scoring work; this project has not measured clinician time savings or demonstrated clinical utility. It does not infer apnea, diagnose disease, or prescribe treatment. Those tasks require appropriate additional measurements and validation. Research reference profiles are not healthy normative judgments.</a:t>
            </a:r>
          </a:p>
          <a:p xmlns:a="http://schemas.openxmlformats.org/drawingml/2006/main">
            <a:r>
              <a:t/>
            </a:r>
          </a:p>
          <a:p xmlns:a="http://schemas.openxmlformats.org/drawingml/2006/main">
            <a:r>
              <a:t>Sources:</a:t>
            </a:r>
          </a:p>
          <a:p xmlns:a="http://schemas.openxmlformats.org/drawingml/2006/main">
            <a:r>
              <a:t>https://www.nhlbi.nih.gov/health/sleep/why-sleep-important</a:t>
            </a:r>
          </a:p>
          <a:p xmlns:a="http://schemas.openxmlformats.org/drawingml/2006/main">
            <a:r>
              <a:t>https://www.nhlbi.nih.gov/health/sleep/stages-of-sleep</a:t>
            </a:r>
          </a:p>
          <a:p xmlns:a="http://schemas.openxmlformats.org/drawingml/2006/main">
            <a:r>
              <a:t>https://www.nature.com/articles/s41746-021-00440-5</a:t>
            </a:r>
          </a:p>
          <a:p xmlns:a="http://schemas.openxmlformats.org/drawingml/2006/main">
            <a:r>
              <a:t>https://physionet.org/content/hmc-sleep-staging/1.1/</a:t>
            </a:r>
          </a:p>
          <a:p xmlns:a="http://schemas.openxmlformats.org/drawingml/2006/main">
            <a:r>
              <a:t>Biomarker_N1_N2_Refinement.ipynb; refinement_artifacts/verified/final_results.json and confusion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N1, N2 and N3 are stages of non-REM sleep, and REM is the other sleep phase. Wake is an additional class used to score awake epochs; it is not a sleep stage. A sleep cycle is a repeating combination of NREM and REM, not a synonym for one stage. The real sequence varies and can include returns to lighter stages and brief awakenings. The current system classifies 30-second epochs and displays their sequence; it does not separately validate or count complete physiological cycles.</a:t>
            </a:r>
          </a:p>
          <a:p xmlns:a="http://schemas.openxmlformats.org/drawingml/2006/main">
            <a:r>
              <a:t/>
            </a:r>
          </a:p>
          <a:p xmlns:a="http://schemas.openxmlformats.org/drawingml/2006/main">
            <a:r>
              <a:t>N1 is the transition into light sleep. N2 is light non-REM sleep with slower brain activity. N3 is deep slow-wave sleep and supports restoration. REM includes active brain activity, rapid eye movements and frequent vivid dreaming. N3 generally occupies more time early in the night; REM periods generally become longer later. Both non-REM and REM support learning and memory, so no single stage is a complete measure of sleep quality. Stage patterns vary with age and other factors. These are general physiology descriptions, not healthy threshold rules for this project. Eye movement and muscle tone are physiological characteristics; the current four-channel EEG classifier infers the stage and does not measure those signals directly.</a:t>
            </a:r>
          </a:p>
          <a:p xmlns:a="http://schemas.openxmlformats.org/drawingml/2006/main">
            <a:r>
              <a:t/>
            </a:r>
          </a:p>
          <a:p xmlns:a="http://schemas.openxmlformats.org/drawingml/2006/main">
            <a:r>
              <a:t>Practical link: Wake epochs yield sleep onset and interruptions; sleep labels yield stage time and architecture. Confusing N1 and N2 changes the estimated architecture, motivating our focused refinement. Classifying stages is a prerequisite for useful descriptive summaries, while evidence for diagnosis or treatment remains separate.</a:t>
            </a:r>
          </a:p>
          <a:p xmlns:a="http://schemas.openxmlformats.org/drawingml/2006/main">
            <a:r>
              <a:t/>
            </a:r>
          </a:p>
          <a:p xmlns:a="http://schemas.openxmlformats.org/drawingml/2006/main">
            <a:r>
              <a:t>Sources:</a:t>
            </a:r>
          </a:p>
          <a:p xmlns:a="http://schemas.openxmlformats.org/drawingml/2006/main">
            <a:r>
              <a:t>https://www.nhlbi.nih.gov/health/sleep/stages-of-sleep</a:t>
            </a:r>
          </a:p>
          <a:p xmlns:a="http://schemas.openxmlformats.org/drawingml/2006/main">
            <a:r>
              <a:t>https://www.nichd.nih.gov/health/topics/sleep/conditioninfo/Pages/what-happens.aspx</a:t>
            </a:r>
          </a:p>
          <a:p xmlns:a="http://schemas.openxmlformats.org/drawingml/2006/main">
            <a:r>
              <a:t>https://www.nhlbi.nih.gov/health/sleep/why-sleep-important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Om Ahuja (23BIT014) and Rikin Parekh (23BIT044). Project guide: Dr. Santosh Sathpathy. Names and IDs follow the supplied project presentation. Portraits and official logo were supplied by the user. Portrait backgrounds were removed with imagegen; the logo artwork was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625a8d313c4942"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79089ef9fa4cca" /><Relationship Type="http://schemas.openxmlformats.org/officeDocument/2006/relationships/slideLayout" Target="/ppt/slideLayouts/slideLayout1.xml" Id="R8990490df29844d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90490df29844d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eda920a8af450a" /><Relationship Type="http://schemas.openxmlformats.org/officeDocument/2006/relationships/image" Target="/ppt/media/image.jpeg" Id="Rff27edd1a4da4ba0" /><Relationship Type="http://schemas.openxmlformats.org/officeDocument/2006/relationships/notesSlide" Target="/ppt/notesSlides/notesSlide1.xml" Id="Rb9798fe1aad44a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5d83ea4ca14149" /><Relationship Type="http://schemas.openxmlformats.org/officeDocument/2006/relationships/notesSlide" Target="/ppt/notesSlides/notesSlide2.xml" Id="R6956c344a78648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dcdad76fb3483a" /><Relationship Type="http://schemas.openxmlformats.org/officeDocument/2006/relationships/notesSlide" Target="/ppt/notesSlides/notesSlide3.xml" Id="R7d011b48956d47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cabcbdfcd14a21" /><Relationship Type="http://schemas.openxmlformats.org/officeDocument/2006/relationships/notesSlide" Target="/ppt/notesSlides/notesSlide4.xml" Id="R59e274d9941e4a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1cb75f8e6a4f36" /><Relationship Type="http://schemas.openxmlformats.org/officeDocument/2006/relationships/notesSlide" Target="/ppt/notesSlides/notesSlide5.xml" Id="R76d2269cbd3248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156c06a27d4b8b" /><Relationship Type="http://schemas.openxmlformats.org/officeDocument/2006/relationships/notesSlide" Target="/ppt/notesSlides/notesSlide6.xml" Id="Ra557bb509d0944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c26e567da54a90" /><Relationship Type="http://schemas.openxmlformats.org/officeDocument/2006/relationships/image" Target="/ppt/media/image.png" Id="R40f709f4c74f4f5c" /><Relationship Type="http://schemas.openxmlformats.org/officeDocument/2006/relationships/image" Target="/ppt/media/image2.png" Id="R6bbc4176193446f5" /><Relationship Type="http://schemas.openxmlformats.org/officeDocument/2006/relationships/notesSlide" Target="/ppt/notesSlides/notesSlide7.xml" Id="R9731ddc9596341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65e7b735f94910" /><Relationship Type="http://schemas.openxmlformats.org/officeDocument/2006/relationships/notesSlide" Target="/ppt/notesSlides/notesSlide8.xml" Id="R79bd879abcc149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2fb585022d4fc5" /><Relationship Type="http://schemas.openxmlformats.org/officeDocument/2006/relationships/chart" Target="/ppt/slides/charts/chart1.xml" Id="Reacd5d354f204438" /><Relationship Type="http://schemas.openxmlformats.org/officeDocument/2006/relationships/notesSlide" Target="/ppt/notesSlides/notesSlide9.xml" Id="R1fb70ced19d749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4dd2b1a2194636" /><Relationship Type="http://schemas.openxmlformats.org/officeDocument/2006/relationships/notesSlide" Target="/ppt/notesSlides/notesSlide10.xml" Id="Rcab436f882104c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20ce7b90c64145" /><Relationship Type="http://schemas.openxmlformats.org/officeDocument/2006/relationships/chart" Target="/ppt/slides/charts/chart2.xml" Id="R80037521c0d1428e" /><Relationship Type="http://schemas.openxmlformats.org/officeDocument/2006/relationships/notesSlide" Target="/ppt/notesSlides/notesSlide11.xml" Id="Rb9c8ae0d06b341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d68a95bd0849b9" /><Relationship Type="http://schemas.openxmlformats.org/officeDocument/2006/relationships/image" Target="/ppt/media/image3.png" Id="R6bf18a00863c4aed" /><Relationship Type="http://schemas.openxmlformats.org/officeDocument/2006/relationships/image" Target="/ppt/media/image4.png" Id="Rc484821050234906" /><Relationship Type="http://schemas.openxmlformats.org/officeDocument/2006/relationships/notesSlide" Target="/ppt/notesSlides/notesSlide12.xml" Id="R518b7756c7c540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9bb7c445514878" /><Relationship Type="http://schemas.openxmlformats.org/officeDocument/2006/relationships/notesSlide" Target="/ppt/notesSlides/notesSlide13.xml" Id="R9c754fc3d57a45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a4256fd5e544f2" /><Relationship Type="http://schemas.openxmlformats.org/officeDocument/2006/relationships/notesSlide" Target="/ppt/notesSlides/notesSlide14.xml" Id="R18c8fc2cd5d846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412428ff5f4c0a" /><Relationship Type="http://schemas.openxmlformats.org/officeDocument/2006/relationships/image" Target="/ppt/media/image5.png" Id="R745b40c6bad948f6" /><Relationship Type="http://schemas.openxmlformats.org/officeDocument/2006/relationships/image" Target="/ppt/media/image6.png" Id="R364eb03ae8744eaf" /><Relationship Type="http://schemas.openxmlformats.org/officeDocument/2006/relationships/image" Target="/ppt/media/image7.png" Id="Rf57f479c30b643df" /><Relationship Type="http://schemas.openxmlformats.org/officeDocument/2006/relationships/notesSlide" Target="/ppt/notesSlides/notesSlide15.xml" Id="R292142da74ba4c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a="http://schemas.openxmlformats.org/drawingml/2006/main" xmlns:c="http://schemas.openxmlformats.org/drawingml/2006/chart" xmlns:ns2="http://schemas.openxmlformats.org/officeDocument/2006/relationships">
  <c:lang val="en-US"/>
  <c:chart>
    <c:plotArea>
      <c:lineChart>
        <c:grouping val="standard"/>
        <c:varyColors val="0"/>
        <c:ser>
          <c:idx val="0"/>
          <c:order val="0"/>
          <c:tx>
            <c:v>Training</c:v>
          </c:tx>
          <c:spPr>
            <a:ln w="28575">
              <a:solidFill>
                <a:srgbClr val="84B9FF"/>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w="28575">
              <a:solidFill>
                <a:srgbClr val="6CDCDD"/>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Arial"/>
                    <a:ea typeface="Arial"/>
                    <a:cs typeface="Arial"/>
                  </a:rPr>
                  <a:t>Training epoch</a:t>
                </a:r>
              </a:p>
            </c:rich>
          </c:tx>
          <c:overlay val="0"/>
          <c:txPr>
            <a:bodyPr anchorCtr="1"/>
            <a:lstStyle/>
            <a:p>
              <a:pPr>
                <a:defRPr>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50112"/>
        <c:crossBetween val="between"/>
        <c:majorUnit val="0.25"/>
      </c:valAx>
      <c:spPr>
        <a:solidFill>
          <a:srgbClr val="0E2C50"/>
        </a:solidFill>
      </c:spPr>
    </c:plotArea>
    <c:legend>
      <c:legendPos val="b"/>
      <c:overlay val="0"/>
      <c:txPr>
        <a:bodyPr anchorCtr="1"/>
        <a:lstStyle/>
        <a:p>
          <a:pPr>
            <a:defRPr>
              <a:latin typeface="Arial"/>
              <a:ea typeface="Arial"/>
              <a:cs typeface="Arial"/>
            </a:defRPr>
          </a:pPr>
        </a:p>
      </c:txPr>
    </c:legend>
    <c:plotVisOnly val="1"/>
  </c:chart>
  <c:spPr>
    <a:solidFill>
      <a:srgbClr val="0E2C50"/>
    </a:solidFill>
  </c:spPr>
  <c:externalData ns2:id="rIdChartSnapshot1">
    <c:autoUpdate val="0"/>
  </c:externalData>
</c: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Existing model</c:v>
          </c:tx>
          <c:spPr>
            <a:solidFill>
              <a:srgbClr val="84B9FF"/>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a:srgbClr val="6CDCDD"/>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anchorCtr="1"/>
            <a:lstStyle/>
            <a:p>
              <a:pPr>
                <a:defRPr sz="135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BED0E4"/>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w="9525">
            <a:solidFill>
              <a:srgbClr val="D4D4D4"/>
            </a:solidFill>
            <a:prstDash val="solid"/>
          </a:ln>
        </c:spPr>
        <c:txPr>
          <a:bodyPr anchorCtr="1"/>
          <a:lstStyle/>
          <a:p>
            <a:pPr>
              <a:defRPr sz="1350">
                <a:solidFill>
                  <a:srgbClr val="BED0E4"/>
                </a:solidFill>
                <a:latin typeface="Arial"/>
                <a:ea typeface="Arial"/>
                <a:cs typeface="Arial"/>
              </a:defRPr>
            </a:pPr>
          </a:p>
        </c:txPr>
        <c:crossAx val="48650112"/>
        <c:crossBetween val="between"/>
        <c:majorUnit val="0.2"/>
      </c:valAx>
      <c:spPr>
        <a:solidFill>
          <a:srgbClr val="0E2C50"/>
        </a:solidFill>
      </c:spPr>
    </c:plotArea>
    <c:legend>
      <c:legendPos val="b"/>
      <c:overlay val="0"/>
      <c:txPr>
        <a:bodyPr anchorCtr="1"/>
        <a:lstStyle/>
        <a:p>
          <a:pPr>
            <a:defRPr>
              <a:latin typeface="Arial"/>
              <a:ea typeface="Arial"/>
              <a:cs typeface="Arial"/>
            </a:defRPr>
          </a:pPr>
        </a:p>
      </c:txPr>
    </c:legend>
    <c:plotVisOnly val="1"/>
  </c:chart>
  <c:spPr>
    <a:solidFill>
      <a:srgbClr val="0E2C50"/>
    </a:solidFill>
  </c:spPr>
  <c:externalData ns2:id="rIdChartSnapshot1">
    <c:autoUpdate val="0"/>
  </c:externalData>
</c:chartSpace>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0" name="">
            <a:extLst>
              <a:ext uri="{FF2B5EF4-FFF2-40B4-BE49-F238E27FC236}">
                <ns2:creationId id="{6ABE9CCB-1305-4EA4-920F-ACF276833F7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530FEC0D-D70F-4C15-8F09-CE3C1D2E064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r>
              <a:t/>
            </a:r>
          </a:p>
        </p:txBody>
      </p:sp>
      <p:sp>
        <p:nvSpPr>
          <p:cNvPr id="4" name="">
            <a:extLst>
              <a:ext uri="{FF2B5EF4-FFF2-40B4-BE49-F238E27FC236}">
                <ns2:creationId id="{8A20FE83-8B2B-4B13-BA5F-2A11C2DFA3F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A7267547-2912-4707-B0A7-91FCCE0553F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01 / 15</a:t>
            </a:r>
          </a:p>
        </p:txBody>
      </p:sp>
      <p:sp>
        <p:nvSpPr>
          <p:cNvPr id="6" name="">
            <a:extLst>
              <a:ext uri="{FF2B5EF4-FFF2-40B4-BE49-F238E27FC236}">
                <ns2:creationId id="{B452130D-8242-41EB-B7BE-87A893847D17}"/>
              </a:ext>
            </a:extLst>
          </p:cNvPr>
          <p:cNvSpPr>
            <a:spLocks noGrp="1"/>
          </p:cNvSpPr>
          <p:nvPr/>
        </p:nvSpPr>
        <p:spPr>
          <a:xfrm>
            <a:off x="609600" y="476250"/>
            <a:ext cx="10668000" cy="333375"/>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MID-VIVA • PROJECT PROGRESS</a:t>
            </a:r>
          </a:p>
        </p:txBody>
      </p:sp>
      <p:sp>
        <p:nvSpPr>
          <p:cNvPr id="7" name="">
            <a:extLst>
              <a:ext uri="{FF2B5EF4-FFF2-40B4-BE49-F238E27FC236}">
                <ns2:creationId id="{C5EFA22A-A815-41F4-8181-156CF309DF9F}"/>
              </a:ext>
            </a:extLst>
          </p:cNvPr>
          <p:cNvSpPr>
            <a:spLocks noGrp="1"/>
          </p:cNvSpPr>
          <p:nvPr/>
        </p:nvSpPr>
        <p:spPr>
          <a:xfrm>
            <a:off x="609600" y="1190625"/>
            <a:ext cx="10820400" cy="1333500"/>
          </a:xfrm>
          <a:prstGeom prst="rect">
            <a:avLst/>
          </a:prstGeom>
          <a:noFill/>
          <a:ln w="0">
            <a:noFill/>
          </a:ln>
        </p:spPr>
        <p:txBody>
          <a:bodyPr lIns="0" tIns="0" rIns="0" bIns="0" anchor="t">
            <a:noAutofit/>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EEG Sleep Classification and</a:t>
            </a:r>
          </a:p>
          <a:p>
            <a:pPr algn="l">
              <a:buNone/>
              <a:defRPr sz="3150" b="1">
                <a:solidFill>
                  <a:srgbClr val="FFFFFF"/>
                </a:solidFill>
                <a:latin typeface="Arial"/>
                <a:ea typeface="Arial"/>
                <a:cs typeface="Arial"/>
              </a:defRPr>
            </a:pPr>
            <a:r>
              <a:rPr sz="3150" b="1">
                <a:solidFill>
                  <a:srgbClr val="FFFFFF"/>
                </a:solidFill>
                <a:latin typeface="Arial"/>
                <a:ea typeface="Arial"/>
                <a:cs typeface="Arial"/>
              </a:rPr>
              <a:t>Reference-Based Sleep-Health Profiling</a:t>
            </a:r>
          </a:p>
        </p:txBody>
      </p:sp>
      <p:sp>
        <p:nvSpPr>
          <p:cNvPr id="8" name="">
            <a:extLst>
              <a:ext uri="{FF2B5EF4-FFF2-40B4-BE49-F238E27FC236}">
                <ns2:creationId id="{AB5FB207-95FA-40A0-B59C-ADBDAE156188}"/>
              </a:ext>
            </a:extLst>
          </p:cNvPr>
          <p:cNvSpPr>
            <a:spLocks noGrp="1"/>
          </p:cNvSpPr>
          <p:nvPr/>
        </p:nvSpPr>
        <p:spPr>
          <a:xfrm>
            <a:off x="609600" y="2857500"/>
            <a:ext cx="10572750" cy="457200"/>
          </a:xfrm>
          <a:prstGeom prst="rect">
            <a:avLst/>
          </a:prstGeom>
          <a:noFill/>
          <a:ln w="0">
            <a:noFill/>
          </a:ln>
        </p:spPr>
        <p:txBody>
          <a:bodyPr lIns="0" tIns="0" rIns="0" bIns="0" anchor="t">
            <a:noAutofit/>
          </a:bodyPr>
          <a:lstStyle/>
          <a:p>
            <a:pPr algn="l">
              <a:buNone/>
              <a:defRPr sz="2100" b="0">
                <a:solidFill>
                  <a:srgbClr val="BED0E4"/>
                </a:solidFill>
                <a:latin typeface="Arial"/>
                <a:ea typeface="Arial"/>
                <a:cs typeface="Arial"/>
              </a:defRPr>
            </a:pPr>
            <a:r>
              <a:rPr sz="2100" b="0">
                <a:solidFill>
                  <a:srgbClr val="BED0E4"/>
                </a:solidFill>
                <a:latin typeface="Arial"/>
                <a:ea typeface="Arial"/>
                <a:cs typeface="Arial"/>
              </a:rPr>
              <a:t>Biomarker-assisted N1/N2 refinement</a:t>
            </a:r>
          </a:p>
        </p:txBody>
      </p:sp>
      <p:sp>
        <p:nvSpPr>
          <p:cNvPr id="9" name="">
            <a:extLst>
              <a:ext uri="{FF2B5EF4-FFF2-40B4-BE49-F238E27FC236}">
                <ns2:creationId id="{D8015AA1-35C0-4D56-8602-7C34B5B570E7}"/>
              </a:ext>
            </a:extLst>
          </p:cNvPr>
          <p:cNvSpPr>
            <a:spLocks noGrp="1"/>
          </p:cNvSpPr>
          <p:nvPr/>
        </p:nvSpPr>
        <p:spPr>
          <a:xfrm>
            <a:off x="609600" y="4000500"/>
            <a:ext cx="10477500" cy="1714500"/>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Rikin Parekh · Om Ahuja</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23BIT044 · 23BIT014</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Guide: Dr. Santosh Sathpathy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Information and Communication Technology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Pandit Deendayal Energy University</a:t>
            </a:r>
          </a:p>
        </p:txBody>
      </p:sp>
      <p:pic>
        <p:nvPicPr>
          <p:cNvPr id="20" name=""/>
          <p:cNvPicPr>
            <a:picLocks noChangeAspect="1"/>
          </p:cNvPicPr>
          <p:nvPr/>
        </p:nvPicPr>
        <p:blipFill>
          <a:blip ns3:embed="Rff27edd1a4da4ba0"/>
          <a:stretch/>
        </p:blipFill>
        <p:spPr>
          <a:xfrm>
            <a:off x="10267950" y="257175"/>
            <a:ext cx="1238250" cy="1238250"/>
          </a:xfrm>
          <a:prstGeom prst="rect">
            <a:avLst/>
          </a:prstGeom>
        </p:spPr>
      </p:pic>
    </p:spTree>
    <p:extLst>
      <p:ext uri="{BB962C8B-B14F-4D97-AF65-F5344CB8AC3E}">
        <ns4:creationId val="2208732020"/>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CAF75040-6934-4EB8-BD2A-15D45788855D}"/>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CFD3C57-9D08-49C4-9168-280B279B342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Abstract</a:t>
            </a:r>
          </a:p>
        </p:txBody>
      </p:sp>
      <p:sp>
        <p:nvSpPr>
          <p:cNvPr id="3" name="">
            <a:extLst>
              <a:ext uri="{FF2B5EF4-FFF2-40B4-BE49-F238E27FC236}">
                <ns2:creationId id="{7DCBAD3F-258C-4388-ACF6-07C2AD5C7AE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42885E4F-9E47-4080-B5C1-879ECEBF259D}"/>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Source: Biomarker_N1_N2_Refinement.ipynb and verified held-out results</a:t>
            </a:r>
          </a:p>
        </p:txBody>
      </p:sp>
      <p:sp>
        <p:nvSpPr>
          <p:cNvPr id="5" name="">
            <a:extLst>
              <a:ext uri="{FF2B5EF4-FFF2-40B4-BE49-F238E27FC236}">
                <ns2:creationId id="{17B5B257-0FC0-4877-AD81-6313FDA647DD}"/>
              </a:ext>
            </a:extLst>
          </p:cNvPr>
          <p:cNvSpPr>
            <a:spLocks noGrp="1"/>
          </p:cNvSpPr>
          <p:nvPr/>
        </p:nvSpPr>
        <p:spPr>
          <a:xfrm>
            <a:off x="60960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BACKGROUND</a:t>
            </a:r>
          </a:p>
        </p:txBody>
      </p:sp>
      <p:sp>
        <p:nvSpPr>
          <p:cNvPr id="6" name="">
            <a:extLst>
              <a:ext uri="{FF2B5EF4-FFF2-40B4-BE49-F238E27FC236}">
                <ns2:creationId id="{0600986A-B80E-4DE6-BB81-9EBB9B385E57}"/>
              </a:ext>
            </a:extLst>
          </p:cNvPr>
          <p:cNvSpPr>
            <a:spLocks noGrp="1"/>
          </p:cNvSpPr>
          <p:nvPr/>
        </p:nvSpPr>
        <p:spPr>
          <a:xfrm>
            <a:off x="60960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Sleep-stage sequences describe sleep continuity and architecture. N1/N2 confusion can distort these profiles.</a:t>
            </a:r>
          </a:p>
        </p:txBody>
      </p:sp>
      <p:sp>
        <p:nvSpPr>
          <p:cNvPr id="7" name="">
            <a:extLst>
              <a:ext uri="{FF2B5EF4-FFF2-40B4-BE49-F238E27FC236}">
                <ns2:creationId id="{DDE882F8-6E2C-47A9-9676-7ACDC636D8A6}"/>
              </a:ext>
            </a:extLst>
          </p:cNvPr>
          <p:cNvSpPr>
            <a:spLocks noGrp="1"/>
          </p:cNvSpPr>
          <p:nvPr/>
        </p:nvSpPr>
        <p:spPr>
          <a:xfrm>
            <a:off x="641985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METHOD</a:t>
            </a:r>
          </a:p>
        </p:txBody>
      </p:sp>
      <p:sp>
        <p:nvSpPr>
          <p:cNvPr id="8" name="">
            <a:extLst>
              <a:ext uri="{FF2B5EF4-FFF2-40B4-BE49-F238E27FC236}">
                <ns2:creationId id="{83212C60-2D50-4AC6-ACE8-143D5A25EEFE}"/>
              </a:ext>
            </a:extLst>
          </p:cNvPr>
          <p:cNvSpPr>
            <a:spLocks noGrp="1"/>
          </p:cNvSpPr>
          <p:nvPr/>
        </p:nvSpPr>
        <p:spPr>
          <a:xfrm>
            <a:off x="641985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Four-channel EEG is scored in 30-second epochs. A retained hybrid model is refined using nine spectral features and logistic regression.</a:t>
            </a:r>
          </a:p>
        </p:txBody>
      </p:sp>
      <p:sp>
        <p:nvSpPr>
          <p:cNvPr id="9" name="">
            <a:extLst>
              <a:ext uri="{FF2B5EF4-FFF2-40B4-BE49-F238E27FC236}">
                <ns2:creationId id="{3C166E5E-9824-4C7C-981C-1F00DF46DA89}"/>
              </a:ext>
            </a:extLst>
          </p:cNvPr>
          <p:cNvSpPr>
            <a:spLocks noGrp="1"/>
          </p:cNvSpPr>
          <p:nvPr/>
        </p:nvSpPr>
        <p:spPr>
          <a:xfrm>
            <a:off x="60960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RESULTS</a:t>
            </a:r>
          </a:p>
        </p:txBody>
      </p:sp>
      <p:sp>
        <p:nvSpPr>
          <p:cNvPr id="10" name="">
            <a:extLst>
              <a:ext uri="{FF2B5EF4-FFF2-40B4-BE49-F238E27FC236}">
                <ns2:creationId id="{2004E830-6CD4-4895-9D1F-3E2BED2642A0}"/>
              </a:ext>
            </a:extLst>
          </p:cNvPr>
          <p:cNvSpPr>
            <a:spLocks noGrp="1"/>
          </p:cNvSpPr>
          <p:nvPr/>
        </p:nvSpPr>
        <p:spPr>
          <a:xfrm>
            <a:off x="60960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On the same 3,109 test epochs, accuracy rose from 55.45% to 59.34%; macro-F1 rose from 57.42% to 59.51%.</a:t>
            </a:r>
          </a:p>
        </p:txBody>
      </p:sp>
      <p:sp>
        <p:nvSpPr>
          <p:cNvPr id="11" name="">
            <a:extLst>
              <a:ext uri="{FF2B5EF4-FFF2-40B4-BE49-F238E27FC236}">
                <ns2:creationId id="{02BF8062-8B2E-4BD7-BD1D-CA585476CD02}"/>
              </a:ext>
            </a:extLst>
          </p:cNvPr>
          <p:cNvSpPr>
            <a:spLocks noGrp="1"/>
          </p:cNvSpPr>
          <p:nvPr/>
        </p:nvSpPr>
        <p:spPr>
          <a:xfrm>
            <a:off x="641985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FUTURE WORK</a:t>
            </a:r>
          </a:p>
        </p:txBody>
      </p:sp>
      <p:sp>
        <p:nvSpPr>
          <p:cNvPr id="12" name="">
            <a:extLst>
              <a:ext uri="{FF2B5EF4-FFF2-40B4-BE49-F238E27FC236}">
                <ns2:creationId id="{59616F57-2107-4B51-AA02-D2C7C8B9EA0E}"/>
              </a:ext>
            </a:extLst>
          </p:cNvPr>
          <p:cNvSpPr>
            <a:spLocks noGrp="1"/>
          </p:cNvSpPr>
          <p:nvPr/>
        </p:nvSpPr>
        <p:spPr>
          <a:xfrm>
            <a:off x="641985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Develop coarse and NREM specialist models, combine their probabilities, add temporal context, and validate on external recordings.</a:t>
            </a:r>
          </a:p>
        </p:txBody>
      </p:sp>
      <p:sp>
        <p:nvSpPr>
          <p:cNvPr id="13" name="">
            <a:extLst>
              <a:ext uri="{FF2B5EF4-FFF2-40B4-BE49-F238E27FC236}">
                <ns2:creationId id="{FF9FDF73-CF50-4A93-B0F3-67994ED3DD9F}"/>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02 / 15</a:t>
            </a:r>
          </a:p>
        </p:txBody>
      </p:sp>
    </p:spTree>
    <p:extLst>
      <p:ext uri="{BB962C8B-B14F-4D97-AF65-F5344CB8AC3E}">
        <ns3:creationId val="1202001751"/>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A9DF200B-9F37-4DC3-BF83-DD5CEB2F9979}"/>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19552FE-08E7-4369-84DD-6ED23D86996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Why detect sleep stages? Why this project?</a:t>
            </a:r>
          </a:p>
        </p:txBody>
      </p:sp>
      <p:sp>
        <p:nvSpPr>
          <p:cNvPr id="3" name="">
            <a:extLst>
              <a:ext uri="{FF2B5EF4-FFF2-40B4-BE49-F238E27FC236}">
                <ns2:creationId id="{C8A854E8-A4F6-4CE5-B41D-BA0BC5830707}"/>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32E8DB0-04A6-4991-9F0B-A17A22E27231}"/>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sleep education; U-Sleep (2021); verified project artifacts</a:t>
            </a:r>
          </a:p>
        </p:txBody>
      </p:sp>
      <p:sp>
        <p:nvSpPr>
          <p:cNvPr id="5" name="">
            <a:extLst>
              <a:ext uri="{FF2B5EF4-FFF2-40B4-BE49-F238E27FC236}">
                <ns2:creationId id="{9C01FD9A-F774-4E98-940E-BBD9B4E30054}"/>
              </a:ext>
            </a:extLst>
          </p:cNvPr>
          <p:cNvSpPr>
            <a:spLocks noGrp="1"/>
          </p:cNvSpPr>
          <p:nvPr/>
        </p:nvSpPr>
        <p:spPr>
          <a:xfrm>
            <a:off x="609600" y="1552575"/>
            <a:ext cx="10858500" cy="428625"/>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Sleep supports memory, learning and physical health.</a:t>
            </a:r>
          </a:p>
        </p:txBody>
      </p:sp>
      <p:sp>
        <p:nvSpPr>
          <p:cNvPr id="6" name="">
            <a:extLst>
              <a:ext uri="{FF2B5EF4-FFF2-40B4-BE49-F238E27FC236}">
                <ns2:creationId id="{73646887-3643-43C1-BBDC-3767A26BD9DD}"/>
              </a:ext>
            </a:extLst>
          </p:cNvPr>
          <p:cNvSpPr>
            <a:spLocks noGrp="1"/>
          </p:cNvSpPr>
          <p:nvPr/>
        </p:nvSpPr>
        <p:spPr>
          <a:xfrm>
            <a:off x="609600" y="2066925"/>
            <a:ext cx="10858500" cy="666750"/>
          </a:xfrm>
          <a:prstGeom prst="rect">
            <a:avLst/>
          </a:prstGeom>
          <a:noFill/>
          <a:ln w="0">
            <a:noFill/>
          </a:ln>
        </p:spPr>
        <p:txBody>
          <a:bodyPr lIns="0" tIns="0" rIns="0" bIns="0" anchor="t">
            <a:noAutofit/>
          </a:bodyPr>
          <a:lstStyle/>
          <a:p>
            <a:pPr algn="l">
              <a:buNone/>
              <a:defRPr sz="1875" b="0">
                <a:solidFill>
                  <a:srgbClr val="BED0E4"/>
                </a:solidFill>
                <a:latin typeface="Arial"/>
                <a:ea typeface="Arial"/>
                <a:cs typeface="Arial"/>
              </a:defRPr>
            </a:pPr>
            <a:r>
              <a:rPr sz="1875" b="0">
                <a:solidFill>
                  <a:srgbClr val="BED0E4"/>
                </a:solidFill>
                <a:latin typeface="Arial"/>
                <a:ea typeface="Arial"/>
                <a:cs typeface="Arial"/>
              </a:rPr>
              <a:t>Duration alone does not show when sleep is interrupted or how stages are distributed.</a:t>
            </a:r>
          </a:p>
        </p:txBody>
      </p:sp>
      <p:sp>
        <p:nvSpPr>
          <p:cNvPr id="7" name="">
            <a:extLst>
              <a:ext uri="{FF2B5EF4-FFF2-40B4-BE49-F238E27FC236}">
                <ns2:creationId id="{2E9A17CD-B23A-4DFC-B977-22DB7B25B08A}"/>
              </a:ext>
            </a:extLst>
          </p:cNvPr>
          <p:cNvSpPr>
            <a:spLocks noGrp="1"/>
          </p:cNvSpPr>
          <p:nvPr/>
        </p:nvSpPr>
        <p:spPr>
          <a:xfrm>
            <a:off x="609600" y="3086100"/>
            <a:ext cx="5191125"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What stage detection gives us</a:t>
            </a:r>
          </a:p>
        </p:txBody>
      </p:sp>
      <p:sp>
        <p:nvSpPr>
          <p:cNvPr id="8" name="">
            <a:extLst>
              <a:ext uri="{FF2B5EF4-FFF2-40B4-BE49-F238E27FC236}">
                <ns2:creationId id="{33E57110-AA5B-4DA1-A2DD-FAF4B4653C1E}"/>
              </a:ext>
            </a:extLst>
          </p:cNvPr>
          <p:cNvSpPr>
            <a:spLocks noGrp="1"/>
          </p:cNvSpPr>
          <p:nvPr/>
        </p:nvSpPr>
        <p:spPr>
          <a:xfrm>
            <a:off x="609600" y="3705225"/>
            <a:ext cx="5191125"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Sleep onset and Wake time → continuity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 / N2 / N3 / REM time → architecture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hypnogram → when patterns change</a:t>
            </a:r>
          </a:p>
        </p:txBody>
      </p:sp>
      <p:sp>
        <p:nvSpPr>
          <p:cNvPr id="9" name="">
            <a:extLst>
              <a:ext uri="{FF2B5EF4-FFF2-40B4-BE49-F238E27FC236}">
                <ns2:creationId id="{93F990B0-2D06-4171-B583-E257A43BB64A}"/>
              </a:ext>
            </a:extLst>
          </p:cNvPr>
          <p:cNvSpPr>
            <a:spLocks noGrp="1"/>
          </p:cNvSpPr>
          <p:nvPr/>
        </p:nvSpPr>
        <p:spPr>
          <a:xfrm>
            <a:off x="6419850" y="3086100"/>
            <a:ext cx="5086350"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Why we chose this project</a:t>
            </a:r>
          </a:p>
        </p:txBody>
      </p:sp>
      <p:sp>
        <p:nvSpPr>
          <p:cNvPr id="10" name="">
            <a:extLst>
              <a:ext uri="{FF2B5EF4-FFF2-40B4-BE49-F238E27FC236}">
                <ns2:creationId id="{E940C4E0-82F9-4F36-A20E-84E5C34F84EC}"/>
              </a:ext>
            </a:extLst>
          </p:cNvPr>
          <p:cNvSpPr>
            <a:spLocks noGrp="1"/>
          </p:cNvSpPr>
          <p:nvPr/>
        </p:nvSpPr>
        <p:spPr>
          <a:xfrm>
            <a:off x="6419850" y="3705225"/>
            <a:ext cx="5086350"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EEG records brain activity used in staging.</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HMC provides labels to test our predictions.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N1/N2 confusion is a measurable target.</a:t>
            </a:r>
          </a:p>
        </p:txBody>
      </p:sp>
      <p:sp>
        <p:nvSpPr>
          <p:cNvPr id="11" name="">
            <a:extLst>
              <a:ext uri="{FF2B5EF4-FFF2-40B4-BE49-F238E27FC236}">
                <ns2:creationId id="{15EB18A3-EC98-4E08-85EB-739F6D6FE797}"/>
              </a:ext>
            </a:extLst>
          </p:cNvPr>
          <p:cNvSpPr>
            <a:spLocks noGrp="1"/>
          </p:cNvSpPr>
          <p:nvPr/>
        </p:nvSpPr>
        <p:spPr>
          <a:xfrm>
            <a:off x="609600" y="5457825"/>
            <a:ext cx="10858500" cy="4286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Potential benefit: assist sleep-study review and quantify patterns for research.</a:t>
            </a:r>
          </a:p>
        </p:txBody>
      </p:sp>
      <p:sp>
        <p:nvSpPr>
          <p:cNvPr id="12" name="">
            <a:extLst>
              <a:ext uri="{FF2B5EF4-FFF2-40B4-BE49-F238E27FC236}">
                <ns2:creationId id="{A720957A-EDEC-4E6C-B0E7-213EEA2233E3}"/>
              </a:ext>
            </a:extLst>
          </p:cNvPr>
          <p:cNvSpPr>
            <a:spLocks noGrp="1"/>
          </p:cNvSpPr>
          <p:nvPr/>
        </p:nvSpPr>
        <p:spPr>
          <a:xfrm>
            <a:off x="609600" y="6029325"/>
            <a:ext cx="10858500" cy="39052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Our contribution: targeted refinement + descriptive profiles. Stage labels alone do not diagnose disease.</a:t>
            </a:r>
          </a:p>
        </p:txBody>
      </p:sp>
      <p:sp>
        <p:nvSpPr>
          <p:cNvPr id="13" name="">
            <a:extLst>
              <a:ext uri="{FF2B5EF4-FFF2-40B4-BE49-F238E27FC236}">
                <ns2:creationId id="{1DF2486C-83F5-45E1-BA38-7305D6103D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03 / 15</a:t>
            </a:r>
          </a:p>
        </p:txBody>
      </p:sp>
    </p:spTree>
    <p:extLst>
      <p:ext uri="{BB962C8B-B14F-4D97-AF65-F5344CB8AC3E}">
        <ns3:creationId val="120200175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A813899A-F26C-4F35-9D5E-937DD8BB45CC}"/>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4DF62C94-FDDE-4214-B5F9-30949B29C521}"/>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Sleep stages and what a sleep cycle means</a:t>
            </a:r>
          </a:p>
        </p:txBody>
      </p:sp>
      <p:sp>
        <p:nvSpPr>
          <p:cNvPr id="3" name="">
            <a:extLst>
              <a:ext uri="{FF2B5EF4-FFF2-40B4-BE49-F238E27FC236}">
                <ns2:creationId id="{D31C3255-94AE-4682-8701-4670AD1E580E}"/>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031C1D00-6E47-45B0-B414-46DEB2573650}"/>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 NHLBI Sleep Phases and Stages; NIH / NICHD What happens during sleep?</a:t>
            </a:r>
          </a:p>
        </p:txBody>
      </p:sp>
      <p:graphicFrame>
        <p:nvGraphicFramePr>
          <p:cNvPr id="15" name=""/>
          <p:cNvGraphicFramePr/>
          <p:nvPr/>
        </p:nvGraphicFramePr>
        <p:xfrm>
          <a:off x="609600" y="1628775"/>
          <a:ext cx="10934700" cy="3914775"/>
        </p:xfrm>
        <a:graphic>
          <a:graphicData uri="http://schemas.openxmlformats.org/drawingml/2006/table">
            <a:tbl>
              <a:tblPr/>
              <a:tblGrid>
                <a:gridCol w="1285875"/>
                <a:gridCol w="4857750"/>
                <a:gridCol w="4791075"/>
              </a:tblGrid>
              <a:tr h="652463">
                <a:tc>
                  <a:txBody>
                    <a:bodyPr>
                      <a:noAutofit/>
                    </a:bodyPr>
                    <a:lstStyle/>
                    <a:p>
                      <a:r>
                        <a:rPr sz="1725" b="1">
                          <a:solidFill>
                            <a:srgbClr val="FFFFFF"/>
                          </a:solidFill>
                          <a:latin typeface="Arial"/>
                          <a:ea typeface="Arial"/>
                          <a:cs typeface="Arial"/>
                        </a:rPr>
                        <a:t>Stage</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What it means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Why we measure it</a:t>
                      </a:r>
                    </a:p>
                  </a:txBody>
                  <a:tcPr marL="91440" marR="91440" marT="45720" marB="45720">
                    <a:solidFill>
                      <a:srgbClr val="18558A"/>
                    </a:solidFill>
                  </a:tcPr>
                </a:tc>
              </a:tr>
              <a:tr h="652463">
                <a:tc>
                  <a:txBody>
                    <a:bodyPr>
                      <a:noAutofit/>
                    </a:bodyPr>
                    <a:lstStyle/>
                    <a:p>
                      <a:r>
                        <a:rPr sz="1725" b="1">
                          <a:solidFill>
                            <a:srgbClr val="FFFFFF"/>
                          </a:solidFill>
                          <a:latin typeface="Arial"/>
                          <a:ea typeface="Arial"/>
                          <a:cs typeface="Arial"/>
                        </a:rPr>
                        <a:t>Wake</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Awake before or between</a:t>
                      </a:r>
                    </a:p>
                    <a:p>
                      <a:r>
                        <a:rPr sz="1725" b="0">
                          <a:solidFill>
                            <a:srgbClr val="FFFFFF"/>
                          </a:solidFill>
                          <a:latin typeface="Arial"/>
                          <a:ea typeface="Arial"/>
                          <a:cs typeface="Arial"/>
                        </a:rPr>
                        <a:t>sleep periods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Sleep onset and interruptions</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N1</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Transition from Wake</a:t>
                      </a:r>
                    </a:p>
                    <a:p>
                      <a:r>
                        <a:rPr sz="1725" b="0">
                          <a:solidFill>
                            <a:srgbClr val="FFFFFF"/>
                          </a:solidFill>
                          <a:latin typeface="Arial"/>
                          <a:ea typeface="Arial"/>
                          <a:cs typeface="Arial"/>
                        </a:rPr>
                        <a:t>to light sleep</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Onset of sleep; distinguish N1 from N2</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N2</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Light non-REM sleep;</a:t>
                      </a:r>
                    </a:p>
                    <a:p>
                      <a:r>
                        <a:rPr sz="1725" b="0">
                          <a:solidFill>
                            <a:srgbClr val="FFFFFF"/>
                          </a:solidFill>
                          <a:latin typeface="Arial"/>
                          <a:ea typeface="Arial"/>
                          <a:cs typeface="Arial"/>
                        </a:rPr>
                        <a:t>brain activity slows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Time in N2; our refinement target</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N3</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Deep, slow-wave sleep;</a:t>
                      </a:r>
                    </a:p>
                    <a:p>
                      <a:r>
                        <a:rPr sz="1725" b="0">
                          <a:solidFill>
                            <a:srgbClr val="FFFFFF"/>
                          </a:solidFill>
                          <a:latin typeface="Arial"/>
                          <a:ea typeface="Arial"/>
                          <a:cs typeface="Arial"/>
                        </a:rPr>
                        <a:t>supports restoration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Time spent in deep sleep</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REM</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Active brain, rapid eye movements;</a:t>
                      </a:r>
                    </a:p>
                    <a:p>
                      <a:r>
                        <a:rPr sz="1725" b="0">
                          <a:solidFill>
                            <a:srgbClr val="FFFFFF"/>
                          </a:solidFill>
                          <a:latin typeface="Arial"/>
                          <a:ea typeface="Arial"/>
                          <a:cs typeface="Arial"/>
                        </a:rPr>
                        <a:t>dreaming is common</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Timing and duration of REM sleep</a:t>
                      </a:r>
                    </a:p>
                  </a:txBody>
                  <a:tcPr marL="91440" marR="91440" marT="45720" marB="45720">
                    <a:solidFill>
                      <a:srgbClr val="123658"/>
                    </a:solidFill>
                  </a:tcPr>
                </a:tc>
              </a:tr>
            </a:tbl>
          </a:graphicData>
        </a:graphic>
      </p:graphicFrame>
      <p:sp>
        <p:nvSpPr>
          <p:cNvPr id="6" name="">
            <a:extLst>
              <a:ext uri="{FF2B5EF4-FFF2-40B4-BE49-F238E27FC236}">
                <ns2:creationId id="{0873FF7B-BD0C-4B58-A789-4DE490340048}"/>
              </a:ext>
            </a:extLst>
          </p:cNvPr>
          <p:cNvSpPr>
            <a:spLocks noGrp="1"/>
          </p:cNvSpPr>
          <p:nvPr/>
        </p:nvSpPr>
        <p:spPr>
          <a:xfrm>
            <a:off x="609600" y="5800725"/>
            <a:ext cx="10858500" cy="33337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A cycle combines NREM and REM; these stages recur across the night.</a:t>
            </a:r>
          </a:p>
        </p:txBody>
      </p:sp>
      <p:sp>
        <p:nvSpPr>
          <p:cNvPr id="7" name="">
            <a:extLst>
              <a:ext uri="{FF2B5EF4-FFF2-40B4-BE49-F238E27FC236}">
                <ns2:creationId id="{A3B42373-EF27-4653-A207-FF520BC59A1D}"/>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Typically, more N3 occurs early and REM periods lengthen later. Both phases support learning and memory.</a:t>
            </a:r>
          </a:p>
        </p:txBody>
      </p:sp>
      <p:sp>
        <p:nvSpPr>
          <p:cNvPr id="8" name="">
            <a:extLst>
              <a:ext uri="{FF2B5EF4-FFF2-40B4-BE49-F238E27FC236}">
                <ns2:creationId id="{9CDF6D74-3957-4A3D-9551-4FFFA43F2EEE}"/>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04 / 15</a:t>
            </a:r>
          </a:p>
        </p:txBody>
      </p:sp>
    </p:spTree>
    <p:extLst>
      <p:ext uri="{BB962C8B-B14F-4D97-AF65-F5344CB8AC3E}">
        <ns3:creationId val="1202001751"/>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83AE9453-A3A0-48B7-B1FD-4E7A9F232AC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F2D8B472-841D-4C4D-8F68-8C8888D37CC8}"/>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Literature review and project direction</a:t>
            </a:r>
          </a:p>
        </p:txBody>
      </p:sp>
      <p:sp>
        <p:nvSpPr>
          <p:cNvPr id="3" name="">
            <a:extLst>
              <a:ext uri="{FF2B5EF4-FFF2-40B4-BE49-F238E27FC236}">
                <ns2:creationId id="{3BFC5411-EF13-41D6-89D6-A6577C20D9D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F54E4287-6DDF-4E63-9D17-BB74AAB252B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Selected primary papers; full citations and links in speaker notes</a:t>
            </a:r>
          </a:p>
        </p:txBody>
      </p:sp>
      <p:sp>
        <p:nvSpPr>
          <p:cNvPr id="5" name="">
            <a:extLst>
              <a:ext uri="{FF2B5EF4-FFF2-40B4-BE49-F238E27FC236}">
                <ns2:creationId id="{889AFC30-752C-42E2-989B-B1778799AF9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05 / 15</a:t>
            </a:r>
          </a:p>
        </p:txBody>
      </p:sp>
      <p:graphicFrame>
        <p:nvGraphicFramePr>
          <p:cNvPr id="16" name=""/>
          <p:cNvGraphicFramePr/>
          <p:nvPr/>
        </p:nvGraphicFramePr>
        <p:xfrm>
          <a:off x="609600" y="1600200"/>
          <a:ext cx="10934700" cy="4000500"/>
        </p:xfrm>
        <a:graphic>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8558A"/>
                    </a:solidFill>
                  </a:tcPr>
                </a:tc>
              </a:tr>
              <a:tr h="666750">
                <a:tc>
                  <a:txBody>
                    <a:bodyPr>
                      <a:noAutofit/>
                    </a:bodyPr>
                    <a:lstStyle/>
                    <a:p>
                      <a:r>
                        <a:rPr sz="1650" b="0">
                          <a:solidFill>
                            <a:srgbClr val="FFFFFF"/>
                          </a:solidFill>
                          <a:latin typeface="Arial"/>
                          <a:ea typeface="Arial"/>
                          <a:cs typeface="Arial"/>
                        </a:rPr>
                        <a:t>DeepSleepNet</a:t>
                      </a:r>
                    </a:p>
                    <a:p>
                      <a:r>
                        <a:rPr sz="1650" b="0">
                          <a:solidFill>
                            <a:srgbClr val="FFFFFF"/>
                          </a:solidFill>
                          <a:latin typeface="Arial"/>
                          <a:ea typeface="Arial"/>
                          <a:cs typeface="Arial"/>
                        </a:rPr>
                        <a:t>Supratak et al., 2017</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CNN features + BiLSTM</a:t>
                      </a:r>
                    </a:p>
                    <a:p>
                      <a:r>
                        <a:rPr sz="1650" b="0">
                          <a:solidFill>
                            <a:srgbClr val="FFFFFF"/>
                          </a:solidFill>
                          <a:latin typeface="Arial"/>
                          <a:ea typeface="Arial"/>
                          <a:cs typeface="Arial"/>
                        </a:rPr>
                        <a:t>across EEG epochs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Compare a learned</a:t>
                      </a:r>
                    </a:p>
                    <a:p>
                      <a:r>
                        <a:rPr sz="1650" b="0">
                          <a:solidFill>
                            <a:srgbClr val="FFFFFF"/>
                          </a:solidFill>
                          <a:latin typeface="Arial"/>
                          <a:ea typeface="Arial"/>
                          <a:cs typeface="Arial"/>
                        </a:rPr>
                        <a:t>sequence-context baseline</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SeqSleepNet</a:t>
                      </a:r>
                    </a:p>
                    <a:p>
                      <a:r>
                        <a:rPr sz="1650" b="0">
                          <a:solidFill>
                            <a:srgbClr val="FFFFFF"/>
                          </a:solidFill>
                          <a:latin typeface="Arial"/>
                          <a:ea typeface="Arial"/>
                          <a:cs typeface="Arial"/>
                        </a:rPr>
                        <a:t>Phan et al., 2019</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Hierarchical recurrent</a:t>
                      </a:r>
                    </a:p>
                    <a:p>
                      <a:r>
                        <a:rPr sz="1650" b="0">
                          <a:solidFill>
                            <a:srgbClr val="FFFFFF"/>
                          </a:solidFill>
                          <a:latin typeface="Arial"/>
                          <a:ea typeface="Arial"/>
                          <a:cs typeface="Arial"/>
                        </a:rPr>
                        <a:t>sequence-to-sequence staging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Add context between epochs;</a:t>
                      </a:r>
                    </a:p>
                    <a:p>
                      <a:r>
                        <a:rPr sz="1650" b="0">
                          <a:solidFill>
                            <a:srgbClr val="FFFFFF"/>
                          </a:solidFill>
                          <a:latin typeface="Arial"/>
                          <a:ea typeface="Arial"/>
                          <a:cs typeface="Arial"/>
                        </a:rPr>
                        <a:t>current model is within-epoch</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U-Sleep</a:t>
                      </a:r>
                    </a:p>
                    <a:p>
                      <a:r>
                        <a:rPr sz="1650" b="0">
                          <a:solidFill>
                            <a:srgbClr val="FFFFFF"/>
                          </a:solidFill>
                          <a:latin typeface="Arial"/>
                          <a:ea typeface="Arial"/>
                          <a:cs typeface="Arial"/>
                        </a:rPr>
                        <a:t>Perslev et al., 2021</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Fully convolutional staging</a:t>
                      </a:r>
                    </a:p>
                    <a:p>
                      <a:r>
                        <a:rPr sz="1650" b="0">
                          <a:solidFill>
                            <a:srgbClr val="FFFFFF"/>
                          </a:solidFill>
                          <a:latin typeface="Arial"/>
                          <a:ea typeface="Arial"/>
                          <a:cs typeface="Arial"/>
                        </a:rPr>
                        <a:t>across clinical cohorts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transfer and robustness</a:t>
                      </a:r>
                    </a:p>
                    <a:p>
                      <a:r>
                        <a:rPr sz="1650" b="0">
                          <a:solidFill>
                            <a:srgbClr val="FFFFFF"/>
                          </a:solidFill>
                          <a:latin typeface="Arial"/>
                          <a:ea typeface="Arial"/>
                          <a:cs typeface="Arial"/>
                        </a:rPr>
                        <a:t>on a separate dataset</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RobustSleepNet</a:t>
                      </a:r>
                    </a:p>
                    <a:p>
                      <a:r>
                        <a:rPr sz="1650" b="0">
                          <a:solidFill>
                            <a:srgbClr val="FFFFFF"/>
                          </a:solidFill>
                          <a:latin typeface="Arial"/>
                          <a:ea typeface="Arial"/>
                          <a:cs typeface="Arial"/>
                        </a:rPr>
                        <a:t>Guillot &amp; Thorey, 2021</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Montage flexibility and</a:t>
                      </a:r>
                    </a:p>
                    <a:p>
                      <a:r>
                        <a:rPr sz="1650" b="0">
                          <a:solidFill>
                            <a:srgbClr val="FFFFFF"/>
                          </a:solidFill>
                          <a:latin typeface="Arial"/>
                          <a:ea typeface="Arial"/>
                          <a:cs typeface="Arial"/>
                        </a:rPr>
                        <a:t>leave-one-dataset-out testing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Check channel compatibility</a:t>
                      </a:r>
                    </a:p>
                    <a:p>
                      <a:r>
                        <a:rPr sz="1650" b="0">
                          <a:solidFill>
                            <a:srgbClr val="FFFFFF"/>
                          </a:solidFill>
                          <a:latin typeface="Arial"/>
                          <a:ea typeface="Arial"/>
                          <a:cs typeface="Arial"/>
                        </a:rPr>
                        <a:t>and external generalization</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SLEEPYLAND</a:t>
                      </a:r>
                    </a:p>
                    <a:p>
                      <a:r>
                        <a:rPr sz="1650" b="0">
                          <a:solidFill>
                            <a:srgbClr val="FFFFFF"/>
                          </a:solidFill>
                          <a:latin typeface="Arial"/>
                          <a:ea typeface="Arial"/>
                          <a:cs typeface="Arial"/>
                        </a:rPr>
                        <a:t>Dei Rossi et al., 2025*</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Standardized evaluation;</a:t>
                      </a:r>
                    </a:p>
                    <a:p>
                      <a:r>
                        <a:rPr sz="1650" b="0">
                          <a:solidFill>
                            <a:srgbClr val="FFFFFF"/>
                          </a:solidFill>
                          <a:latin typeface="Arial"/>
                          <a:ea typeface="Arial"/>
                          <a:cs typeface="Arial"/>
                        </a:rPr>
                        <a:t>SOMNUS soft-voting ensemble</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model fusion and</a:t>
                      </a:r>
                    </a:p>
                    <a:p>
                      <a:r>
                        <a:rPr sz="1650" b="0">
                          <a:solidFill>
                            <a:srgbClr val="FFFFFF"/>
                          </a:solidFill>
                          <a:latin typeface="Arial"/>
                          <a:ea typeface="Arial"/>
                          <a:cs typeface="Arial"/>
                        </a:rPr>
                        <a:t>calibrate the final output</a:t>
                      </a:r>
                    </a:p>
                  </a:txBody>
                  <a:tcPr marL="91440" marR="91440" marT="45720" marB="45720">
                    <a:solidFill>
                      <a:srgbClr val="123658"/>
                    </a:solidFill>
                  </a:tcPr>
                </a:tc>
              </a:tr>
            </a:tbl>
          </a:graphicData>
        </a:graphic>
      </p:graphicFrame>
      <p:sp>
        <p:nvSpPr>
          <p:cNvPr id="7" name="">
            <a:extLst>
              <a:ext uri="{FF2B5EF4-FFF2-40B4-BE49-F238E27FC236}">
                <ns2:creationId id="{78D03B09-FFC5-4AA1-941C-DA9AC3929386}"/>
              </a:ext>
            </a:extLst>
          </p:cNvPr>
          <p:cNvSpPr>
            <a:spLocks noGrp="1"/>
          </p:cNvSpPr>
          <p:nvPr/>
        </p:nvSpPr>
        <p:spPr>
          <a:xfrm>
            <a:off x="609600" y="5810250"/>
            <a:ext cx="10858500" cy="342900"/>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Design direction: targeted experts + sequence context + fair external evaluation</a:t>
            </a:r>
          </a:p>
        </p:txBody>
      </p:sp>
      <p:sp>
        <p:nvSpPr>
          <p:cNvPr id="8" name="">
            <a:extLst>
              <a:ext uri="{FF2B5EF4-FFF2-40B4-BE49-F238E27FC236}">
                <ns2:creationId id="{60C0E19B-6892-4D12-8373-99D13442B837}"/>
              </a:ext>
            </a:extLst>
          </p:cNvPr>
          <p:cNvSpPr>
            <a:spLocks noGrp="1"/>
          </p:cNvSpPr>
          <p:nvPr/>
        </p:nvSpPr>
        <p:spPr>
          <a:xfrm>
            <a:off x="609600" y="6200775"/>
            <a:ext cx="10858500" cy="23812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*2025 arXiv preprint. Published scores use different datasets and protocols; no direct ranking is claimed.</a:t>
            </a:r>
          </a:p>
        </p:txBody>
      </p:sp>
    </p:spTree>
    <p:extLst>
      <p:ext uri="{BB962C8B-B14F-4D97-AF65-F5344CB8AC3E}">
        <ns3:creationId val="1069184251"/>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24C7B66E-3A83-491F-AB62-639A6C1C1DE8}"/>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56C77D5-37B8-42FE-A385-29B9C6D7B88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Dataset and 30-second EEG epochs</a:t>
            </a:r>
          </a:p>
        </p:txBody>
      </p:sp>
      <p:sp>
        <p:nvSpPr>
          <p:cNvPr id="3" name="">
            <a:extLst>
              <a:ext uri="{FF2B5EF4-FFF2-40B4-BE49-F238E27FC236}">
                <ns2:creationId id="{5B9DD5A0-7AEC-40D2-8643-442D8D8A70A9}"/>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4D508E73-3489-4F01-9CF9-897C85E8EBFA}"/>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PhysioNet HMC v1.1; verified split_summary.json</a:t>
            </a:r>
          </a:p>
        </p:txBody>
      </p:sp>
      <p:sp>
        <p:nvSpPr>
          <p:cNvPr id="5" name="">
            <a:extLst>
              <a:ext uri="{FF2B5EF4-FFF2-40B4-BE49-F238E27FC236}">
                <ns2:creationId id="{B20068BF-D435-47E3-B638-561038BE57B2}"/>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06 / 15</a:t>
            </a:r>
          </a:p>
        </p:txBody>
      </p:sp>
      <p:sp>
        <p:nvSpPr>
          <p:cNvPr id="6" name="">
            <a:extLst>
              <a:ext uri="{FF2B5EF4-FFF2-40B4-BE49-F238E27FC236}">
                <ns2:creationId id="{C23C1947-9140-4F45-B721-A68E4A694055}"/>
              </a:ext>
            </a:extLst>
          </p:cNvPr>
          <p:cNvSpPr>
            <a:spLocks noGrp="1"/>
          </p:cNvSpPr>
          <p:nvPr/>
        </p:nvSpPr>
        <p:spPr>
          <a:xfrm>
            <a:off x="609600" y="1581150"/>
            <a:ext cx="10934700" cy="38100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HMC v1.1: 151 clinical PSG recordings; project subset: 24 recordings</a:t>
            </a:r>
          </a:p>
        </p:txBody>
      </p:sp>
      <p:graphicFrame>
        <p:nvGraphicFramePr>
          <p:cNvPr id="23" name=""/>
          <p:cNvGraphicFramePr/>
          <p:nvPr/>
        </p:nvGraphicFramePr>
        <p:xfrm>
          <a:off x="609600" y="2286000"/>
          <a:ext cx="5429250" cy="2857500"/>
        </p:xfrm>
        <a:graphic>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8558A"/>
                    </a:solidFill>
                  </a:tcPr>
                </a:tc>
              </a:tr>
              <a:tr h="571500">
                <a:tc>
                  <a:txBody>
                    <a:bodyPr>
                      <a:noAutofit/>
                    </a:bodyPr>
                    <a:lstStyle/>
                    <a:p>
                      <a:r>
                        <a:rPr sz="1725" b="0">
                          <a:solidFill>
                            <a:srgbClr val="FFFFFF"/>
                          </a:solidFill>
                          <a:latin typeface="Arial"/>
                          <a:ea typeface="Arial"/>
                          <a:cs typeface="Arial"/>
                        </a:rPr>
                        <a:t>Training</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16</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15,216</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Validation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3,619</a:t>
                      </a:r>
                    </a:p>
                  </a:txBody>
                  <a:tcPr marL="91440" marR="91440" marT="45720" marB="45720">
                    <a:solidFill>
                      <a:srgbClr val="1D4770"/>
                    </a:solidFill>
                  </a:tcPr>
                </a:tc>
              </a:tr>
              <a:tr h="571500">
                <a:tc>
                  <a:txBody>
                    <a:bodyPr>
                      <a:noAutofit/>
                    </a:bodyPr>
                    <a:lstStyle/>
                    <a:p>
                      <a:r>
                        <a:rPr sz="1725" b="0">
                          <a:solidFill>
                            <a:srgbClr val="FFFFFF"/>
                          </a:solidFill>
                          <a:latin typeface="Arial"/>
                          <a:ea typeface="Arial"/>
                          <a:cs typeface="Arial"/>
                        </a:rPr>
                        <a:t>Test</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3,109</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Total</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21,944</a:t>
                      </a:r>
                    </a:p>
                  </a:txBody>
                  <a:tcPr marL="91440" marR="91440" marT="45720" marB="45720">
                    <a:solidFill>
                      <a:srgbClr val="1D4770"/>
                    </a:solidFill>
                  </a:tcPr>
                </a:tc>
              </a:tr>
            </a:tbl>
          </a:graphicData>
        </a:graphic>
      </p:graphicFrame>
      <p:sp>
        <p:nvSpPr>
          <p:cNvPr id="8" name="">
            <a:extLst>
              <a:ext uri="{FF2B5EF4-FFF2-40B4-BE49-F238E27FC236}">
                <ns2:creationId id="{57147288-5914-416E-BA22-15CF090CA854}"/>
              </a:ext>
            </a:extLst>
          </p:cNvPr>
          <p:cNvSpPr>
            <a:spLocks noGrp="1"/>
          </p:cNvSpPr>
          <p:nvPr/>
        </p:nvSpPr>
        <p:spPr>
          <a:xfrm>
            <a:off x="6534150" y="2295525"/>
            <a:ext cx="4953000" cy="381000"/>
          </a:xfrm>
          <a:prstGeom prst="rect">
            <a:avLst/>
          </a:prstGeom>
          <a:noFill/>
          <a:ln w="0">
            <a:noFill/>
          </a:ln>
        </p:spPr>
        <p:txBody>
          <a:bodyPr lIns="0" tIns="0" rIns="0" bIns="0" anchor="t">
            <a:noAutofit/>
          </a:bodyPr>
          <a:lstStyle/>
          <a:p>
            <a:pPr algn="l">
              <a:buNone/>
              <a:defRPr sz="1950" b="1">
                <a:solidFill>
                  <a:srgbClr val="75D5FF"/>
                </a:solidFill>
                <a:latin typeface="Arial"/>
                <a:ea typeface="Arial"/>
                <a:cs typeface="Arial"/>
              </a:defRPr>
            </a:pPr>
            <a:r>
              <a:rPr sz="1950" b="1">
                <a:solidFill>
                  <a:srgbClr val="75D5FF"/>
                </a:solidFill>
                <a:latin typeface="Arial"/>
                <a:ea typeface="Arial"/>
                <a:cs typeface="Arial"/>
              </a:rPr>
              <a:t>One EEG epoch = one 30 s segment</a:t>
            </a:r>
          </a:p>
        </p:txBody>
      </p:sp>
      <p:sp>
        <p:nvSpPr>
          <p:cNvPr id="9" name="">
            <a:extLst>
              <a:ext uri="{FF2B5EF4-FFF2-40B4-BE49-F238E27FC236}">
                <ns2:creationId id="{5C81E5BD-32DC-4F51-8139-B02B9163CA5C}"/>
              </a:ext>
            </a:extLst>
          </p:cNvPr>
          <p:cNvSpPr>
            <a:spLocks noGrp="1"/>
          </p:cNvSpPr>
          <p:nvPr/>
        </p:nvSpPr>
        <p:spPr>
          <a:xfrm>
            <a:off x="653415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0–30 s</a:t>
            </a:r>
          </a:p>
        </p:txBody>
      </p:sp>
      <p:sp>
        <p:nvSpPr>
          <p:cNvPr id="10" name="">
            <a:extLst>
              <a:ext uri="{FF2B5EF4-FFF2-40B4-BE49-F238E27FC236}">
                <ns2:creationId id="{9B98B8D3-04EA-49B4-811C-003B6DEF4F19}"/>
              </a:ext>
            </a:extLst>
          </p:cNvPr>
          <p:cNvSpPr>
            <a:spLocks noGrp="1"/>
          </p:cNvSpPr>
          <p:nvPr/>
        </p:nvSpPr>
        <p:spPr>
          <a:xfrm>
            <a:off x="8201025"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30–60 s</a:t>
            </a:r>
          </a:p>
        </p:txBody>
      </p:sp>
      <p:sp>
        <p:nvSpPr>
          <p:cNvPr id="11" name="">
            <a:extLst>
              <a:ext uri="{FF2B5EF4-FFF2-40B4-BE49-F238E27FC236}">
                <ns2:creationId id="{0C5B8F8E-F86A-4CB4-BFDB-3736BD97B2C9}"/>
              </a:ext>
            </a:extLst>
          </p:cNvPr>
          <p:cNvSpPr>
            <a:spLocks noGrp="1"/>
          </p:cNvSpPr>
          <p:nvPr/>
        </p:nvSpPr>
        <p:spPr>
          <a:xfrm>
            <a:off x="986790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60–90 s</a:t>
            </a:r>
          </a:p>
        </p:txBody>
      </p:sp>
      <p:sp>
        <p:nvSpPr>
          <p:cNvPr id="12" name="">
            <a:extLst>
              <a:ext uri="{FF2B5EF4-FFF2-40B4-BE49-F238E27FC236}">
                <ns2:creationId id="{BC2A8BB5-F9B5-4E5C-AE10-45EE9C22AA2F}"/>
              </a:ext>
            </a:extLst>
          </p:cNvPr>
          <p:cNvSpPr>
            <a:spLocks noGrp="1"/>
          </p:cNvSpPr>
          <p:nvPr/>
        </p:nvSpPr>
        <p:spPr>
          <a:xfrm>
            <a:off x="6534150" y="3924300"/>
            <a:ext cx="4953000" cy="952500"/>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At 100 Hz: 30 × 100 = 3,000 samples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Four channels → input shape 4 × 3,000</a:t>
            </a:r>
          </a:p>
        </p:txBody>
      </p:sp>
      <p:sp>
        <p:nvSpPr>
          <p:cNvPr id="13" name="">
            <a:extLst>
              <a:ext uri="{FF2B5EF4-FFF2-40B4-BE49-F238E27FC236}">
                <ns2:creationId id="{5AABC591-C608-4EB3-B495-8314DE0B0433}"/>
              </a:ext>
            </a:extLst>
          </p:cNvPr>
          <p:cNvSpPr>
            <a:spLocks noGrp="1"/>
          </p:cNvSpPr>
          <p:nvPr/>
        </p:nvSpPr>
        <p:spPr>
          <a:xfrm>
            <a:off x="6534150" y="5067300"/>
            <a:ext cx="4953000" cy="381000"/>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F4-M1 · C4-M1 · O2-M1 · C3-M2</a:t>
            </a:r>
          </a:p>
        </p:txBody>
      </p:sp>
      <p:sp>
        <p:nvSpPr>
          <p:cNvPr id="14" name="">
            <a:extLst>
              <a:ext uri="{FF2B5EF4-FFF2-40B4-BE49-F238E27FC236}">
                <ns2:creationId id="{50F34D03-0627-4943-B7DC-A0749811A30A}"/>
              </a:ext>
            </a:extLst>
          </p:cNvPr>
          <p:cNvSpPr>
            <a:spLocks noGrp="1"/>
          </p:cNvSpPr>
          <p:nvPr/>
        </p:nvSpPr>
        <p:spPr>
          <a:xfrm>
            <a:off x="609600" y="5848350"/>
            <a:ext cx="10934700" cy="514350"/>
          </a:xfrm>
          <a:prstGeom prst="rect">
            <a:avLst/>
          </a:prstGeom>
          <a:noFill/>
          <a:ln w="0">
            <a:noFill/>
          </a:ln>
        </p:spPr>
        <p:txBody>
          <a:bodyPr lIns="0" tIns="0" rIns="0" bIns="0" anchor="t">
            <a:noAutofit/>
          </a:bodyPr>
          <a:lstStyle/>
          <a:p>
            <a:pPr algn="l">
              <a:buNone/>
              <a:defRPr sz="1500" b="0">
                <a:solidFill>
                  <a:srgbClr val="BED0E4"/>
                </a:solidFill>
                <a:latin typeface="Arial"/>
                <a:ea typeface="Arial"/>
                <a:cs typeface="Arial"/>
              </a:defRPr>
            </a:pPr>
            <a:r>
              <a:rPr sz="1500" b="0">
                <a:solidFill>
                  <a:srgbClr val="BED0E4"/>
                </a:solidFill>
                <a:latin typeface="Arial"/>
                <a:ea typeface="Arial"/>
                <a:cs typeface="Arial"/>
              </a:rPr>
              <a:t>Split by recording ID. SN001 covers only 190 epochs (95 min); whole-night claims are unsupported.</a:t>
            </a:r>
          </a:p>
        </p:txBody>
      </p:sp>
    </p:spTree>
    <p:extLst>
      <p:ext uri="{BB962C8B-B14F-4D97-AF65-F5344CB8AC3E}">
        <ns3:creationId val="335581468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BD7E4CAC-2CD8-4765-83CF-5C9B2159BD2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1587AE5-EB65-42A1-BD4D-D3B91A2DD40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EEG preprocessing</a:t>
            </a:r>
          </a:p>
        </p:txBody>
      </p:sp>
      <p:sp>
        <p:nvSpPr>
          <p:cNvPr id="3" name="">
            <a:extLst>
              <a:ext uri="{FF2B5EF4-FFF2-40B4-BE49-F238E27FC236}">
                <ns2:creationId id="{FF0BC5C8-9BF8-4CC4-83EA-38665EE465CA}"/>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5FAF112-65F0-4EBF-8B3E-EBE2B180243C}"/>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preprocessing lineage; archived matched SN009 signal example</a:t>
            </a:r>
          </a:p>
        </p:txBody>
      </p:sp>
      <p:sp>
        <p:nvSpPr>
          <p:cNvPr id="5" name="">
            <a:extLst>
              <a:ext uri="{FF2B5EF4-FFF2-40B4-BE49-F238E27FC236}">
                <ns2:creationId id="{E8BBBD98-7BFA-4F8E-82CD-B4BD83D94191}"/>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07 / 15</a:t>
            </a:r>
          </a:p>
        </p:txBody>
      </p:sp>
      <p:sp>
        <p:nvSpPr>
          <p:cNvPr id="6" name="">
            <a:extLst>
              <a:ext uri="{FF2B5EF4-FFF2-40B4-BE49-F238E27FC236}">
                <ns2:creationId id="{A0E14CBE-1CB7-40D5-BF3B-C32BA032913C}"/>
              </a:ext>
            </a:extLst>
          </p:cNvPr>
          <p:cNvSpPr>
            <a:spLocks noGrp="1"/>
          </p:cNvSpPr>
          <p:nvPr/>
        </p:nvSpPr>
        <p:spPr>
          <a:xfrm>
            <a:off x="6096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Select 4</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channels</a:t>
            </a:r>
          </a:p>
        </p:txBody>
      </p:sp>
      <p:sp>
        <p:nvSpPr>
          <p:cNvPr id="7" name="">
            <a:extLst>
              <a:ext uri="{FF2B5EF4-FFF2-40B4-BE49-F238E27FC236}">
                <ns2:creationId id="{946A2F46-DD23-4AA7-BC53-AEB0D9E213F9}"/>
              </a:ext>
            </a:extLst>
          </p:cNvPr>
          <p:cNvSpPr>
            <a:spLocks noGrp="1"/>
          </p:cNvSpPr>
          <p:nvPr/>
        </p:nvSpPr>
        <p:spPr>
          <a:xfrm>
            <a:off x="2600325" y="2028825"/>
            <a:ext cx="219075" cy="171450"/>
          </a:xfrm>
          <a:prstGeom prst="rightArrow">
            <a:avLst/>
          </a:prstGeom>
          <a:solidFill>
            <a:srgbClr val="75D5FF"/>
          </a:solidFill>
          <a:ln w="14288">
            <a:solidFill>
              <a:srgbClr val="75D5FF"/>
            </a:solidFill>
          </a:ln>
        </p:spPr>
      </p:sp>
      <p:sp>
        <p:nvSpPr>
          <p:cNvPr id="8" name="">
            <a:extLst>
              <a:ext uri="{FF2B5EF4-FFF2-40B4-BE49-F238E27FC236}">
                <ns2:creationId id="{3031BEBE-3A55-496B-A971-59989A911162}"/>
              </a:ext>
            </a:extLst>
          </p:cNvPr>
          <p:cNvSpPr>
            <a:spLocks noGrp="1"/>
          </p:cNvSpPr>
          <p:nvPr/>
        </p:nvSpPr>
        <p:spPr>
          <a:xfrm>
            <a:off x="284797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50 Hz notch</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at 256 Hz</a:t>
            </a:r>
          </a:p>
        </p:txBody>
      </p:sp>
      <p:sp>
        <p:nvSpPr>
          <p:cNvPr id="9" name="">
            <a:extLst>
              <a:ext uri="{FF2B5EF4-FFF2-40B4-BE49-F238E27FC236}">
                <ns2:creationId id="{8B7B2585-7DF7-4144-B099-CB3FB11894F0}"/>
              </a:ext>
            </a:extLst>
          </p:cNvPr>
          <p:cNvSpPr>
            <a:spLocks noGrp="1"/>
          </p:cNvSpPr>
          <p:nvPr/>
        </p:nvSpPr>
        <p:spPr>
          <a:xfrm>
            <a:off x="4838700" y="2028825"/>
            <a:ext cx="219075" cy="171450"/>
          </a:xfrm>
          <a:prstGeom prst="rightArrow">
            <a:avLst/>
          </a:prstGeom>
          <a:solidFill>
            <a:srgbClr val="75D5FF"/>
          </a:solidFill>
          <a:ln w="14288">
            <a:solidFill>
              <a:srgbClr val="75D5FF"/>
            </a:solidFill>
          </a:ln>
        </p:spPr>
      </p:sp>
      <p:sp>
        <p:nvSpPr>
          <p:cNvPr id="10" name="">
            <a:extLst>
              <a:ext uri="{FF2B5EF4-FFF2-40B4-BE49-F238E27FC236}">
                <ns2:creationId id="{5A2D4C40-11F0-44AB-BDFE-D2EE7BAD673B}"/>
              </a:ext>
            </a:extLst>
          </p:cNvPr>
          <p:cNvSpPr>
            <a:spLocks noGrp="1"/>
          </p:cNvSpPr>
          <p:nvPr/>
        </p:nvSpPr>
        <p:spPr>
          <a:xfrm>
            <a:off x="508635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Bandpass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0.3–35 Hz</a:t>
            </a:r>
          </a:p>
        </p:txBody>
      </p:sp>
      <p:sp>
        <p:nvSpPr>
          <p:cNvPr id="11" name="">
            <a:extLst>
              <a:ext uri="{FF2B5EF4-FFF2-40B4-BE49-F238E27FC236}">
                <ns2:creationId id="{9720FF8C-4569-4DAD-8DE0-5834D31D8F15}"/>
              </a:ext>
            </a:extLst>
          </p:cNvPr>
          <p:cNvSpPr>
            <a:spLocks noGrp="1"/>
          </p:cNvSpPr>
          <p:nvPr/>
        </p:nvSpPr>
        <p:spPr>
          <a:xfrm>
            <a:off x="7077075" y="2028825"/>
            <a:ext cx="219075" cy="171450"/>
          </a:xfrm>
          <a:prstGeom prst="rightArrow">
            <a:avLst/>
          </a:prstGeom>
          <a:solidFill>
            <a:srgbClr val="75D5FF"/>
          </a:solidFill>
          <a:ln w="14288">
            <a:solidFill>
              <a:srgbClr val="75D5FF"/>
            </a:solidFill>
          </a:ln>
        </p:spPr>
      </p:sp>
      <p:sp>
        <p:nvSpPr>
          <p:cNvPr id="12" name="">
            <a:extLst>
              <a:ext uri="{FF2B5EF4-FFF2-40B4-BE49-F238E27FC236}">
                <ns2:creationId id="{8B30581D-34D4-4084-B8FA-1B37DB5ACD35}"/>
              </a:ext>
            </a:extLst>
          </p:cNvPr>
          <p:cNvSpPr>
            <a:spLocks noGrp="1"/>
          </p:cNvSpPr>
          <p:nvPr/>
        </p:nvSpPr>
        <p:spPr>
          <a:xfrm>
            <a:off x="732472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Resample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to 100 Hz</a:t>
            </a:r>
          </a:p>
        </p:txBody>
      </p:sp>
      <p:sp>
        <p:nvSpPr>
          <p:cNvPr id="13" name="">
            <a:extLst>
              <a:ext uri="{FF2B5EF4-FFF2-40B4-BE49-F238E27FC236}">
                <ns2:creationId id="{D4F0EAEE-901F-4FEF-B229-7EC5450239F9}"/>
              </a:ext>
            </a:extLst>
          </p:cNvPr>
          <p:cNvSpPr>
            <a:spLocks noGrp="1"/>
          </p:cNvSpPr>
          <p:nvPr/>
        </p:nvSpPr>
        <p:spPr>
          <a:xfrm>
            <a:off x="9315450" y="2028825"/>
            <a:ext cx="219075" cy="171450"/>
          </a:xfrm>
          <a:prstGeom prst="rightArrow">
            <a:avLst/>
          </a:prstGeom>
          <a:solidFill>
            <a:srgbClr val="75D5FF"/>
          </a:solidFill>
          <a:ln w="14288">
            <a:solidFill>
              <a:srgbClr val="75D5FF"/>
            </a:solidFill>
          </a:ln>
        </p:spPr>
      </p:sp>
      <p:sp>
        <p:nvSpPr>
          <p:cNvPr id="14" name="">
            <a:extLst>
              <a:ext uri="{FF2B5EF4-FFF2-40B4-BE49-F238E27FC236}">
                <ns2:creationId id="{B2505C57-9F1F-435D-A281-9054F5577C15}"/>
              </a:ext>
            </a:extLst>
          </p:cNvPr>
          <p:cNvSpPr>
            <a:spLocks noGrp="1"/>
          </p:cNvSpPr>
          <p:nvPr/>
        </p:nvSpPr>
        <p:spPr>
          <a:xfrm>
            <a:off x="95631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 s epochs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normalize</a:t>
            </a:r>
          </a:p>
        </p:txBody>
      </p:sp>
      <p:sp>
        <p:nvSpPr>
          <p:cNvPr id="15" name="">
            <a:extLst>
              <a:ext uri="{FF2B5EF4-FFF2-40B4-BE49-F238E27FC236}">
                <ns2:creationId id="{15BDA4A3-0147-456B-BBA2-CFA2203184B2}"/>
              </a:ext>
            </a:extLst>
          </p:cNvPr>
          <p:cNvSpPr>
            <a:spLocks noGrp="1"/>
          </p:cNvSpPr>
          <p:nvPr/>
        </p:nvSpPr>
        <p:spPr>
          <a:xfrm>
            <a:off x="609600"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Raw EEG · SN009, F4-M1</a:t>
            </a:r>
          </a:p>
        </p:txBody>
      </p:sp>
      <p:sp>
        <p:nvSpPr>
          <p:cNvPr id="16" name="">
            <a:extLst>
              <a:ext uri="{FF2B5EF4-FFF2-40B4-BE49-F238E27FC236}">
                <ns2:creationId id="{6C3DF35C-71FD-4F22-B147-1E065802CDF4}"/>
              </a:ext>
            </a:extLst>
          </p:cNvPr>
          <p:cNvSpPr>
            <a:spLocks noGrp="1"/>
          </p:cNvSpPr>
          <p:nvPr/>
        </p:nvSpPr>
        <p:spPr>
          <a:xfrm>
            <a:off x="6334125"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Filtered and normalized EEG · same interval</a:t>
            </a:r>
          </a:p>
        </p:txBody>
      </p:sp>
      <p:pic>
        <p:nvPicPr>
          <p:cNvPr id="40" name=""/>
          <p:cNvPicPr>
            <a:picLocks noChangeAspect="1"/>
          </p:cNvPicPr>
          <p:nvPr/>
        </p:nvPicPr>
        <p:blipFill>
          <a:blip ns3:embed="R40f709f4c74f4f5c"/>
          <a:stretch/>
        </p:blipFill>
        <p:spPr>
          <a:xfrm>
            <a:off x="696912" y="3400425"/>
            <a:ext cx="5016500" cy="2257425"/>
          </a:xfrm>
          <a:prstGeom prst="rect">
            <a:avLst/>
          </a:prstGeom>
        </p:spPr>
      </p:pic>
      <p:pic>
        <p:nvPicPr>
          <p:cNvPr id="41" name=""/>
          <p:cNvPicPr>
            <a:picLocks noChangeAspect="1"/>
          </p:cNvPicPr>
          <p:nvPr/>
        </p:nvPicPr>
        <p:blipFill>
          <a:blip ns3:embed="R6bbc4176193446f5"/>
          <a:stretch/>
        </p:blipFill>
        <p:spPr>
          <a:xfrm>
            <a:off x="6421438" y="3400425"/>
            <a:ext cx="5016500" cy="2257425"/>
          </a:xfrm>
          <a:prstGeom prst="rect">
            <a:avLst/>
          </a:prstGeom>
        </p:spPr>
      </p:pic>
      <p:sp>
        <p:nvSpPr>
          <p:cNvPr id="19" name="">
            <a:extLst>
              <a:ext uri="{FF2B5EF4-FFF2-40B4-BE49-F238E27FC236}">
                <ns2:creationId id="{952049F1-2849-4D87-8976-04DE7CB152AB}"/>
              </a:ext>
            </a:extLst>
          </p:cNvPr>
          <p:cNvSpPr>
            <a:spLocks noGrp="1"/>
          </p:cNvSpPr>
          <p:nvPr/>
        </p:nvSpPr>
        <p:spPr>
          <a:xfrm>
            <a:off x="609600" y="5829300"/>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Per-epoch, per-channel normalization. Apply the 50 Hz notch before resampling.</a:t>
            </a:r>
          </a:p>
        </p:txBody>
      </p:sp>
      <p:sp>
        <p:nvSpPr>
          <p:cNvPr id="20" name="">
            <a:extLst>
              <a:ext uri="{FF2B5EF4-FFF2-40B4-BE49-F238E27FC236}">
                <ns2:creationId id="{50E28E3D-724F-4FEA-A097-FD9810871F73}"/>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Archived 300–330 s signal illustration only; all performance results use the current 3,109-epoch run.</a:t>
            </a:r>
          </a:p>
        </p:txBody>
      </p:sp>
    </p:spTree>
    <p:extLst>
      <p:ext uri="{BB962C8B-B14F-4D97-AF65-F5344CB8AC3E}">
        <ns4:creationId val="4252615662"/>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9" name="">
            <a:extLst>
              <a:ext uri="{FF2B5EF4-FFF2-40B4-BE49-F238E27FC236}">
                <ns2:creationId id="{6FA81C85-5F69-4708-A271-50706755743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B226CFCB-D17A-46A1-85F3-FA25BFA2AD8C}"/>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Implemented system block diagram</a:t>
            </a:r>
          </a:p>
        </p:txBody>
      </p:sp>
      <p:sp>
        <p:nvSpPr>
          <p:cNvPr id="3" name="">
            <a:extLst>
              <a:ext uri="{FF2B5EF4-FFF2-40B4-BE49-F238E27FC236}">
                <ns2:creationId id="{58BA2114-7B6F-44C9-ACE0-240705ABFD5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2915E78A-8EFB-4244-8B0C-792E397EBE67}"/>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2C6AB10-967A-47D0-830E-8201103611B4}"/>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08 / 15</a:t>
            </a:r>
          </a:p>
        </p:txBody>
      </p:sp>
      <p:sp>
        <p:nvSpPr>
          <p:cNvPr id="6" name="">
            <a:extLst>
              <a:ext uri="{FF2B5EF4-FFF2-40B4-BE49-F238E27FC236}">
                <ns2:creationId id="{11E80C58-BEBC-4A80-8D24-656149C90976}"/>
              </a:ext>
            </a:extLst>
          </p:cNvPr>
          <p:cNvSpPr>
            <a:spLocks noGrp="1"/>
          </p:cNvSpPr>
          <p:nvPr/>
        </p:nvSpPr>
        <p:spPr>
          <a:xfrm>
            <a:off x="609600" y="1552575"/>
            <a:ext cx="10858500" cy="3810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Main implementation: Biomarker_N1_N2_Refinement.ipynb</a:t>
            </a:r>
          </a:p>
        </p:txBody>
      </p:sp>
      <p:sp>
        <p:nvSpPr>
          <p:cNvPr id="7" name="">
            <a:extLst>
              <a:ext uri="{FF2B5EF4-FFF2-40B4-BE49-F238E27FC236}">
                <ns2:creationId id="{E1451DA4-94E9-4DF9-A5A0-70DCD4217AC5}"/>
              </a:ext>
            </a:extLst>
          </p:cNvPr>
          <p:cNvSpPr>
            <a:spLocks noGrp="1"/>
          </p:cNvSpPr>
          <p:nvPr/>
        </p:nvSpPr>
        <p:spPr>
          <a:xfrm>
            <a:off x="609600" y="227647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Stored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4 × 3,000</a:t>
            </a:r>
          </a:p>
        </p:txBody>
      </p:sp>
      <p:sp>
        <p:nvSpPr>
          <p:cNvPr id="8" name="">
            <a:extLst>
              <a:ext uri="{FF2B5EF4-FFF2-40B4-BE49-F238E27FC236}">
                <ns2:creationId id="{D9DF9704-658B-469B-AB56-8BE81818ADCD}"/>
              </a:ext>
            </a:extLst>
          </p:cNvPr>
          <p:cNvSpPr>
            <a:spLocks noGrp="1"/>
          </p:cNvSpPr>
          <p:nvPr/>
        </p:nvSpPr>
        <p:spPr>
          <a:xfrm>
            <a:off x="2695575" y="2609850"/>
            <a:ext cx="323850" cy="190500"/>
          </a:xfrm>
          <a:prstGeom prst="rightArrow">
            <a:avLst/>
          </a:prstGeom>
          <a:solidFill>
            <a:srgbClr val="75D5FF"/>
          </a:solidFill>
          <a:ln w="14288">
            <a:solidFill>
              <a:srgbClr val="75D5FF"/>
            </a:solidFill>
          </a:ln>
        </p:spPr>
      </p:sp>
      <p:sp>
        <p:nvSpPr>
          <p:cNvPr id="9" name="">
            <a:extLst>
              <a:ext uri="{FF2B5EF4-FFF2-40B4-BE49-F238E27FC236}">
                <ns2:creationId id="{66A46A2D-AAB2-4B15-B9D4-096F0377CC2A}"/>
              </a:ext>
            </a:extLst>
          </p:cNvPr>
          <p:cNvSpPr>
            <a:spLocks noGrp="1"/>
          </p:cNvSpPr>
          <p:nvPr/>
        </p:nvSpPr>
        <p:spPr>
          <a:xfrm>
            <a:off x="3114675" y="2276475"/>
            <a:ext cx="2476500"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Fast SCFormer-U</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a:ext uri="{FF2B5EF4-FFF2-40B4-BE49-F238E27FC236}">
                <ns2:creationId id="{9A28C14B-725A-4D1C-A206-6BFCF6F88A27}"/>
              </a:ext>
            </a:extLst>
          </p:cNvPr>
          <p:cNvSpPr>
            <a:spLocks noGrp="1"/>
          </p:cNvSpPr>
          <p:nvPr/>
        </p:nvSpPr>
        <p:spPr>
          <a:xfrm>
            <a:off x="5676900" y="2609850"/>
            <a:ext cx="323850" cy="190500"/>
          </a:xfrm>
          <a:prstGeom prst="rightArrow">
            <a:avLst/>
          </a:prstGeom>
          <a:solidFill>
            <a:srgbClr val="75D5FF"/>
          </a:solidFill>
          <a:ln w="14288">
            <a:solidFill>
              <a:srgbClr val="75D5FF"/>
            </a:solidFill>
          </a:ln>
        </p:spPr>
      </p:sp>
      <p:sp>
        <p:nvSpPr>
          <p:cNvPr id="11" name="">
            <a:extLst>
              <a:ext uri="{FF2B5EF4-FFF2-40B4-BE49-F238E27FC236}">
                <ns2:creationId id="{B5A81E8C-0120-48BC-AAAC-41D36F1E05FB}"/>
              </a:ext>
            </a:extLst>
          </p:cNvPr>
          <p:cNvSpPr>
            <a:spLocks noGrp="1"/>
          </p:cNvSpPr>
          <p:nvPr/>
        </p:nvSpPr>
        <p:spPr>
          <a:xfrm>
            <a:off x="6096000" y="227647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Predicted N1/N2?</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Spectral refiner</a:t>
            </a:r>
          </a:p>
        </p:txBody>
      </p:sp>
      <p:sp>
        <p:nvSpPr>
          <p:cNvPr id="12" name="">
            <a:extLst>
              <a:ext uri="{FF2B5EF4-FFF2-40B4-BE49-F238E27FC236}">
                <ns2:creationId id="{6F23CBFF-90B5-4A16-AA41-80E6CE5B9364}"/>
              </a:ext>
            </a:extLst>
          </p:cNvPr>
          <p:cNvSpPr>
            <a:spLocks noGrp="1"/>
          </p:cNvSpPr>
          <p:nvPr/>
        </p:nvSpPr>
        <p:spPr>
          <a:xfrm>
            <a:off x="8848725" y="2609850"/>
            <a:ext cx="323850" cy="190500"/>
          </a:xfrm>
          <a:prstGeom prst="rightArrow">
            <a:avLst/>
          </a:prstGeom>
          <a:solidFill>
            <a:srgbClr val="75D5FF"/>
          </a:solidFill>
          <a:ln w="14288">
            <a:solidFill>
              <a:srgbClr val="75D5FF"/>
            </a:solidFill>
          </a:ln>
        </p:spPr>
      </p:sp>
      <p:sp>
        <p:nvSpPr>
          <p:cNvPr id="13" name="">
            <a:extLst>
              <a:ext uri="{FF2B5EF4-FFF2-40B4-BE49-F238E27FC236}">
                <ns2:creationId id="{DB6FF941-0D1E-4F14-82DA-3B49BEA221F9}"/>
              </a:ext>
            </a:extLst>
          </p:cNvPr>
          <p:cNvSpPr>
            <a:spLocks noGrp="1"/>
          </p:cNvSpPr>
          <p:nvPr/>
        </p:nvSpPr>
        <p:spPr>
          <a:xfrm>
            <a:off x="9267825" y="2276475"/>
            <a:ext cx="2238375"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Final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a:ext uri="{FF2B5EF4-FFF2-40B4-BE49-F238E27FC236}">
                <ns2:creationId id="{C971FD35-5B45-4C9B-81BF-7072C1C905E1}"/>
              </a:ext>
            </a:extLst>
          </p:cNvPr>
          <p:cNvSpPr>
            <a:spLocks noGrp="1"/>
          </p:cNvSpPr>
          <p:nvPr/>
        </p:nvSpPr>
        <p:spPr>
          <a:xfrm>
            <a:off x="1428750" y="3238500"/>
            <a:ext cx="238125" cy="685800"/>
          </a:xfrm>
          <a:prstGeom prst="downArrow">
            <a:avLst/>
          </a:prstGeom>
          <a:solidFill>
            <a:srgbClr val="75D5FF"/>
          </a:solidFill>
          <a:ln w="14288">
            <a:solidFill>
              <a:srgbClr val="75D5FF"/>
            </a:solidFill>
          </a:ln>
        </p:spPr>
      </p:sp>
      <p:sp>
        <p:nvSpPr>
          <p:cNvPr id="15" name="">
            <a:extLst>
              <a:ext uri="{FF2B5EF4-FFF2-40B4-BE49-F238E27FC236}">
                <ns2:creationId id="{C6F44493-C27F-4662-83AC-88EA96760E7E}"/>
              </a:ext>
            </a:extLst>
          </p:cNvPr>
          <p:cNvSpPr>
            <a:spLocks noGrp="1"/>
          </p:cNvSpPr>
          <p:nvPr/>
        </p:nvSpPr>
        <p:spPr>
          <a:xfrm>
            <a:off x="609600" y="404812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Welch spectral</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features</a:t>
            </a:r>
          </a:p>
        </p:txBody>
      </p:sp>
      <p:sp>
        <p:nvSpPr>
          <p:cNvPr id="16" name="">
            <a:extLst>
              <a:ext uri="{FF2B5EF4-FFF2-40B4-BE49-F238E27FC236}">
                <ns2:creationId id="{DB0DBDBB-6F72-4E5C-868D-ABD54DA6F0D3}"/>
              </a:ext>
            </a:extLst>
          </p:cNvPr>
          <p:cNvSpPr>
            <a:spLocks noGrp="1"/>
          </p:cNvSpPr>
          <p:nvPr/>
        </p:nvSpPr>
        <p:spPr>
          <a:xfrm>
            <a:off x="2695575" y="4391025"/>
            <a:ext cx="323850" cy="209550"/>
          </a:xfrm>
          <a:prstGeom prst="rightArrow">
            <a:avLst/>
          </a:prstGeom>
          <a:solidFill>
            <a:srgbClr val="75D5FF"/>
          </a:solidFill>
          <a:ln w="14288">
            <a:solidFill>
              <a:srgbClr val="75D5FF"/>
            </a:solidFill>
          </a:ln>
        </p:spPr>
      </p:sp>
      <p:sp>
        <p:nvSpPr>
          <p:cNvPr id="17" name="">
            <a:extLst>
              <a:ext uri="{FF2B5EF4-FFF2-40B4-BE49-F238E27FC236}">
                <ns2:creationId id="{61E2B147-999B-4E8A-B852-FC551F9CD9FD}"/>
              </a:ext>
            </a:extLst>
          </p:cNvPr>
          <p:cNvSpPr>
            <a:spLocks noGrp="1"/>
          </p:cNvSpPr>
          <p:nvPr/>
        </p:nvSpPr>
        <p:spPr>
          <a:xfrm>
            <a:off x="3114675" y="4048125"/>
            <a:ext cx="24765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Mean EEG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recording</a:t>
            </a:r>
          </a:p>
        </p:txBody>
      </p:sp>
      <p:sp>
        <p:nvSpPr>
          <p:cNvPr id="18" name="">
            <a:extLst>
              <a:ext uri="{FF2B5EF4-FFF2-40B4-BE49-F238E27FC236}">
                <ns2:creationId id="{A8120AA1-F2FF-4B77-9205-1C012005E100}"/>
              </a:ext>
            </a:extLst>
          </p:cNvPr>
          <p:cNvSpPr>
            <a:spLocks noGrp="1"/>
          </p:cNvSpPr>
          <p:nvPr/>
        </p:nvSpPr>
        <p:spPr>
          <a:xfrm>
            <a:off x="10258425" y="3238500"/>
            <a:ext cx="238125" cy="685800"/>
          </a:xfrm>
          <a:prstGeom prst="downArrow">
            <a:avLst/>
          </a:prstGeom>
          <a:solidFill>
            <a:srgbClr val="75D5FF"/>
          </a:solidFill>
          <a:ln w="14288">
            <a:solidFill>
              <a:srgbClr val="75D5FF"/>
            </a:solidFill>
          </a:ln>
        </p:spPr>
      </p:sp>
      <p:sp>
        <p:nvSpPr>
          <p:cNvPr id="19" name="">
            <a:extLst>
              <a:ext uri="{FF2B5EF4-FFF2-40B4-BE49-F238E27FC236}">
                <ns2:creationId id="{14DB1E41-C4D8-4D42-B3E4-A8FAA97A1702}"/>
              </a:ext>
            </a:extLst>
          </p:cNvPr>
          <p:cNvSpPr>
            <a:spLocks noGrp="1"/>
          </p:cNvSpPr>
          <p:nvPr/>
        </p:nvSpPr>
        <p:spPr>
          <a:xfrm>
            <a:off x="9267825" y="4048125"/>
            <a:ext cx="2238375"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Hypnogram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sleep architecture</a:t>
            </a:r>
          </a:p>
        </p:txBody>
      </p:sp>
      <p:sp>
        <p:nvSpPr>
          <p:cNvPr id="20" name="">
            <a:extLst>
              <a:ext uri="{FF2B5EF4-FFF2-40B4-BE49-F238E27FC236}">
                <ns2:creationId id="{F79F3F0F-4E20-432B-B8F2-15EA5F77E196}"/>
              </a:ext>
            </a:extLst>
          </p:cNvPr>
          <p:cNvSpPr>
            <a:spLocks noGrp="1"/>
          </p:cNvSpPr>
          <p:nvPr/>
        </p:nvSpPr>
        <p:spPr>
          <a:xfrm>
            <a:off x="5676900" y="4391025"/>
            <a:ext cx="323850" cy="209550"/>
          </a:xfrm>
          <a:prstGeom prst="rightArrow">
            <a:avLst/>
          </a:prstGeom>
          <a:solidFill>
            <a:srgbClr val="75D5FF"/>
          </a:solidFill>
          <a:ln w="14288">
            <a:solidFill>
              <a:srgbClr val="75D5FF"/>
            </a:solidFill>
          </a:ln>
        </p:spPr>
      </p:sp>
      <p:sp>
        <p:nvSpPr>
          <p:cNvPr id="21" name="">
            <a:extLst>
              <a:ext uri="{FF2B5EF4-FFF2-40B4-BE49-F238E27FC236}">
                <ns2:creationId id="{F83498DA-9B6E-4565-86C4-8F2BD6055B18}"/>
              </a:ext>
            </a:extLst>
          </p:cNvPr>
          <p:cNvSpPr>
            <a:spLocks noGrp="1"/>
          </p:cNvSpPr>
          <p:nvPr/>
        </p:nvSpPr>
        <p:spPr>
          <a:xfrm>
            <a:off x="6096000" y="404812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Recording profile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 reference comparison</a:t>
            </a:r>
          </a:p>
        </p:txBody>
      </p:sp>
      <p:sp>
        <p:nvSpPr>
          <p:cNvPr id="22" name="">
            <a:extLst>
              <a:ext uri="{FF2B5EF4-FFF2-40B4-BE49-F238E27FC236}">
                <ns2:creationId id="{B0AF55AA-D70B-4BD8-8F31-5589644391CF}"/>
              </a:ext>
            </a:extLst>
          </p:cNvPr>
          <p:cNvSpPr>
            <a:spLocks noGrp="1"/>
          </p:cNvSpPr>
          <p:nvPr/>
        </p:nvSpPr>
        <p:spPr>
          <a:xfrm>
            <a:off x="8848725" y="4391025"/>
            <a:ext cx="323850" cy="209550"/>
          </a:xfrm>
          <a:prstGeom prst="leftArrow">
            <a:avLst/>
          </a:prstGeom>
          <a:solidFill>
            <a:srgbClr val="75D5FF"/>
          </a:solidFill>
          <a:ln w="14288">
            <a:solidFill>
              <a:srgbClr val="75D5FF"/>
            </a:solidFill>
          </a:ln>
        </p:spPr>
      </p:sp>
      <p:sp>
        <p:nvSpPr>
          <p:cNvPr id="23" name="">
            <a:extLst>
              <a:ext uri="{FF2B5EF4-FFF2-40B4-BE49-F238E27FC236}">
                <ns2:creationId id="{9E83119E-D85F-47E4-B1B0-316E60B409C9}"/>
              </a:ext>
            </a:extLst>
          </p:cNvPr>
          <p:cNvSpPr>
            <a:spLocks noGrp="1"/>
          </p:cNvSpPr>
          <p:nvPr/>
        </p:nvSpPr>
        <p:spPr>
          <a:xfrm>
            <a:off x="2609850" y="4229100"/>
            <a:ext cx="200025" cy="0"/>
          </a:xfrm>
          <a:prstGeom prst="line">
            <a:avLst/>
          </a:prstGeom>
          <a:noFill/>
          <a:ln w="19050">
            <a:solidFill>
              <a:srgbClr val="75D5FF"/>
            </a:solidFill>
          </a:ln>
        </p:spPr>
      </p:sp>
      <p:sp>
        <p:nvSpPr>
          <p:cNvPr id="24" name="">
            <a:extLst>
              <a:ext uri="{FF2B5EF4-FFF2-40B4-BE49-F238E27FC236}">
                <ns2:creationId id="{AA4BC0AF-9C58-4A04-B4D7-84F4462EF4E7}"/>
              </a:ext>
            </a:extLst>
          </p:cNvPr>
          <p:cNvSpPr>
            <a:spLocks noGrp="1"/>
          </p:cNvSpPr>
          <p:nvPr/>
        </p:nvSpPr>
        <p:spPr>
          <a:xfrm>
            <a:off x="2809875" y="3505200"/>
            <a:ext cx="0" cy="723900"/>
          </a:xfrm>
          <a:prstGeom prst="line">
            <a:avLst/>
          </a:prstGeom>
          <a:noFill/>
          <a:ln w="19050">
            <a:solidFill>
              <a:srgbClr val="75D5FF"/>
            </a:solidFill>
          </a:ln>
        </p:spPr>
      </p:sp>
      <p:sp>
        <p:nvSpPr>
          <p:cNvPr id="25" name="">
            <a:extLst>
              <a:ext uri="{FF2B5EF4-FFF2-40B4-BE49-F238E27FC236}">
                <ns2:creationId id="{F54A5605-06AE-469D-BA65-7A7253D65113}"/>
              </a:ext>
            </a:extLst>
          </p:cNvPr>
          <p:cNvSpPr>
            <a:spLocks noGrp="1"/>
          </p:cNvSpPr>
          <p:nvPr/>
        </p:nvSpPr>
        <p:spPr>
          <a:xfrm>
            <a:off x="2809875" y="3505200"/>
            <a:ext cx="4610100" cy="0"/>
          </a:xfrm>
          <a:prstGeom prst="line">
            <a:avLst/>
          </a:prstGeom>
          <a:noFill/>
          <a:ln w="19050">
            <a:solidFill>
              <a:srgbClr val="75D5FF"/>
            </a:solidFill>
          </a:ln>
        </p:spPr>
      </p:sp>
      <p:sp>
        <p:nvSpPr>
          <p:cNvPr id="26" name="">
            <a:extLst>
              <a:ext uri="{FF2B5EF4-FFF2-40B4-BE49-F238E27FC236}">
                <ns2:creationId id="{C19036A2-C133-4E63-86E4-93BDB713CF61}"/>
              </a:ext>
            </a:extLst>
          </p:cNvPr>
          <p:cNvSpPr>
            <a:spLocks noGrp="1"/>
          </p:cNvSpPr>
          <p:nvPr/>
        </p:nvSpPr>
        <p:spPr>
          <a:xfrm>
            <a:off x="7305675" y="3248025"/>
            <a:ext cx="228600" cy="257175"/>
          </a:xfrm>
          <a:prstGeom prst="upArrow">
            <a:avLst/>
          </a:prstGeom>
          <a:solidFill>
            <a:srgbClr val="75D5FF"/>
          </a:solidFill>
          <a:ln w="14288">
            <a:solidFill>
              <a:srgbClr val="75D5FF"/>
            </a:solidFill>
          </a:ln>
        </p:spPr>
      </p:sp>
      <p:sp>
        <p:nvSpPr>
          <p:cNvPr id="27" name="">
            <a:extLst>
              <a:ext uri="{FF2B5EF4-FFF2-40B4-BE49-F238E27FC236}">
                <ns2:creationId id="{595D7BDE-8073-471D-9877-0911574B7477}"/>
              </a:ext>
            </a:extLst>
          </p:cNvPr>
          <p:cNvSpPr>
            <a:spLocks noGrp="1"/>
          </p:cNvSpPr>
          <p:nvPr/>
        </p:nvSpPr>
        <p:spPr>
          <a:xfrm>
            <a:off x="609600" y="5429250"/>
            <a:ext cx="10906125" cy="619125"/>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Architecture + spectral features → z-scores / P10–P90 → four-domain profile → dashboard</a:t>
            </a:r>
          </a:p>
        </p:txBody>
      </p:sp>
      <p:sp>
        <p:nvSpPr>
          <p:cNvPr id="28" name="">
            <a:extLst>
              <a:ext uri="{FF2B5EF4-FFF2-40B4-BE49-F238E27FC236}">
                <ns2:creationId id="{07AD68EA-59F7-4308-8CD6-8AFE060A2BEB}"/>
              </a:ext>
            </a:extLst>
          </p:cNvPr>
          <p:cNvSpPr>
            <a:spLocks noGrp="1"/>
          </p:cNvSpPr>
          <p:nvPr/>
        </p:nvSpPr>
        <p:spPr>
          <a:xfrm>
            <a:off x="609600" y="6153150"/>
            <a:ext cx="10906125"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The 16-recording training reference provides dataset-relative descriptions.</a:t>
            </a:r>
          </a:p>
        </p:txBody>
      </p:sp>
    </p:spTree>
    <p:extLst>
      <p:ext uri="{BB962C8B-B14F-4D97-AF65-F5344CB8AC3E}">
        <ns3:creationId val="200319062"/>
      </p:ext>
    </p:extLst>
  </p:cSld>
</p:sld>
</file>

<file path=ppt/slides/slide9.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9" name="">
            <a:extLst>
              <a:ext uri="{FF2B5EF4-FFF2-40B4-BE49-F238E27FC236}">
                <ns2:creationId id="{527E67C5-D83C-4DAB-811B-BCE503611C45}"/>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D7217AAB-85ED-4301-A463-7DC74502D44E}"/>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Existing model and training epochs</a:t>
            </a:r>
          </a:p>
        </p:txBody>
      </p:sp>
      <p:sp>
        <p:nvSpPr>
          <p:cNvPr id="3" name="">
            <a:extLst>
              <a:ext uri="{FF2B5EF4-FFF2-40B4-BE49-F238E27FC236}">
                <ns2:creationId id="{10F5232C-AAE3-4EAF-AE20-6489345AB513}"/>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DFCF7C3-6EF0-4381-A117-D8019D9B8DF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29F6381F-0270-446E-B817-D5741DAB99F3}"/>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09 / 15</a:t>
            </a:r>
          </a:p>
        </p:txBody>
      </p:sp>
      <p:sp>
        <p:nvSpPr>
          <p:cNvPr id="6" name="">
            <a:extLst>
              <a:ext uri="{FF2B5EF4-FFF2-40B4-BE49-F238E27FC236}">
                <ns2:creationId id="{83F0445D-DE2A-4437-B1FA-550DF3C4561B}"/>
              </a:ext>
            </a:extLst>
          </p:cNvPr>
          <p:cNvSpPr>
            <a:spLocks noGrp="1"/>
          </p:cNvSpPr>
          <p:nvPr/>
        </p:nvSpPr>
        <p:spPr>
          <a:xfrm>
            <a:off x="60960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Conv1D encoder</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 128 filters</a:t>
            </a:r>
          </a:p>
        </p:txBody>
      </p:sp>
      <p:sp>
        <p:nvSpPr>
          <p:cNvPr id="7" name="">
            <a:extLst>
              <a:ext uri="{FF2B5EF4-FFF2-40B4-BE49-F238E27FC236}">
                <ns2:creationId id="{ECDC660B-F225-4C2D-88A7-2DC9C71B9CA1}"/>
              </a:ext>
            </a:extLst>
          </p:cNvPr>
          <p:cNvSpPr>
            <a:spLocks noGrp="1"/>
          </p:cNvSpPr>
          <p:nvPr/>
        </p:nvSpPr>
        <p:spPr>
          <a:xfrm>
            <a:off x="3162300" y="2000250"/>
            <a:ext cx="228600" cy="190500"/>
          </a:xfrm>
          <a:prstGeom prst="rightArrow">
            <a:avLst/>
          </a:prstGeom>
          <a:solidFill>
            <a:srgbClr val="75D5FF"/>
          </a:solidFill>
          <a:ln w="14288">
            <a:solidFill>
              <a:srgbClr val="75D5FF"/>
            </a:solidFill>
          </a:ln>
        </p:spPr>
      </p:sp>
      <p:sp>
        <p:nvSpPr>
          <p:cNvPr id="8" name="">
            <a:extLst>
              <a:ext uri="{FF2B5EF4-FFF2-40B4-BE49-F238E27FC236}">
                <ns2:creationId id="{6197247A-ED8B-4D06-B100-72A74351D6CD}"/>
              </a:ext>
            </a:extLst>
          </p:cNvPr>
          <p:cNvSpPr>
            <a:spLocks noGrp="1"/>
          </p:cNvSpPr>
          <p:nvPr/>
        </p:nvSpPr>
        <p:spPr>
          <a:xfrm>
            <a:off x="3419475"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Self-attention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4 heads, key dim 16</a:t>
            </a:r>
          </a:p>
        </p:txBody>
      </p:sp>
      <p:sp>
        <p:nvSpPr>
          <p:cNvPr id="9" name="">
            <a:extLst>
              <a:ext uri="{FF2B5EF4-FFF2-40B4-BE49-F238E27FC236}">
                <ns2:creationId id="{A44E4BFB-781D-48DF-9CFC-B1249FB0E66C}"/>
              </a:ext>
            </a:extLst>
          </p:cNvPr>
          <p:cNvSpPr>
            <a:spLocks noGrp="1"/>
          </p:cNvSpPr>
          <p:nvPr/>
        </p:nvSpPr>
        <p:spPr>
          <a:xfrm>
            <a:off x="5972175" y="2000250"/>
            <a:ext cx="228600" cy="190500"/>
          </a:xfrm>
          <a:prstGeom prst="rightArrow">
            <a:avLst/>
          </a:prstGeom>
          <a:solidFill>
            <a:srgbClr val="75D5FF"/>
          </a:solidFill>
          <a:ln w="14288">
            <a:solidFill>
              <a:srgbClr val="75D5FF"/>
            </a:solidFill>
          </a:ln>
        </p:spPr>
      </p:sp>
      <p:sp>
        <p:nvSpPr>
          <p:cNvPr id="10" name="">
            <a:extLst>
              <a:ext uri="{FF2B5EF4-FFF2-40B4-BE49-F238E27FC236}">
                <ns2:creationId id="{5EF1F0F3-91C6-4159-BE82-612A8B6DEACF}"/>
              </a:ext>
            </a:extLst>
          </p:cNvPr>
          <p:cNvSpPr>
            <a:spLocks noGrp="1"/>
          </p:cNvSpPr>
          <p:nvPr/>
        </p:nvSpPr>
        <p:spPr>
          <a:xfrm>
            <a:off x="622935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BiLSTM</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units / direction</a:t>
            </a:r>
          </a:p>
        </p:txBody>
      </p:sp>
      <p:sp>
        <p:nvSpPr>
          <p:cNvPr id="11" name="">
            <a:extLst>
              <a:ext uri="{FF2B5EF4-FFF2-40B4-BE49-F238E27FC236}">
                <ns2:creationId id="{4B76D814-3D58-4C07-9A19-2D20A7E475DE}"/>
              </a:ext>
            </a:extLst>
          </p:cNvPr>
          <p:cNvSpPr>
            <a:spLocks noGrp="1"/>
          </p:cNvSpPr>
          <p:nvPr/>
        </p:nvSpPr>
        <p:spPr>
          <a:xfrm>
            <a:off x="8782050" y="2000250"/>
            <a:ext cx="228600" cy="190500"/>
          </a:xfrm>
          <a:prstGeom prst="rightArrow">
            <a:avLst/>
          </a:prstGeom>
          <a:solidFill>
            <a:srgbClr val="75D5FF"/>
          </a:solidFill>
          <a:ln w="14288">
            <a:solidFill>
              <a:srgbClr val="75D5FF"/>
            </a:solidFill>
          </a:ln>
        </p:spPr>
      </p:sp>
      <p:sp>
        <p:nvSpPr>
          <p:cNvPr id="12" name="">
            <a:extLst>
              <a:ext uri="{FF2B5EF4-FFF2-40B4-BE49-F238E27FC236}">
                <ns2:creationId id="{A63DECA5-71FA-44C4-9CB3-4E4482109885}"/>
              </a:ext>
            </a:extLst>
          </p:cNvPr>
          <p:cNvSpPr>
            <a:spLocks noGrp="1"/>
          </p:cNvSpPr>
          <p:nvPr/>
        </p:nvSpPr>
        <p:spPr>
          <a:xfrm>
            <a:off x="9039225" y="1657350"/>
            <a:ext cx="2476500" cy="8763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Pooling + dense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a:ext uri="{FF2B5EF4-FFF2-40B4-BE49-F238E27FC236}">
                <ns2:creationId id="{224BEB6B-CFF6-4E62-8FBC-A99C3511C5CC}"/>
              </a:ext>
            </a:extLst>
          </p:cNvPr>
          <p:cNvSpPr>
            <a:spLocks noGrp="1"/>
          </p:cNvSpPr>
          <p:nvPr/>
        </p:nvSpPr>
        <p:spPr>
          <a:xfrm>
            <a:off x="609600" y="2781300"/>
            <a:ext cx="10858500" cy="381000"/>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226,309 parameters · Attention and BiLSTM operate within each 30-second EEG epoch</a:t>
            </a:r>
          </a:p>
        </p:txBody>
      </p:sp>
      <p:sp>
        <p:nvSpPr>
          <p:cNvPr id="14" name="">
            <a:extLst>
              <a:ext uri="{FF2B5EF4-FFF2-40B4-BE49-F238E27FC236}">
                <ns2:creationId id="{E6F1F37E-8BB4-4203-AB02-50F1942B09CE}"/>
              </a:ext>
            </a:extLst>
          </p:cNvPr>
          <p:cNvSpPr>
            <a:spLocks noGrp="1"/>
          </p:cNvSpPr>
          <p:nvPr/>
        </p:nvSpPr>
        <p:spPr>
          <a:xfrm>
            <a:off x="609600" y="3248025"/>
            <a:ext cx="6572250" cy="295275"/>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Training / validation accuracy</a:t>
            </a:r>
          </a:p>
        </p:txBody>
      </p:sp>
      <p:graphicFrame>
        <p:nvGraphicFramePr>
          <p:cNvPr id="35" name="Chart"/>
          <p:cNvGraphicFramePr/>
          <p:nvPr/>
        </p:nvGraphicFramePr>
        <p:xfrm>
          <a:off x="609600" y="3609975"/>
          <a:ext cx="6572250" cy="2324100"/>
        </p:xfrm>
        <a:graphic>
          <a:graphicData uri="http://schemas.openxmlformats.org/drawingml/2006/chart">
            <c:chart ns4:id="Reacd5d354f204438"/>
          </a:graphicData>
        </a:graphic>
      </p:graphicFrame>
      <p:sp>
        <p:nvSpPr>
          <p:cNvPr id="16" name="">
            <a:extLst>
              <a:ext uri="{FF2B5EF4-FFF2-40B4-BE49-F238E27FC236}">
                <ns2:creationId id="{C687648D-E196-4A3F-83C3-703CBB2690F0}"/>
              </a:ext>
            </a:extLst>
          </p:cNvPr>
          <p:cNvSpPr>
            <a:spLocks noGrp="1"/>
          </p:cNvSpPr>
          <p:nvPr/>
        </p:nvSpPr>
        <p:spPr>
          <a:xfrm>
            <a:off x="7591425" y="3343275"/>
            <a:ext cx="3905250" cy="66675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A training epoch = one full</a:t>
            </a:r>
          </a:p>
          <a:p>
            <a:pPr algn="l">
              <a:buNone/>
              <a:defRPr sz="1875" b="1">
                <a:solidFill>
                  <a:srgbClr val="FFFFFF"/>
                </a:solidFill>
                <a:latin typeface="Arial"/>
                <a:ea typeface="Arial"/>
                <a:cs typeface="Arial"/>
              </a:defRPr>
            </a:pPr>
            <a:r>
              <a:rPr sz="1875" b="1">
                <a:solidFill>
                  <a:srgbClr val="FFFFFF"/>
                </a:solidFill>
                <a:latin typeface="Arial"/>
                <a:ea typeface="Arial"/>
                <a:cs typeface="Arial"/>
              </a:rPr>
              <a:t>pass through training data</a:t>
            </a:r>
          </a:p>
        </p:txBody>
      </p:sp>
      <p:sp>
        <p:nvSpPr>
          <p:cNvPr id="17" name="">
            <a:extLst>
              <a:ext uri="{FF2B5EF4-FFF2-40B4-BE49-F238E27FC236}">
                <ns2:creationId id="{7128204F-0025-4889-8A51-8B079845FB2D}"/>
              </a:ext>
            </a:extLst>
          </p:cNvPr>
          <p:cNvSpPr>
            <a:spLocks noGrp="1"/>
          </p:cNvSpPr>
          <p:nvPr/>
        </p:nvSpPr>
        <p:spPr>
          <a:xfrm>
            <a:off x="7591425" y="4276725"/>
            <a:ext cx="3905250" cy="1200150"/>
          </a:xfrm>
          <a:prstGeom prst="rect">
            <a:avLst/>
          </a:prstGeom>
          <a:noFill/>
          <a:ln w="0">
            <a:noFill/>
          </a:ln>
        </p:spPr>
        <p:txBody>
          <a:bodyPr lIns="0" tIns="0" rIns="0" bIns="0" anchor="t">
            <a:noAutofit/>
          </a:bodyPr>
          <a:lstStyle/>
          <a:p>
            <a:pPr algn="l">
              <a:buNone/>
              <a:defRPr sz="1800" b="0">
                <a:solidFill>
                  <a:srgbClr val="FFFFFF"/>
                </a:solidFill>
                <a:latin typeface="Arial"/>
                <a:ea typeface="Arial"/>
                <a:cs typeface="Arial"/>
              </a:defRPr>
            </a:pPr>
            <a:r>
              <a:rPr sz="1800" b="0">
                <a:solidFill>
                  <a:srgbClr val="FFFFFF"/>
                </a:solidFill>
                <a:latin typeface="Arial"/>
                <a:ea typeface="Arial"/>
                <a:cs typeface="Arial"/>
              </a:rPr>
              <a:t>Adam · learning rate 0.0001</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Batch size: 128</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10 training epochs</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Selected checkpoint: epoch 9</a:t>
            </a:r>
          </a:p>
        </p:txBody>
      </p:sp>
      <p:sp>
        <p:nvSpPr>
          <p:cNvPr id="18" name="">
            <a:extLst>
              <a:ext uri="{FF2B5EF4-FFF2-40B4-BE49-F238E27FC236}">
                <ns2:creationId id="{F36CD6D1-342D-4BDA-883E-42B46AB75BF8}"/>
              </a:ext>
            </a:extLst>
          </p:cNvPr>
          <p:cNvSpPr>
            <a:spLocks noGrp="1"/>
          </p:cNvSpPr>
          <p:nvPr/>
        </p:nvSpPr>
        <p:spPr>
          <a:xfrm>
            <a:off x="609600" y="6124575"/>
            <a:ext cx="10858500" cy="29527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Current notebook loads this checkpoint; it trains the spectral refiner separately.</a:t>
            </a:r>
          </a:p>
        </p:txBody>
      </p:sp>
    </p:spTree>
    <p:extLst>
      <p:ext uri="{BB962C8B-B14F-4D97-AF65-F5344CB8AC3E}">
        <ns5:creationId val="130293399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3054B9CA-A436-4029-9BF9-F95F45E64E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00ACDC4-4966-4FD6-BE61-B9959FC3DD5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N1/N2 refinement flowchart</a:t>
            </a:r>
          </a:p>
        </p:txBody>
      </p:sp>
      <p:sp>
        <p:nvSpPr>
          <p:cNvPr id="3" name="">
            <a:extLst>
              <a:ext uri="{FF2B5EF4-FFF2-40B4-BE49-F238E27FC236}">
                <ns2:creationId id="{9A7250F0-9E6A-4754-98A4-C235F4F5E14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4020F3A-7CF8-43FC-9E00-483FEECE9356}"/>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73445329-8793-4FEF-82C2-E3506849BF7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10 / 15</a:t>
            </a:r>
          </a:p>
        </p:txBody>
      </p:sp>
      <p:sp>
        <p:nvSpPr>
          <p:cNvPr id="6" name="">
            <a:extLst>
              <a:ext uri="{FF2B5EF4-FFF2-40B4-BE49-F238E27FC236}">
                <ns2:creationId id="{82815605-5A51-495F-BE1B-EDF792667072}"/>
              </a:ext>
            </a:extLst>
          </p:cNvPr>
          <p:cNvSpPr>
            <a:spLocks noGrp="1"/>
          </p:cNvSpPr>
          <p:nvPr/>
        </p:nvSpPr>
        <p:spPr>
          <a:xfrm>
            <a:off x="609600" y="1828800"/>
            <a:ext cx="2000250"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Initial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a:ext uri="{FF2B5EF4-FFF2-40B4-BE49-F238E27FC236}">
                <ns2:creationId id="{C4A1C9E3-36E9-4248-ADBE-EA3B3C2013B7}"/>
              </a:ext>
            </a:extLst>
          </p:cNvPr>
          <p:cNvSpPr>
            <a:spLocks noGrp="1"/>
          </p:cNvSpPr>
          <p:nvPr/>
        </p:nvSpPr>
        <p:spPr>
          <a:xfrm>
            <a:off x="2724150" y="2124075"/>
            <a:ext cx="314325" cy="190500"/>
          </a:xfrm>
          <a:prstGeom prst="rightArrow">
            <a:avLst/>
          </a:prstGeom>
          <a:solidFill>
            <a:srgbClr val="75D5FF"/>
          </a:solidFill>
          <a:ln w="14288">
            <a:solidFill>
              <a:srgbClr val="75D5FF"/>
            </a:solidFill>
          </a:ln>
        </p:spPr>
      </p:sp>
      <p:sp>
        <p:nvSpPr>
          <p:cNvPr id="8" name="">
            <a:extLst>
              <a:ext uri="{FF2B5EF4-FFF2-40B4-BE49-F238E27FC236}">
                <ns2:creationId id="{965FFC8B-5581-40EC-837C-AE1DFF52B708}"/>
              </a:ext>
            </a:extLst>
          </p:cNvPr>
          <p:cNvSpPr>
            <a:spLocks noGrp="1"/>
          </p:cNvSpPr>
          <p:nvPr/>
        </p:nvSpPr>
        <p:spPr>
          <a:xfrm>
            <a:off x="3209925" y="1724025"/>
            <a:ext cx="2019300" cy="1000125"/>
          </a:xfrm>
          <a:prstGeom prst="diamond">
            <a:avLst/>
          </a:prstGeom>
          <a:solidFill>
            <a:srgbClr val="1D4770"/>
          </a:solidFill>
          <a:ln w="14288">
            <a:solidFill>
              <a:srgbClr val="75D5FF"/>
            </a:solidFill>
          </a:ln>
        </p:spPr>
        <p:txBody>
          <a:bodyPr lIns="95250" tIns="76200" rIns="95250" bIns="76200" anchor="ctr">
            <a:noAutofit/>
          </a:body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N1 or N2?</a:t>
            </a:r>
          </a:p>
        </p:txBody>
      </p:sp>
      <p:sp>
        <p:nvSpPr>
          <p:cNvPr id="9" name="">
            <a:extLst>
              <a:ext uri="{FF2B5EF4-FFF2-40B4-BE49-F238E27FC236}">
                <ns2:creationId id="{53DADE3E-E40E-4298-BA6B-F4E82F4835A0}"/>
              </a:ext>
            </a:extLst>
          </p:cNvPr>
          <p:cNvSpPr>
            <a:spLocks noGrp="1"/>
          </p:cNvSpPr>
          <p:nvPr/>
        </p:nvSpPr>
        <p:spPr>
          <a:xfrm>
            <a:off x="5457825" y="1943100"/>
            <a:ext cx="571500" cy="28575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YES</a:t>
            </a:r>
          </a:p>
        </p:txBody>
      </p:sp>
      <p:sp>
        <p:nvSpPr>
          <p:cNvPr id="10" name="">
            <a:extLst>
              <a:ext uri="{FF2B5EF4-FFF2-40B4-BE49-F238E27FC236}">
                <ns2:creationId id="{9E51FFBD-D764-4B64-B34C-70C51454E3CF}"/>
              </a:ext>
            </a:extLst>
          </p:cNvPr>
          <p:cNvSpPr>
            <a:spLocks noGrp="1"/>
          </p:cNvSpPr>
          <p:nvPr/>
        </p:nvSpPr>
        <p:spPr>
          <a:xfrm>
            <a:off x="5372100" y="2314575"/>
            <a:ext cx="609600" cy="180975"/>
          </a:xfrm>
          <a:prstGeom prst="rightArrow">
            <a:avLst/>
          </a:prstGeom>
          <a:solidFill>
            <a:srgbClr val="75D5FF"/>
          </a:solidFill>
          <a:ln w="14288">
            <a:solidFill>
              <a:srgbClr val="75D5FF"/>
            </a:solidFill>
          </a:ln>
        </p:spPr>
      </p:sp>
      <p:sp>
        <p:nvSpPr>
          <p:cNvPr id="11" name="">
            <a:extLst>
              <a:ext uri="{FF2B5EF4-FFF2-40B4-BE49-F238E27FC236}">
                <ns2:creationId id="{B9AB376A-8483-4054-80FA-C4CD26C9AFB3}"/>
              </a:ext>
            </a:extLst>
          </p:cNvPr>
          <p:cNvSpPr>
            <a:spLocks noGrp="1"/>
          </p:cNvSpPr>
          <p:nvPr/>
        </p:nvSpPr>
        <p:spPr>
          <a:xfrm>
            <a:off x="6134100" y="1828800"/>
            <a:ext cx="2457450" cy="7810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9 spectral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StandardScaler</a:t>
            </a:r>
          </a:p>
        </p:txBody>
      </p:sp>
      <p:sp>
        <p:nvSpPr>
          <p:cNvPr id="12" name="">
            <a:extLst>
              <a:ext uri="{FF2B5EF4-FFF2-40B4-BE49-F238E27FC236}">
                <ns2:creationId id="{0F018F61-EE3B-43CD-8B6F-7DD7C0B0657A}"/>
              </a:ext>
            </a:extLst>
          </p:cNvPr>
          <p:cNvSpPr>
            <a:spLocks noGrp="1"/>
          </p:cNvSpPr>
          <p:nvPr/>
        </p:nvSpPr>
        <p:spPr>
          <a:xfrm>
            <a:off x="8705850" y="2124075"/>
            <a:ext cx="304800" cy="190500"/>
          </a:xfrm>
          <a:prstGeom prst="rightArrow">
            <a:avLst/>
          </a:prstGeom>
          <a:solidFill>
            <a:srgbClr val="75D5FF"/>
          </a:solidFill>
          <a:ln w="14288">
            <a:solidFill>
              <a:srgbClr val="75D5FF"/>
            </a:solidFill>
          </a:ln>
        </p:spPr>
      </p:sp>
      <p:sp>
        <p:nvSpPr>
          <p:cNvPr id="13" name="">
            <a:extLst>
              <a:ext uri="{FF2B5EF4-FFF2-40B4-BE49-F238E27FC236}">
                <ns2:creationId id="{27421683-9B61-4122-BA27-27017EC766F4}"/>
              </a:ext>
            </a:extLst>
          </p:cNvPr>
          <p:cNvSpPr>
            <a:spLocks noGrp="1"/>
          </p:cNvSpPr>
          <p:nvPr/>
        </p:nvSpPr>
        <p:spPr>
          <a:xfrm>
            <a:off x="9153525" y="1828800"/>
            <a:ext cx="2352675"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a:ext uri="{FF2B5EF4-FFF2-40B4-BE49-F238E27FC236}">
                <ns2:creationId id="{B8986655-6457-43EC-B2F0-228F0368B69C}"/>
              </a:ext>
            </a:extLst>
          </p:cNvPr>
          <p:cNvSpPr>
            <a:spLocks noGrp="1"/>
          </p:cNvSpPr>
          <p:nvPr/>
        </p:nvSpPr>
        <p:spPr>
          <a:xfrm>
            <a:off x="4105275" y="2867025"/>
            <a:ext cx="238125" cy="619125"/>
          </a:xfrm>
          <a:prstGeom prst="downArrow">
            <a:avLst/>
          </a:prstGeom>
          <a:solidFill>
            <a:srgbClr val="75D5FF"/>
          </a:solidFill>
          <a:ln w="14288">
            <a:solidFill>
              <a:srgbClr val="75D5FF"/>
            </a:solidFill>
          </a:ln>
        </p:spPr>
      </p:sp>
      <p:sp>
        <p:nvSpPr>
          <p:cNvPr id="15" name="">
            <a:extLst>
              <a:ext uri="{FF2B5EF4-FFF2-40B4-BE49-F238E27FC236}">
                <ns2:creationId id="{00F3B75D-FA93-4462-A4E4-C4D973C6BA91}"/>
              </a:ext>
            </a:extLst>
          </p:cNvPr>
          <p:cNvSpPr>
            <a:spLocks noGrp="1"/>
          </p:cNvSpPr>
          <p:nvPr/>
        </p:nvSpPr>
        <p:spPr>
          <a:xfrm>
            <a:off x="4505325" y="3048000"/>
            <a:ext cx="523875" cy="26670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NO</a:t>
            </a:r>
          </a:p>
        </p:txBody>
      </p:sp>
      <p:sp>
        <p:nvSpPr>
          <p:cNvPr id="16" name="">
            <a:extLst>
              <a:ext uri="{FF2B5EF4-FFF2-40B4-BE49-F238E27FC236}">
                <ns2:creationId id="{98307A59-AE4E-4514-83AC-436E39AAC48D}"/>
              </a:ext>
            </a:extLst>
          </p:cNvPr>
          <p:cNvSpPr>
            <a:spLocks noGrp="1"/>
          </p:cNvSpPr>
          <p:nvPr/>
        </p:nvSpPr>
        <p:spPr>
          <a:xfrm>
            <a:off x="2647950" y="3638550"/>
            <a:ext cx="4524375" cy="56197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Retain original Wake / N3 / REM prediction</a:t>
            </a:r>
          </a:p>
        </p:txBody>
      </p:sp>
      <p:graphicFrame>
        <p:nvGraphicFramePr>
          <p:cNvPr id="39" name=""/>
          <p:cNvGraphicFramePr/>
          <p:nvPr/>
        </p:nvGraphicFramePr>
        <p:xfrm>
          <a:off x="609600" y="4629150"/>
          <a:ext cx="6743700" cy="1362075"/>
        </p:xfrm>
        <a:graphic>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8558A"/>
                    </a:solidFill>
                  </a:tcPr>
                </a:tc>
              </a:tr>
              <a:tr h="454025">
                <a:tc>
                  <a:txBody>
                    <a:bodyPr>
                      <a:noAutofit/>
                    </a:bodyPr>
                    <a:lstStyle/>
                    <a:p>
                      <a:r>
                        <a:rPr sz="1650" b="0">
                          <a:solidFill>
                            <a:srgbClr val="FFFFFF"/>
                          </a:solidFill>
                          <a:latin typeface="Arial"/>
                          <a:ea typeface="Arial"/>
                          <a:cs typeface="Arial"/>
                        </a:rPr>
                        <a:t>Relative powers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Delta, Theta, Alpha, Sigma, Beta</a:t>
                      </a:r>
                    </a:p>
                  </a:txBody>
                  <a:tcPr marL="91440" marR="91440" marT="45720" marB="45720">
                    <a:solidFill>
                      <a:srgbClr val="123658"/>
                    </a:solidFill>
                  </a:tcPr>
                </a:tc>
              </a:tr>
              <a:tr h="454025">
                <a:tc>
                  <a:txBody>
                    <a:bodyPr>
                      <a:noAutofit/>
                    </a:bodyPr>
                    <a:lstStyle/>
                    <a:p>
                      <a:r>
                        <a:rPr sz="1650" b="0">
                          <a:solidFill>
                            <a:srgbClr val="FFFFFF"/>
                          </a:solidFill>
                          <a:latin typeface="Arial"/>
                          <a:ea typeface="Arial"/>
                          <a:cs typeface="Arial"/>
                        </a:rPr>
                        <a:t>Band / Delta ratios</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Theta, Alpha, Sigma, Beta</a:t>
                      </a:r>
                    </a:p>
                  </a:txBody>
                  <a:tcPr marL="91440" marR="91440" marT="45720" marB="45720">
                    <a:solidFill>
                      <a:srgbClr val="1D4770"/>
                    </a:solidFill>
                  </a:tcPr>
                </a:tc>
              </a:tr>
            </a:tbl>
          </a:graphicData>
        </a:graphic>
      </p:graphicFrame>
      <p:sp>
        <p:nvSpPr>
          <p:cNvPr id="18" name="">
            <a:extLst>
              <a:ext uri="{FF2B5EF4-FFF2-40B4-BE49-F238E27FC236}">
                <ns2:creationId id="{991B7394-94E7-47CD-9089-081158AAC0A3}"/>
              </a:ext>
            </a:extLst>
          </p:cNvPr>
          <p:cNvSpPr>
            <a:spLocks noGrp="1"/>
          </p:cNvSpPr>
          <p:nvPr/>
        </p:nvSpPr>
        <p:spPr>
          <a:xfrm>
            <a:off x="7791450" y="4467225"/>
            <a:ext cx="3714750" cy="3524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Fit on training data only</a:t>
            </a:r>
          </a:p>
        </p:txBody>
      </p:sp>
      <p:sp>
        <p:nvSpPr>
          <p:cNvPr id="19" name="">
            <a:extLst>
              <a:ext uri="{FF2B5EF4-FFF2-40B4-BE49-F238E27FC236}">
                <ns2:creationId id="{537DAAC0-F5DC-49F8-A785-0463BCF1F309}"/>
              </a:ext>
            </a:extLst>
          </p:cNvPr>
          <p:cNvSpPr>
            <a:spLocks noGrp="1"/>
          </p:cNvSpPr>
          <p:nvPr/>
        </p:nvSpPr>
        <p:spPr>
          <a:xfrm>
            <a:off x="7791450" y="4953000"/>
            <a:ext cx="3714750" cy="1000125"/>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True AND predicted N1/N2:</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1,278 N1 + 4,588 N2 epochs</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Test gate uses predictions only.</a:t>
            </a:r>
          </a:p>
        </p:txBody>
      </p:sp>
      <p:sp>
        <p:nvSpPr>
          <p:cNvPr id="20" name="">
            <a:extLst>
              <a:ext uri="{FF2B5EF4-FFF2-40B4-BE49-F238E27FC236}">
                <ns2:creationId id="{496FD3AD-35F9-479F-B44F-3365065E2E26}"/>
              </a:ext>
            </a:extLst>
          </p:cNvPr>
          <p:cNvSpPr>
            <a:spLocks noGrp="1"/>
          </p:cNvSpPr>
          <p:nvPr/>
        </p:nvSpPr>
        <p:spPr>
          <a:xfrm>
            <a:off x="609600" y="6181725"/>
            <a:ext cx="10906125" cy="257175"/>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Welch: 4 s windows, 2 s overlap; average channel powers before computing ratios.</a:t>
            </a:r>
          </a:p>
        </p:txBody>
      </p:sp>
    </p:spTree>
    <p:extLst>
      <p:ext uri="{BB962C8B-B14F-4D97-AF65-F5344CB8AC3E}">
        <ns3:creationId val="1069679893"/>
      </p:ext>
    </p:extLst>
  </p:cSld>
</p:sld>
</file>

<file path=ppt/slides/slide11.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E1F9FC30-5734-4F4E-9F0A-E40BE66D12AF}"/>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D026E77-FC07-4333-B572-88FCC6757B3B}"/>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Results and measured gains</a:t>
            </a:r>
          </a:p>
        </p:txBody>
      </p:sp>
      <p:sp>
        <p:nvSpPr>
          <p:cNvPr id="3" name="">
            <a:extLst>
              <a:ext uri="{FF2B5EF4-FFF2-40B4-BE49-F238E27FC236}">
                <ns2:creationId id="{976C3F30-1E38-480B-8902-D59095D795F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E91C006F-75E5-4D5A-B2D9-5F523E59283B}"/>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5B4988DB-40DA-4952-A70E-061404D0788A}"/>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11 / 15</a:t>
            </a:r>
          </a:p>
        </p:txBody>
      </p:sp>
      <p:graphicFrame>
        <p:nvGraphicFramePr>
          <p:cNvPr id="20" name="Chart"/>
          <p:cNvGraphicFramePr/>
          <p:nvPr/>
        </p:nvGraphicFramePr>
        <p:xfrm>
          <a:off x="609600" y="1704975"/>
          <a:ext cx="7477125" cy="3705225"/>
        </p:xfrm>
        <a:graphic>
          <a:graphicData uri="http://schemas.openxmlformats.org/drawingml/2006/chart">
            <c:chart ns4:id="R80037521c0d1428e"/>
          </a:graphicData>
        </a:graphic>
      </p:graphicFrame>
      <p:sp>
        <p:nvSpPr>
          <p:cNvPr id="7" name="">
            <a:extLst>
              <a:ext uri="{FF2B5EF4-FFF2-40B4-BE49-F238E27FC236}">
                <ns2:creationId id="{3004B653-3887-4357-9FDB-20EC8B4A95C0}"/>
              </a:ext>
            </a:extLst>
          </p:cNvPr>
          <p:cNvSpPr>
            <a:spLocks noGrp="1"/>
          </p:cNvSpPr>
          <p:nvPr/>
        </p:nvSpPr>
        <p:spPr>
          <a:xfrm>
            <a:off x="8601075" y="197167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+3.89 pp</a:t>
            </a:r>
          </a:p>
        </p:txBody>
      </p:sp>
      <p:sp>
        <p:nvSpPr>
          <p:cNvPr id="8" name="">
            <a:extLst>
              <a:ext uri="{FF2B5EF4-FFF2-40B4-BE49-F238E27FC236}">
                <ns2:creationId id="{29F92C9F-40B2-4148-AB87-6A43C1A0FE0D}"/>
              </a:ext>
            </a:extLst>
          </p:cNvPr>
          <p:cNvSpPr>
            <a:spLocks noGrp="1"/>
          </p:cNvSpPr>
          <p:nvPr/>
        </p:nvSpPr>
        <p:spPr>
          <a:xfrm>
            <a:off x="8601075" y="2667000"/>
            <a:ext cx="2905125" cy="70485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Accuracy: 55.45% → 59.34%</a:t>
            </a:r>
          </a:p>
        </p:txBody>
      </p:sp>
      <p:sp>
        <p:nvSpPr>
          <p:cNvPr id="9" name="">
            <a:extLst>
              <a:ext uri="{FF2B5EF4-FFF2-40B4-BE49-F238E27FC236}">
                <ns2:creationId id="{82B687C0-242B-4084-802C-DD328EB83539}"/>
              </a:ext>
            </a:extLst>
          </p:cNvPr>
          <p:cNvSpPr>
            <a:spLocks noGrp="1"/>
          </p:cNvSpPr>
          <p:nvPr/>
        </p:nvSpPr>
        <p:spPr>
          <a:xfrm>
            <a:off x="8601075" y="370522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+2.10 pp</a:t>
            </a:r>
          </a:p>
        </p:txBody>
      </p:sp>
      <p:sp>
        <p:nvSpPr>
          <p:cNvPr id="10" name="">
            <a:extLst>
              <a:ext uri="{FF2B5EF4-FFF2-40B4-BE49-F238E27FC236}">
                <ns2:creationId id="{2CF1146E-A588-432C-9DB6-2212CD61EF26}"/>
              </a:ext>
            </a:extLst>
          </p:cNvPr>
          <p:cNvSpPr>
            <a:spLocks noGrp="1"/>
          </p:cNvSpPr>
          <p:nvPr/>
        </p:nvSpPr>
        <p:spPr>
          <a:xfrm>
            <a:off x="8601075" y="4400550"/>
            <a:ext cx="2905125" cy="7239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Macro F1:</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57.42% → 59.51%</a:t>
            </a:r>
          </a:p>
        </p:txBody>
      </p:sp>
      <p:sp>
        <p:nvSpPr>
          <p:cNvPr id="11" name="">
            <a:extLst>
              <a:ext uri="{FF2B5EF4-FFF2-40B4-BE49-F238E27FC236}">
                <ns2:creationId id="{053456BD-04A1-45A6-A334-17B9D0A0D1DD}"/>
              </a:ext>
            </a:extLst>
          </p:cNvPr>
          <p:cNvSpPr>
            <a:spLocks noGrp="1"/>
          </p:cNvSpPr>
          <p:nvPr/>
        </p:nvSpPr>
        <p:spPr>
          <a:xfrm>
            <a:off x="609600" y="5743575"/>
            <a:ext cx="10858500" cy="352425"/>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154 corrected − 33 degraded = 121 net additional correct epochs</a:t>
            </a:r>
          </a:p>
        </p:txBody>
      </p:sp>
      <p:sp>
        <p:nvSpPr>
          <p:cNvPr id="12" name="">
            <a:extLst>
              <a:ext uri="{FF2B5EF4-FFF2-40B4-BE49-F238E27FC236}">
                <ns2:creationId id="{1A16650C-0958-4EC0-889B-A993D215F12C}"/>
              </a:ext>
            </a:extLst>
          </p:cNvPr>
          <p:cNvSpPr>
            <a:spLocks noGrp="1"/>
          </p:cNvSpPr>
          <p:nvPr/>
        </p:nvSpPr>
        <p:spPr>
          <a:xfrm>
            <a:off x="609600" y="6172200"/>
            <a:ext cx="10858500" cy="2952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Same 3,109 test epochs across 4 recordings · 238 labels changed · pp = percentage points</a:t>
            </a:r>
          </a:p>
        </p:txBody>
      </p:sp>
    </p:spTree>
    <p:extLst>
      <p:ext uri="{BB962C8B-B14F-4D97-AF65-F5344CB8AC3E}">
        <ns5:creationId val="434895987"/>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5609B8A6-9AB2-4335-BC1E-6C4E4E39867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E31EACD-E31E-44CD-A39C-FF4384F88E6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Project outputs: hypnogram and sleep profile</a:t>
            </a:r>
          </a:p>
        </p:txBody>
      </p:sp>
      <p:sp>
        <p:nvSpPr>
          <p:cNvPr id="3" name="">
            <a:extLst>
              <a:ext uri="{FF2B5EF4-FFF2-40B4-BE49-F238E27FC236}">
                <ns2:creationId id="{16937A5D-8EA5-4052-9795-070D51D98C0C}"/>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98F18EEB-8CD2-4400-B8B3-951EB6178C7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FDBB1DC-54D3-4EFA-BA98-8C47F14FFAB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12 / 15</a:t>
            </a:r>
          </a:p>
        </p:txBody>
      </p:sp>
      <p:sp>
        <p:nvSpPr>
          <p:cNvPr id="6" name="">
            <a:extLst>
              <a:ext uri="{FF2B5EF4-FFF2-40B4-BE49-F238E27FC236}">
                <ns2:creationId id="{5F5886AB-A5EB-4215-B556-021340329524}"/>
              </a:ext>
            </a:extLst>
          </p:cNvPr>
          <p:cNvSpPr>
            <a:spLocks noGrp="1"/>
          </p:cNvSpPr>
          <p:nvPr/>
        </p:nvSpPr>
        <p:spPr>
          <a:xfrm>
            <a:off x="609600" y="1543050"/>
            <a:ext cx="68580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SN009 · verified stage sequence</a:t>
            </a:r>
          </a:p>
        </p:txBody>
      </p:sp>
      <p:pic>
        <p:nvPicPr>
          <p:cNvPr id="22" name=""/>
          <p:cNvPicPr>
            <a:picLocks noChangeAspect="1"/>
          </p:cNvPicPr>
          <p:nvPr/>
        </p:nvPicPr>
        <p:blipFill>
          <a:blip ns3:embed="R6bf18a00863c4aed"/>
          <a:stretch/>
        </p:blipFill>
        <p:spPr>
          <a:xfrm>
            <a:off x="609600" y="2222224"/>
            <a:ext cx="6858000" cy="2832652"/>
          </a:xfrm>
          <a:prstGeom prst="rect">
            <a:avLst/>
          </a:prstGeom>
        </p:spPr>
      </p:pic>
      <p:sp>
        <p:nvSpPr>
          <p:cNvPr id="8" name="">
            <a:extLst>
              <a:ext uri="{FF2B5EF4-FFF2-40B4-BE49-F238E27FC236}">
                <ns2:creationId id="{98556298-EFC5-4B31-B74C-9303D0573947}"/>
              </a:ext>
            </a:extLst>
          </p:cNvPr>
          <p:cNvSpPr>
            <a:spLocks noGrp="1"/>
          </p:cNvSpPr>
          <p:nvPr/>
        </p:nvSpPr>
        <p:spPr>
          <a:xfrm>
            <a:off x="7829550" y="1543050"/>
            <a:ext cx="36957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Sleep Studio · current GUI</a:t>
            </a:r>
          </a:p>
        </p:txBody>
      </p:sp>
      <p:pic>
        <p:nvPicPr>
          <p:cNvPr id="24" name=""/>
          <p:cNvPicPr>
            <a:picLocks noChangeAspect="1"/>
          </p:cNvPicPr>
          <p:nvPr/>
        </p:nvPicPr>
        <p:blipFill>
          <a:blip ns3:embed="Rc484821050234906"/>
          <a:stretch/>
        </p:blipFill>
        <p:spPr>
          <a:xfrm>
            <a:off x="7829550" y="2011320"/>
            <a:ext cx="3695700" cy="2397211"/>
          </a:xfrm>
          <a:prstGeom prst="rect">
            <a:avLst/>
          </a:prstGeom>
        </p:spPr>
      </p:pic>
      <p:sp>
        <p:nvSpPr>
          <p:cNvPr id="10" name="">
            <a:extLst>
              <a:ext uri="{FF2B5EF4-FFF2-40B4-BE49-F238E27FC236}">
                <ns2:creationId id="{30BFA6A2-75A9-42F0-970D-7EB5A35C2060}"/>
              </a:ext>
            </a:extLst>
          </p:cNvPr>
          <p:cNvSpPr>
            <a:spLocks noGrp="1"/>
          </p:cNvSpPr>
          <p:nvPr/>
        </p:nvSpPr>
        <p:spPr>
          <a:xfrm>
            <a:off x="7829550" y="4705350"/>
            <a:ext cx="3695700" cy="6096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Architecture, spectral features,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reference deviations and exports</a:t>
            </a:r>
          </a:p>
        </p:txBody>
      </p:sp>
      <p:sp>
        <p:nvSpPr>
          <p:cNvPr id="11" name="">
            <a:extLst>
              <a:ext uri="{FF2B5EF4-FFF2-40B4-BE49-F238E27FC236}">
                <ns2:creationId id="{B311A6B7-8020-4E23-8C29-C9A19B7A84C5}"/>
              </a:ext>
            </a:extLst>
          </p:cNvPr>
          <p:cNvSpPr>
            <a:spLocks noGrp="1"/>
          </p:cNvSpPr>
          <p:nvPr/>
        </p:nvSpPr>
        <p:spPr>
          <a:xfrm>
            <a:off x="609600" y="5619750"/>
            <a:ext cx="10858500" cy="6191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Stage labels → architecture metrics → training-reference comparison → four-domain profile</a:t>
            </a:r>
          </a:p>
        </p:txBody>
      </p:sp>
      <p:sp>
        <p:nvSpPr>
          <p:cNvPr id="12" name="">
            <a:extLst>
              <a:ext uri="{FF2B5EF4-FFF2-40B4-BE49-F238E27FC236}">
                <ns2:creationId id="{159C74E0-3EB2-45CF-8B4F-164CC0AEEBCC}"/>
              </a:ext>
            </a:extLst>
          </p:cNvPr>
          <p:cNvSpPr>
            <a:spLocks noGrp="1"/>
          </p:cNvSpPr>
          <p:nvPr/>
        </p:nvSpPr>
        <p:spPr>
          <a:xfrm>
            <a:off x="609600" y="6200775"/>
            <a:ext cx="10858500" cy="266700"/>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Duration · Continuity · Initiation · Architecture | Descriptive research profiles, not diagnoses</a:t>
            </a:r>
          </a:p>
        </p:txBody>
      </p:sp>
    </p:spTree>
    <p:extLst>
      <p:ext uri="{BB962C8B-B14F-4D97-AF65-F5344CB8AC3E}">
        <ns4:creationId val="192251261"/>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30" name="">
            <a:extLst>
              <a:ext uri="{FF2B5EF4-FFF2-40B4-BE49-F238E27FC236}">
                <ns2:creationId id="{9C1CBA15-DD68-4F89-9241-A35EC84267BE}"/>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0EB2A9CB-6924-4609-AC5B-86F76A42A52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Future plan: multistage, multimodel architecture</a:t>
            </a:r>
          </a:p>
        </p:txBody>
      </p:sp>
      <p:sp>
        <p:nvSpPr>
          <p:cNvPr id="3" name="">
            <a:extLst>
              <a:ext uri="{FF2B5EF4-FFF2-40B4-BE49-F238E27FC236}">
                <ns2:creationId id="{8A3054E8-C7E7-4ADD-950B-FBF4CB29B6C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06568E5-FBA4-4DC7-880D-26F27D47C80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Proposed research design; inspired by SeqSleepNet, RobustSleepNet and SLEEPYLAND</a:t>
            </a:r>
          </a:p>
        </p:txBody>
      </p:sp>
      <p:sp>
        <p:nvSpPr>
          <p:cNvPr id="5" name="">
            <a:extLst>
              <a:ext uri="{FF2B5EF4-FFF2-40B4-BE49-F238E27FC236}">
                <ns2:creationId id="{DDD26CD4-98E1-4843-A87E-184A658ADAB9}"/>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13 / 15</a:t>
            </a:r>
          </a:p>
        </p:txBody>
      </p:sp>
      <p:sp>
        <p:nvSpPr>
          <p:cNvPr id="6" name="">
            <a:extLst>
              <a:ext uri="{FF2B5EF4-FFF2-40B4-BE49-F238E27FC236}">
                <ns2:creationId id="{9C18BF36-D3DB-4F64-83AB-5FFCFF27C9EC}"/>
              </a:ext>
            </a:extLst>
          </p:cNvPr>
          <p:cNvSpPr>
            <a:spLocks noGrp="1"/>
          </p:cNvSpPr>
          <p:nvPr/>
        </p:nvSpPr>
        <p:spPr>
          <a:xfrm>
            <a:off x="609600" y="1533525"/>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Proposed • not yet implemented or evaluated</a:t>
            </a:r>
          </a:p>
        </p:txBody>
      </p:sp>
      <p:sp>
        <p:nvSpPr>
          <p:cNvPr id="7" name="">
            <a:extLst>
              <a:ext uri="{FF2B5EF4-FFF2-40B4-BE49-F238E27FC236}">
                <ns2:creationId id="{95DC8C84-371E-4D08-833A-EC72189BEB5B}"/>
              </a:ext>
            </a:extLst>
          </p:cNvPr>
          <p:cNvSpPr>
            <a:spLocks noGrp="1"/>
          </p:cNvSpPr>
          <p:nvPr/>
        </p:nvSpPr>
        <p:spPr>
          <a:xfrm>
            <a:off x="609600" y="2352675"/>
            <a:ext cx="1781175" cy="80962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Aligned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quality checks</a:t>
            </a:r>
          </a:p>
        </p:txBody>
      </p:sp>
      <p:sp>
        <p:nvSpPr>
          <p:cNvPr id="8" name="">
            <a:extLst>
              <a:ext uri="{FF2B5EF4-FFF2-40B4-BE49-F238E27FC236}">
                <ns2:creationId id="{3A1BB145-970D-47D8-B8E5-440F6BFD53A8}"/>
              </a:ext>
            </a:extLst>
          </p:cNvPr>
          <p:cNvSpPr>
            <a:spLocks noGrp="1"/>
          </p:cNvSpPr>
          <p:nvPr/>
        </p:nvSpPr>
        <p:spPr>
          <a:xfrm>
            <a:off x="2895600" y="2057400"/>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a:ext uri="{FF2B5EF4-FFF2-40B4-BE49-F238E27FC236}">
                <ns2:creationId id="{27B7F729-9B12-45EE-8F42-08D9603CF52E}"/>
              </a:ext>
            </a:extLst>
          </p:cNvPr>
          <p:cNvSpPr>
            <a:spLocks noGrp="1"/>
          </p:cNvSpPr>
          <p:nvPr/>
        </p:nvSpPr>
        <p:spPr>
          <a:xfrm>
            <a:off x="2895600" y="3324225"/>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a:ext uri="{FF2B5EF4-FFF2-40B4-BE49-F238E27FC236}">
                <ns2:creationId id="{EC26E0CD-B956-41EB-BF19-8237F2FE2DB2}"/>
              </a:ext>
            </a:extLst>
          </p:cNvPr>
          <p:cNvSpPr>
            <a:spLocks noGrp="1"/>
          </p:cNvSpPr>
          <p:nvPr/>
        </p:nvSpPr>
        <p:spPr>
          <a:xfrm>
            <a:off x="2514600" y="2752725"/>
            <a:ext cx="200025" cy="0"/>
          </a:xfrm>
          <a:prstGeom prst="line">
            <a:avLst/>
          </a:prstGeom>
          <a:noFill/>
          <a:ln w="19050">
            <a:solidFill>
              <a:srgbClr val="75D5FF"/>
            </a:solidFill>
          </a:ln>
        </p:spPr>
      </p:sp>
      <p:sp>
        <p:nvSpPr>
          <p:cNvPr id="11" name="">
            <a:extLst>
              <a:ext uri="{FF2B5EF4-FFF2-40B4-BE49-F238E27FC236}">
                <ns2:creationId id="{53818038-B9AE-4BD9-A5B2-91EECC4E0099}"/>
              </a:ext>
            </a:extLst>
          </p:cNvPr>
          <p:cNvSpPr>
            <a:spLocks noGrp="1"/>
          </p:cNvSpPr>
          <p:nvPr/>
        </p:nvSpPr>
        <p:spPr>
          <a:xfrm>
            <a:off x="2714625" y="2457450"/>
            <a:ext cx="0" cy="1266825"/>
          </a:xfrm>
          <a:prstGeom prst="line">
            <a:avLst/>
          </a:prstGeom>
          <a:noFill/>
          <a:ln w="19050">
            <a:solidFill>
              <a:srgbClr val="75D5FF"/>
            </a:solidFill>
          </a:ln>
        </p:spPr>
      </p:sp>
      <p:sp>
        <p:nvSpPr>
          <p:cNvPr id="12" name="">
            <a:extLst>
              <a:ext uri="{FF2B5EF4-FFF2-40B4-BE49-F238E27FC236}">
                <ns2:creationId id="{1B8ECF43-5244-4C3D-9964-B380D78EAB37}"/>
              </a:ext>
            </a:extLst>
          </p:cNvPr>
          <p:cNvSpPr>
            <a:spLocks noGrp="1"/>
          </p:cNvSpPr>
          <p:nvPr/>
        </p:nvSpPr>
        <p:spPr>
          <a:xfrm>
            <a:off x="2714625" y="2400300"/>
            <a:ext cx="180975" cy="123825"/>
          </a:xfrm>
          <a:prstGeom prst="rightArrow">
            <a:avLst/>
          </a:prstGeom>
          <a:solidFill>
            <a:srgbClr val="75D5FF"/>
          </a:solidFill>
          <a:ln w="14288">
            <a:solidFill>
              <a:srgbClr val="75D5FF"/>
            </a:solidFill>
          </a:ln>
        </p:spPr>
      </p:sp>
      <p:sp>
        <p:nvSpPr>
          <p:cNvPr id="13" name="">
            <a:extLst>
              <a:ext uri="{FF2B5EF4-FFF2-40B4-BE49-F238E27FC236}">
                <ns2:creationId id="{8E2E42AB-B672-4CB8-92E8-55BDF885058B}"/>
              </a:ext>
            </a:extLst>
          </p:cNvPr>
          <p:cNvSpPr>
            <a:spLocks noGrp="1"/>
          </p:cNvSpPr>
          <p:nvPr/>
        </p:nvSpPr>
        <p:spPr>
          <a:xfrm>
            <a:off x="2714625" y="3667125"/>
            <a:ext cx="180975" cy="123825"/>
          </a:xfrm>
          <a:prstGeom prst="rightArrow">
            <a:avLst/>
          </a:prstGeom>
          <a:solidFill>
            <a:srgbClr val="75D5FF"/>
          </a:solidFill>
          <a:ln w="14288">
            <a:solidFill>
              <a:srgbClr val="75D5FF"/>
            </a:solidFill>
          </a:ln>
        </p:spPr>
      </p:sp>
      <p:sp>
        <p:nvSpPr>
          <p:cNvPr id="14" name="">
            <a:extLst>
              <a:ext uri="{FF2B5EF4-FFF2-40B4-BE49-F238E27FC236}">
                <ns2:creationId id="{B25DBC2B-113F-4350-AB5B-E02BB8FADFE1}"/>
              </a:ext>
            </a:extLst>
          </p:cNvPr>
          <p:cNvSpPr>
            <a:spLocks noGrp="1"/>
          </p:cNvSpPr>
          <p:nvPr/>
        </p:nvSpPr>
        <p:spPr>
          <a:xfrm>
            <a:off x="6477000" y="2628900"/>
            <a:ext cx="2333625" cy="11049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Soft probability</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composition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optional baseline fusion</a:t>
            </a:r>
          </a:p>
        </p:txBody>
      </p:sp>
      <p:sp>
        <p:nvSpPr>
          <p:cNvPr id="15" name="">
            <a:extLst>
              <a:ext uri="{FF2B5EF4-FFF2-40B4-BE49-F238E27FC236}">
                <ns2:creationId id="{F595083E-FEA6-4828-8782-4983E0BA0F4C}"/>
              </a:ext>
            </a:extLst>
          </p:cNvPr>
          <p:cNvSpPr>
            <a:spLocks noGrp="1"/>
          </p:cNvSpPr>
          <p:nvPr/>
        </p:nvSpPr>
        <p:spPr>
          <a:xfrm>
            <a:off x="5915025" y="2457450"/>
            <a:ext cx="228600" cy="0"/>
          </a:xfrm>
          <a:prstGeom prst="line">
            <a:avLst/>
          </a:prstGeom>
          <a:noFill/>
          <a:ln w="19050">
            <a:solidFill>
              <a:srgbClr val="75D5FF"/>
            </a:solidFill>
          </a:ln>
        </p:spPr>
      </p:sp>
      <p:sp>
        <p:nvSpPr>
          <p:cNvPr id="16" name="">
            <a:extLst>
              <a:ext uri="{FF2B5EF4-FFF2-40B4-BE49-F238E27FC236}">
                <ns2:creationId id="{C3B5EB1E-4860-4FD9-9C1C-1F7FA4AA33B5}"/>
              </a:ext>
            </a:extLst>
          </p:cNvPr>
          <p:cNvSpPr>
            <a:spLocks noGrp="1"/>
          </p:cNvSpPr>
          <p:nvPr/>
        </p:nvSpPr>
        <p:spPr>
          <a:xfrm>
            <a:off x="6143625" y="2457450"/>
            <a:ext cx="0" cy="609600"/>
          </a:xfrm>
          <a:prstGeom prst="line">
            <a:avLst/>
          </a:prstGeom>
          <a:noFill/>
          <a:ln w="19050">
            <a:solidFill>
              <a:srgbClr val="75D5FF"/>
            </a:solidFill>
          </a:ln>
        </p:spPr>
      </p:sp>
      <p:sp>
        <p:nvSpPr>
          <p:cNvPr id="17" name="">
            <a:extLst>
              <a:ext uri="{FF2B5EF4-FFF2-40B4-BE49-F238E27FC236}">
                <ns2:creationId id="{6FE91125-9E11-4841-9934-9B0674187B92}"/>
              </a:ext>
            </a:extLst>
          </p:cNvPr>
          <p:cNvSpPr>
            <a:spLocks noGrp="1"/>
          </p:cNvSpPr>
          <p:nvPr/>
        </p:nvSpPr>
        <p:spPr>
          <a:xfrm>
            <a:off x="6143625" y="2990850"/>
            <a:ext cx="247650" cy="152400"/>
          </a:xfrm>
          <a:prstGeom prst="rightArrow">
            <a:avLst/>
          </a:prstGeom>
          <a:solidFill>
            <a:srgbClr val="75D5FF"/>
          </a:solidFill>
          <a:ln w="14288">
            <a:solidFill>
              <a:srgbClr val="75D5FF"/>
            </a:solidFill>
          </a:ln>
        </p:spPr>
      </p:sp>
      <p:sp>
        <p:nvSpPr>
          <p:cNvPr id="18" name="">
            <a:extLst>
              <a:ext uri="{FF2B5EF4-FFF2-40B4-BE49-F238E27FC236}">
                <ns2:creationId id="{E4CB3ADA-8F79-46A9-8A06-19CF23F1CBD5}"/>
              </a:ext>
            </a:extLst>
          </p:cNvPr>
          <p:cNvSpPr>
            <a:spLocks noGrp="1"/>
          </p:cNvSpPr>
          <p:nvPr/>
        </p:nvSpPr>
        <p:spPr>
          <a:xfrm>
            <a:off x="5915025" y="3724275"/>
            <a:ext cx="228600" cy="0"/>
          </a:xfrm>
          <a:prstGeom prst="line">
            <a:avLst/>
          </a:prstGeom>
          <a:noFill/>
          <a:ln w="19050">
            <a:solidFill>
              <a:srgbClr val="75D5FF"/>
            </a:solidFill>
          </a:ln>
        </p:spPr>
      </p:sp>
      <p:sp>
        <p:nvSpPr>
          <p:cNvPr id="19" name="">
            <a:extLst>
              <a:ext uri="{FF2B5EF4-FFF2-40B4-BE49-F238E27FC236}">
                <ns2:creationId id="{42A6562C-D78C-499E-A198-5B22AFCEA1C7}"/>
              </a:ext>
            </a:extLst>
          </p:cNvPr>
          <p:cNvSpPr>
            <a:spLocks noGrp="1"/>
          </p:cNvSpPr>
          <p:nvPr/>
        </p:nvSpPr>
        <p:spPr>
          <a:xfrm>
            <a:off x="6143625" y="3333750"/>
            <a:ext cx="0" cy="390525"/>
          </a:xfrm>
          <a:prstGeom prst="line">
            <a:avLst/>
          </a:prstGeom>
          <a:noFill/>
          <a:ln w="19050">
            <a:solidFill>
              <a:srgbClr val="75D5FF"/>
            </a:solidFill>
          </a:ln>
        </p:spPr>
      </p:sp>
      <p:sp>
        <p:nvSpPr>
          <p:cNvPr id="20" name="">
            <a:extLst>
              <a:ext uri="{FF2B5EF4-FFF2-40B4-BE49-F238E27FC236}">
                <ns2:creationId id="{7688241B-6854-4B0B-849C-694A1C759337}"/>
              </a:ext>
            </a:extLst>
          </p:cNvPr>
          <p:cNvSpPr>
            <a:spLocks noGrp="1"/>
          </p:cNvSpPr>
          <p:nvPr/>
        </p:nvSpPr>
        <p:spPr>
          <a:xfrm>
            <a:off x="6143625" y="3257550"/>
            <a:ext cx="247650" cy="152400"/>
          </a:xfrm>
          <a:prstGeom prst="rightArrow">
            <a:avLst/>
          </a:prstGeom>
          <a:solidFill>
            <a:srgbClr val="75D5FF"/>
          </a:solidFill>
          <a:ln w="14288">
            <a:solidFill>
              <a:srgbClr val="75D5FF"/>
            </a:solidFill>
          </a:ln>
        </p:spPr>
      </p:sp>
      <p:sp>
        <p:nvSpPr>
          <p:cNvPr id="21" name="">
            <a:extLst>
              <a:ext uri="{FF2B5EF4-FFF2-40B4-BE49-F238E27FC236}">
                <ns2:creationId id="{575C5536-C34D-42E2-A5C3-F74BE237CD06}"/>
              </a:ext>
            </a:extLst>
          </p:cNvPr>
          <p:cNvSpPr>
            <a:spLocks noGrp="1"/>
          </p:cNvSpPr>
          <p:nvPr/>
        </p:nvSpPr>
        <p:spPr>
          <a:xfrm>
            <a:off x="8943975" y="3076575"/>
            <a:ext cx="304800" cy="190500"/>
          </a:xfrm>
          <a:prstGeom prst="rightArrow">
            <a:avLst/>
          </a:prstGeom>
          <a:solidFill>
            <a:srgbClr val="75D5FF"/>
          </a:solidFill>
          <a:ln w="14288">
            <a:solidFill>
              <a:srgbClr val="75D5FF"/>
            </a:solidFill>
          </a:ln>
        </p:spPr>
      </p:sp>
      <p:sp>
        <p:nvSpPr>
          <p:cNvPr id="22" name="">
            <a:extLst>
              <a:ext uri="{FF2B5EF4-FFF2-40B4-BE49-F238E27FC236}">
                <ns2:creationId id="{9C88F09D-D2D6-41A0-83AD-26AEC262AD65}"/>
              </a:ext>
            </a:extLst>
          </p:cNvPr>
          <p:cNvSpPr>
            <a:spLocks noGrp="1"/>
          </p:cNvSpPr>
          <p:nvPr/>
        </p:nvSpPr>
        <p:spPr>
          <a:xfrm>
            <a:off x="9363075" y="2628900"/>
            <a:ext cx="2143125" cy="11049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C: TCN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Temporal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a:ext uri="{FF2B5EF4-FFF2-40B4-BE49-F238E27FC236}">
                <ns2:creationId id="{317ADB2C-F32B-4D95-8C46-04A20D8E288E}"/>
              </a:ext>
            </a:extLst>
          </p:cNvPr>
          <p:cNvSpPr>
            <a:spLocks noGrp="1"/>
          </p:cNvSpPr>
          <p:nvPr/>
        </p:nvSpPr>
        <p:spPr>
          <a:xfrm>
            <a:off x="609600" y="4391025"/>
            <a:ext cx="10858500" cy="314325"/>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Conditional NREM probabilities preserve five-class normalization</a:t>
            </a:r>
          </a:p>
        </p:txBody>
      </p:sp>
      <p:sp>
        <p:nvSpPr>
          <p:cNvPr id="24" name="">
            <a:extLst>
              <a:ext uri="{FF2B5EF4-FFF2-40B4-BE49-F238E27FC236}">
                <ns2:creationId id="{DE1ACA95-E855-4A1F-B12B-6FF458E0823F}"/>
              </a:ext>
            </a:extLst>
          </p:cNvPr>
          <p:cNvSpPr>
            <a:spLocks noGrp="1"/>
          </p:cNvSpPr>
          <p:nvPr/>
        </p:nvSpPr>
        <p:spPr>
          <a:xfrm>
            <a:off x="60960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  Experts</a:t>
            </a:r>
          </a:p>
        </p:txBody>
      </p:sp>
      <p:sp>
        <p:nvSpPr>
          <p:cNvPr id="25" name="">
            <a:extLst>
              <a:ext uri="{FF2B5EF4-FFF2-40B4-BE49-F238E27FC236}">
                <ns2:creationId id="{2774EDC2-F05B-496F-A873-72FF4D742737}"/>
              </a:ext>
            </a:extLst>
          </p:cNvPr>
          <p:cNvSpPr>
            <a:spLocks noGrp="1"/>
          </p:cNvSpPr>
          <p:nvPr/>
        </p:nvSpPr>
        <p:spPr>
          <a:xfrm>
            <a:off x="60960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Test coarse + NREM models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against the current baseline.</a:t>
            </a:r>
          </a:p>
        </p:txBody>
      </p:sp>
      <p:sp>
        <p:nvSpPr>
          <p:cNvPr id="26" name="">
            <a:extLst>
              <a:ext uri="{FF2B5EF4-FFF2-40B4-BE49-F238E27FC236}">
                <ns2:creationId id="{E6B03B76-6445-497E-9CDB-B53197A56DBB}"/>
              </a:ext>
            </a:extLst>
          </p:cNvPr>
          <p:cNvSpPr>
            <a:spLocks noGrp="1"/>
          </p:cNvSpPr>
          <p:nvPr/>
        </p:nvSpPr>
        <p:spPr>
          <a:xfrm>
            <a:off x="4333875"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2  Context + confidence</a:t>
            </a:r>
          </a:p>
        </p:txBody>
      </p:sp>
      <p:sp>
        <p:nvSpPr>
          <p:cNvPr id="27" name="">
            <a:extLst>
              <a:ext uri="{FF2B5EF4-FFF2-40B4-BE49-F238E27FC236}">
                <ns2:creationId id="{49C20E6E-B001-4C6E-9E8E-E929B16775EC}"/>
              </a:ext>
            </a:extLst>
          </p:cNvPr>
          <p:cNvSpPr>
            <a:spLocks noGrp="1"/>
          </p:cNvSpPr>
          <p:nvPr/>
        </p:nvSpPr>
        <p:spPr>
          <a:xfrm>
            <a:off x="4333875"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Train TCN on out-of-fold outputs.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Calibrate final probabilities.</a:t>
            </a:r>
          </a:p>
        </p:txBody>
      </p:sp>
      <p:sp>
        <p:nvSpPr>
          <p:cNvPr id="28" name="">
            <a:extLst>
              <a:ext uri="{FF2B5EF4-FFF2-40B4-BE49-F238E27FC236}">
                <ns2:creationId id="{E8822F42-E185-4C89-ABAF-97E1DC39CA4E}"/>
              </a:ext>
            </a:extLst>
          </p:cNvPr>
          <p:cNvSpPr>
            <a:spLocks noGrp="1"/>
          </p:cNvSpPr>
          <p:nvPr/>
        </p:nvSpPr>
        <p:spPr>
          <a:xfrm>
            <a:off x="809625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3  Broader validation</a:t>
            </a:r>
          </a:p>
        </p:txBody>
      </p:sp>
      <p:sp>
        <p:nvSpPr>
          <p:cNvPr id="29" name="">
            <a:extLst>
              <a:ext uri="{FF2B5EF4-FFF2-40B4-BE49-F238E27FC236}">
                <ns2:creationId id="{34DB2A65-C847-472B-B292-6A2C0467AE30}"/>
              </a:ext>
            </a:extLst>
          </p:cNvPr>
          <p:cNvSpPr>
            <a:spLocks noGrp="1"/>
          </p:cNvSpPr>
          <p:nvPr/>
        </p:nvSpPr>
        <p:spPr>
          <a:xfrm>
            <a:off x="809625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New locked cohort, then external</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data and optional EOG / EMG.</a:t>
            </a:r>
          </a:p>
        </p:txBody>
      </p:sp>
    </p:spTree>
    <p:extLst>
      <p:ext uri="{BB962C8B-B14F-4D97-AF65-F5344CB8AC3E}">
        <ns3:creationId val="27551224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57889F58-0FD7-40A1-B98C-B60CA001EA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3D66711-83FB-44E7-8D99-D15604A414D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Conclusion and next milestones</a:t>
            </a:r>
          </a:p>
        </p:txBody>
      </p:sp>
      <p:sp>
        <p:nvSpPr>
          <p:cNvPr id="3" name="">
            <a:extLst>
              <a:ext uri="{FF2B5EF4-FFF2-40B4-BE49-F238E27FC236}">
                <ns2:creationId id="{BA17DEB7-E593-44AB-8D22-C6356583F0C8}"/>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341FE588-7C3F-4116-A328-416E8D85FE4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96B13D83-29CF-4B51-8CC5-266BFA8741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14 / 15</a:t>
            </a:r>
          </a:p>
        </p:txBody>
      </p:sp>
      <p:sp>
        <p:nvSpPr>
          <p:cNvPr id="6" name="">
            <a:extLst>
              <a:ext uri="{FF2B5EF4-FFF2-40B4-BE49-F238E27FC236}">
                <ns2:creationId id="{6DC7C425-965E-4A4C-AB2A-6095653403AA}"/>
              </a:ext>
            </a:extLst>
          </p:cNvPr>
          <p:cNvSpPr>
            <a:spLocks noGrp="1"/>
          </p:cNvSpPr>
          <p:nvPr/>
        </p:nvSpPr>
        <p:spPr>
          <a:xfrm>
            <a:off x="609600" y="1695450"/>
            <a:ext cx="49530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What is demonstrated</a:t>
            </a:r>
          </a:p>
        </p:txBody>
      </p:sp>
      <p:sp>
        <p:nvSpPr>
          <p:cNvPr id="7" name="">
            <a:extLst>
              <a:ext uri="{FF2B5EF4-FFF2-40B4-BE49-F238E27FC236}">
                <ns2:creationId id="{8F175AD2-5F1A-4A6B-9994-8152C7727C03}"/>
              </a:ext>
            </a:extLst>
          </p:cNvPr>
          <p:cNvSpPr>
            <a:spLocks noGrp="1"/>
          </p:cNvSpPr>
          <p:nvPr/>
        </p:nvSpPr>
        <p:spPr>
          <a:xfrm>
            <a:off x="609600" y="2390775"/>
            <a:ext cx="5076825" cy="1104900"/>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Spectral features improve</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N1/N2 discrimination</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in the current experiment.</a:t>
            </a:r>
          </a:p>
        </p:txBody>
      </p:sp>
      <p:sp>
        <p:nvSpPr>
          <p:cNvPr id="8" name="">
            <a:extLst>
              <a:ext uri="{FF2B5EF4-FFF2-40B4-BE49-F238E27FC236}">
                <ns2:creationId id="{E194DBFF-4AF2-4739-88D0-7CD5336B4A81}"/>
              </a:ext>
            </a:extLst>
          </p:cNvPr>
          <p:cNvSpPr>
            <a:spLocks noGrp="1"/>
          </p:cNvSpPr>
          <p:nvPr/>
        </p:nvSpPr>
        <p:spPr>
          <a:xfrm>
            <a:off x="609600" y="3629025"/>
            <a:ext cx="5076825" cy="11334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59.34% test accuracy; 59.51% macro F1.</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complete notebook-to-GUI pipeline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produces stage labels and profiles.</a:t>
            </a:r>
          </a:p>
        </p:txBody>
      </p:sp>
      <p:sp>
        <p:nvSpPr>
          <p:cNvPr id="9" name="">
            <a:extLst>
              <a:ext uri="{FF2B5EF4-FFF2-40B4-BE49-F238E27FC236}">
                <ns2:creationId id="{702BBC20-D3E8-40BD-AB6A-EE0E9468F408}"/>
              </a:ext>
            </a:extLst>
          </p:cNvPr>
          <p:cNvSpPr>
            <a:spLocks noGrp="1"/>
          </p:cNvSpPr>
          <p:nvPr/>
        </p:nvSpPr>
        <p:spPr>
          <a:xfrm>
            <a:off x="609600" y="5305425"/>
            <a:ext cx="5076825" cy="723900"/>
          </a:xfrm>
          <a:prstGeom prst="rect">
            <a:avLst/>
          </a:prstGeom>
          <a:noFill/>
          <a:ln w="0">
            <a:noFill/>
          </a:ln>
        </p:spPr>
        <p:txBody>
          <a:bodyPr lIns="0" tIns="0" rIns="0" bIns="0" anchor="t">
            <a:noAutofit/>
          </a:bodyPr>
          <a:lstStyle/>
          <a:p>
            <a:pPr algn="l">
              <a:buNone/>
              <a:defRPr sz="1725" b="0">
                <a:solidFill>
                  <a:srgbClr val="BED0E4"/>
                </a:solidFill>
                <a:latin typeface="Arial"/>
                <a:ea typeface="Arial"/>
                <a:cs typeface="Arial"/>
              </a:defRPr>
            </a:pPr>
            <a:r>
              <a:rPr sz="1725" b="0">
                <a:solidFill>
                  <a:srgbClr val="BED0E4"/>
                </a:solidFill>
                <a:latin typeface="Arial"/>
                <a:ea typeface="Arial"/>
                <a:cs typeface="Arial"/>
              </a:rPr>
              <a:t>Limits: 4 test recordings, partial SN001,</a:t>
            </a:r>
          </a:p>
          <a:p>
            <a:pPr algn="l">
              <a:buNone/>
              <a:defRPr sz="1725" b="0">
                <a:solidFill>
                  <a:srgbClr val="BED0E4"/>
                </a:solidFill>
                <a:latin typeface="Arial"/>
                <a:ea typeface="Arial"/>
                <a:cs typeface="Arial"/>
              </a:defRPr>
            </a:pPr>
            <a:r>
              <a:rPr sz="1725" b="0">
                <a:solidFill>
                  <a:srgbClr val="BED0E4"/>
                </a:solidFill>
                <a:latin typeface="Arial"/>
                <a:ea typeface="Arial"/>
                <a:cs typeface="Arial"/>
              </a:rPr>
              <a:t>N1 F1 40.63%, no clinical validation.</a:t>
            </a:r>
          </a:p>
        </p:txBody>
      </p:sp>
      <p:sp>
        <p:nvSpPr>
          <p:cNvPr id="10" name="">
            <a:extLst>
              <a:ext uri="{FF2B5EF4-FFF2-40B4-BE49-F238E27FC236}">
                <ns2:creationId id="{372E7CAD-E952-48BB-BA74-B81162AF8FEF}"/>
              </a:ext>
            </a:extLst>
          </p:cNvPr>
          <p:cNvSpPr>
            <a:spLocks noGrp="1"/>
          </p:cNvSpPr>
          <p:nvPr/>
        </p:nvSpPr>
        <p:spPr>
          <a:xfrm>
            <a:off x="6591300" y="1695450"/>
            <a:ext cx="49149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Next milestones</a:t>
            </a:r>
          </a:p>
        </p:txBody>
      </p:sp>
      <p:sp>
        <p:nvSpPr>
          <p:cNvPr id="11" name="">
            <a:extLst>
              <a:ext uri="{FF2B5EF4-FFF2-40B4-BE49-F238E27FC236}">
                <ns2:creationId id="{B6BFFA03-1C20-4089-B268-BAC86216926B}"/>
              </a:ext>
            </a:extLst>
          </p:cNvPr>
          <p:cNvSpPr>
            <a:spLocks noGrp="1"/>
          </p:cNvSpPr>
          <p:nvPr/>
        </p:nvSpPr>
        <p:spPr>
          <a:xfrm>
            <a:off x="6591300" y="239077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01  Audit full EDF alignment and quality;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reserve a new locked test cohort.</a:t>
            </a:r>
          </a:p>
        </p:txBody>
      </p:sp>
      <p:sp>
        <p:nvSpPr>
          <p:cNvPr id="12" name="">
            <a:extLst>
              <a:ext uri="{FF2B5EF4-FFF2-40B4-BE49-F238E27FC236}">
                <ns2:creationId id="{0F86E9A1-8DF3-4D3A-9992-A84A74178445}"/>
              </a:ext>
            </a:extLst>
          </p:cNvPr>
          <p:cNvSpPr>
            <a:spLocks noGrp="1"/>
          </p:cNvSpPr>
          <p:nvPr/>
        </p:nvSpPr>
        <p:spPr>
          <a:xfrm>
            <a:off x="6591300" y="3409950"/>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02  Compare experts, soft fusion and TCN</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through controlled ablations.</a:t>
            </a:r>
          </a:p>
        </p:txBody>
      </p:sp>
      <p:sp>
        <p:nvSpPr>
          <p:cNvPr id="13" name="">
            <a:extLst>
              <a:ext uri="{FF2B5EF4-FFF2-40B4-BE49-F238E27FC236}">
                <ns2:creationId id="{ED48A36B-27E7-4C31-A251-73D9F96568C0}"/>
              </a:ext>
            </a:extLst>
          </p:cNvPr>
          <p:cNvSpPr>
            <a:spLocks noGrp="1"/>
          </p:cNvSpPr>
          <p:nvPr/>
        </p:nvSpPr>
        <p:spPr>
          <a:xfrm>
            <a:off x="6591300" y="442912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03  Evaluate calibration, external data</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and biomarker errors; add modalities.</a:t>
            </a:r>
          </a:p>
        </p:txBody>
      </p:sp>
      <p:sp>
        <p:nvSpPr>
          <p:cNvPr id="14" name="">
            <a:extLst>
              <a:ext uri="{FF2B5EF4-FFF2-40B4-BE49-F238E27FC236}">
                <ns2:creationId id="{B1063E6F-0A85-4CB7-96CE-897D3FC1E218}"/>
              </a:ext>
            </a:extLst>
          </p:cNvPr>
          <p:cNvSpPr>
            <a:spLocks noGrp="1"/>
          </p:cNvSpPr>
          <p:nvPr/>
        </p:nvSpPr>
        <p:spPr>
          <a:xfrm>
            <a:off x="6591300" y="5534025"/>
            <a:ext cx="4914900" cy="647700"/>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Evaluate macro F1, N1/N2 F1, calibration,</a:t>
            </a:r>
          </a:p>
          <a:p>
            <a:pPr algn="l">
              <a:buNone/>
              <a:defRPr sz="1650" b="1">
                <a:solidFill>
                  <a:srgbClr val="75D5FF"/>
                </a:solidFill>
                <a:latin typeface="Arial"/>
                <a:ea typeface="Arial"/>
                <a:cs typeface="Arial"/>
              </a:defRPr>
            </a:pPr>
            <a:r>
              <a:rPr sz="1650" b="1">
                <a:solidFill>
                  <a:srgbClr val="75D5FF"/>
                </a:solidFill>
                <a:latin typeface="Arial"/>
                <a:ea typeface="Arial"/>
                <a:cs typeface="Arial"/>
              </a:rPr>
              <a:t>latency and errors in sleep biomarkers.</a:t>
            </a:r>
          </a:p>
        </p:txBody>
      </p:sp>
    </p:spTree>
    <p:extLst>
      <p:ext uri="{BB962C8B-B14F-4D97-AF65-F5344CB8AC3E}">
        <ns3:creationId val="183011997"/>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8" name="">
            <a:extLst>
              <a:ext uri="{FF2B5EF4-FFF2-40B4-BE49-F238E27FC236}">
                <ns2:creationId id="{AA627741-2CBB-476A-9024-2B50098D678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B119F24-8BD6-4C37-800F-9909C6C25909}"/>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Team members and project mentor</a:t>
            </a:r>
          </a:p>
        </p:txBody>
      </p:sp>
      <p:sp>
        <p:nvSpPr>
          <p:cNvPr id="3" name="">
            <a:extLst>
              <a:ext uri="{FF2B5EF4-FFF2-40B4-BE49-F238E27FC236}">
                <ns2:creationId id="{94F41877-A040-45C6-B1ED-4683A2AD1592}"/>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3E1D13E-976A-43F0-890F-7C6F80D34C10}"/>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Information and Communication Technology · Pandit Deendayal Energy University</a:t>
            </a:r>
          </a:p>
        </p:txBody>
      </p:sp>
      <p:sp>
        <p:nvSpPr>
          <p:cNvPr id="5" name="">
            <a:extLst>
              <a:ext uri="{FF2B5EF4-FFF2-40B4-BE49-F238E27FC236}">
                <ns2:creationId id="{846AEC2C-5769-4E27-B976-A47335B71AEF}"/>
              </a:ext>
            </a:extLst>
          </p:cNvPr>
          <p:cNvSpPr>
            <a:spLocks noGrp="1"/>
          </p:cNvSpPr>
          <p:nvPr/>
        </p:nvSpPr>
        <p:spPr>
          <a:xfrm>
            <a:off x="60960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3" name=""/>
          <p:cNvPicPr>
            <a:picLocks noChangeAspect="1"/>
          </p:cNvPicPr>
          <p:nvPr/>
        </p:nvPicPr>
        <p:blipFill>
          <a:blip ns3:embed="R745b40c6bad948f6"/>
          <a:stretch/>
        </p:blipFill>
        <p:spPr>
          <a:xfrm>
            <a:off x="1240838" y="2162175"/>
            <a:ext cx="2223674" cy="2981325"/>
          </a:xfrm>
          <a:prstGeom prst="rect">
            <a:avLst/>
          </a:prstGeom>
        </p:spPr>
      </p:pic>
      <p:sp>
        <p:nvSpPr>
          <p:cNvPr id="7" name="">
            <a:extLst>
              <a:ext uri="{FF2B5EF4-FFF2-40B4-BE49-F238E27FC236}">
                <ns2:creationId id="{B3E799DC-E3AA-4743-BFF3-423BF7323399}"/>
              </a:ext>
            </a:extLst>
          </p:cNvPr>
          <p:cNvSpPr>
            <a:spLocks noGrp="1"/>
          </p:cNvSpPr>
          <p:nvPr/>
        </p:nvSpPr>
        <p:spPr>
          <a:xfrm>
            <a:off x="60960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Om Ahuja</a:t>
            </a:r>
          </a:p>
        </p:txBody>
      </p:sp>
      <p:sp>
        <p:nvSpPr>
          <p:cNvPr id="8" name="">
            <a:extLst>
              <a:ext uri="{FF2B5EF4-FFF2-40B4-BE49-F238E27FC236}">
                <ns2:creationId id="{F3272769-5B85-45B4-8DA7-67E6CF4C4DF9}"/>
              </a:ext>
            </a:extLst>
          </p:cNvPr>
          <p:cNvSpPr>
            <a:spLocks noGrp="1"/>
          </p:cNvSpPr>
          <p:nvPr/>
        </p:nvSpPr>
        <p:spPr>
          <a:xfrm>
            <a:off x="60960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23BIT014</a:t>
            </a:r>
          </a:p>
        </p:txBody>
      </p:sp>
      <p:sp>
        <p:nvSpPr>
          <p:cNvPr id="9" name="">
            <a:extLst>
              <a:ext uri="{FF2B5EF4-FFF2-40B4-BE49-F238E27FC236}">
                <ns2:creationId id="{5D17A613-3E77-4CA6-A4C0-0887B2C7E10B}"/>
              </a:ext>
            </a:extLst>
          </p:cNvPr>
          <p:cNvSpPr>
            <a:spLocks noGrp="1"/>
          </p:cNvSpPr>
          <p:nvPr/>
        </p:nvSpPr>
        <p:spPr>
          <a:xfrm>
            <a:off x="4333875"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7" name=""/>
          <p:cNvPicPr>
            <a:picLocks noChangeAspect="1"/>
          </p:cNvPicPr>
          <p:nvPr/>
        </p:nvPicPr>
        <p:blipFill>
          <a:blip ns3:embed="R364eb03ae8744eaf"/>
          <a:stretch/>
        </p:blipFill>
        <p:spPr>
          <a:xfrm>
            <a:off x="4648200" y="2224088"/>
            <a:ext cx="2857500" cy="2857500"/>
          </a:xfrm>
          <a:prstGeom prst="rect">
            <a:avLst/>
          </a:prstGeom>
        </p:spPr>
      </p:pic>
      <p:sp>
        <p:nvSpPr>
          <p:cNvPr id="11" name="">
            <a:extLst>
              <a:ext uri="{FF2B5EF4-FFF2-40B4-BE49-F238E27FC236}">
                <ns2:creationId id="{F2133E18-AD0F-4030-B574-93974F6ECE7D}"/>
              </a:ext>
            </a:extLst>
          </p:cNvPr>
          <p:cNvSpPr>
            <a:spLocks noGrp="1"/>
          </p:cNvSpPr>
          <p:nvPr/>
        </p:nvSpPr>
        <p:spPr>
          <a:xfrm>
            <a:off x="4333875"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Rikin Parekh</a:t>
            </a:r>
          </a:p>
        </p:txBody>
      </p:sp>
      <p:sp>
        <p:nvSpPr>
          <p:cNvPr id="12" name="">
            <a:extLst>
              <a:ext uri="{FF2B5EF4-FFF2-40B4-BE49-F238E27FC236}">
                <ns2:creationId id="{525D7CD5-2ADA-45D9-972D-BBFA14114147}"/>
              </a:ext>
            </a:extLst>
          </p:cNvPr>
          <p:cNvSpPr>
            <a:spLocks noGrp="1"/>
          </p:cNvSpPr>
          <p:nvPr/>
        </p:nvSpPr>
        <p:spPr>
          <a:xfrm>
            <a:off x="4333875"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23BIT044</a:t>
            </a:r>
          </a:p>
        </p:txBody>
      </p:sp>
      <p:sp>
        <p:nvSpPr>
          <p:cNvPr id="13" name="">
            <a:extLst>
              <a:ext uri="{FF2B5EF4-FFF2-40B4-BE49-F238E27FC236}">
                <ns2:creationId id="{66575C39-712A-487B-8556-C5B648231F2F}"/>
              </a:ext>
            </a:extLst>
          </p:cNvPr>
          <p:cNvSpPr>
            <a:spLocks noGrp="1"/>
          </p:cNvSpPr>
          <p:nvPr/>
        </p:nvSpPr>
        <p:spPr>
          <a:xfrm>
            <a:off x="805815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PROJECT MENTOR</a:t>
            </a:r>
          </a:p>
        </p:txBody>
      </p:sp>
      <p:pic>
        <p:nvPicPr>
          <p:cNvPr id="31" name=""/>
          <p:cNvPicPr>
            <a:picLocks noChangeAspect="1"/>
          </p:cNvPicPr>
          <p:nvPr/>
        </p:nvPicPr>
        <p:blipFill>
          <a:blip ns3:embed="Rf57f479c30b643df"/>
          <a:stretch/>
        </p:blipFill>
        <p:spPr>
          <a:xfrm>
            <a:off x="8372475" y="2329352"/>
            <a:ext cx="2857500" cy="2646970"/>
          </a:xfrm>
          <a:prstGeom prst="rect">
            <a:avLst/>
          </a:prstGeom>
        </p:spPr>
      </p:pic>
      <p:sp>
        <p:nvSpPr>
          <p:cNvPr id="15" name="">
            <a:extLst>
              <a:ext uri="{FF2B5EF4-FFF2-40B4-BE49-F238E27FC236}">
                <ns2:creationId id="{A2C13908-DAAC-4829-B0EA-0F70E0588E1A}"/>
              </a:ext>
            </a:extLst>
          </p:cNvPr>
          <p:cNvSpPr>
            <a:spLocks noGrp="1"/>
          </p:cNvSpPr>
          <p:nvPr/>
        </p:nvSpPr>
        <p:spPr>
          <a:xfrm>
            <a:off x="805815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Dr. Santosh Sathpathy</a:t>
            </a:r>
          </a:p>
        </p:txBody>
      </p:sp>
      <p:sp>
        <p:nvSpPr>
          <p:cNvPr id="16" name="">
            <a:extLst>
              <a:ext uri="{FF2B5EF4-FFF2-40B4-BE49-F238E27FC236}">
                <ns2:creationId id="{C9750D5B-0B67-460F-BD3D-55C34C1E9F8E}"/>
              </a:ext>
            </a:extLst>
          </p:cNvPr>
          <p:cNvSpPr>
            <a:spLocks noGrp="1"/>
          </p:cNvSpPr>
          <p:nvPr/>
        </p:nvSpPr>
        <p:spPr>
          <a:xfrm>
            <a:off x="805815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Project guide</a:t>
            </a:r>
          </a:p>
        </p:txBody>
      </p:sp>
      <p:sp>
        <p:nvSpPr>
          <p:cNvPr id="17" name="">
            <a:extLst>
              <a:ext uri="{FF2B5EF4-FFF2-40B4-BE49-F238E27FC236}">
                <ns2:creationId id="{6DA69DB5-8592-4508-B013-7C66A59775A5}"/>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15 / 15</a:t>
            </a:r>
          </a:p>
        </p:txBody>
      </p:sp>
    </p:spTree>
    <p:extLst>
      <p:ext uri="{BB962C8B-B14F-4D97-AF65-F5344CB8AC3E}">
        <ns4:creationId val="120200175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2026-10-08T12:21:18.7390000Z</dcterms:created>
  <dcterms:modified xsi:type="dcterms:W3CDTF">2026-10-08T12:21:18.7390000Z</dcterms:modified>
</coreProperties>
</file>