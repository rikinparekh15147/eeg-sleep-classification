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74ff81ed39a48bd" /><Relationship Type="http://schemas.openxmlformats.org/officeDocument/2006/relationships/extended-properties" Target="/docProps/app.xml" Id="Rfb1e69b00bc04e09" /><Relationship Type="http://schemas.openxmlformats.org/officeDocument/2006/relationships/officeDocument" Target="/ppt/presentation.xml" Id="R972be7cb04604708" /></Relationships>
</file>

<file path=ppt/presentation.xml><?xml version="1.0" encoding="utf-8"?>
<p:presentation xmlns:p="http://schemas.openxmlformats.org/presentationml/2006/main">
  <p:sldMasterIdLst>
    <p:sldMasterId xmlns:r="http://schemas.openxmlformats.org/officeDocument/2006/relationships" id="2147483648" r:id="R9754ef9a97134ded"/>
  </p:sldMasterIdLst>
  <p:notesMasterIdLst>
    <p:notesMasterId xmlns:r="http://schemas.openxmlformats.org/officeDocument/2006/relationships" r:id="R4f4f7b453b5147e3"/>
  </p:notesMasterIdLst>
  <p:sldIdLst>
    <p:sldId xmlns:r="http://schemas.openxmlformats.org/officeDocument/2006/relationships" id="256" r:id="Rbbf69508b7914b7f"/>
    <p:sldId xmlns:r="http://schemas.openxmlformats.org/officeDocument/2006/relationships" id="257" r:id="R83e62e33a50d4431"/>
    <p:sldId xmlns:r="http://schemas.openxmlformats.org/officeDocument/2006/relationships" id="258" r:id="R40347c9d24054694"/>
    <p:sldId xmlns:r="http://schemas.openxmlformats.org/officeDocument/2006/relationships" id="259" r:id="Rb8c94370c5b14626"/>
    <p:sldId xmlns:r="http://schemas.openxmlformats.org/officeDocument/2006/relationships" id="260" r:id="R731efc88adfd4a57"/>
    <p:sldId xmlns:r="http://schemas.openxmlformats.org/officeDocument/2006/relationships" id="261" r:id="Rf819ee0ceb074c18"/>
    <p:sldId xmlns:r="http://schemas.openxmlformats.org/officeDocument/2006/relationships" id="262" r:id="R8d0108c1daad48b8"/>
    <p:sldId xmlns:r="http://schemas.openxmlformats.org/officeDocument/2006/relationships" id="263" r:id="R10d3af6deb8b4b71"/>
    <p:sldId xmlns:r="http://schemas.openxmlformats.org/officeDocument/2006/relationships" id="264" r:id="Ra6d73852430d4476"/>
    <p:sldId xmlns:r="http://schemas.openxmlformats.org/officeDocument/2006/relationships" id="265" r:id="Rcfb9e8cb619f4774"/>
    <p:sldId xmlns:r="http://schemas.openxmlformats.org/officeDocument/2006/relationships" id="266" r:id="R431b2eb1de444ae1"/>
    <p:sldId xmlns:r="http://schemas.openxmlformats.org/officeDocument/2006/relationships" id="267" r:id="R35d54b1cba614e34"/>
    <p:sldId xmlns:r="http://schemas.openxmlformats.org/officeDocument/2006/relationships" id="268" r:id="Rec8473d5566946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41d873dc86cc430b" /><Relationship Type="http://schemas.openxmlformats.org/officeDocument/2006/relationships/slideMaster" Target="/ppt/slideMasters/slideMaster1.xml" Id="R9754ef9a97134ded" /><Relationship Type="http://schemas.openxmlformats.org/officeDocument/2006/relationships/notesMaster" Target="/ppt/notesMasters/notesMaster1.xml" Id="R4f4f7b453b5147e3" /><Relationship Type="http://schemas.openxmlformats.org/officeDocument/2006/relationships/presProps" Target="/ppt/presProps.xml" Id="R14316f912f974ff7" /><Relationship Type="http://schemas.openxmlformats.org/officeDocument/2006/relationships/viewProps" Target="/ppt/viewProps.xml" Id="Ra3d9eeb96aa7486c" /><Relationship Type="http://schemas.openxmlformats.org/officeDocument/2006/relationships/tableStyles" Target="/ppt/tableStyles.xml" Id="R691f933a12504eca" /><Relationship Type="http://schemas.openxmlformats.org/officeDocument/2006/relationships/slide" Target="/ppt/slides/slide1.xml" Id="Rbbf69508b7914b7f" /><Relationship Type="http://schemas.openxmlformats.org/officeDocument/2006/relationships/slide" Target="/ppt/slides/slide2.xml" Id="R83e62e33a50d4431" /><Relationship Type="http://schemas.openxmlformats.org/officeDocument/2006/relationships/slide" Target="/ppt/slides/slide3.xml" Id="R40347c9d24054694" /><Relationship Type="http://schemas.openxmlformats.org/officeDocument/2006/relationships/slide" Target="/ppt/slides/slide4.xml" Id="Rb8c94370c5b14626" /><Relationship Type="http://schemas.openxmlformats.org/officeDocument/2006/relationships/slide" Target="/ppt/slides/slide5.xml" Id="R731efc88adfd4a57" /><Relationship Type="http://schemas.openxmlformats.org/officeDocument/2006/relationships/slide" Target="/ppt/slides/slide6.xml" Id="Rf819ee0ceb074c18" /><Relationship Type="http://schemas.openxmlformats.org/officeDocument/2006/relationships/slide" Target="/ppt/slides/slide7.xml" Id="R8d0108c1daad48b8" /><Relationship Type="http://schemas.openxmlformats.org/officeDocument/2006/relationships/slide" Target="/ppt/slides/slide8.xml" Id="R10d3af6deb8b4b71" /><Relationship Type="http://schemas.openxmlformats.org/officeDocument/2006/relationships/slide" Target="/ppt/slides/slide9.xml" Id="Ra6d73852430d4476" /><Relationship Type="http://schemas.openxmlformats.org/officeDocument/2006/relationships/slide" Target="/ppt/slides/slide10.xml" Id="Rcfb9e8cb619f4774" /><Relationship Type="http://schemas.openxmlformats.org/officeDocument/2006/relationships/slide" Target="/ppt/slides/slide11.xml" Id="R431b2eb1de444ae1" /><Relationship Type="http://schemas.openxmlformats.org/officeDocument/2006/relationships/slide" Target="/ppt/slides/slide12.xml" Id="R35d54b1cba614e34" /><Relationship Type="http://schemas.openxmlformats.org/officeDocument/2006/relationships/slide" Target="/ppt/slides/slide13.xml" Id="Rec8473d5566946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0b3751e0f64e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0c659558384cff" /><Relationship Type="http://schemas.openxmlformats.org/officeDocument/2006/relationships/notesMaster" Target="/ppt/notesMasters/notesMaster1.xml" Id="R37439a6c166b40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cc61d234404d92" /><Relationship Type="http://schemas.openxmlformats.org/officeDocument/2006/relationships/notesMaster" Target="/ppt/notesMasters/notesMaster1.xml" Id="R63b9df0563b245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934152b0dd42a0" /><Relationship Type="http://schemas.openxmlformats.org/officeDocument/2006/relationships/notesMaster" Target="/ppt/notesMasters/notesMaster1.xml" Id="R0f941deb92eb43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e208095af44394" /><Relationship Type="http://schemas.openxmlformats.org/officeDocument/2006/relationships/notesMaster" Target="/ppt/notesMasters/notesMaster1.xml" Id="Rdd8152a8dbff47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30e455821e400c" /><Relationship Type="http://schemas.openxmlformats.org/officeDocument/2006/relationships/notesMaster" Target="/ppt/notesMasters/notesMaster1.xml" Id="Re5af2ae962ec48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e1c5ae26ff4724" /><Relationship Type="http://schemas.openxmlformats.org/officeDocument/2006/relationships/notesMaster" Target="/ppt/notesMasters/notesMaster1.xml" Id="R11ffd02902be40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6e6c55e4fa4612" /><Relationship Type="http://schemas.openxmlformats.org/officeDocument/2006/relationships/notesMaster" Target="/ppt/notesMasters/notesMaster1.xml" Id="R0c49b415150344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ce712b03eb4367" /><Relationship Type="http://schemas.openxmlformats.org/officeDocument/2006/relationships/notesMaster" Target="/ppt/notesMasters/notesMaster1.xml" Id="R7f5df89413f44d4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6dd2f139a4441f" /><Relationship Type="http://schemas.openxmlformats.org/officeDocument/2006/relationships/notesMaster" Target="/ppt/notesMasters/notesMaster1.xml" Id="Rebe3b019a0e8496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3965305126403e" /><Relationship Type="http://schemas.openxmlformats.org/officeDocument/2006/relationships/notesMaster" Target="/ppt/notesMasters/notesMaster1.xml" Id="Rc6e0ab6a66994a3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91d3f133c0d4725" /><Relationship Type="http://schemas.openxmlformats.org/officeDocument/2006/relationships/notesMaster" Target="/ppt/notesMasters/notesMaster1.xml" Id="R8c0b61b8bf6a4c9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1782ce9ac64d29" /><Relationship Type="http://schemas.openxmlformats.org/officeDocument/2006/relationships/notesMaster" Target="/ppt/notesMasters/notesMaster1.xml" Id="Rd31dbdf12db7426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34d867a7ccc4098" /><Relationship Type="http://schemas.openxmlformats.org/officeDocument/2006/relationships/notesMaster" Target="/ppt/notesMasters/notesMaster1.xml" Id="R8c6a54943b0443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Our project classifies five sleep stages, adds a targeted spectral refiner for N1/N2, and derives descriptive recording profiles. This is a progress presentation. The main implementation is the biomarker N1/N2 refinement notebook. Names and institutional details are retained from the existing deck.</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the project exists: Sleep supports learning, memory and physical health. Time asleep does not describe interruptions or stage distribution. Sleep staging creates a hypnogram and enables onset, Wake after sleep onset, stage durations and stage proportions to be measured. These measurements describe sleep organization and can support research and expert sleep-study review.</a:t>
            </a:r>
          </a:p>
          <a:p xmlns:a="http://schemas.openxmlformats.org/drawingml/2006/main">
            <a:r>
              <a:t/>
            </a:r>
          </a:p>
          <a:p xmlns:a="http://schemas.openxmlformats.org/drawingml/2006/main">
            <a:r>
              <a:t>Why choose this engineering project: EEG provides brain activity used in staging; the public HMC dataset provides expert labels for reproducible testing. Our saved baseline has 506 true N2 epochs predicted as N1, giving a specific, measurable weakness to investigate with complementary spectral features. N1/N2 errors can distort their proportions and transition counts. Relabeling between two sleep stages does not change total sleep time or efficiency. This is the reason for targeted refinement rather than a general claim of improving every aspect of sleep quality.</a:t>
            </a:r>
          </a:p>
          <a:p xmlns:a="http://schemas.openxmlformats.org/drawingml/2006/main">
            <a:r>
              <a:t/>
            </a:r>
          </a:p>
          <a:p xmlns:a="http://schemas.openxmlformats.org/drawingml/2006/main">
            <a:r>
              <a:t>Potential users: researchers analyzing recordings and, after suitable external and clinical validation, experts reviewing sleep studies. Automation could reduce repetitive scoring work; this project has not measured clinician time savings or demonstrated clinical utility. It does not infer apnea, diagnose disease, or prescribe treatment. Those tasks require appropriate additional measurements and validation. Research reference profiles are not healthy normative judgments.</a:t>
            </a:r>
          </a:p>
          <a:p xmlns:a="http://schemas.openxmlformats.org/drawingml/2006/main">
            <a:r>
              <a:t/>
            </a:r>
          </a:p>
          <a:p xmlns:a="http://schemas.openxmlformats.org/drawingml/2006/main">
            <a:r>
              <a:t>Sources:</a:t>
            </a:r>
          </a:p>
          <a:p xmlns:a="http://schemas.openxmlformats.org/drawingml/2006/main">
            <a:r>
              <a:t>https://www.nhlbi.nih.gov/health/sleep/why-sleep-important</a:t>
            </a:r>
          </a:p>
          <a:p xmlns:a="http://schemas.openxmlformats.org/drawingml/2006/main">
            <a:r>
              <a:t>https://www.nhlbi.nih.gov/health/sleep/stages-of-sleep</a:t>
            </a:r>
          </a:p>
          <a:p xmlns:a="http://schemas.openxmlformats.org/drawingml/2006/main">
            <a:r>
              <a:t>https://www.nature.com/articles/s41746-021-00440-5</a:t>
            </a:r>
          </a:p>
          <a:p xmlns:a="http://schemas.openxmlformats.org/drawingml/2006/main">
            <a:r>
              <a:t>https://physionet.org/content/hmc-sleep-staging/1.1/</a:t>
            </a:r>
          </a:p>
          <a:p xmlns:a="http://schemas.openxmlformats.org/drawingml/2006/main">
            <a:r>
              <a:t>Biomarker_N1_N2_Refinement.ipynb; refinement_artifacts/verified/final_results.json and confusion matrices.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distinction: N1, N2 and N3 are stages of non-REM sleep, and REM is the other sleep phase. Wake is an additional class used to score awake epochs; it is not a sleep stage. A sleep cycle is a repeating combination of NREM and REM, not a synonym for one stage. The real sequence varies and can include returns to lighter stages and brief awakenings. The current system classifies 30-second epochs and displays their sequence; it does not separately validate or count complete physiological cycles.</a:t>
            </a:r>
          </a:p>
          <a:p xmlns:a="http://schemas.openxmlformats.org/drawingml/2006/main">
            <a:r>
              <a:t/>
            </a:r>
          </a:p>
          <a:p xmlns:a="http://schemas.openxmlformats.org/drawingml/2006/main">
            <a:r>
              <a:t>N1 is the transition into light sleep. N2 is light non-REM sleep with slower brain activity. N3 is deep slow-wave sleep and supports restoration. REM includes active brain activity, rapid eye movements and frequent vivid dreaming. N3 generally occupies more time early in the night; REM periods generally become longer later. Both non-REM and REM support learning and memory, so no single stage is a complete measure of sleep quality. Stage patterns vary with age and other factors. These are general physiology descriptions, not healthy threshold rules for this project. Eye movement and muscle tone are physiological characteristics; the current four-channel EEG classifier infers the stage and does not measure those signals directly.</a:t>
            </a:r>
          </a:p>
          <a:p xmlns:a="http://schemas.openxmlformats.org/drawingml/2006/main">
            <a:r>
              <a:t/>
            </a:r>
          </a:p>
          <a:p xmlns:a="http://schemas.openxmlformats.org/drawingml/2006/main">
            <a:r>
              <a:t>Practical link: Wake epochs yield sleep onset and interruptions; sleep labels yield stage time and architecture. Confusing N1 and N2 changes the estimated architecture, motivating our focused refinement. Classifying stages is a prerequisite for useful descriptive summaries, while evidence for diagnosis or treatment remains separate.</a:t>
            </a:r>
          </a:p>
          <a:p xmlns:a="http://schemas.openxmlformats.org/drawingml/2006/main">
            <a:r>
              <a:t/>
            </a:r>
          </a:p>
          <a:p xmlns:a="http://schemas.openxmlformats.org/drawingml/2006/main">
            <a:r>
              <a:t>Sources:</a:t>
            </a:r>
          </a:p>
          <a:p xmlns:a="http://schemas.openxmlformats.org/drawingml/2006/main">
            <a:r>
              <a:t>https://www.nhlbi.nih.gov/health/sleep/stages-of-sleep</a:t>
            </a:r>
          </a:p>
          <a:p xmlns:a="http://schemas.openxmlformats.org/drawingml/2006/main">
            <a:r>
              <a:t>https://www.nichd.nih.gov/health/topics/sleep/conditioninfo/Pages/what-happens.aspx</a:t>
            </a:r>
          </a:p>
          <a:p xmlns:a="http://schemas.openxmlformats.org/drawingml/2006/main">
            <a:r>
              <a:t>https://www.nhlbi.nih.gov/health/sleep/why-sleep-important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Literature review: DeepSleepNet: a Model for Automatic Sleep Stage Scoring based on Raw Single-Channel EEG, Supratak et al., IEEE TNSRE 2017, DOI 10.1109/TNSRE.2017.2721116. SeqSleepNet: End-to-End Hierarchical Recurrent Neural Network for Sequence-to-Sequence Automatic Sleep Staging, Phan et al., IEEE TNSRE 2019, DOI 10.1109/TNSRE.2019.2896659. U-Sleep: resilient high-frequency sleep staging, Perslev et al., npj Digital Medicine 2021, DOI 10.1038/s41746-021-00440-5. RobustSleepNet: Transfer learning for automated sleep staging at scale, Guillot and Thorey, 2021. SLEEPYLAND: trust begins with fair evaluation of automatic sleep staging models, Dei Rossi et al., 2025 arXiv preprint. These papers motivate context, robust evaluation and soft fusion. Our proposed coarse/NREM hierarchy is an engineering hypothesis, not an implementation attributed to any of these papers. Different data, channels and evaluation protocols prevent score comparison.</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https://arxiv.org/abs/1703.04046</a:t>
            </a:r>
          </a:p>
          <a:p xmlns:a="http://schemas.openxmlformats.org/drawingml/2006/main">
            <a:r>
              <a:t>https://arxiv.org/abs/1809.10932</a:t>
            </a:r>
          </a:p>
          <a:p xmlns:a="http://schemas.openxmlformats.org/drawingml/2006/main">
            <a:r>
              <a:t>https://arxiv.org/abs/2101.02452</a:t>
            </a:r>
          </a:p>
          <a:p xmlns:a="http://schemas.openxmlformats.org/drawingml/2006/main">
            <a:r>
              <a:t>https://www.nature.com/articles/s41746-021-00440-5</a:t>
            </a:r>
          </a:p>
          <a:p xmlns:a="http://schemas.openxmlformats.org/drawingml/2006/main">
            <a:r>
              <a:t>https://arxiv.org/abs/2506.08574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PSG means polysomnography. HMC is a heterogeneous clinical population, not a healthy normative database. Four EEG derivations and original 256 Hz sampling are documented. We use a 24-recording subset, separated by recording ID into 16/4/4. IDs identify recordings; a repeated-person mapping is not provided, so person-level separation is not proven. Test IDs: SN001, SN004, SN009, SN022. EEG epoch is a temporal segment, whereas training epoch means one pass through the training data. Stored SN001 is a 95-minute segment. Dataset total is 15,216+3,619+3,109=21,944.</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https://physionet.org/content/hmc-sleep-staging/1.1/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pipeline order from preprocessing_config.json: selected four channels, notch 50 Hz at original sampling rate, bandpass 0.3–35 Hz, resample 100 Hz, epoch and channel normalization. The current refinement notebook loads stored preprocessed NPZ EEG and normalizes each epoch again for neural inference; spectral extraction uses stored EEG before that second normalization. Automatic artifact rejection was not established in the source preprocessing; explicit quality gates are future work. Existing example metadata: SN009, F4-M1, index 10, 300–330 seconds, raw 256 Hz, processed 100 Hz; saved/reprocessed difference 0.0. These figures are retained as explanatory signal evidence from ppt_artifacts, not as evidence for the current numerical comparison.</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top path left to right: stored input, retained five-stage model, targeted N1/N2 refinement, final labels. Welch features support the refiner (shown explicitly on slide 8) and recording EEG means. Final labels produce architecture metrics. Both architecture and spectral means join the recording profile; the lower connector carries architecture into that profile. Ten architecture metrics determine four domain flags; EEG deviations are displayed separately. The training reference uses only 16 training recordings. The resulting profile is descriptive, not a diagnosis.</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verified against model_layers.csv and saved checkpoint: first convolution kernel 7/stride 4, second kernel 5/stride 4, 64 and 128 filters; 4-head attention with key dimension 16, residual normalization/feed-forward layers; within-epoch bidirectional LSTM, 64 units in each direction; pooling, dense and five softplus evidence outputs. 226,309 total parameters. Dirichlet alpha=evidence+1; probability alpha/sum(alpha); original uncertainty=5/sum(alpha). Training chart is the saved historical training log for this retained model, not a new run. Ten maximum and actual training epochs, checkpoint selected at 9 by validation evidential accuracy (67.97%). No automatic scheduler in final training cell. The biomarker notebook loads the checkpoint and fits the refiner without retraining this neural model.</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training gate from notebook cells 20–21: true labels AND baseline predictions in {N1,N2}. This produces 5,866 training candidates. Pipeline: StandardScaler then LogisticRegression(class_weight="balanced", max_iter=2000, random_state=42). At inference, ONLY the initial predicted label routes the epoch. Ground truth is never an inference input. Nine features: relative Delta/Theta/Alpha/Sigma/Beta plus Sigma/Delta, Theta/Delta, Alpha/Delta, Beta/Delta. Bands: [0.5,4), [4,8), [8,12), [12,16), [16,30) Hz. Welch at 100 Hz uses 400 samples/window and 200 overlap; total power [0.5,30). Four channel powers are averaged first. Sigma power does not measure spindle density. Original predicted Wake/N3/REM labels are kept; original neural probabilities and uncertainty are not recalibrated to the refined labels.</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experiment HMC-N1N2-20261007 only. Raw/refined accuracy: 0.5545191379864909 / 0.5934384046317144; macro F1 0.5741553020766511 / 0.5951219684303188. N1 F1 0.3660403618649965 / 0.4063241106719368; N2 F1 0.571173583221776 / 0.6357231661831745. Accuracy gain 3.8919267 percentage points; macro F1 gain 2.0966666 percentage points, rounded once to 3.89/2.10. Corrections 154, degradations 33, wrong-to-wrong 51, unchanged 2,871, total 3,109. Of 238 changes, 121 are net additional correct. N2-to-N1 errors 506 to 379. N1 F1 gain 4.03 pp; N2 F1 gain 6.45 pp. Kappa 0.4253 to 0.4647. Per-stage Wake/N3/REM F1 remain unchanged because predictions of these stages are retained. Results are modest and limited to this small subset; not a comparison against the literature datasets.</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Hypnogram is the verified SN009 plot showing original and refined labels versus ground truth. SN009 has 901 epochs. Dashboard screenshot is from the current verified GUI; it demonstrates implemented outputs rather than a mockup. Master features have recording ID + 22 numeric fields; compare 21 fields after excluding recording_minutes. Architecture metrics include TST, efficiency, SOL, WASO, stage percentages, awakenings and project-defined fragmentation. Efficiency uses evaluated duration; stage percentages use TST. Reference mean/sample SD and P10/P90 derive from 16 training recordings; any out-of-interval architecture metric flags the corresponding domain. Four domains are Duration, Continuity, Initiation, Architecture. SN009: one deviated domain, descriptive Mild Deviation. EEG deviations do not contribute additional domains. HMC is clinical, not healthy normative data; in-sample architecture reference and unknown whole-night timing limit interpretation. Current GUI has PDF/JSON/CSV/ZIP exports and a Colab worker; live SN009 predictions were already independently reproduced.</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engineering design, not current implementation. Train compact Model A with Wake/REM/NREM targets, Model B on true training NREM epochs. Evaluate B on each inference epoch. Let g be coarse probabilities and h be conditional NREM probabilities: q=[gW,gNREM*hN1,gNREM*hN2,gNREM*hN3,gREM]. This sums to 1. Optional soft fusion r=lambda*q+(1-lambda)*p with the retained five-stage model p; choose lambda on development data only. Avoid hard gating because coarse mistakes could otherwise become irreversible. Model C is a small temporal convolutional network operating across consecutive epochs, unlike current within-epoch BiLSTM. Train it on out-of-fold expert predictions, preserve recording boundaries/gaps, then calibrate final output on a held-out validation partition. TCN and Viterbi are alternatives to compare by ablation, not refiners to stack automatically. Add EOG/EMG specialists only if aligned data and missing-modality tests are available. Start small with 24 recordings to limit overfitting. Current four test recordings have already been examined; reserve genuinely new recordings/person cohort before new tuning. Person-level grouping requires a verified mapping. Sequence context motivated by SeqSleepNet and L-SeqSleepNet; heterogeneous cohort testing by RobustSleepNet; soft voting and fair evaluation by SLEEPYLAND. Benefits are hypotheses, not guaranteed gains.</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https://arxiv.org/abs/1809.10932</a:t>
            </a:r>
          </a:p>
          <a:p xmlns:a="http://schemas.openxmlformats.org/drawingml/2006/main">
            <a:r>
              <a:t>https://arxiv.org/abs/2301.03441</a:t>
            </a:r>
          </a:p>
          <a:p xmlns:a="http://schemas.openxmlformats.org/drawingml/2006/main">
            <a:r>
              <a:t>https://arxiv.org/abs/2101.02452</a:t>
            </a:r>
          </a:p>
          <a:p xmlns:a="http://schemas.openxmlformats.org/drawingml/2006/main">
            <a:r>
              <a:t>https://arxiv.org/abs/2506.08574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 the current reproducible experiment supports complementary spectral features for N1/N2. Net correction is 121 epochs and the gains are modest. The project also implements recording architecture and spectral features, descriptive reference profiles, a Windows Electron GUI and reports. It does not establish clinical diagnosis or superior performance versus the literature. Roadmap: verify original EDF alignment, retain timestamp continuity and quality checks, expand HMC data and reserve untouched recordings/person cohort; compare flat baseline, coarse/NREM composition, optional soft fusion, temporal model, and decoder alternatives on identical locked epochs. Fit scalers, class weights and transitions on training data only; use grouped development folds and out-of-fold base predictions for stacking. Report accuracy, macro F1, per-stage F1, kappa, ECE, error-detection AUROC, risk-coverage, latency and model size. Include recording/person bootstrap confidence intervals, stage distribution and individual recording variability. Validate TST/WASO/SOL/stage fractions against label-derived ground truth using verified denominators. Test external dataset/channel compatibility and optional aligned EOG/EMG specialists. No accuracy target or delivery date is promised without experiments.</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https://physionet.org/content/hmc-sleep-staging/1.1/</a:t>
            </a:r>
          </a:p>
          <a:p xmlns:a="http://schemas.openxmlformats.org/drawingml/2006/main">
            <a:r>
              <a:t>https://arxiv.org/abs/2101.02452</a:t>
            </a:r>
          </a:p>
          <a:p xmlns:a="http://schemas.openxmlformats.org/drawingml/2006/main">
            <a:r>
              <a:t>https://arxiv.org/abs/2506.08574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021553b4dd47bc" /></Relationships>
</file>

<file path=ppt/slideLayouts/slideLayout1.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23f2860bab496f" /><Relationship Type="http://schemas.openxmlformats.org/officeDocument/2006/relationships/slideLayout" Target="/ppt/slideLayouts/slideLayout1.xml" Id="R91416b26f9b34ee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416b26f9b34eee"/>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f030acf77824ecb" /><Relationship Type="http://schemas.openxmlformats.org/officeDocument/2006/relationships/notesSlide" Target="/ppt/notesSlides/notesSlide1.xml" Id="R4915f10968034e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13fcf68a04943ed" /><Relationship Type="http://schemas.openxmlformats.org/officeDocument/2006/relationships/notesSlide" Target="/ppt/notesSlides/notesSlide2.xml" Id="Rbb6168a13b6a4e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22fd08a0c08428b" /><Relationship Type="http://schemas.openxmlformats.org/officeDocument/2006/relationships/notesSlide" Target="/ppt/notesSlides/notesSlide3.xml" Id="R1d2a6cc519bb40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b979c5102054c18" /><Relationship Type="http://schemas.openxmlformats.org/officeDocument/2006/relationships/notesSlide" Target="/ppt/notesSlides/notesSlide4.xml" Id="Rece5d9e8e57e41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af941c503124369" /><Relationship Type="http://schemas.openxmlformats.org/officeDocument/2006/relationships/notesSlide" Target="/ppt/notesSlides/notesSlide5.xml" Id="Rea1cb8af41854c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0d2a5e96c5b4f32" /><Relationship Type="http://schemas.openxmlformats.org/officeDocument/2006/relationships/image" Target="/ppt/media/image.png" Id="Re33f33caedd44e01" /><Relationship Type="http://schemas.openxmlformats.org/officeDocument/2006/relationships/image" Target="/ppt/media/image2.png" Id="R031a0a59915e43e7" /><Relationship Type="http://schemas.openxmlformats.org/officeDocument/2006/relationships/notesSlide" Target="/ppt/notesSlides/notesSlide6.xml" Id="R7f7e3b428c4341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0a2c7754127497f" /><Relationship Type="http://schemas.openxmlformats.org/officeDocument/2006/relationships/notesSlide" Target="/ppt/notesSlides/notesSlide7.xml" Id="Rae4aa0791ba04ae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78d5ac9953c48fa" /><Relationship Type="http://schemas.openxmlformats.org/officeDocument/2006/relationships/chart" Target="/ppt/slides/charts/chart1.xml" Id="Rb072f7e1ce7e4a55" /><Relationship Type="http://schemas.openxmlformats.org/officeDocument/2006/relationships/notesSlide" Target="/ppt/notesSlides/notesSlide8.xml" Id="R229d053b25e04f4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791bde912e04adc" /><Relationship Type="http://schemas.openxmlformats.org/officeDocument/2006/relationships/notesSlide" Target="/ppt/notesSlides/notesSlide9.xml" Id="R91273f41b55540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cef91de153746b0" /><Relationship Type="http://schemas.openxmlformats.org/officeDocument/2006/relationships/chart" Target="/ppt/slides/charts/chart2.xml" Id="R59209d24898f474b" /><Relationship Type="http://schemas.openxmlformats.org/officeDocument/2006/relationships/notesSlide" Target="/ppt/notesSlides/notesSlide10.xml" Id="Rb41bfebe5c554e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cae73a1370249af" /><Relationship Type="http://schemas.openxmlformats.org/officeDocument/2006/relationships/image" Target="/ppt/media/image3.png" Id="R6054059975784c22" /><Relationship Type="http://schemas.openxmlformats.org/officeDocument/2006/relationships/image" Target="/ppt/media/image4.png" Id="R0fe8df05a18d4e9e" /><Relationship Type="http://schemas.openxmlformats.org/officeDocument/2006/relationships/notesSlide" Target="/ppt/notesSlides/notesSlide11.xml" Id="R5843d2921d54471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5126bf822984309" /><Relationship Type="http://schemas.openxmlformats.org/officeDocument/2006/relationships/notesSlide" Target="/ppt/notesSlides/notesSlide12.xml" Id="Rc1290ba6e41f40b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769567329a44c2e" /><Relationship Type="http://schemas.openxmlformats.org/officeDocument/2006/relationships/notesSlide" Target="/ppt/notesSlides/notesSlide13.xml" Id="R15238acb9bc645c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Training</c:v>
          </c:tx>
          <c:spPr>
            <a:ln xmlns:a="http://schemas.openxmlformats.org/drawingml/2006/main" w="28575">
              <a:solidFill>
                <a:srgbClr val="102E49"/>
              </a:solidFill>
            </a:ln>
          </c:spPr>
          <c:marker>
            <c:symbol val="none"/>
          </c:marke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0%</c:formatCode>
                <c:ptCount val="10"/>
                <c:pt idx="0">
                  <c:v>0.4426261783</c:v>
                </c:pt>
                <c:pt idx="1">
                  <c:v>0.6033123136</c:v>
                </c:pt>
                <c:pt idx="2">
                  <c:v>0.6714642644</c:v>
                </c:pt>
                <c:pt idx="3">
                  <c:v>0.6994611025</c:v>
                </c:pt>
                <c:pt idx="4">
                  <c:v>0.7164826393</c:v>
                </c:pt>
                <c:pt idx="5">
                  <c:v>0.735278666</c:v>
                </c:pt>
                <c:pt idx="6">
                  <c:v>0.7447423935</c:v>
                </c:pt>
                <c:pt idx="7">
                  <c:v>0.7499342561</c:v>
                </c:pt>
                <c:pt idx="8">
                  <c:v>0.7593979836</c:v>
                </c:pt>
                <c:pt idx="9">
                  <c:v>0.7661671638</c:v>
                </c:pt>
              </c:numCache>
            </c:numRef>
          </c:val>
          <c:smooth val="0"/>
        </c:ser>
        <c:ser>
          <c:idx val="1"/>
          <c:order val="1"/>
          <c:tx>
            <c:v>Validation</c:v>
          </c:tx>
          <c:spPr>
            <a:ln xmlns:a="http://schemas.openxmlformats.org/drawingml/2006/main" w="28575">
              <a:solidFill>
                <a:srgbClr val="18A69B"/>
              </a:solidFill>
            </a:ln>
          </c:spPr>
          <c:marker>
            <c:symbol val="none"/>
          </c:marker>
          <c:cat>
            <c:numRef>
              <c:f>'Chart Data'!$C$2:$C$11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Data'!$D$2:$D$11</c:f>
              <c:numCache>
                <c:formatCode>0%</c:formatCode>
                <c:ptCount val="10"/>
                <c:pt idx="0">
                  <c:v>0.1652390212</c:v>
                </c:pt>
                <c:pt idx="1">
                  <c:v>0.176844433</c:v>
                </c:pt>
                <c:pt idx="2">
                  <c:v>0.2390163094</c:v>
                </c:pt>
                <c:pt idx="3">
                  <c:v>0.413926512</c:v>
                </c:pt>
                <c:pt idx="4">
                  <c:v>0.6090080142</c:v>
                </c:pt>
                <c:pt idx="5">
                  <c:v>0.6446532011</c:v>
                </c:pt>
                <c:pt idx="6">
                  <c:v>0.6266924739</c:v>
                </c:pt>
                <c:pt idx="7">
                  <c:v>0.644376874</c:v>
                </c:pt>
                <c:pt idx="8">
                  <c:v>0.6797457933</c:v>
                </c:pt>
                <c:pt idx="9">
                  <c:v>0.652390182</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Training epoch</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max val="1"/>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majorUnit val="0.25"/>
      </c:valAx>
      <c:spPr>
        <a:solidFill xmlns:a="http://schemas.openxmlformats.org/drawingml/2006/main">
          <a:srgbClr val="F5FAFC"/>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legend>
    <c:plotVisOnly val="1"/>
  </c:chart>
  <c:spPr>
    <a:solidFill xmlns:a="http://schemas.openxmlformats.org/drawingml/2006/main">
      <a:srgbClr val="F5FAFC"/>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Existing model</c:v>
          </c:tx>
          <c:spPr>
            <a:solidFill xmlns:a="http://schemas.openxmlformats.org/drawingml/2006/main">
              <a:srgbClr val="102E49"/>
            </a:solidFill>
          </c:spPr>
          <c:cat>
            <c:strRef>
              <c:f>'Chart Data'!$A$2:$A$5</c:f>
              <c:strCache>
                <c:ptCount val="4"/>
                <c:pt idx="0">
                  <c:v>Accuracy</c:v>
                </c:pt>
                <c:pt idx="1">
                  <c:v>Macro F1</c:v>
                </c:pt>
                <c:pt idx="2">
                  <c:v>N1 F1</c:v>
                </c:pt>
                <c:pt idx="3">
                  <c:v>N2 F1</c:v>
                </c:pt>
              </c:strCache>
            </c:strRef>
          </c:cat>
          <c:val>
            <c:numRef>
              <c:f>'Chart Data'!$B$2:$B$5</c:f>
              <c:numCache>
                <c:formatCode>0.00%</c:formatCode>
                <c:ptCount val="4"/>
                <c:pt idx="0">
                  <c:v>0.554519138</c:v>
                </c:pt>
                <c:pt idx="1">
                  <c:v>0.5741553021</c:v>
                </c:pt>
                <c:pt idx="2">
                  <c:v>0.3660403619</c:v>
                </c:pt>
                <c:pt idx="3">
                  <c:v>0.5711735832</c:v>
                </c:pt>
              </c:numCache>
            </c:numRef>
          </c:val>
        </c:ser>
        <c:ser>
          <c:idx val="1"/>
          <c:order val="1"/>
          <c:tx>
            <c:v>N1/N2 refined</c:v>
          </c:tx>
          <c:spPr>
            <a:solidFill xmlns:a="http://schemas.openxmlformats.org/drawingml/2006/main">
              <a:srgbClr val="18A69B"/>
            </a:solidFill>
          </c:spPr>
          <c:cat>
            <c:strRef>
              <c:f>'Chart Data'!$C$2:$C$5</c:f>
              <c:strCache>
                <c:ptCount val="4"/>
                <c:pt idx="0">
                  <c:v>Accuracy</c:v>
                </c:pt>
                <c:pt idx="1">
                  <c:v>Macro F1</c:v>
                </c:pt>
                <c:pt idx="2">
                  <c:v>N1 F1</c:v>
                </c:pt>
                <c:pt idx="3">
                  <c:v>N2 F1</c:v>
                </c:pt>
              </c:strCache>
            </c:strRef>
          </c:cat>
          <c:val>
            <c:numRef>
              <c:f>'Chart Data'!$D$2:$D$5</c:f>
              <c:numCache>
                <c:formatCode>0.00%</c:formatCode>
                <c:ptCount val="4"/>
                <c:pt idx="0">
                  <c:v>0.5934384046</c:v>
                </c:pt>
                <c:pt idx="1">
                  <c:v>0.5951219684</c:v>
                </c:pt>
                <c:pt idx="2">
                  <c:v>0.4063241107</c:v>
                </c:pt>
                <c:pt idx="3">
                  <c:v>0.6357231662</c:v>
                </c:pt>
              </c:numCache>
            </c:numRef>
          </c:val>
        </c:ser>
        <c:dLbls>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0.8"/>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majorUnit val="0.2"/>
      </c:valAx>
      <c:spPr>
        <a:solidFill xmlns:a="http://schemas.openxmlformats.org/drawingml/2006/main">
          <a:srgbClr val="F5FAFC"/>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legend>
    <c:plotVisOnly val="1"/>
  </c:chart>
  <c:spPr>
    <a:solidFill xmlns:a="http://schemas.openxmlformats.org/drawingml/2006/main">
      <a:srgbClr val="F5FAFC"/>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ABE9CCB-1305-4EA4-920F-ACF276833F7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530FEC0D-D70F-4C15-8F09-CE3C1D2E0644}"/>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r>
              <a:t/>
            </a:r>
          </a:p>
        </p:txBody>
      </p:sp>
      <p:sp>
        <p:nvSpPr>
          <p:cNvPr id="4" name="">
            <a:extLst xmlns:a="http://schemas.openxmlformats.org/drawingml/2006/main">
              <a:ext uri="{FF2B5EF4-FFF2-40B4-BE49-F238E27FC236}">
                <a16:creationId xmlns:a16="http://schemas.microsoft.com/office/drawing/2014/main" id="{8A20FE83-8B2B-4B13-BA5F-2A11C2DFA3F2}"/>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900" b="0">
                <a:solidFill>
                  <a:srgbClr val="526977"/>
                </a:solidFill>
                <a:latin typeface="Arial"/>
                <a:ea typeface="Arial"/>
                <a:cs typeface="Arial"/>
              </a:defRPr>
            </a:pPr>
            <a:r>
              <a:rPr sz="900" b="0">
                <a:solidFill>
                  <a:srgbClr val="526977"/>
                </a:solidFill>
                <a:latin typeface="Arial"/>
                <a:ea typeface="Arial"/>
                <a:cs typeface="Arial"/>
              </a:rPr>
              <a:t>Notebook + verified run HMC-N1N2-20261007</a:t>
            </a:r>
          </a:p>
        </p:txBody>
      </p:sp>
      <p:sp>
        <p:nvSpPr>
          <p:cNvPr id="5" name="">
            <a:extLst xmlns:a="http://schemas.openxmlformats.org/drawingml/2006/main">
              <a:ext uri="{FF2B5EF4-FFF2-40B4-BE49-F238E27FC236}">
                <a16:creationId xmlns:a16="http://schemas.microsoft.com/office/drawing/2014/main" id="{A7267547-2912-4707-B0A7-91FCCE0553FC}"/>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900" b="0">
                <a:solidFill>
                  <a:srgbClr val="526977"/>
                </a:solidFill>
                <a:latin typeface="Arial"/>
                <a:ea typeface="Arial"/>
                <a:cs typeface="Arial"/>
              </a:defRPr>
            </a:pPr>
            <a:r>
              <a:rPr sz="900" b="0">
                <a:solidFill>
                  <a:srgbClr val="526977"/>
                </a:solidFill>
                <a:latin typeface="Arial"/>
                <a:ea typeface="Arial"/>
                <a:cs typeface="Arial"/>
              </a:rPr>
              <a:t>01 / 13</a:t>
            </a:r>
          </a:p>
        </p:txBody>
      </p:sp>
      <p:sp>
        <p:nvSpPr>
          <p:cNvPr id="6" name="">
            <a:extLst xmlns:a="http://schemas.openxmlformats.org/drawingml/2006/main">
              <a:ext uri="{FF2B5EF4-FFF2-40B4-BE49-F238E27FC236}">
                <a16:creationId xmlns:a16="http://schemas.microsoft.com/office/drawing/2014/main" id="{B452130D-8242-41EB-B7BE-87A893847D17}"/>
              </a:ext>
            </a:extLst>
          </p:cNvPr>
          <p:cNvSpPr>
            <a:spLocks xmlns:a="http://schemas.openxmlformats.org/drawingml/2006/main" noGrp="1"/>
          </p:cNvSpPr>
          <p:nvPr/>
        </p:nvSpPr>
        <p:spPr>
          <a:xfrm xmlns:a="http://schemas.openxmlformats.org/drawingml/2006/main">
            <a:off x="609600" y="4762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8A69B"/>
                </a:solidFill>
                <a:latin typeface="Arial"/>
                <a:ea typeface="Arial"/>
                <a:cs typeface="Arial"/>
              </a:defRPr>
            </a:pPr>
            <a:r>
              <a:rPr sz="1350" b="1">
                <a:solidFill>
                  <a:srgbClr val="18A69B"/>
                </a:solidFill>
                <a:latin typeface="Arial"/>
                <a:ea typeface="Arial"/>
                <a:cs typeface="Arial"/>
              </a:rPr>
              <a:t>MID-VIVA • PROJECT PROGRESS</a:t>
            </a:r>
          </a:p>
        </p:txBody>
      </p:sp>
      <p:sp>
        <p:nvSpPr>
          <p:cNvPr id="7" name="">
            <a:extLst xmlns:a="http://schemas.openxmlformats.org/drawingml/2006/main">
              <a:ext uri="{FF2B5EF4-FFF2-40B4-BE49-F238E27FC236}">
                <a16:creationId xmlns:a16="http://schemas.microsoft.com/office/drawing/2014/main" id="{C5EFA22A-A815-41F4-8181-156CF309DF9F}"/>
              </a:ext>
            </a:extLst>
          </p:cNvPr>
          <p:cNvSpPr>
            <a:spLocks xmlns:a="http://schemas.openxmlformats.org/drawingml/2006/main" noGrp="1"/>
          </p:cNvSpPr>
          <p:nvPr/>
        </p:nvSpPr>
        <p:spPr>
          <a:xfrm xmlns:a="http://schemas.openxmlformats.org/drawingml/2006/main">
            <a:off x="609600" y="1190625"/>
            <a:ext cx="10820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150" b="1">
                <a:solidFill>
                  <a:srgbClr val="102E49"/>
                </a:solidFill>
                <a:latin typeface="Arial"/>
                <a:ea typeface="Arial"/>
                <a:cs typeface="Arial"/>
              </a:defRPr>
            </a:pPr>
            <a:r>
              <a:rPr sz="3150" b="1">
                <a:solidFill>
                  <a:srgbClr val="102E49"/>
                </a:solidFill>
                <a:latin typeface="Arial"/>
                <a:ea typeface="Arial"/>
                <a:cs typeface="Arial"/>
              </a:rPr>
              <a:t>EEG Sleep Classification and</a:t>
            </a:r>
          </a:p>
          <a:p xmlns:a="http://schemas.openxmlformats.org/drawingml/2006/main">
            <a:pPr algn="l">
              <a:buNone/>
              <a:defRPr sz="3150" b="1">
                <a:solidFill>
                  <a:srgbClr val="102E49"/>
                </a:solidFill>
                <a:latin typeface="Arial"/>
                <a:ea typeface="Arial"/>
                <a:cs typeface="Arial"/>
              </a:defRPr>
            </a:pPr>
            <a:r>
              <a:rPr sz="3150" b="1">
                <a:solidFill>
                  <a:srgbClr val="102E49"/>
                </a:solidFill>
                <a:latin typeface="Arial"/>
                <a:ea typeface="Arial"/>
                <a:cs typeface="Arial"/>
              </a:rPr>
              <a:t>Reference-Based Sleep-Health Profiling</a:t>
            </a:r>
          </a:p>
        </p:txBody>
      </p:sp>
      <p:sp>
        <p:nvSpPr>
          <p:cNvPr id="8" name="">
            <a:extLst xmlns:a="http://schemas.openxmlformats.org/drawingml/2006/main">
              <a:ext uri="{FF2B5EF4-FFF2-40B4-BE49-F238E27FC236}">
                <a16:creationId xmlns:a16="http://schemas.microsoft.com/office/drawing/2014/main" id="{AB5FB207-95FA-40A0-B59C-ADBDAE156188}"/>
              </a:ext>
            </a:extLst>
          </p:cNvPr>
          <p:cNvSpPr>
            <a:spLocks xmlns:a="http://schemas.openxmlformats.org/drawingml/2006/main" noGrp="1"/>
          </p:cNvSpPr>
          <p:nvPr/>
        </p:nvSpPr>
        <p:spPr>
          <a:xfrm xmlns:a="http://schemas.openxmlformats.org/drawingml/2006/main">
            <a:off x="609600" y="28575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0">
                <a:solidFill>
                  <a:srgbClr val="526977"/>
                </a:solidFill>
                <a:latin typeface="Arial"/>
                <a:ea typeface="Arial"/>
                <a:cs typeface="Arial"/>
              </a:defRPr>
            </a:pPr>
            <a:r>
              <a:rPr sz="2100" b="0">
                <a:solidFill>
                  <a:srgbClr val="526977"/>
                </a:solidFill>
                <a:latin typeface="Arial"/>
                <a:ea typeface="Arial"/>
                <a:cs typeface="Arial"/>
              </a:rPr>
              <a:t>Biomarker-assisted N1/N2 refinement</a:t>
            </a:r>
          </a:p>
        </p:txBody>
      </p:sp>
      <p:sp>
        <p:nvSpPr>
          <p:cNvPr id="9" name="">
            <a:extLst xmlns:a="http://schemas.openxmlformats.org/drawingml/2006/main">
              <a:ext uri="{FF2B5EF4-FFF2-40B4-BE49-F238E27FC236}">
                <a16:creationId xmlns:a16="http://schemas.microsoft.com/office/drawing/2014/main" id="{D8015AA1-35C0-4D56-8602-7C34B5B570E7}"/>
              </a:ext>
            </a:extLst>
          </p:cNvPr>
          <p:cNvSpPr>
            <a:spLocks xmlns:a="http://schemas.openxmlformats.org/drawingml/2006/main" noGrp="1"/>
          </p:cNvSpPr>
          <p:nvPr/>
        </p:nvSpPr>
        <p:spPr>
          <a:xfrm xmlns:a="http://schemas.openxmlformats.org/drawingml/2006/main">
            <a:off x="609600" y="4000500"/>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0">
                <a:solidFill>
                  <a:srgbClr val="102E49"/>
                </a:solidFill>
                <a:latin typeface="Arial"/>
                <a:ea typeface="Arial"/>
                <a:cs typeface="Arial"/>
              </a:defRPr>
            </a:pPr>
            <a:r>
              <a:rPr sz="1650" b="0">
                <a:solidFill>
                  <a:srgbClr val="102E49"/>
                </a:solidFill>
                <a:latin typeface="Arial"/>
                <a:ea typeface="Arial"/>
                <a:cs typeface="Arial"/>
              </a:rPr>
              <a:t>Rikin Parekh · Om Ahuja</a:t>
            </a:r>
          </a:p>
          <a:p xmlns:a="http://schemas.openxmlformats.org/drawingml/2006/main">
            <a:pPr algn="l">
              <a:buNone/>
              <a:defRPr sz="1650" b="0">
                <a:solidFill>
                  <a:srgbClr val="102E49"/>
                </a:solidFill>
                <a:latin typeface="Arial"/>
                <a:ea typeface="Arial"/>
                <a:cs typeface="Arial"/>
              </a:defRPr>
            </a:pPr>
            <a:r>
              <a:rPr sz="1650" b="0">
                <a:solidFill>
                  <a:srgbClr val="102E49"/>
                </a:solidFill>
                <a:latin typeface="Arial"/>
                <a:ea typeface="Arial"/>
                <a:cs typeface="Arial"/>
              </a:rPr>
              <a:t>23BIT044 · 23BIT014</a:t>
            </a:r>
          </a:p>
          <a:p xmlns:a="http://schemas.openxmlformats.org/drawingml/2006/main">
            <a:pPr algn="l">
              <a:buNone/>
              <a:defRPr sz="1650" b="0">
                <a:solidFill>
                  <a:srgbClr val="102E49"/>
                </a:solidFill>
                <a:latin typeface="Arial"/>
                <a:ea typeface="Arial"/>
                <a:cs typeface="Arial"/>
              </a:defRPr>
            </a:pPr>
            <a:r>
              <a:rPr sz="1650" b="0">
                <a:solidFill>
                  <a:srgbClr val="102E49"/>
                </a:solidFill>
                <a:latin typeface="Arial"/>
                <a:ea typeface="Arial"/>
                <a:cs typeface="Arial"/>
              </a:rPr>
              <a:t>Guide: Dr. Santosh Sathpathy</a:t>
            </a:r>
          </a:p>
          <a:p xmlns:a="http://schemas.openxmlformats.org/drawingml/2006/main">
            <a:pPr algn="l">
              <a:buNone/>
              <a:defRPr sz="1650" b="0">
                <a:solidFill>
                  <a:srgbClr val="102E49"/>
                </a:solidFill>
                <a:latin typeface="Arial"/>
                <a:ea typeface="Arial"/>
                <a:cs typeface="Arial"/>
              </a:defRPr>
            </a:pPr>
            <a:r>
              <a:rPr sz="1650" b="0">
                <a:solidFill>
                  <a:srgbClr val="102E49"/>
                </a:solidFill>
                <a:latin typeface="Arial"/>
                <a:ea typeface="Arial"/>
                <a:cs typeface="Arial"/>
              </a:rPr>
              <a:t>Information and Communication Technology</a:t>
            </a:r>
          </a:p>
          <a:p xmlns:a="http://schemas.openxmlformats.org/drawingml/2006/main">
            <a:pPr algn="l">
              <a:buNone/>
              <a:defRPr sz="1650" b="0">
                <a:solidFill>
                  <a:srgbClr val="102E49"/>
                </a:solidFill>
                <a:latin typeface="Arial"/>
                <a:ea typeface="Arial"/>
                <a:cs typeface="Arial"/>
              </a:defRPr>
            </a:pPr>
            <a:r>
              <a:rPr sz="1650" b="0">
                <a:solidFill>
                  <a:srgbClr val="102E49"/>
                </a:solidFill>
                <a:latin typeface="Arial"/>
                <a:ea typeface="Arial"/>
                <a:cs typeface="Arial"/>
              </a:rPr>
              <a:t>Pandit Deendayal Energy University</a:t>
            </a:r>
          </a:p>
        </p:txBody>
      </p:sp>
    </p:spTree>
    <p:extLst>
      <p:ext uri="{BB962C8B-B14F-4D97-AF65-F5344CB8AC3E}">
        <p14:creationId xmlns:p14="http://schemas.microsoft.com/office/powerpoint/2010/main" val="2208732020"/>
      </p:ext>
    </p:extLst>
  </p:cSld>
</p:sld>
</file>

<file path=ppt/slides/slide2.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9DF200B-9F37-4DC3-BF83-DD5CEB2F997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A19552FE-08E7-4369-84DD-6ED23D869964}"/>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E49"/>
                </a:solidFill>
                <a:latin typeface="Arial"/>
                <a:ea typeface="Arial"/>
                <a:cs typeface="Arial"/>
              </a:defRPr>
            </a:pPr>
            <a:r>
              <a:rPr sz="2700" b="1">
                <a:solidFill>
                  <a:srgbClr val="102E49"/>
                </a:solidFill>
                <a:latin typeface="Arial"/>
                <a:ea typeface="Arial"/>
                <a:cs typeface="Arial"/>
              </a:rPr>
              <a:t>Why detect sleep stages? Why this project?</a:t>
            </a:r>
          </a:p>
        </p:txBody>
      </p:sp>
      <p:sp>
        <p:nvSpPr>
          <p:cNvPr id="3" name="">
            <a:extLst xmlns:a="http://schemas.openxmlformats.org/drawingml/2006/main">
              <a:ext uri="{FF2B5EF4-FFF2-40B4-BE49-F238E27FC236}">
                <a16:creationId xmlns:a16="http://schemas.microsoft.com/office/drawing/2014/main" id="{C8A854E8-A4F6-4CE5-B41D-BA0BC5830707}"/>
              </a:ext>
            </a:extLst>
          </p:cNvPr>
          <p:cNvSpPr>
            <a:spLocks xmlns:a="http://schemas.openxmlformats.org/drawingml/2006/main" noGrp="1"/>
          </p:cNvSpPr>
          <p:nvPr/>
        </p:nvSpPr>
        <p:spPr>
          <a:xfrm xmlns:a="http://schemas.openxmlformats.org/drawingml/2006/main">
            <a:off x="609600" y="1238250"/>
            <a:ext cx="109347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4" name="">
            <a:extLst xmlns:a="http://schemas.openxmlformats.org/drawingml/2006/main">
              <a:ext uri="{FF2B5EF4-FFF2-40B4-BE49-F238E27FC236}">
                <a16:creationId xmlns:a16="http://schemas.microsoft.com/office/drawing/2014/main" id="{632E8DB0-04A6-4991-9F0B-A17A22E27231}"/>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Sources: NIH sleep education; U-Sleep (2021); verified project artifacts</a:t>
            </a:r>
          </a:p>
        </p:txBody>
      </p:sp>
      <p:sp>
        <p:nvSpPr>
          <p:cNvPr id="5" name="">
            <a:extLst xmlns:a="http://schemas.openxmlformats.org/drawingml/2006/main">
              <a:ext uri="{FF2B5EF4-FFF2-40B4-BE49-F238E27FC236}">
                <a16:creationId xmlns:a16="http://schemas.microsoft.com/office/drawing/2014/main" id="{9C01FD9A-F774-4E98-940E-BBD9B4E30054}"/>
              </a:ext>
            </a:extLst>
          </p:cNvPr>
          <p:cNvSpPr>
            <a:spLocks xmlns:a="http://schemas.openxmlformats.org/drawingml/2006/main" noGrp="1"/>
          </p:cNvSpPr>
          <p:nvPr/>
        </p:nvSpPr>
        <p:spPr>
          <a:xfrm xmlns:a="http://schemas.openxmlformats.org/drawingml/2006/main">
            <a:off x="609600" y="15525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02E49"/>
                </a:solidFill>
                <a:latin typeface="Arial"/>
                <a:ea typeface="Arial"/>
                <a:cs typeface="Arial"/>
              </a:defRPr>
            </a:pPr>
            <a:r>
              <a:rPr sz="2175" b="1">
                <a:solidFill>
                  <a:srgbClr val="102E49"/>
                </a:solidFill>
                <a:latin typeface="Arial"/>
                <a:ea typeface="Arial"/>
                <a:cs typeface="Arial"/>
              </a:rPr>
              <a:t>Sleep supports memory, learning and physical health.</a:t>
            </a:r>
          </a:p>
        </p:txBody>
      </p:sp>
      <p:sp>
        <p:nvSpPr>
          <p:cNvPr id="6" name="">
            <a:extLst xmlns:a="http://schemas.openxmlformats.org/drawingml/2006/main">
              <a:ext uri="{FF2B5EF4-FFF2-40B4-BE49-F238E27FC236}">
                <a16:creationId xmlns:a16="http://schemas.microsoft.com/office/drawing/2014/main" id="{73646887-3643-43C1-BBDC-3767A26BD9DD}"/>
              </a:ext>
            </a:extLst>
          </p:cNvPr>
          <p:cNvSpPr>
            <a:spLocks xmlns:a="http://schemas.openxmlformats.org/drawingml/2006/main" noGrp="1"/>
          </p:cNvSpPr>
          <p:nvPr/>
        </p:nvSpPr>
        <p:spPr>
          <a:xfrm xmlns:a="http://schemas.openxmlformats.org/drawingml/2006/main">
            <a:off x="609600" y="20669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26977"/>
                </a:solidFill>
                <a:latin typeface="Arial"/>
                <a:ea typeface="Arial"/>
                <a:cs typeface="Arial"/>
              </a:defRPr>
            </a:pPr>
            <a:r>
              <a:rPr sz="1875" b="0">
                <a:solidFill>
                  <a:srgbClr val="526977"/>
                </a:solidFill>
                <a:latin typeface="Arial"/>
                <a:ea typeface="Arial"/>
                <a:cs typeface="Arial"/>
              </a:rPr>
              <a:t>Duration alone does not show when sleep is interrupted or how stages are distributed.</a:t>
            </a:r>
          </a:p>
        </p:txBody>
      </p:sp>
      <p:sp>
        <p:nvSpPr>
          <p:cNvPr id="7" name="">
            <a:extLst xmlns:a="http://schemas.openxmlformats.org/drawingml/2006/main">
              <a:ext uri="{FF2B5EF4-FFF2-40B4-BE49-F238E27FC236}">
                <a16:creationId xmlns:a16="http://schemas.microsoft.com/office/drawing/2014/main" id="{2E9A17CD-B23A-4DFC-B977-22DB7B25B08A}"/>
              </a:ext>
            </a:extLst>
          </p:cNvPr>
          <p:cNvSpPr>
            <a:spLocks xmlns:a="http://schemas.openxmlformats.org/drawingml/2006/main" noGrp="1"/>
          </p:cNvSpPr>
          <p:nvPr/>
        </p:nvSpPr>
        <p:spPr>
          <a:xfrm xmlns:a="http://schemas.openxmlformats.org/drawingml/2006/main">
            <a:off x="609600" y="30861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8A69B"/>
                </a:solidFill>
                <a:latin typeface="Arial"/>
                <a:ea typeface="Arial"/>
                <a:cs typeface="Arial"/>
              </a:defRPr>
            </a:pPr>
            <a:r>
              <a:rPr sz="2025" b="1">
                <a:solidFill>
                  <a:srgbClr val="18A69B"/>
                </a:solidFill>
                <a:latin typeface="Arial"/>
                <a:ea typeface="Arial"/>
                <a:cs typeface="Arial"/>
              </a:rPr>
              <a:t>What stage detection gives us</a:t>
            </a:r>
          </a:p>
        </p:txBody>
      </p:sp>
      <p:sp>
        <p:nvSpPr>
          <p:cNvPr id="8" name="">
            <a:extLst xmlns:a="http://schemas.openxmlformats.org/drawingml/2006/main">
              <a:ext uri="{FF2B5EF4-FFF2-40B4-BE49-F238E27FC236}">
                <a16:creationId xmlns:a16="http://schemas.microsoft.com/office/drawing/2014/main" id="{33E57110-AA5B-4DA1-A2DD-FAF4B4653C1E}"/>
              </a:ext>
            </a:extLst>
          </p:cNvPr>
          <p:cNvSpPr>
            <a:spLocks xmlns:a="http://schemas.openxmlformats.org/drawingml/2006/main" noGrp="1"/>
          </p:cNvSpPr>
          <p:nvPr/>
        </p:nvSpPr>
        <p:spPr>
          <a:xfrm xmlns:a="http://schemas.openxmlformats.org/drawingml/2006/main">
            <a:off x="609600" y="3705225"/>
            <a:ext cx="51911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Sleep onset and Wake time → continuity</a:t>
            </a:r>
          </a:p>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N1 / N2 / N3 / REM time → architecture</a:t>
            </a:r>
          </a:p>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A hypnogram → when patterns change</a:t>
            </a:r>
          </a:p>
        </p:txBody>
      </p:sp>
      <p:sp>
        <p:nvSpPr>
          <p:cNvPr id="9" name="">
            <a:extLst xmlns:a="http://schemas.openxmlformats.org/drawingml/2006/main">
              <a:ext uri="{FF2B5EF4-FFF2-40B4-BE49-F238E27FC236}">
                <a16:creationId xmlns:a16="http://schemas.microsoft.com/office/drawing/2014/main" id="{93F990B0-2D06-4171-B583-E257A43BB64A}"/>
              </a:ext>
            </a:extLst>
          </p:cNvPr>
          <p:cNvSpPr>
            <a:spLocks xmlns:a="http://schemas.openxmlformats.org/drawingml/2006/main" noGrp="1"/>
          </p:cNvSpPr>
          <p:nvPr/>
        </p:nvSpPr>
        <p:spPr>
          <a:xfrm xmlns:a="http://schemas.openxmlformats.org/drawingml/2006/main">
            <a:off x="6419850" y="3086100"/>
            <a:ext cx="5086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8A69B"/>
                </a:solidFill>
                <a:latin typeface="Arial"/>
                <a:ea typeface="Arial"/>
                <a:cs typeface="Arial"/>
              </a:defRPr>
            </a:pPr>
            <a:r>
              <a:rPr sz="2025" b="1">
                <a:solidFill>
                  <a:srgbClr val="18A69B"/>
                </a:solidFill>
                <a:latin typeface="Arial"/>
                <a:ea typeface="Arial"/>
                <a:cs typeface="Arial"/>
              </a:rPr>
              <a:t>Why we chose this project</a:t>
            </a:r>
          </a:p>
        </p:txBody>
      </p:sp>
      <p:sp>
        <p:nvSpPr>
          <p:cNvPr id="10" name="">
            <a:extLst xmlns:a="http://schemas.openxmlformats.org/drawingml/2006/main">
              <a:ext uri="{FF2B5EF4-FFF2-40B4-BE49-F238E27FC236}">
                <a16:creationId xmlns:a16="http://schemas.microsoft.com/office/drawing/2014/main" id="{E940C4E0-82F9-4F36-A20E-84E5C34F84EC}"/>
              </a:ext>
            </a:extLst>
          </p:cNvPr>
          <p:cNvSpPr>
            <a:spLocks xmlns:a="http://schemas.openxmlformats.org/drawingml/2006/main" noGrp="1"/>
          </p:cNvSpPr>
          <p:nvPr/>
        </p:nvSpPr>
        <p:spPr>
          <a:xfrm xmlns:a="http://schemas.openxmlformats.org/drawingml/2006/main">
            <a:off x="6419850" y="3705225"/>
            <a:ext cx="50863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EEG records brain activity used in staging.</a:t>
            </a:r>
          </a:p>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HMC provides labels to test our predictions.</a:t>
            </a:r>
          </a:p>
          <a:p xmlns:a="http://schemas.openxmlformats.org/drawingml/2006/main">
            <a:pPr algn="l">
              <a:defRPr sz="1875" b="0">
                <a:solidFill>
                  <a:srgbClr val="102E49"/>
                </a:solidFill>
                <a:latin typeface="Arial"/>
                <a:ea typeface="Arial"/>
                <a:cs typeface="Arial"/>
              </a:defRPr>
            </a:pPr>
            <a:r>
              <a:rPr sz="1875" b="0">
                <a:solidFill>
                  <a:srgbClr val="102E49"/>
                </a:solidFill>
                <a:latin typeface="Arial"/>
                <a:ea typeface="Arial"/>
                <a:cs typeface="Arial"/>
              </a:rPr>
              <a:t>N1/N2 confusion is a measurable target.</a:t>
            </a:r>
          </a:p>
        </p:txBody>
      </p:sp>
      <p:sp>
        <p:nvSpPr>
          <p:cNvPr id="11" name="">
            <a:extLst xmlns:a="http://schemas.openxmlformats.org/drawingml/2006/main">
              <a:ext uri="{FF2B5EF4-FFF2-40B4-BE49-F238E27FC236}">
                <a16:creationId xmlns:a16="http://schemas.microsoft.com/office/drawing/2014/main" id="{15EB18A3-EC98-4E08-85EB-739F6D6FE797}"/>
              </a:ext>
            </a:extLst>
          </p:cNvPr>
          <p:cNvSpPr>
            <a:spLocks xmlns:a="http://schemas.openxmlformats.org/drawingml/2006/main" noGrp="1"/>
          </p:cNvSpPr>
          <p:nvPr/>
        </p:nvSpPr>
        <p:spPr>
          <a:xfrm xmlns:a="http://schemas.openxmlformats.org/drawingml/2006/main">
            <a:off x="609600" y="54578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8A69B"/>
                </a:solidFill>
                <a:latin typeface="Arial"/>
                <a:ea typeface="Arial"/>
                <a:cs typeface="Arial"/>
              </a:defRPr>
            </a:pPr>
            <a:r>
              <a:rPr sz="1875" b="1">
                <a:solidFill>
                  <a:srgbClr val="18A69B"/>
                </a:solidFill>
                <a:latin typeface="Arial"/>
                <a:ea typeface="Arial"/>
                <a:cs typeface="Arial"/>
              </a:rPr>
              <a:t>Potential benefit: assist sleep-study review and quantify patterns for research.</a:t>
            </a:r>
          </a:p>
        </p:txBody>
      </p:sp>
      <p:sp>
        <p:nvSpPr>
          <p:cNvPr id="12" name="">
            <a:extLst xmlns:a="http://schemas.openxmlformats.org/drawingml/2006/main">
              <a:ext uri="{FF2B5EF4-FFF2-40B4-BE49-F238E27FC236}">
                <a16:creationId xmlns:a16="http://schemas.microsoft.com/office/drawing/2014/main" id="{A720957A-EDEC-4E6C-B0E7-213EEA2233E3}"/>
              </a:ext>
            </a:extLst>
          </p:cNvPr>
          <p:cNvSpPr>
            <a:spLocks xmlns:a="http://schemas.openxmlformats.org/drawingml/2006/main" noGrp="1"/>
          </p:cNvSpPr>
          <p:nvPr/>
        </p:nvSpPr>
        <p:spPr>
          <a:xfrm xmlns:a="http://schemas.openxmlformats.org/drawingml/2006/main">
            <a:off x="609600" y="6029325"/>
            <a:ext cx="1085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977"/>
                </a:solidFill>
                <a:latin typeface="Arial"/>
                <a:ea typeface="Arial"/>
                <a:cs typeface="Arial"/>
              </a:defRPr>
            </a:pPr>
            <a:r>
              <a:rPr sz="1575" b="0">
                <a:solidFill>
                  <a:srgbClr val="526977"/>
                </a:solidFill>
                <a:latin typeface="Arial"/>
                <a:ea typeface="Arial"/>
                <a:cs typeface="Arial"/>
              </a:rPr>
              <a:t>Our contribution: targeted refinement + descriptive profiles. Stage labels alone do not diagnose disease.</a:t>
            </a:r>
          </a:p>
        </p:txBody>
      </p:sp>
      <p:sp>
        <p:nvSpPr>
          <p:cNvPr id="13" name="">
            <a:extLst xmlns:a="http://schemas.openxmlformats.org/drawingml/2006/main">
              <a:ext uri="{FF2B5EF4-FFF2-40B4-BE49-F238E27FC236}">
                <a16:creationId xmlns:a16="http://schemas.microsoft.com/office/drawing/2014/main" id="{1DF2486C-83F5-45E1-BA38-7305D6103D7C}"/>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02 / 13</a:t>
            </a:r>
          </a:p>
        </p:txBody>
      </p:sp>
    </p:spTree>
    <p:extLst>
      <p:ext uri="{BB962C8B-B14F-4D97-AF65-F5344CB8AC3E}">
        <p14:creationId xmlns:p14="http://schemas.microsoft.com/office/powerpoint/2010/main" val="1202001751"/>
      </p:ext>
    </p:extLst>
  </p:cSld>
</p:sld>
</file>

<file path=ppt/slides/slide3.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13899A-F26C-4F35-9D5E-937DD8BB45C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4DF62C94-FDDE-4214-B5F9-30949B29C521}"/>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02E49"/>
                </a:solidFill>
                <a:latin typeface="Arial"/>
                <a:ea typeface="Arial"/>
                <a:cs typeface="Arial"/>
              </a:defRPr>
            </a:pPr>
            <a:r>
              <a:rPr sz="2700" b="1">
                <a:solidFill>
                  <a:srgbClr val="102E49"/>
                </a:solidFill>
                <a:latin typeface="Arial"/>
                <a:ea typeface="Arial"/>
                <a:cs typeface="Arial"/>
              </a:rPr>
              <a:t>Sleep stages and what a sleep cycle means</a:t>
            </a:r>
          </a:p>
        </p:txBody>
      </p:sp>
      <p:sp>
        <p:nvSpPr>
          <p:cNvPr id="3" name="">
            <a:extLst xmlns:a="http://schemas.openxmlformats.org/drawingml/2006/main">
              <a:ext uri="{FF2B5EF4-FFF2-40B4-BE49-F238E27FC236}">
                <a16:creationId xmlns:a16="http://schemas.microsoft.com/office/drawing/2014/main" id="{D31C3255-94AE-4682-8701-4670AD1E580E}"/>
              </a:ext>
            </a:extLst>
          </p:cNvPr>
          <p:cNvSpPr>
            <a:spLocks xmlns:a="http://schemas.openxmlformats.org/drawingml/2006/main" noGrp="1"/>
          </p:cNvSpPr>
          <p:nvPr/>
        </p:nvSpPr>
        <p:spPr>
          <a:xfrm xmlns:a="http://schemas.openxmlformats.org/drawingml/2006/main">
            <a:off x="609600" y="1238250"/>
            <a:ext cx="109347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4" name="">
            <a:extLst xmlns:a="http://schemas.openxmlformats.org/drawingml/2006/main">
              <a:ext uri="{FF2B5EF4-FFF2-40B4-BE49-F238E27FC236}">
                <a16:creationId xmlns:a16="http://schemas.microsoft.com/office/drawing/2014/main" id="{031C1D00-6E47-45B0-B414-46DEB2573650}"/>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Sources: NIH / NHLBI Sleep Phases and Stages; NIH / NICHD What happens during sleep?</a:t>
            </a:r>
          </a:p>
        </p:txBody>
      </p:sp>
      <p:graphicFrame>
        <p:nvGraphicFramePr>
          <p:cNvPr id="13" name=""/>
          <p:cNvGraphicFramePr/>
          <p:nvPr/>
        </p:nvGraphicFramePr>
        <p:xfrm>
          <a:off xmlns:a="http://schemas.openxmlformats.org/drawingml/2006/main" x="609600" y="1628775"/>
          <a:ext xmlns:a="http://schemas.openxmlformats.org/drawingml/2006/main" cx="10934700" cy="3914775"/>
        </p:xfrm>
        <a:graphic xmlns:a="http://schemas.openxmlformats.org/drawingml/2006/main">
          <a:graphicData uri="http://schemas.openxmlformats.org/drawingml/2006/table">
            <a:tbl>
              <a:tblPr/>
              <a:tblGrid>
                <a:gridCol w="1285875"/>
                <a:gridCol w="4857750"/>
                <a:gridCol w="4791075"/>
              </a:tblGrid>
              <a:tr h="652463">
                <a:tc>
                  <a:txBody>
                    <a:bodyPr>
                      <a:noAutofit/>
                    </a:bodyPr>
                    <a:lstStyle/>
                    <a:p>
                      <a:r>
                        <a:rPr sz="1725" b="1">
                          <a:solidFill>
                            <a:srgbClr val="FFFFFF"/>
                          </a:solidFill>
                          <a:latin typeface="Arial"/>
                          <a:ea typeface="Arial"/>
                          <a:cs typeface="Arial"/>
                        </a:rPr>
                        <a:t>Stage</a:t>
                      </a:r>
                    </a:p>
                  </a:txBody>
                  <a:tcPr marL="91440" marR="91440" marT="45720" marB="45720">
                    <a:solidFill>
                      <a:srgbClr val="102E49"/>
                    </a:solidFill>
                  </a:tcPr>
                </a:tc>
                <a:tc>
                  <a:txBody>
                    <a:bodyPr>
                      <a:noAutofit/>
                    </a:bodyPr>
                    <a:lstStyle/>
                    <a:p>
                      <a:r>
                        <a:rPr sz="1725" b="1">
                          <a:solidFill>
                            <a:srgbClr val="FFFFFF"/>
                          </a:solidFill>
                          <a:latin typeface="Arial"/>
                          <a:ea typeface="Arial"/>
                          <a:cs typeface="Arial"/>
                        </a:rPr>
                        <a:t>What it means</a:t>
                      </a:r>
                    </a:p>
                  </a:txBody>
                  <a:tcPr marL="91440" marR="91440" marT="45720" marB="45720">
                    <a:solidFill>
                      <a:srgbClr val="102E49"/>
                    </a:solidFill>
                  </a:tcPr>
                </a:tc>
                <a:tc>
                  <a:txBody>
                    <a:bodyPr>
                      <a:noAutofit/>
                    </a:bodyPr>
                    <a:lstStyle/>
                    <a:p>
                      <a:r>
                        <a:rPr sz="1725" b="1">
                          <a:solidFill>
                            <a:srgbClr val="FFFFFF"/>
                          </a:solidFill>
                          <a:latin typeface="Arial"/>
                          <a:ea typeface="Arial"/>
                          <a:cs typeface="Arial"/>
                        </a:rPr>
                        <a:t>Why we measure it</a:t>
                      </a:r>
                    </a:p>
                  </a:txBody>
                  <a:tcPr marL="91440" marR="91440" marT="45720" marB="45720">
                    <a:solidFill>
                      <a:srgbClr val="102E49"/>
                    </a:solidFill>
                  </a:tcPr>
                </a:tc>
              </a:tr>
              <a:tr h="652463">
                <a:tc>
                  <a:txBody>
                    <a:bodyPr>
                      <a:noAutofit/>
                    </a:bodyPr>
                    <a:lstStyle/>
                    <a:p>
                      <a:r>
                        <a:rPr sz="1725" b="1">
                          <a:solidFill>
                            <a:srgbClr val="102E49"/>
                          </a:solidFill>
                          <a:latin typeface="Arial"/>
                          <a:ea typeface="Arial"/>
                          <a:cs typeface="Arial"/>
                        </a:rPr>
                        <a:t>Wake</a:t>
                      </a:r>
                    </a:p>
                  </a:txBody>
                  <a:tcPr marL="91440" marR="91440" marT="45720" marB="45720">
                    <a:solidFill>
                      <a:srgbClr val="FFFFFF"/>
                    </a:solidFill>
                  </a:tcPr>
                </a:tc>
                <a:tc>
                  <a:txBody>
                    <a:bodyPr>
                      <a:noAutofit/>
                    </a:bodyPr>
                    <a:lstStyle/>
                    <a:p>
                      <a:r>
                        <a:rPr sz="1725" b="0">
                          <a:solidFill>
                            <a:srgbClr val="102E49"/>
                          </a:solidFill>
                          <a:latin typeface="Arial"/>
                          <a:ea typeface="Arial"/>
                          <a:cs typeface="Arial"/>
                        </a:rPr>
                        <a:t>Awake before or between</a:t>
                      </a:r>
                    </a:p>
                    <a:p>
                      <a:r>
                        <a:rPr sz="1725" b="0">
                          <a:solidFill>
                            <a:srgbClr val="102E49"/>
                          </a:solidFill>
                          <a:latin typeface="Arial"/>
                          <a:ea typeface="Arial"/>
                          <a:cs typeface="Arial"/>
                        </a:rPr>
                        <a:t>sleep periods</a:t>
                      </a:r>
                    </a:p>
                  </a:txBody>
                  <a:tcPr marL="91440" marR="91440" marT="45720" marB="45720">
                    <a:solidFill>
                      <a:srgbClr val="FFFFFF"/>
                    </a:solidFill>
                  </a:tcPr>
                </a:tc>
                <a:tc>
                  <a:txBody>
                    <a:bodyPr>
                      <a:noAutofit/>
                    </a:bodyPr>
                    <a:lstStyle/>
                    <a:p>
                      <a:r>
                        <a:rPr sz="1725" b="0">
                          <a:solidFill>
                            <a:srgbClr val="102E49"/>
                          </a:solidFill>
                          <a:latin typeface="Arial"/>
                          <a:ea typeface="Arial"/>
                          <a:cs typeface="Arial"/>
                        </a:rPr>
                        <a:t>Sleep onset and interruptions</a:t>
                      </a:r>
                    </a:p>
                  </a:txBody>
                  <a:tcPr marL="91440" marR="91440" marT="45720" marB="45720">
                    <a:solidFill>
                      <a:srgbClr val="FFFFFF"/>
                    </a:solidFill>
                  </a:tcPr>
                </a:tc>
              </a:tr>
              <a:tr h="652463">
                <a:tc>
                  <a:txBody>
                    <a:bodyPr>
                      <a:noAutofit/>
                    </a:bodyPr>
                    <a:lstStyle/>
                    <a:p>
                      <a:r>
                        <a:rPr sz="1725" b="1">
                          <a:solidFill>
                            <a:srgbClr val="102E49"/>
                          </a:solidFill>
                          <a:latin typeface="Arial"/>
                          <a:ea typeface="Arial"/>
                          <a:cs typeface="Arial"/>
                        </a:rPr>
                        <a:t>N1</a:t>
                      </a:r>
                    </a:p>
                  </a:txBody>
                  <a:tcPr marL="91440" marR="91440" marT="45720" marB="45720">
                    <a:solidFill>
                      <a:srgbClr val="E8F2F5"/>
                    </a:solidFill>
                  </a:tcPr>
                </a:tc>
                <a:tc>
                  <a:txBody>
                    <a:bodyPr>
                      <a:noAutofit/>
                    </a:bodyPr>
                    <a:lstStyle/>
                    <a:p>
                      <a:r>
                        <a:rPr sz="1725" b="0">
                          <a:solidFill>
                            <a:srgbClr val="102E49"/>
                          </a:solidFill>
                          <a:latin typeface="Arial"/>
                          <a:ea typeface="Arial"/>
                          <a:cs typeface="Arial"/>
                        </a:rPr>
                        <a:t>Transition from Wake</a:t>
                      </a:r>
                    </a:p>
                    <a:p>
                      <a:r>
                        <a:rPr sz="1725" b="0">
                          <a:solidFill>
                            <a:srgbClr val="102E49"/>
                          </a:solidFill>
                          <a:latin typeface="Arial"/>
                          <a:ea typeface="Arial"/>
                          <a:cs typeface="Arial"/>
                        </a:rPr>
                        <a:t>to light sleep</a:t>
                      </a:r>
                    </a:p>
                  </a:txBody>
                  <a:tcPr marL="91440" marR="91440" marT="45720" marB="45720">
                    <a:solidFill>
                      <a:srgbClr val="E8F2F5"/>
                    </a:solidFill>
                  </a:tcPr>
                </a:tc>
                <a:tc>
                  <a:txBody>
                    <a:bodyPr>
                      <a:noAutofit/>
                    </a:bodyPr>
                    <a:lstStyle/>
                    <a:p>
                      <a:r>
                        <a:rPr sz="1725" b="0">
                          <a:solidFill>
                            <a:srgbClr val="102E49"/>
                          </a:solidFill>
                          <a:latin typeface="Arial"/>
                          <a:ea typeface="Arial"/>
                          <a:cs typeface="Arial"/>
                        </a:rPr>
                        <a:t>Onset of sleep; distinguish N1 from N2</a:t>
                      </a:r>
                    </a:p>
                  </a:txBody>
                  <a:tcPr marL="91440" marR="91440" marT="45720" marB="45720">
                    <a:solidFill>
                      <a:srgbClr val="E8F2F5"/>
                    </a:solidFill>
                  </a:tcPr>
                </a:tc>
              </a:tr>
              <a:tr h="652463">
                <a:tc>
                  <a:txBody>
                    <a:bodyPr>
                      <a:noAutofit/>
                    </a:bodyPr>
                    <a:lstStyle/>
                    <a:p>
                      <a:r>
                        <a:rPr sz="1725" b="1">
                          <a:solidFill>
                            <a:srgbClr val="102E49"/>
                          </a:solidFill>
                          <a:latin typeface="Arial"/>
                          <a:ea typeface="Arial"/>
                          <a:cs typeface="Arial"/>
                        </a:rPr>
                        <a:t>N2</a:t>
                      </a:r>
                    </a:p>
                  </a:txBody>
                  <a:tcPr marL="91440" marR="91440" marT="45720" marB="45720">
                    <a:solidFill>
                      <a:srgbClr val="FFFFFF"/>
                    </a:solidFill>
                  </a:tcPr>
                </a:tc>
                <a:tc>
                  <a:txBody>
                    <a:bodyPr>
                      <a:noAutofit/>
                    </a:bodyPr>
                    <a:lstStyle/>
                    <a:p>
                      <a:r>
                        <a:rPr sz="1725" b="0">
                          <a:solidFill>
                            <a:srgbClr val="102E49"/>
                          </a:solidFill>
                          <a:latin typeface="Arial"/>
                          <a:ea typeface="Arial"/>
                          <a:cs typeface="Arial"/>
                        </a:rPr>
                        <a:t>Light non-REM sleep;</a:t>
                      </a:r>
                    </a:p>
                    <a:p>
                      <a:r>
                        <a:rPr sz="1725" b="0">
                          <a:solidFill>
                            <a:srgbClr val="102E49"/>
                          </a:solidFill>
                          <a:latin typeface="Arial"/>
                          <a:ea typeface="Arial"/>
                          <a:cs typeface="Arial"/>
                        </a:rPr>
                        <a:t>brain activity slows</a:t>
                      </a:r>
                    </a:p>
                  </a:txBody>
                  <a:tcPr marL="91440" marR="91440" marT="45720" marB="45720">
                    <a:solidFill>
                      <a:srgbClr val="FFFFFF"/>
                    </a:solidFill>
                  </a:tcPr>
                </a:tc>
                <a:tc>
                  <a:txBody>
                    <a:bodyPr>
                      <a:noAutofit/>
                    </a:bodyPr>
                    <a:lstStyle/>
                    <a:p>
                      <a:r>
                        <a:rPr sz="1725" b="0">
                          <a:solidFill>
                            <a:srgbClr val="102E49"/>
                          </a:solidFill>
                          <a:latin typeface="Arial"/>
                          <a:ea typeface="Arial"/>
                          <a:cs typeface="Arial"/>
                        </a:rPr>
                        <a:t>Time in N2; our refinement target</a:t>
                      </a:r>
                    </a:p>
                  </a:txBody>
                  <a:tcPr marL="91440" marR="91440" marT="45720" marB="45720">
                    <a:solidFill>
                      <a:srgbClr val="FFFFFF"/>
                    </a:solidFill>
                  </a:tcPr>
                </a:tc>
              </a:tr>
              <a:tr h="652463">
                <a:tc>
                  <a:txBody>
                    <a:bodyPr>
                      <a:noAutofit/>
                    </a:bodyPr>
                    <a:lstStyle/>
                    <a:p>
                      <a:r>
                        <a:rPr sz="1725" b="1">
                          <a:solidFill>
                            <a:srgbClr val="102E49"/>
                          </a:solidFill>
                          <a:latin typeface="Arial"/>
                          <a:ea typeface="Arial"/>
                          <a:cs typeface="Arial"/>
                        </a:rPr>
                        <a:t>N3</a:t>
                      </a:r>
                    </a:p>
                  </a:txBody>
                  <a:tcPr marL="91440" marR="91440" marT="45720" marB="45720">
                    <a:solidFill>
                      <a:srgbClr val="E8F2F5"/>
                    </a:solidFill>
                  </a:tcPr>
                </a:tc>
                <a:tc>
                  <a:txBody>
                    <a:bodyPr>
                      <a:noAutofit/>
                    </a:bodyPr>
                    <a:lstStyle/>
                    <a:p>
                      <a:r>
                        <a:rPr sz="1725" b="0">
                          <a:solidFill>
                            <a:srgbClr val="102E49"/>
                          </a:solidFill>
                          <a:latin typeface="Arial"/>
                          <a:ea typeface="Arial"/>
                          <a:cs typeface="Arial"/>
                        </a:rPr>
                        <a:t>Deep, slow-wave sleep;</a:t>
                      </a:r>
                    </a:p>
                    <a:p>
                      <a:r>
                        <a:rPr sz="1725" b="0">
                          <a:solidFill>
                            <a:srgbClr val="102E49"/>
                          </a:solidFill>
                          <a:latin typeface="Arial"/>
                          <a:ea typeface="Arial"/>
                          <a:cs typeface="Arial"/>
                        </a:rPr>
                        <a:t>supports restoration</a:t>
                      </a:r>
                    </a:p>
                  </a:txBody>
                  <a:tcPr marL="91440" marR="91440" marT="45720" marB="45720">
                    <a:solidFill>
                      <a:srgbClr val="E8F2F5"/>
                    </a:solidFill>
                  </a:tcPr>
                </a:tc>
                <a:tc>
                  <a:txBody>
                    <a:bodyPr>
                      <a:noAutofit/>
                    </a:bodyPr>
                    <a:lstStyle/>
                    <a:p>
                      <a:r>
                        <a:rPr sz="1725" b="0">
                          <a:solidFill>
                            <a:srgbClr val="102E49"/>
                          </a:solidFill>
                          <a:latin typeface="Arial"/>
                          <a:ea typeface="Arial"/>
                          <a:cs typeface="Arial"/>
                        </a:rPr>
                        <a:t>Time spent in deep sleep</a:t>
                      </a:r>
                    </a:p>
                  </a:txBody>
                  <a:tcPr marL="91440" marR="91440" marT="45720" marB="45720">
                    <a:solidFill>
                      <a:srgbClr val="E8F2F5"/>
                    </a:solidFill>
                  </a:tcPr>
                </a:tc>
              </a:tr>
              <a:tr h="652463">
                <a:tc>
                  <a:txBody>
                    <a:bodyPr>
                      <a:noAutofit/>
                    </a:bodyPr>
                    <a:lstStyle/>
                    <a:p>
                      <a:r>
                        <a:rPr sz="1725" b="1">
                          <a:solidFill>
                            <a:srgbClr val="102E49"/>
                          </a:solidFill>
                          <a:latin typeface="Arial"/>
                          <a:ea typeface="Arial"/>
                          <a:cs typeface="Arial"/>
                        </a:rPr>
                        <a:t>REM</a:t>
                      </a:r>
                    </a:p>
                  </a:txBody>
                  <a:tcPr marL="91440" marR="91440" marT="45720" marB="45720">
                    <a:solidFill>
                      <a:srgbClr val="FFFFFF"/>
                    </a:solidFill>
                  </a:tcPr>
                </a:tc>
                <a:tc>
                  <a:txBody>
                    <a:bodyPr>
                      <a:noAutofit/>
                    </a:bodyPr>
                    <a:lstStyle/>
                    <a:p>
                      <a:r>
                        <a:rPr sz="1725" b="0">
                          <a:solidFill>
                            <a:srgbClr val="102E49"/>
                          </a:solidFill>
                          <a:latin typeface="Arial"/>
                          <a:ea typeface="Arial"/>
                          <a:cs typeface="Arial"/>
                        </a:rPr>
                        <a:t>Active brain, rapid eye movements;</a:t>
                      </a:r>
                    </a:p>
                    <a:p>
                      <a:r>
                        <a:rPr sz="1725" b="0">
                          <a:solidFill>
                            <a:srgbClr val="102E49"/>
                          </a:solidFill>
                          <a:latin typeface="Arial"/>
                          <a:ea typeface="Arial"/>
                          <a:cs typeface="Arial"/>
                        </a:rPr>
                        <a:t>dreaming is common</a:t>
                      </a:r>
                    </a:p>
                  </a:txBody>
                  <a:tcPr marL="91440" marR="91440" marT="45720" marB="45720">
                    <a:solidFill>
                      <a:srgbClr val="FFFFFF"/>
                    </a:solidFill>
                  </a:tcPr>
                </a:tc>
                <a:tc>
                  <a:txBody>
                    <a:bodyPr>
                      <a:noAutofit/>
                    </a:bodyPr>
                    <a:lstStyle/>
                    <a:p>
                      <a:r>
                        <a:rPr sz="1725" b="0">
                          <a:solidFill>
                            <a:srgbClr val="102E49"/>
                          </a:solidFill>
                          <a:latin typeface="Arial"/>
                          <a:ea typeface="Arial"/>
                          <a:cs typeface="Arial"/>
                        </a:rPr>
                        <a:t>Timing and duration of REM sleep</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873FF7B-BD0C-4B58-A789-4DE490340048}"/>
              </a:ext>
            </a:extLst>
          </p:cNvPr>
          <p:cNvSpPr>
            <a:spLocks xmlns:a="http://schemas.openxmlformats.org/drawingml/2006/main" noGrp="1"/>
          </p:cNvSpPr>
          <p:nvPr/>
        </p:nvSpPr>
        <p:spPr>
          <a:xfrm xmlns:a="http://schemas.openxmlformats.org/drawingml/2006/main">
            <a:off x="609600" y="58007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8A69B"/>
                </a:solidFill>
                <a:latin typeface="Arial"/>
                <a:ea typeface="Arial"/>
                <a:cs typeface="Arial"/>
              </a:defRPr>
            </a:pPr>
            <a:r>
              <a:rPr sz="1875" b="1">
                <a:solidFill>
                  <a:srgbClr val="18A69B"/>
                </a:solidFill>
                <a:latin typeface="Arial"/>
                <a:ea typeface="Arial"/>
                <a:cs typeface="Arial"/>
              </a:rPr>
              <a:t>A cycle combines NREM and REM; these stages recur across the night.</a:t>
            </a:r>
          </a:p>
        </p:txBody>
      </p:sp>
      <p:sp>
        <p:nvSpPr>
          <p:cNvPr id="7" name="">
            <a:extLst xmlns:a="http://schemas.openxmlformats.org/drawingml/2006/main">
              <a:ext uri="{FF2B5EF4-FFF2-40B4-BE49-F238E27FC236}">
                <a16:creationId xmlns:a16="http://schemas.microsoft.com/office/drawing/2014/main" id="{A3B42373-EF27-4653-A207-FF520BC59A1D}"/>
              </a:ext>
            </a:extLst>
          </p:cNvPr>
          <p:cNvSpPr>
            <a:spLocks xmlns:a="http://schemas.openxmlformats.org/drawingml/2006/main" noGrp="1"/>
          </p:cNvSpPr>
          <p:nvPr/>
        </p:nvSpPr>
        <p:spPr>
          <a:xfrm xmlns:a="http://schemas.openxmlformats.org/drawingml/2006/main">
            <a:off x="609600" y="6191250"/>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977"/>
                </a:solidFill>
                <a:latin typeface="Arial"/>
                <a:ea typeface="Arial"/>
                <a:cs typeface="Arial"/>
              </a:defRPr>
            </a:pPr>
            <a:r>
              <a:rPr sz="1425" b="0">
                <a:solidFill>
                  <a:srgbClr val="526977"/>
                </a:solidFill>
                <a:latin typeface="Arial"/>
                <a:ea typeface="Arial"/>
                <a:cs typeface="Arial"/>
              </a:rPr>
              <a:t>Typically, more N3 occurs early and REM periods lengthen later. Both phases support learning and memory.</a:t>
            </a:r>
          </a:p>
        </p:txBody>
      </p:sp>
      <p:sp>
        <p:nvSpPr>
          <p:cNvPr id="8" name="">
            <a:extLst xmlns:a="http://schemas.openxmlformats.org/drawingml/2006/main">
              <a:ext uri="{FF2B5EF4-FFF2-40B4-BE49-F238E27FC236}">
                <a16:creationId xmlns:a16="http://schemas.microsoft.com/office/drawing/2014/main" id="{9CDF6D74-3957-4A3D-9551-4FFFA43F2EEE}"/>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977"/>
                </a:solidFill>
                <a:latin typeface="Arial"/>
                <a:ea typeface="Arial"/>
                <a:cs typeface="Arial"/>
              </a:defRPr>
            </a:pPr>
            <a:r>
              <a:rPr sz="900" b="0">
                <a:solidFill>
                  <a:srgbClr val="526977"/>
                </a:solidFill>
                <a:latin typeface="Arial"/>
                <a:ea typeface="Arial"/>
                <a:cs typeface="Arial"/>
              </a:rPr>
              <a:t>03 / 13</a:t>
            </a:r>
          </a:p>
        </p:txBody>
      </p:sp>
    </p:spTree>
    <p:extLst>
      <p:ext uri="{BB962C8B-B14F-4D97-AF65-F5344CB8AC3E}">
        <p14:creationId xmlns:p14="http://schemas.microsoft.com/office/powerpoint/2010/main" val="1202001751"/>
      </p:ext>
    </p:extLst>
  </p:cSld>
</p:sld>
</file>

<file path=ppt/slides/slide4.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AE9453-A3A0-48B7-B1FD-4E7A9F232AC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F2D8B472-841D-4C4D-8F68-8C8888D37CC8}"/>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700" b="1">
                <a:solidFill>
                  <a:srgbClr val="102E49"/>
                </a:solidFill>
                <a:latin typeface="Arial"/>
                <a:ea typeface="Arial"/>
                <a:cs typeface="Arial"/>
              </a:defRPr>
            </a:pPr>
            <a:r>
              <a:rPr sz="2700" b="1">
                <a:solidFill>
                  <a:srgbClr val="102E49"/>
                </a:solidFill>
                <a:latin typeface="Arial"/>
                <a:ea typeface="Arial"/>
                <a:cs typeface="Arial"/>
              </a:rPr>
              <a:t>Literature review and project direction</a:t>
            </a:r>
          </a:p>
        </p:txBody>
      </p:sp>
      <p:sp>
        <p:nvSpPr>
          <p:cNvPr id="3" name="">
            <a:extLst xmlns:a="http://schemas.openxmlformats.org/drawingml/2006/main">
              <a:ext uri="{FF2B5EF4-FFF2-40B4-BE49-F238E27FC236}">
                <a16:creationId xmlns:a16="http://schemas.microsoft.com/office/drawing/2014/main" id="{3BFC5411-EF13-41D6-89D6-A6577C20D9DD}"/>
              </a:ext>
            </a:extLst>
          </p:cNvPr>
          <p:cNvSpPr>
            <a:spLocks xmlns:a="http://schemas.openxmlformats.org/drawingml/2006/main" noGrp="1"/>
          </p:cNvSpPr>
          <p:nvPr/>
        </p:nvSpPr>
        <p:spPr>
          <a:xfrm xmlns:a="http://schemas.openxmlformats.org/drawingml/2006/main">
            <a:off x="609600" y="1238250"/>
            <a:ext cx="109347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4" name="">
            <a:extLst xmlns:a="http://schemas.openxmlformats.org/drawingml/2006/main">
              <a:ext uri="{FF2B5EF4-FFF2-40B4-BE49-F238E27FC236}">
                <a16:creationId xmlns:a16="http://schemas.microsoft.com/office/drawing/2014/main" id="{F54E4287-6DDF-4E63-9D17-BB74AAB252B5}"/>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900" b="0">
                <a:solidFill>
                  <a:srgbClr val="526977"/>
                </a:solidFill>
                <a:latin typeface="Arial"/>
                <a:ea typeface="Arial"/>
                <a:cs typeface="Arial"/>
              </a:defRPr>
            </a:pPr>
            <a:r>
              <a:rPr sz="900" b="0">
                <a:solidFill>
                  <a:srgbClr val="526977"/>
                </a:solidFill>
                <a:latin typeface="Arial"/>
                <a:ea typeface="Arial"/>
                <a:cs typeface="Arial"/>
              </a:rPr>
              <a:t>Selected primary papers; full citations and links in speaker notes</a:t>
            </a:r>
          </a:p>
        </p:txBody>
      </p:sp>
      <p:sp>
        <p:nvSpPr>
          <p:cNvPr id="5" name="">
            <a:extLst xmlns:a="http://schemas.openxmlformats.org/drawingml/2006/main">
              <a:ext uri="{FF2B5EF4-FFF2-40B4-BE49-F238E27FC236}">
                <a16:creationId xmlns:a16="http://schemas.microsoft.com/office/drawing/2014/main" id="{889AFC30-752C-42E2-989B-B1778799AF9C}"/>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900" b="0">
                <a:solidFill>
                  <a:srgbClr val="526977"/>
                </a:solidFill>
                <a:latin typeface="Arial"/>
                <a:ea typeface="Arial"/>
                <a:cs typeface="Arial"/>
              </a:defRPr>
            </a:pPr>
            <a:r>
              <a:rPr sz="900" b="0">
                <a:solidFill>
                  <a:srgbClr val="526977"/>
                </a:solidFill>
                <a:latin typeface="Arial"/>
                <a:ea typeface="Arial"/>
                <a:cs typeface="Arial"/>
              </a:rPr>
              <a:t>04 / 13</a:t>
            </a:r>
          </a:p>
        </p:txBody>
      </p:sp>
      <p:graphicFrame>
        <p:nvGraphicFramePr>
          <p:cNvPr id="16" name=""/>
          <p:cNvGraphicFramePr/>
          <p:nvPr/>
        </p:nvGraphicFramePr>
        <p:xfrm>
          <a:off xmlns:a="http://schemas.openxmlformats.org/drawingml/2006/main" x="609600" y="1600200"/>
          <a:ext xmlns:a="http://schemas.openxmlformats.org/drawingml/2006/main" cx="10934700" cy="4000500"/>
        </p:xfrm>
        <a:graphic xmlns:a="http://schemas.openxmlformats.org/drawingml/2006/main">
          <a:graphicData uri="http://schemas.openxmlformats.org/drawingml/2006/table">
            <a:tbl>
              <a:tblPr/>
              <a:tblGrid>
                <a:gridCol w="3143250"/>
                <a:gridCol w="3905250"/>
                <a:gridCol w="3886200"/>
              </a:tblGrid>
              <a:tr h="666750">
                <a:tc>
                  <a:txBody>
                    <a:bodyPr>
                      <a:noAutofit/>
                    </a:bodyPr>
                    <a:lstStyle/>
                    <a:p>
                      <a:r>
                        <a:rPr sz="1650" b="1">
                          <a:solidFill>
                            <a:srgbClr val="FFFFFF"/>
                          </a:solidFill>
                          <a:latin typeface="Arial"/>
                          <a:ea typeface="Arial"/>
                          <a:cs typeface="Arial"/>
                        </a:rPr>
                        <a:t>Study</a:t>
                      </a:r>
                    </a:p>
                  </a:txBody>
                  <a:tcPr marL="91440" marR="91440" marT="45720" marB="45720">
                    <a:solidFill>
                      <a:srgbClr val="102E49"/>
                    </a:solidFill>
                  </a:tcPr>
                </a:tc>
                <a:tc>
                  <a:txBody>
                    <a:bodyPr>
                      <a:noAutofit/>
                    </a:bodyPr>
                    <a:lstStyle/>
                    <a:p>
                      <a:r>
                        <a:rPr sz="1650" b="1">
                          <a:solidFill>
                            <a:srgbClr val="FFFFFF"/>
                          </a:solidFill>
                          <a:latin typeface="Arial"/>
                          <a:ea typeface="Arial"/>
                          <a:cs typeface="Arial"/>
                        </a:rPr>
                        <a:t>Main contribution</a:t>
                      </a:r>
                    </a:p>
                  </a:txBody>
                  <a:tcPr marL="91440" marR="91440" marT="45720" marB="45720">
                    <a:solidFill>
                      <a:srgbClr val="102E49"/>
                    </a:solidFill>
                  </a:tcPr>
                </a:tc>
                <a:tc>
                  <a:txBody>
                    <a:bodyPr>
                      <a:noAutofit/>
                    </a:bodyPr>
                    <a:lstStyle/>
                    <a:p>
                      <a:r>
                        <a:rPr sz="1650" b="1">
                          <a:solidFill>
                            <a:srgbClr val="FFFFFF"/>
                          </a:solidFill>
                          <a:latin typeface="Arial"/>
                          <a:ea typeface="Arial"/>
                          <a:cs typeface="Arial"/>
                        </a:rPr>
                        <a:t>Relevance to our project</a:t>
                      </a:r>
                    </a:p>
                  </a:txBody>
                  <a:tcPr marL="91440" marR="91440" marT="45720" marB="45720">
                    <a:solidFill>
                      <a:srgbClr val="102E49"/>
                    </a:solidFill>
                  </a:tcPr>
                </a:tc>
              </a:tr>
              <a:tr h="666750">
                <a:tc>
                  <a:txBody>
                    <a:bodyPr>
                      <a:noAutofit/>
                    </a:bodyPr>
                    <a:lstStyle/>
                    <a:p>
                      <a:r>
                        <a:rPr sz="1650" b="0">
                          <a:solidFill>
                            <a:srgbClr val="102E49"/>
                          </a:solidFill>
                          <a:latin typeface="Arial"/>
                          <a:ea typeface="Arial"/>
                          <a:cs typeface="Arial"/>
                        </a:rPr>
                        <a:t>DeepSleepNet</a:t>
                      </a:r>
                    </a:p>
                    <a:p>
                      <a:r>
                        <a:rPr sz="1650" b="0">
                          <a:solidFill>
                            <a:srgbClr val="102E49"/>
                          </a:solidFill>
                          <a:latin typeface="Arial"/>
                          <a:ea typeface="Arial"/>
                          <a:cs typeface="Arial"/>
                        </a:rPr>
                        <a:t>Supratak et al., 2017</a:t>
                      </a:r>
                    </a:p>
                  </a:txBody>
                  <a:tcPr marL="91440" marR="91440" marT="45720" marB="45720">
                    <a:solidFill>
                      <a:srgbClr val="FFFFFF"/>
                    </a:solidFill>
                  </a:tcPr>
                </a:tc>
                <a:tc>
                  <a:txBody>
                    <a:bodyPr>
                      <a:noAutofit/>
                    </a:bodyPr>
                    <a:lstStyle/>
                    <a:p>
                      <a:r>
                        <a:rPr sz="1650" b="0">
                          <a:solidFill>
                            <a:srgbClr val="102E49"/>
                          </a:solidFill>
                          <a:latin typeface="Arial"/>
                          <a:ea typeface="Arial"/>
                          <a:cs typeface="Arial"/>
                        </a:rPr>
                        <a:t>CNN features + BiLSTM</a:t>
                      </a:r>
                    </a:p>
                    <a:p>
                      <a:r>
                        <a:rPr sz="1650" b="0">
                          <a:solidFill>
                            <a:srgbClr val="102E49"/>
                          </a:solidFill>
                          <a:latin typeface="Arial"/>
                          <a:ea typeface="Arial"/>
                          <a:cs typeface="Arial"/>
                        </a:rPr>
                        <a:t>across EEG epochs</a:t>
                      </a:r>
                    </a:p>
                  </a:txBody>
                  <a:tcPr marL="91440" marR="91440" marT="45720" marB="45720">
                    <a:solidFill>
                      <a:srgbClr val="FFFFFF"/>
                    </a:solidFill>
                  </a:tcPr>
                </a:tc>
                <a:tc>
                  <a:txBody>
                    <a:bodyPr>
                      <a:noAutofit/>
                    </a:bodyPr>
                    <a:lstStyle/>
                    <a:p>
                      <a:r>
                        <a:rPr sz="1650" b="0">
                          <a:solidFill>
                            <a:srgbClr val="102E49"/>
                          </a:solidFill>
                          <a:latin typeface="Arial"/>
                          <a:ea typeface="Arial"/>
                          <a:cs typeface="Arial"/>
                        </a:rPr>
                        <a:t>Compare a learned</a:t>
                      </a:r>
                    </a:p>
                    <a:p>
                      <a:r>
                        <a:rPr sz="1650" b="0">
                          <a:solidFill>
                            <a:srgbClr val="102E49"/>
                          </a:solidFill>
                          <a:latin typeface="Arial"/>
                          <a:ea typeface="Arial"/>
                          <a:cs typeface="Arial"/>
                        </a:rPr>
                        <a:t>sequence-context baseline</a:t>
                      </a:r>
                    </a:p>
                  </a:txBody>
                  <a:tcPr marL="91440" marR="91440" marT="45720" marB="45720">
                    <a:solidFill>
                      <a:srgbClr val="FFFFFF"/>
                    </a:solidFill>
                  </a:tcPr>
                </a:tc>
              </a:tr>
              <a:tr h="666750">
                <a:tc>
                  <a:txBody>
                    <a:bodyPr>
                      <a:noAutofit/>
                    </a:bodyPr>
                    <a:lstStyle/>
                    <a:p>
                      <a:r>
                        <a:rPr sz="1650" b="0">
                          <a:solidFill>
                            <a:srgbClr val="102E49"/>
                          </a:solidFill>
                          <a:latin typeface="Arial"/>
                          <a:ea typeface="Arial"/>
                          <a:cs typeface="Arial"/>
                        </a:rPr>
                        <a:t>SeqSleepNet</a:t>
                      </a:r>
                    </a:p>
                    <a:p>
                      <a:r>
                        <a:rPr sz="1650" b="0">
                          <a:solidFill>
                            <a:srgbClr val="102E49"/>
                          </a:solidFill>
                          <a:latin typeface="Arial"/>
                          <a:ea typeface="Arial"/>
                          <a:cs typeface="Arial"/>
                        </a:rPr>
                        <a:t>Phan et al., 2019</a:t>
                      </a:r>
                    </a:p>
                  </a:txBody>
                  <a:tcPr marL="91440" marR="91440" marT="45720" marB="45720">
                    <a:solidFill>
                      <a:srgbClr val="E8F2F5"/>
                    </a:solidFill>
                  </a:tcPr>
                </a:tc>
                <a:tc>
                  <a:txBody>
                    <a:bodyPr>
                      <a:noAutofit/>
                    </a:bodyPr>
                    <a:lstStyle/>
                    <a:p>
                      <a:r>
                        <a:rPr sz="1650" b="0">
                          <a:solidFill>
                            <a:srgbClr val="102E49"/>
                          </a:solidFill>
                          <a:latin typeface="Arial"/>
                          <a:ea typeface="Arial"/>
                          <a:cs typeface="Arial"/>
                        </a:rPr>
                        <a:t>Hierarchical recurrent</a:t>
                      </a:r>
                    </a:p>
                    <a:p>
                      <a:r>
                        <a:rPr sz="1650" b="0">
                          <a:solidFill>
                            <a:srgbClr val="102E49"/>
                          </a:solidFill>
                          <a:latin typeface="Arial"/>
                          <a:ea typeface="Arial"/>
                          <a:cs typeface="Arial"/>
                        </a:rPr>
                        <a:t>sequence-to-sequence staging</a:t>
                      </a:r>
                    </a:p>
                  </a:txBody>
                  <a:tcPr marL="91440" marR="91440" marT="45720" marB="45720">
                    <a:solidFill>
                      <a:srgbClr val="E8F2F5"/>
                    </a:solidFill>
                  </a:tcPr>
                </a:tc>
                <a:tc>
                  <a:txBody>
                    <a:bodyPr>
                      <a:noAutofit/>
                    </a:bodyPr>
                    <a:lstStyle/>
                    <a:p>
                      <a:r>
                        <a:rPr sz="1650" b="0">
                          <a:solidFill>
                            <a:srgbClr val="102E49"/>
                          </a:solidFill>
                          <a:latin typeface="Arial"/>
                          <a:ea typeface="Arial"/>
                          <a:cs typeface="Arial"/>
                        </a:rPr>
                        <a:t>Add context between epochs;</a:t>
                      </a:r>
                    </a:p>
                    <a:p>
                      <a:r>
                        <a:rPr sz="1650" b="0">
                          <a:solidFill>
                            <a:srgbClr val="102E49"/>
                          </a:solidFill>
                          <a:latin typeface="Arial"/>
                          <a:ea typeface="Arial"/>
                          <a:cs typeface="Arial"/>
                        </a:rPr>
                        <a:t>current model is within-epoch</a:t>
                      </a:r>
                    </a:p>
                  </a:txBody>
                  <a:tcPr marL="91440" marR="91440" marT="45720" marB="45720">
                    <a:solidFill>
                      <a:srgbClr val="E8F2F5"/>
                    </a:solidFill>
                  </a:tcPr>
                </a:tc>
              </a:tr>
              <a:tr h="666750">
                <a:tc>
                  <a:txBody>
                    <a:bodyPr>
                      <a:noAutofit/>
                    </a:bodyPr>
                    <a:lstStyle/>
                    <a:p>
                      <a:r>
                        <a:rPr sz="1650" b="0">
                          <a:solidFill>
                            <a:srgbClr val="102E49"/>
                          </a:solidFill>
                          <a:latin typeface="Arial"/>
                          <a:ea typeface="Arial"/>
                          <a:cs typeface="Arial"/>
                        </a:rPr>
                        <a:t>U-Sleep</a:t>
                      </a:r>
                    </a:p>
                    <a:p>
                      <a:r>
                        <a:rPr sz="1650" b="0">
                          <a:solidFill>
                            <a:srgbClr val="102E49"/>
                          </a:solidFill>
                          <a:latin typeface="Arial"/>
                          <a:ea typeface="Arial"/>
                          <a:cs typeface="Arial"/>
                        </a:rPr>
                        <a:t>Perslev et al., 2021</a:t>
                      </a:r>
                    </a:p>
                  </a:txBody>
                  <a:tcPr marL="91440" marR="91440" marT="45720" marB="45720">
                    <a:solidFill>
                      <a:srgbClr val="FFFFFF"/>
                    </a:solidFill>
                  </a:tcPr>
                </a:tc>
                <a:tc>
                  <a:txBody>
                    <a:bodyPr>
                      <a:noAutofit/>
                    </a:bodyPr>
                    <a:lstStyle/>
                    <a:p>
                      <a:r>
                        <a:rPr sz="1650" b="0">
                          <a:solidFill>
                            <a:srgbClr val="102E49"/>
                          </a:solidFill>
                          <a:latin typeface="Arial"/>
                          <a:ea typeface="Arial"/>
                          <a:cs typeface="Arial"/>
                        </a:rPr>
                        <a:t>Fully convolutional staging</a:t>
                      </a:r>
                    </a:p>
                    <a:p>
                      <a:r>
                        <a:rPr sz="1650" b="0">
                          <a:solidFill>
                            <a:srgbClr val="102E49"/>
                          </a:solidFill>
                          <a:latin typeface="Arial"/>
                          <a:ea typeface="Arial"/>
                          <a:cs typeface="Arial"/>
                        </a:rPr>
                        <a:t>across clinical cohorts</a:t>
                      </a:r>
                    </a:p>
                  </a:txBody>
                  <a:tcPr marL="91440" marR="91440" marT="45720" marB="45720">
                    <a:solidFill>
                      <a:srgbClr val="FFFFFF"/>
                    </a:solidFill>
                  </a:tcPr>
                </a:tc>
                <a:tc>
                  <a:txBody>
                    <a:bodyPr>
                      <a:noAutofit/>
                    </a:bodyPr>
                    <a:lstStyle/>
                    <a:p>
                      <a:r>
                        <a:rPr sz="1650" b="0">
                          <a:solidFill>
                            <a:srgbClr val="102E49"/>
                          </a:solidFill>
                          <a:latin typeface="Arial"/>
                          <a:ea typeface="Arial"/>
                          <a:cs typeface="Arial"/>
                        </a:rPr>
                        <a:t>Test transfer and robustness</a:t>
                      </a:r>
                    </a:p>
                    <a:p>
                      <a:r>
                        <a:rPr sz="1650" b="0">
                          <a:solidFill>
                            <a:srgbClr val="102E49"/>
                          </a:solidFill>
                          <a:latin typeface="Arial"/>
                          <a:ea typeface="Arial"/>
                          <a:cs typeface="Arial"/>
                        </a:rPr>
                        <a:t>on a separate dataset</a:t>
                      </a:r>
                    </a:p>
                  </a:txBody>
                  <a:tcPr marL="91440" marR="91440" marT="45720" marB="45720">
                    <a:solidFill>
                      <a:srgbClr val="FFFFFF"/>
                    </a:solidFill>
                  </a:tcPr>
                </a:tc>
              </a:tr>
              <a:tr h="666750">
                <a:tc>
                  <a:txBody>
                    <a:bodyPr>
                      <a:noAutofit/>
                    </a:bodyPr>
                    <a:lstStyle/>
                    <a:p>
                      <a:r>
                        <a:rPr sz="1650" b="0">
                          <a:solidFill>
                            <a:srgbClr val="102E49"/>
                          </a:solidFill>
                          <a:latin typeface="Arial"/>
                          <a:ea typeface="Arial"/>
                          <a:cs typeface="Arial"/>
                        </a:rPr>
                        <a:t>RobustSleepNet</a:t>
                      </a:r>
                    </a:p>
                    <a:p>
                      <a:r>
                        <a:rPr sz="1650" b="0">
                          <a:solidFill>
                            <a:srgbClr val="102E49"/>
                          </a:solidFill>
                          <a:latin typeface="Arial"/>
                          <a:ea typeface="Arial"/>
                          <a:cs typeface="Arial"/>
                        </a:rPr>
                        <a:t>Guillot &amp; Thorey, 2021</a:t>
                      </a:r>
                    </a:p>
                  </a:txBody>
                  <a:tcPr marL="91440" marR="91440" marT="45720" marB="45720">
                    <a:solidFill>
                      <a:srgbClr val="E8F2F5"/>
                    </a:solidFill>
                  </a:tcPr>
                </a:tc>
                <a:tc>
                  <a:txBody>
                    <a:bodyPr>
                      <a:noAutofit/>
                    </a:bodyPr>
                    <a:lstStyle/>
                    <a:p>
                      <a:r>
                        <a:rPr sz="1650" b="0">
                          <a:solidFill>
                            <a:srgbClr val="102E49"/>
                          </a:solidFill>
                          <a:latin typeface="Arial"/>
                          <a:ea typeface="Arial"/>
                          <a:cs typeface="Arial"/>
                        </a:rPr>
                        <a:t>Montage flexibility and</a:t>
                      </a:r>
                    </a:p>
                    <a:p>
                      <a:r>
                        <a:rPr sz="1650" b="0">
                          <a:solidFill>
                            <a:srgbClr val="102E49"/>
                          </a:solidFill>
                          <a:latin typeface="Arial"/>
                          <a:ea typeface="Arial"/>
                          <a:cs typeface="Arial"/>
                        </a:rPr>
                        <a:t>leave-one-dataset-out testing</a:t>
                      </a:r>
                    </a:p>
                  </a:txBody>
                  <a:tcPr marL="91440" marR="91440" marT="45720" marB="45720">
                    <a:solidFill>
                      <a:srgbClr val="E8F2F5"/>
                    </a:solidFill>
                  </a:tcPr>
                </a:tc>
                <a:tc>
                  <a:txBody>
                    <a:bodyPr>
                      <a:noAutofit/>
                    </a:bodyPr>
                    <a:lstStyle/>
                    <a:p>
                      <a:r>
                        <a:rPr sz="1650" b="0">
                          <a:solidFill>
                            <a:srgbClr val="102E49"/>
                          </a:solidFill>
                          <a:latin typeface="Arial"/>
                          <a:ea typeface="Arial"/>
                          <a:cs typeface="Arial"/>
                        </a:rPr>
                        <a:t>Check channel compatibility</a:t>
                      </a:r>
                    </a:p>
                    <a:p>
                      <a:r>
                        <a:rPr sz="1650" b="0">
                          <a:solidFill>
                            <a:srgbClr val="102E49"/>
                          </a:solidFill>
                          <a:latin typeface="Arial"/>
                          <a:ea typeface="Arial"/>
                          <a:cs typeface="Arial"/>
                        </a:rPr>
                        <a:t>and external generalization</a:t>
                      </a:r>
                    </a:p>
                  </a:txBody>
                  <a:tcPr marL="91440" marR="91440" marT="45720" marB="45720">
                    <a:solidFill>
                      <a:srgbClr val="E8F2F5"/>
                    </a:solidFill>
                  </a:tcPr>
                </a:tc>
              </a:tr>
              <a:tr h="666750">
                <a:tc>
                  <a:txBody>
                    <a:bodyPr>
                      <a:noAutofit/>
                    </a:bodyPr>
                    <a:lstStyle/>
                    <a:p>
                      <a:r>
                        <a:rPr sz="1650" b="0">
                          <a:solidFill>
                            <a:srgbClr val="102E49"/>
                          </a:solidFill>
                          <a:latin typeface="Arial"/>
                          <a:ea typeface="Arial"/>
                          <a:cs typeface="Arial"/>
                        </a:rPr>
                        <a:t>SLEEPYLAND</a:t>
                      </a:r>
                    </a:p>
                    <a:p>
                      <a:r>
                        <a:rPr sz="1650" b="0">
                          <a:solidFill>
                            <a:srgbClr val="102E49"/>
                          </a:solidFill>
                          <a:latin typeface="Arial"/>
                          <a:ea typeface="Arial"/>
                          <a:cs typeface="Arial"/>
                        </a:rPr>
                        <a:t>Dei Rossi et al., 2025*</a:t>
                      </a:r>
                    </a:p>
                  </a:txBody>
                  <a:tcPr marL="91440" marR="91440" marT="45720" marB="45720">
                    <a:solidFill>
                      <a:srgbClr val="FFFFFF"/>
                    </a:solidFill>
                  </a:tcPr>
                </a:tc>
                <a:tc>
                  <a:txBody>
                    <a:bodyPr>
                      <a:noAutofit/>
                    </a:bodyPr>
                    <a:lstStyle/>
                    <a:p>
                      <a:r>
                        <a:rPr sz="1650" b="0">
                          <a:solidFill>
                            <a:srgbClr val="102E49"/>
                          </a:solidFill>
                          <a:latin typeface="Arial"/>
                          <a:ea typeface="Arial"/>
                          <a:cs typeface="Arial"/>
                        </a:rPr>
                        <a:t>Standardized evaluation;</a:t>
                      </a:r>
                    </a:p>
                    <a:p>
                      <a:r>
                        <a:rPr sz="1650" b="0">
                          <a:solidFill>
                            <a:srgbClr val="102E49"/>
                          </a:solidFill>
                          <a:latin typeface="Arial"/>
                          <a:ea typeface="Arial"/>
                          <a:cs typeface="Arial"/>
                        </a:rPr>
                        <a:t>SOMNUS soft-voting ensemble</a:t>
                      </a:r>
                    </a:p>
                  </a:txBody>
                  <a:tcPr marL="91440" marR="91440" marT="45720" marB="45720">
                    <a:solidFill>
                      <a:srgbClr val="FFFFFF"/>
                    </a:solidFill>
                  </a:tcPr>
                </a:tc>
                <a:tc>
                  <a:txBody>
                    <a:bodyPr>
                      <a:noAutofit/>
                    </a:bodyPr>
                    <a:lstStyle/>
                    <a:p>
                      <a:r>
                        <a:rPr sz="1650" b="0">
                          <a:solidFill>
                            <a:srgbClr val="102E49"/>
                          </a:solidFill>
                          <a:latin typeface="Arial"/>
                          <a:ea typeface="Arial"/>
                          <a:cs typeface="Arial"/>
                        </a:rPr>
                        <a:t>Test model fusion and</a:t>
                      </a:r>
                    </a:p>
                    <a:p>
                      <a:r>
                        <a:rPr sz="1650" b="0">
                          <a:solidFill>
                            <a:srgbClr val="102E49"/>
                          </a:solidFill>
                          <a:latin typeface="Arial"/>
                          <a:ea typeface="Arial"/>
                          <a:cs typeface="Arial"/>
                        </a:rPr>
                        <a:t>calibrate the final output</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8D03B09-FFC5-4AA1-941C-DA9AC3929386}"/>
              </a:ext>
            </a:extLst>
          </p:cNvPr>
          <p:cNvSpPr>
            <a:spLocks xmlns:a="http://schemas.openxmlformats.org/drawingml/2006/main" noGrp="1"/>
          </p:cNvSpPr>
          <p:nvPr/>
        </p:nvSpPr>
        <p:spPr>
          <a:xfrm xmlns:a="http://schemas.openxmlformats.org/drawingml/2006/main">
            <a:off x="609600" y="58102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18A69B"/>
                </a:solidFill>
                <a:latin typeface="Arial"/>
                <a:ea typeface="Arial"/>
                <a:cs typeface="Arial"/>
              </a:defRPr>
            </a:pPr>
            <a:r>
              <a:rPr sz="1800" b="1">
                <a:solidFill>
                  <a:srgbClr val="18A69B"/>
                </a:solidFill>
                <a:latin typeface="Arial"/>
                <a:ea typeface="Arial"/>
                <a:cs typeface="Arial"/>
              </a:rPr>
              <a:t>Design direction: targeted experts + sequence context + fair external evaluation</a:t>
            </a:r>
          </a:p>
        </p:txBody>
      </p:sp>
      <p:sp>
        <p:nvSpPr>
          <p:cNvPr id="8" name="">
            <a:extLst xmlns:a="http://schemas.openxmlformats.org/drawingml/2006/main">
              <a:ext uri="{FF2B5EF4-FFF2-40B4-BE49-F238E27FC236}">
                <a16:creationId xmlns:a16="http://schemas.microsoft.com/office/drawing/2014/main" id="{60C0E19B-6892-4D12-8373-99D13442B837}"/>
              </a:ext>
            </a:extLst>
          </p:cNvPr>
          <p:cNvSpPr>
            <a:spLocks xmlns:a="http://schemas.openxmlformats.org/drawingml/2006/main" noGrp="1"/>
          </p:cNvSpPr>
          <p:nvPr/>
        </p:nvSpPr>
        <p:spPr>
          <a:xfrm xmlns:a="http://schemas.openxmlformats.org/drawingml/2006/main">
            <a:off x="609600" y="6200775"/>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200" b="0">
                <a:solidFill>
                  <a:srgbClr val="526977"/>
                </a:solidFill>
                <a:latin typeface="Arial"/>
                <a:ea typeface="Arial"/>
                <a:cs typeface="Arial"/>
              </a:defRPr>
            </a:pPr>
            <a:r>
              <a:rPr sz="1200" b="0">
                <a:solidFill>
                  <a:srgbClr val="526977"/>
                </a:solidFill>
                <a:latin typeface="Arial"/>
                <a:ea typeface="Arial"/>
                <a:cs typeface="Arial"/>
              </a:rPr>
              <a:t>*2025 arXiv preprint. Published scores use different datasets and protocols; no direct ranking is claimed.</a:t>
            </a:r>
          </a:p>
        </p:txBody>
      </p:sp>
    </p:spTree>
    <p:extLst>
      <p:ext uri="{BB962C8B-B14F-4D97-AF65-F5344CB8AC3E}">
        <p14:creationId xmlns:p14="http://schemas.microsoft.com/office/powerpoint/2010/main" val="1069184251"/>
      </p:ext>
    </p:extLst>
  </p:cSld>
</p:sld>
</file>

<file path=ppt/slides/slide5.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4C7B66E-3A83-491F-AB62-639A6C1C1DE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156C77D5-37B8-42FE-A385-29B9C6D7B88D}"/>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700" b="1">
                <a:solidFill>
                  <a:srgbClr val="102E49"/>
                </a:solidFill>
                <a:latin typeface="Arial"/>
                <a:ea typeface="Arial"/>
                <a:cs typeface="Arial"/>
              </a:defRPr>
            </a:pPr>
            <a:r>
              <a:rPr sz="2700" b="1">
                <a:solidFill>
                  <a:srgbClr val="102E49"/>
                </a:solidFill>
                <a:latin typeface="Arial"/>
                <a:ea typeface="Arial"/>
                <a:cs typeface="Arial"/>
              </a:rPr>
              <a:t>Dataset and 30-second EEG epochs</a:t>
            </a:r>
          </a:p>
        </p:txBody>
      </p:sp>
      <p:sp>
        <p:nvSpPr>
          <p:cNvPr id="3" name="">
            <a:extLst xmlns:a="http://schemas.openxmlformats.org/drawingml/2006/main">
              <a:ext uri="{FF2B5EF4-FFF2-40B4-BE49-F238E27FC236}">
                <a16:creationId xmlns:a16="http://schemas.microsoft.com/office/drawing/2014/main" id="{5B9DD5A0-7AEC-40D2-8643-442D8D8A70A9}"/>
              </a:ext>
            </a:extLst>
          </p:cNvPr>
          <p:cNvSpPr>
            <a:spLocks xmlns:a="http://schemas.openxmlformats.org/drawingml/2006/main" noGrp="1"/>
          </p:cNvSpPr>
          <p:nvPr/>
        </p:nvSpPr>
        <p:spPr>
          <a:xfrm xmlns:a="http://schemas.openxmlformats.org/drawingml/2006/main">
            <a:off x="609600" y="1238250"/>
            <a:ext cx="109347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4" name="">
            <a:extLst xmlns:a="http://schemas.openxmlformats.org/drawingml/2006/main">
              <a:ext uri="{FF2B5EF4-FFF2-40B4-BE49-F238E27FC236}">
                <a16:creationId xmlns:a16="http://schemas.microsoft.com/office/drawing/2014/main" id="{4D508E73-3489-4F01-9CF9-897C85E8EBFA}"/>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900" b="0">
                <a:solidFill>
                  <a:srgbClr val="526977"/>
                </a:solidFill>
                <a:latin typeface="Arial"/>
                <a:ea typeface="Arial"/>
                <a:cs typeface="Arial"/>
              </a:defRPr>
            </a:pPr>
            <a:r>
              <a:rPr sz="900" b="0">
                <a:solidFill>
                  <a:srgbClr val="526977"/>
                </a:solidFill>
                <a:latin typeface="Arial"/>
                <a:ea typeface="Arial"/>
                <a:cs typeface="Arial"/>
              </a:rPr>
              <a:t>PhysioNet HMC v1.1; verified split_summary.json</a:t>
            </a:r>
          </a:p>
        </p:txBody>
      </p:sp>
      <p:sp>
        <p:nvSpPr>
          <p:cNvPr id="5" name="">
            <a:extLst xmlns:a="http://schemas.openxmlformats.org/drawingml/2006/main">
              <a:ext uri="{FF2B5EF4-FFF2-40B4-BE49-F238E27FC236}">
                <a16:creationId xmlns:a16="http://schemas.microsoft.com/office/drawing/2014/main" id="{B20068BF-D435-47E3-B638-561038BE57B2}"/>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900" b="0">
                <a:solidFill>
                  <a:srgbClr val="526977"/>
                </a:solidFill>
                <a:latin typeface="Arial"/>
                <a:ea typeface="Arial"/>
                <a:cs typeface="Arial"/>
              </a:defRPr>
            </a:pPr>
            <a:r>
              <a:rPr sz="900" b="0">
                <a:solidFill>
                  <a:srgbClr val="526977"/>
                </a:solidFill>
                <a:latin typeface="Arial"/>
                <a:ea typeface="Arial"/>
                <a:cs typeface="Arial"/>
              </a:rPr>
              <a:t>05 / 13</a:t>
            </a:r>
          </a:p>
        </p:txBody>
      </p:sp>
      <p:sp>
        <p:nvSpPr>
          <p:cNvPr id="6" name="">
            <a:extLst xmlns:a="http://schemas.openxmlformats.org/drawingml/2006/main">
              <a:ext uri="{FF2B5EF4-FFF2-40B4-BE49-F238E27FC236}">
                <a16:creationId xmlns:a16="http://schemas.microsoft.com/office/drawing/2014/main" id="{C23C1947-9140-4F45-B721-A68E4A694055}"/>
              </a:ext>
            </a:extLst>
          </p:cNvPr>
          <p:cNvSpPr>
            <a:spLocks xmlns:a="http://schemas.openxmlformats.org/drawingml/2006/main" noGrp="1"/>
          </p:cNvSpPr>
          <p:nvPr/>
        </p:nvSpPr>
        <p:spPr>
          <a:xfrm xmlns:a="http://schemas.openxmlformats.org/drawingml/2006/main">
            <a:off x="609600" y="1581150"/>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102E49"/>
                </a:solidFill>
                <a:latin typeface="Arial"/>
                <a:ea typeface="Arial"/>
                <a:cs typeface="Arial"/>
              </a:defRPr>
            </a:pPr>
            <a:r>
              <a:rPr sz="1875" b="1">
                <a:solidFill>
                  <a:srgbClr val="102E49"/>
                </a:solidFill>
                <a:latin typeface="Arial"/>
                <a:ea typeface="Arial"/>
                <a:cs typeface="Arial"/>
              </a:rPr>
              <a:t>HMC v1.1: 151 clinical PSG recordings; project subset: 24 recordings</a:t>
            </a:r>
          </a:p>
        </p:txBody>
      </p:sp>
      <p:graphicFrame>
        <p:nvGraphicFramePr>
          <p:cNvPr id="23" name=""/>
          <p:cNvGraphicFramePr/>
          <p:nvPr/>
        </p:nvGraphicFramePr>
        <p:xfrm>
          <a:off xmlns:a="http://schemas.openxmlformats.org/drawingml/2006/main" x="609600" y="2286000"/>
          <a:ext xmlns:a="http://schemas.openxmlformats.org/drawingml/2006/main" cx="5429250" cy="2857500"/>
        </p:xfrm>
        <a:graphic xmlns:a="http://schemas.openxmlformats.org/drawingml/2006/main">
          <a:graphicData uri="http://schemas.openxmlformats.org/drawingml/2006/table">
            <a:tbl>
              <a:tblPr/>
              <a:tblGrid>
                <a:gridCol w="2238375"/>
                <a:gridCol w="1428750"/>
                <a:gridCol w="1762125"/>
              </a:tblGrid>
              <a:tr h="571500">
                <a:tc>
                  <a:txBody>
                    <a:bodyPr>
                      <a:noAutofit/>
                    </a:bodyPr>
                    <a:lstStyle/>
                    <a:p>
                      <a:r>
                        <a:rPr sz="1725" b="1">
                          <a:solidFill>
                            <a:srgbClr val="FFFFFF"/>
                          </a:solidFill>
                          <a:latin typeface="Arial"/>
                          <a:ea typeface="Arial"/>
                          <a:cs typeface="Arial"/>
                        </a:rPr>
                        <a:t>Partition</a:t>
                      </a:r>
                    </a:p>
                  </a:txBody>
                  <a:tcPr marL="91440" marR="91440" marT="45720" marB="45720">
                    <a:solidFill>
                      <a:srgbClr val="102E49"/>
                    </a:solidFill>
                  </a:tcPr>
                </a:tc>
                <a:tc>
                  <a:txBody>
                    <a:bodyPr>
                      <a:noAutofit/>
                    </a:bodyPr>
                    <a:lstStyle/>
                    <a:p>
                      <a:r>
                        <a:rPr sz="1725" b="1">
                          <a:solidFill>
                            <a:srgbClr val="FFFFFF"/>
                          </a:solidFill>
                          <a:latin typeface="Arial"/>
                          <a:ea typeface="Arial"/>
                          <a:cs typeface="Arial"/>
                        </a:rPr>
                        <a:t>Recordings</a:t>
                      </a:r>
                    </a:p>
                  </a:txBody>
                  <a:tcPr marL="91440" marR="91440" marT="45720" marB="45720">
                    <a:solidFill>
                      <a:srgbClr val="102E49"/>
                    </a:solidFill>
                  </a:tcPr>
                </a:tc>
                <a:tc>
                  <a:txBody>
                    <a:bodyPr>
                      <a:noAutofit/>
                    </a:bodyPr>
                    <a:lstStyle/>
                    <a:p>
                      <a:r>
                        <a:rPr sz="1725" b="1">
                          <a:solidFill>
                            <a:srgbClr val="FFFFFF"/>
                          </a:solidFill>
                          <a:latin typeface="Arial"/>
                          <a:ea typeface="Arial"/>
                          <a:cs typeface="Arial"/>
                        </a:rPr>
                        <a:t>EEG epochs</a:t>
                      </a:r>
                    </a:p>
                  </a:txBody>
                  <a:tcPr marL="91440" marR="91440" marT="45720" marB="45720">
                    <a:solidFill>
                      <a:srgbClr val="102E49"/>
                    </a:solidFill>
                  </a:tcPr>
                </a:tc>
              </a:tr>
              <a:tr h="571500">
                <a:tc>
                  <a:txBody>
                    <a:bodyPr>
                      <a:noAutofit/>
                    </a:bodyPr>
                    <a:lstStyle/>
                    <a:p>
                      <a:r>
                        <a:rPr sz="1725" b="0">
                          <a:solidFill>
                            <a:srgbClr val="102E49"/>
                          </a:solidFill>
                          <a:latin typeface="Arial"/>
                          <a:ea typeface="Arial"/>
                          <a:cs typeface="Arial"/>
                        </a:rPr>
                        <a:t>Training</a:t>
                      </a:r>
                    </a:p>
                  </a:txBody>
                  <a:tcPr marL="91440" marR="91440" marT="45720" marB="45720">
                    <a:solidFill>
                      <a:srgbClr val="FFFFFF"/>
                    </a:solidFill>
                  </a:tcPr>
                </a:tc>
                <a:tc>
                  <a:txBody>
                    <a:bodyPr>
                      <a:noAutofit/>
                    </a:bodyPr>
                    <a:lstStyle/>
                    <a:p>
                      <a:r>
                        <a:rPr sz="1725" b="0">
                          <a:solidFill>
                            <a:srgbClr val="102E49"/>
                          </a:solidFill>
                          <a:latin typeface="Arial"/>
                          <a:ea typeface="Arial"/>
                          <a:cs typeface="Arial"/>
                        </a:rPr>
                        <a:t>16</a:t>
                      </a:r>
                    </a:p>
                  </a:txBody>
                  <a:tcPr marL="91440" marR="91440" marT="45720" marB="45720">
                    <a:solidFill>
                      <a:srgbClr val="FFFFFF"/>
                    </a:solidFill>
                  </a:tcPr>
                </a:tc>
                <a:tc>
                  <a:txBody>
                    <a:bodyPr>
                      <a:noAutofit/>
                    </a:bodyPr>
                    <a:lstStyle/>
                    <a:p>
                      <a:r>
                        <a:rPr sz="1725" b="0">
                          <a:solidFill>
                            <a:srgbClr val="102E49"/>
                          </a:solidFill>
                          <a:latin typeface="Arial"/>
                          <a:ea typeface="Arial"/>
                          <a:cs typeface="Arial"/>
                        </a:rPr>
                        <a:t>15,216</a:t>
                      </a:r>
                    </a:p>
                  </a:txBody>
                  <a:tcPr marL="91440" marR="91440" marT="45720" marB="45720">
                    <a:solidFill>
                      <a:srgbClr val="FFFFFF"/>
                    </a:solidFill>
                  </a:tcPr>
                </a:tc>
              </a:tr>
              <a:tr h="571500">
                <a:tc>
                  <a:txBody>
                    <a:bodyPr>
                      <a:noAutofit/>
                    </a:bodyPr>
                    <a:lstStyle/>
                    <a:p>
                      <a:r>
                        <a:rPr sz="1725" b="0">
                          <a:solidFill>
                            <a:srgbClr val="102E49"/>
                          </a:solidFill>
                          <a:latin typeface="Arial"/>
                          <a:ea typeface="Arial"/>
                          <a:cs typeface="Arial"/>
                        </a:rPr>
                        <a:t>Validation</a:t>
                      </a:r>
                    </a:p>
                  </a:txBody>
                  <a:tcPr marL="91440" marR="91440" marT="45720" marB="45720">
                    <a:solidFill>
                      <a:srgbClr val="E8F2F5"/>
                    </a:solidFill>
                  </a:tcPr>
                </a:tc>
                <a:tc>
                  <a:txBody>
                    <a:bodyPr>
                      <a:noAutofit/>
                    </a:bodyPr>
                    <a:lstStyle/>
                    <a:p>
                      <a:r>
                        <a:rPr sz="1725" b="0">
                          <a:solidFill>
                            <a:srgbClr val="102E49"/>
                          </a:solidFill>
                          <a:latin typeface="Arial"/>
                          <a:ea typeface="Arial"/>
                          <a:cs typeface="Arial"/>
                        </a:rPr>
                        <a:t>4</a:t>
                      </a:r>
                    </a:p>
                  </a:txBody>
                  <a:tcPr marL="91440" marR="91440" marT="45720" marB="45720">
                    <a:solidFill>
                      <a:srgbClr val="E8F2F5"/>
                    </a:solidFill>
                  </a:tcPr>
                </a:tc>
                <a:tc>
                  <a:txBody>
                    <a:bodyPr>
                      <a:noAutofit/>
                    </a:bodyPr>
                    <a:lstStyle/>
                    <a:p>
                      <a:r>
                        <a:rPr sz="1725" b="0">
                          <a:solidFill>
                            <a:srgbClr val="102E49"/>
                          </a:solidFill>
                          <a:latin typeface="Arial"/>
                          <a:ea typeface="Arial"/>
                          <a:cs typeface="Arial"/>
                        </a:rPr>
                        <a:t>3,619</a:t>
                      </a:r>
                    </a:p>
                  </a:txBody>
                  <a:tcPr marL="91440" marR="91440" marT="45720" marB="45720">
                    <a:solidFill>
                      <a:srgbClr val="E8F2F5"/>
                    </a:solidFill>
                  </a:tcPr>
                </a:tc>
              </a:tr>
              <a:tr h="571500">
                <a:tc>
                  <a:txBody>
                    <a:bodyPr>
                      <a:noAutofit/>
                    </a:bodyPr>
                    <a:lstStyle/>
                    <a:p>
                      <a:r>
                        <a:rPr sz="1725" b="0">
                          <a:solidFill>
                            <a:srgbClr val="102E49"/>
                          </a:solidFill>
                          <a:latin typeface="Arial"/>
                          <a:ea typeface="Arial"/>
                          <a:cs typeface="Arial"/>
                        </a:rPr>
                        <a:t>Test</a:t>
                      </a:r>
                    </a:p>
                  </a:txBody>
                  <a:tcPr marL="91440" marR="91440" marT="45720" marB="45720">
                    <a:solidFill>
                      <a:srgbClr val="FFFFFF"/>
                    </a:solidFill>
                  </a:tcPr>
                </a:tc>
                <a:tc>
                  <a:txBody>
                    <a:bodyPr>
                      <a:noAutofit/>
                    </a:bodyPr>
                    <a:lstStyle/>
                    <a:p>
                      <a:r>
                        <a:rPr sz="1725" b="0">
                          <a:solidFill>
                            <a:srgbClr val="102E49"/>
                          </a:solidFill>
                          <a:latin typeface="Arial"/>
                          <a:ea typeface="Arial"/>
                          <a:cs typeface="Arial"/>
                        </a:rPr>
                        <a:t>4</a:t>
                      </a:r>
                    </a:p>
                  </a:txBody>
                  <a:tcPr marL="91440" marR="91440" marT="45720" marB="45720">
                    <a:solidFill>
                      <a:srgbClr val="FFFFFF"/>
                    </a:solidFill>
                  </a:tcPr>
                </a:tc>
                <a:tc>
                  <a:txBody>
                    <a:bodyPr>
                      <a:noAutofit/>
                    </a:bodyPr>
                    <a:lstStyle/>
                    <a:p>
                      <a:r>
                        <a:rPr sz="1725" b="0">
                          <a:solidFill>
                            <a:srgbClr val="102E49"/>
                          </a:solidFill>
                          <a:latin typeface="Arial"/>
                          <a:ea typeface="Arial"/>
                          <a:cs typeface="Arial"/>
                        </a:rPr>
                        <a:t>3,109</a:t>
                      </a:r>
                    </a:p>
                  </a:txBody>
                  <a:tcPr marL="91440" marR="91440" marT="45720" marB="45720">
                    <a:solidFill>
                      <a:srgbClr val="FFFFFF"/>
                    </a:solidFill>
                  </a:tcPr>
                </a:tc>
              </a:tr>
              <a:tr h="571500">
                <a:tc>
                  <a:txBody>
                    <a:bodyPr>
                      <a:noAutofit/>
                    </a:bodyPr>
                    <a:lstStyle/>
                    <a:p>
                      <a:r>
                        <a:rPr sz="1725" b="0">
                          <a:solidFill>
                            <a:srgbClr val="102E49"/>
                          </a:solidFill>
                          <a:latin typeface="Arial"/>
                          <a:ea typeface="Arial"/>
                          <a:cs typeface="Arial"/>
                        </a:rPr>
                        <a:t>Total</a:t>
                      </a:r>
                    </a:p>
                  </a:txBody>
                  <a:tcPr marL="91440" marR="91440" marT="45720" marB="45720">
                    <a:solidFill>
                      <a:srgbClr val="E8F2F5"/>
                    </a:solidFill>
                  </a:tcPr>
                </a:tc>
                <a:tc>
                  <a:txBody>
                    <a:bodyPr>
                      <a:noAutofit/>
                    </a:bodyPr>
                    <a:lstStyle/>
                    <a:p>
                      <a:r>
                        <a:rPr sz="1725" b="0">
                          <a:solidFill>
                            <a:srgbClr val="102E49"/>
                          </a:solidFill>
                          <a:latin typeface="Arial"/>
                          <a:ea typeface="Arial"/>
                          <a:cs typeface="Arial"/>
                        </a:rPr>
                        <a:t>24</a:t>
                      </a:r>
                    </a:p>
                  </a:txBody>
                  <a:tcPr marL="91440" marR="91440" marT="45720" marB="45720">
                    <a:solidFill>
                      <a:srgbClr val="E8F2F5"/>
                    </a:solidFill>
                  </a:tcPr>
                </a:tc>
                <a:tc>
                  <a:txBody>
                    <a:bodyPr>
                      <a:noAutofit/>
                    </a:bodyPr>
                    <a:lstStyle/>
                    <a:p>
                      <a:r>
                        <a:rPr sz="1725" b="0">
                          <a:solidFill>
                            <a:srgbClr val="102E49"/>
                          </a:solidFill>
                          <a:latin typeface="Arial"/>
                          <a:ea typeface="Arial"/>
                          <a:cs typeface="Arial"/>
                        </a:rPr>
                        <a:t>21,944</a:t>
                      </a:r>
                    </a:p>
                  </a:txBody>
                  <a:tcPr marL="91440" marR="91440" marT="45720" marB="45720">
                    <a:solidFill>
                      <a:srgbClr val="E8F2F5"/>
                    </a:solidFill>
                  </a:tcPr>
                </a:tc>
              </a:tr>
            </a:tbl>
          </a:graphicData>
        </a:graphic>
      </p:graphicFrame>
      <p:sp>
        <p:nvSpPr>
          <p:cNvPr id="8" name="">
            <a:extLst xmlns:a="http://schemas.openxmlformats.org/drawingml/2006/main">
              <a:ext uri="{FF2B5EF4-FFF2-40B4-BE49-F238E27FC236}">
                <a16:creationId xmlns:a16="http://schemas.microsoft.com/office/drawing/2014/main" id="{57147288-5914-416E-BA22-15CF090CA854}"/>
              </a:ext>
            </a:extLst>
          </p:cNvPr>
          <p:cNvSpPr>
            <a:spLocks xmlns:a="http://schemas.openxmlformats.org/drawingml/2006/main" noGrp="1"/>
          </p:cNvSpPr>
          <p:nvPr/>
        </p:nvSpPr>
        <p:spPr>
          <a:xfrm xmlns:a="http://schemas.openxmlformats.org/drawingml/2006/main">
            <a:off x="6534150" y="22955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950" b="1">
                <a:solidFill>
                  <a:srgbClr val="18A69B"/>
                </a:solidFill>
                <a:latin typeface="Arial"/>
                <a:ea typeface="Arial"/>
                <a:cs typeface="Arial"/>
              </a:defRPr>
            </a:pPr>
            <a:r>
              <a:rPr sz="1950" b="1">
                <a:solidFill>
                  <a:srgbClr val="18A69B"/>
                </a:solidFill>
                <a:latin typeface="Arial"/>
                <a:ea typeface="Arial"/>
                <a:cs typeface="Arial"/>
              </a:rPr>
              <a:t>One EEG epoch = one 30 s segment</a:t>
            </a:r>
          </a:p>
        </p:txBody>
      </p:sp>
      <p:sp>
        <p:nvSpPr>
          <p:cNvPr id="9" name="">
            <a:extLst xmlns:a="http://schemas.openxmlformats.org/drawingml/2006/main">
              <a:ext uri="{FF2B5EF4-FFF2-40B4-BE49-F238E27FC236}">
                <a16:creationId xmlns:a16="http://schemas.microsoft.com/office/drawing/2014/main" id="{5C81E5BD-32DC-4F51-8139-B02B9163CA5C}"/>
              </a:ext>
            </a:extLst>
          </p:cNvPr>
          <p:cNvSpPr>
            <a:spLocks xmlns:a="http://schemas.openxmlformats.org/drawingml/2006/main" noGrp="1"/>
          </p:cNvSpPr>
          <p:nvPr/>
        </p:nvSpPr>
        <p:spPr>
          <a:xfrm xmlns:a="http://schemas.openxmlformats.org/drawingml/2006/main">
            <a:off x="6534150" y="2971800"/>
            <a:ext cx="1504950" cy="62865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0–30 s</a:t>
            </a:r>
          </a:p>
        </p:txBody>
      </p:sp>
      <p:sp>
        <p:nvSpPr>
          <p:cNvPr id="10" name="">
            <a:extLst xmlns:a="http://schemas.openxmlformats.org/drawingml/2006/main">
              <a:ext uri="{FF2B5EF4-FFF2-40B4-BE49-F238E27FC236}">
                <a16:creationId xmlns:a16="http://schemas.microsoft.com/office/drawing/2014/main" id="{9B98B8D3-04EA-49B4-811C-003B6DEF4F19}"/>
              </a:ext>
            </a:extLst>
          </p:cNvPr>
          <p:cNvSpPr>
            <a:spLocks xmlns:a="http://schemas.openxmlformats.org/drawingml/2006/main" noGrp="1"/>
          </p:cNvSpPr>
          <p:nvPr/>
        </p:nvSpPr>
        <p:spPr>
          <a:xfrm xmlns:a="http://schemas.openxmlformats.org/drawingml/2006/main">
            <a:off x="8201025" y="2971800"/>
            <a:ext cx="1504950" cy="62865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30–60 s</a:t>
            </a:r>
          </a:p>
        </p:txBody>
      </p:sp>
      <p:sp>
        <p:nvSpPr>
          <p:cNvPr id="11" name="">
            <a:extLst xmlns:a="http://schemas.openxmlformats.org/drawingml/2006/main">
              <a:ext uri="{FF2B5EF4-FFF2-40B4-BE49-F238E27FC236}">
                <a16:creationId xmlns:a16="http://schemas.microsoft.com/office/drawing/2014/main" id="{0C5B8F8E-F86A-4CB4-BFDB-3736BD97B2C9}"/>
              </a:ext>
            </a:extLst>
          </p:cNvPr>
          <p:cNvSpPr>
            <a:spLocks xmlns:a="http://schemas.openxmlformats.org/drawingml/2006/main" noGrp="1"/>
          </p:cNvSpPr>
          <p:nvPr/>
        </p:nvSpPr>
        <p:spPr>
          <a:xfrm xmlns:a="http://schemas.openxmlformats.org/drawingml/2006/main">
            <a:off x="9867900" y="2971800"/>
            <a:ext cx="1504950" cy="62865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60–90 s</a:t>
            </a:r>
          </a:p>
        </p:txBody>
      </p:sp>
      <p:sp>
        <p:nvSpPr>
          <p:cNvPr id="12" name="">
            <a:extLst xmlns:a="http://schemas.openxmlformats.org/drawingml/2006/main">
              <a:ext uri="{FF2B5EF4-FFF2-40B4-BE49-F238E27FC236}">
                <a16:creationId xmlns:a16="http://schemas.microsoft.com/office/drawing/2014/main" id="{BC2A8BB5-F9B5-4E5C-AE10-45EE9C22AA2F}"/>
              </a:ext>
            </a:extLst>
          </p:cNvPr>
          <p:cNvSpPr>
            <a:spLocks xmlns:a="http://schemas.openxmlformats.org/drawingml/2006/main" noGrp="1"/>
          </p:cNvSpPr>
          <p:nvPr/>
        </p:nvSpPr>
        <p:spPr>
          <a:xfrm xmlns:a="http://schemas.openxmlformats.org/drawingml/2006/main">
            <a:off x="6534150" y="39243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102E49"/>
                </a:solidFill>
                <a:latin typeface="Arial"/>
                <a:ea typeface="Arial"/>
                <a:cs typeface="Arial"/>
              </a:defRPr>
            </a:pPr>
            <a:r>
              <a:rPr sz="1875" b="0">
                <a:solidFill>
                  <a:srgbClr val="102E49"/>
                </a:solidFill>
                <a:latin typeface="Arial"/>
                <a:ea typeface="Arial"/>
                <a:cs typeface="Arial"/>
              </a:rPr>
              <a:t>At 100 Hz: 30 × 100 = 3,000 samples</a:t>
            </a:r>
          </a:p>
          <a:p xmlns:a="http://schemas.openxmlformats.org/drawingml/2006/main">
            <a:pPr algn="l">
              <a:buNone/>
              <a:defRPr sz="1875" b="0">
                <a:solidFill>
                  <a:srgbClr val="102E49"/>
                </a:solidFill>
                <a:latin typeface="Arial"/>
                <a:ea typeface="Arial"/>
                <a:cs typeface="Arial"/>
              </a:defRPr>
            </a:pPr>
            <a:r>
              <a:rPr sz="1875" b="0">
                <a:solidFill>
                  <a:srgbClr val="102E49"/>
                </a:solidFill>
                <a:latin typeface="Arial"/>
                <a:ea typeface="Arial"/>
                <a:cs typeface="Arial"/>
              </a:rPr>
              <a:t>Four channels → input shape 4 × 3,000</a:t>
            </a:r>
          </a:p>
        </p:txBody>
      </p:sp>
      <p:sp>
        <p:nvSpPr>
          <p:cNvPr id="13" name="">
            <a:extLst xmlns:a="http://schemas.openxmlformats.org/drawingml/2006/main">
              <a:ext uri="{FF2B5EF4-FFF2-40B4-BE49-F238E27FC236}">
                <a16:creationId xmlns:a16="http://schemas.microsoft.com/office/drawing/2014/main" id="{5AABC591-C608-4EB3-B495-8314DE0B0433}"/>
              </a:ext>
            </a:extLst>
          </p:cNvPr>
          <p:cNvSpPr>
            <a:spLocks xmlns:a="http://schemas.openxmlformats.org/drawingml/2006/main" noGrp="1"/>
          </p:cNvSpPr>
          <p:nvPr/>
        </p:nvSpPr>
        <p:spPr>
          <a:xfrm xmlns:a="http://schemas.openxmlformats.org/drawingml/2006/main">
            <a:off x="6534150" y="50673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575" b="0">
                <a:solidFill>
                  <a:srgbClr val="526977"/>
                </a:solidFill>
                <a:latin typeface="Arial"/>
                <a:ea typeface="Arial"/>
                <a:cs typeface="Arial"/>
              </a:defRPr>
            </a:pPr>
            <a:r>
              <a:rPr sz="1575" b="0">
                <a:solidFill>
                  <a:srgbClr val="526977"/>
                </a:solidFill>
                <a:latin typeface="Arial"/>
                <a:ea typeface="Arial"/>
                <a:cs typeface="Arial"/>
              </a:rPr>
              <a:t>F4-M1 · C4-M1 · O2-M1 · C3-M2</a:t>
            </a:r>
          </a:p>
        </p:txBody>
      </p:sp>
      <p:sp>
        <p:nvSpPr>
          <p:cNvPr id="14" name="">
            <a:extLst xmlns:a="http://schemas.openxmlformats.org/drawingml/2006/main">
              <a:ext uri="{FF2B5EF4-FFF2-40B4-BE49-F238E27FC236}">
                <a16:creationId xmlns:a16="http://schemas.microsoft.com/office/drawing/2014/main" id="{50F34D03-0627-4943-B7DC-A0749811A30A}"/>
              </a:ext>
            </a:extLst>
          </p:cNvPr>
          <p:cNvSpPr>
            <a:spLocks xmlns:a="http://schemas.openxmlformats.org/drawingml/2006/main" noGrp="1"/>
          </p:cNvSpPr>
          <p:nvPr/>
        </p:nvSpPr>
        <p:spPr>
          <a:xfrm xmlns:a="http://schemas.openxmlformats.org/drawingml/2006/main">
            <a:off x="609600" y="5848350"/>
            <a:ext cx="10934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526977"/>
                </a:solidFill>
                <a:latin typeface="Arial"/>
                <a:ea typeface="Arial"/>
                <a:cs typeface="Arial"/>
              </a:defRPr>
            </a:pPr>
            <a:r>
              <a:rPr sz="1500" b="0">
                <a:solidFill>
                  <a:srgbClr val="526977"/>
                </a:solidFill>
                <a:latin typeface="Arial"/>
                <a:ea typeface="Arial"/>
                <a:cs typeface="Arial"/>
              </a:rPr>
              <a:t>Split by recording ID. SN001 covers only 190 epochs (95 min); whole-night claims are unsupported.</a:t>
            </a:r>
          </a:p>
        </p:txBody>
      </p:sp>
    </p:spTree>
    <p:extLst>
      <p:ext uri="{BB962C8B-B14F-4D97-AF65-F5344CB8AC3E}">
        <p14:creationId xmlns:p14="http://schemas.microsoft.com/office/powerpoint/2010/main" val="3355814683"/>
      </p:ext>
    </p:extLst>
  </p:cSld>
</p:sld>
</file>

<file path=ppt/slides/slide6.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D7E4CAC-2CD8-4765-83CF-5C9B2159BD2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E1587AE5-EB65-42A1-BD4D-D3B91A2DD40A}"/>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700" b="1">
                <a:solidFill>
                  <a:srgbClr val="102E49"/>
                </a:solidFill>
                <a:latin typeface="Arial"/>
                <a:ea typeface="Arial"/>
                <a:cs typeface="Arial"/>
              </a:defRPr>
            </a:pPr>
            <a:r>
              <a:rPr sz="2700" b="1">
                <a:solidFill>
                  <a:srgbClr val="102E49"/>
                </a:solidFill>
                <a:latin typeface="Arial"/>
                <a:ea typeface="Arial"/>
                <a:cs typeface="Arial"/>
              </a:rPr>
              <a:t>EEG preprocessing</a:t>
            </a:r>
          </a:p>
        </p:txBody>
      </p:sp>
      <p:sp>
        <p:nvSpPr>
          <p:cNvPr id="3" name="">
            <a:extLst xmlns:a="http://schemas.openxmlformats.org/drawingml/2006/main">
              <a:ext uri="{FF2B5EF4-FFF2-40B4-BE49-F238E27FC236}">
                <a16:creationId xmlns:a16="http://schemas.microsoft.com/office/drawing/2014/main" id="{FF0BC5C8-9BF8-4CC4-83EA-38665EE465CA}"/>
              </a:ext>
            </a:extLst>
          </p:cNvPr>
          <p:cNvSpPr>
            <a:spLocks xmlns:a="http://schemas.openxmlformats.org/drawingml/2006/main" noGrp="1"/>
          </p:cNvSpPr>
          <p:nvPr/>
        </p:nvSpPr>
        <p:spPr>
          <a:xfrm xmlns:a="http://schemas.openxmlformats.org/drawingml/2006/main">
            <a:off x="609600" y="1238250"/>
            <a:ext cx="109347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4" name="">
            <a:extLst xmlns:a="http://schemas.openxmlformats.org/drawingml/2006/main">
              <a:ext uri="{FF2B5EF4-FFF2-40B4-BE49-F238E27FC236}">
                <a16:creationId xmlns:a16="http://schemas.microsoft.com/office/drawing/2014/main" id="{55FAF112-65F0-4EBF-8B3E-EBE2B180243C}"/>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900" b="0">
                <a:solidFill>
                  <a:srgbClr val="526977"/>
                </a:solidFill>
                <a:latin typeface="Arial"/>
                <a:ea typeface="Arial"/>
                <a:cs typeface="Arial"/>
              </a:defRPr>
            </a:pPr>
            <a:r>
              <a:rPr sz="900" b="0">
                <a:solidFill>
                  <a:srgbClr val="526977"/>
                </a:solidFill>
                <a:latin typeface="Arial"/>
                <a:ea typeface="Arial"/>
                <a:cs typeface="Arial"/>
              </a:rPr>
              <a:t>Notebook preprocessing lineage; archived matched SN009 signal example</a:t>
            </a:r>
          </a:p>
        </p:txBody>
      </p:sp>
      <p:sp>
        <p:nvSpPr>
          <p:cNvPr id="5" name="">
            <a:extLst xmlns:a="http://schemas.openxmlformats.org/drawingml/2006/main">
              <a:ext uri="{FF2B5EF4-FFF2-40B4-BE49-F238E27FC236}">
                <a16:creationId xmlns:a16="http://schemas.microsoft.com/office/drawing/2014/main" id="{E8BBBD98-7BFA-4F8E-82CD-B4BD83D94191}"/>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900" b="0">
                <a:solidFill>
                  <a:srgbClr val="526977"/>
                </a:solidFill>
                <a:latin typeface="Arial"/>
                <a:ea typeface="Arial"/>
                <a:cs typeface="Arial"/>
              </a:defRPr>
            </a:pPr>
            <a:r>
              <a:rPr sz="900" b="0">
                <a:solidFill>
                  <a:srgbClr val="526977"/>
                </a:solidFill>
                <a:latin typeface="Arial"/>
                <a:ea typeface="Arial"/>
                <a:cs typeface="Arial"/>
              </a:rPr>
              <a:t>06 / 13</a:t>
            </a:r>
          </a:p>
        </p:txBody>
      </p:sp>
      <p:sp>
        <p:nvSpPr>
          <p:cNvPr id="6" name="">
            <a:extLst xmlns:a="http://schemas.openxmlformats.org/drawingml/2006/main">
              <a:ext uri="{FF2B5EF4-FFF2-40B4-BE49-F238E27FC236}">
                <a16:creationId xmlns:a16="http://schemas.microsoft.com/office/drawing/2014/main" id="{A0E14CBE-1CB7-40D5-BF3B-C32BA032913C}"/>
              </a:ext>
            </a:extLst>
          </p:cNvPr>
          <p:cNvSpPr>
            <a:spLocks xmlns:a="http://schemas.openxmlformats.org/drawingml/2006/main" noGrp="1"/>
          </p:cNvSpPr>
          <p:nvPr/>
        </p:nvSpPr>
        <p:spPr>
          <a:xfrm xmlns:a="http://schemas.openxmlformats.org/drawingml/2006/main">
            <a:off x="609600" y="1685925"/>
            <a:ext cx="1943100" cy="83820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Select 4</a:t>
            </a:r>
          </a:p>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channels</a:t>
            </a:r>
          </a:p>
        </p:txBody>
      </p:sp>
      <p:sp>
        <p:nvSpPr>
          <p:cNvPr id="7" name="">
            <a:extLst xmlns:a="http://schemas.openxmlformats.org/drawingml/2006/main">
              <a:ext uri="{FF2B5EF4-FFF2-40B4-BE49-F238E27FC236}">
                <a16:creationId xmlns:a16="http://schemas.microsoft.com/office/drawing/2014/main" id="{946A2F46-DD23-4AA7-BC53-AEB0D9E213F9}"/>
              </a:ext>
            </a:extLst>
          </p:cNvPr>
          <p:cNvSpPr>
            <a:spLocks xmlns:a="http://schemas.openxmlformats.org/drawingml/2006/main" noGrp="1"/>
          </p:cNvSpPr>
          <p:nvPr/>
        </p:nvSpPr>
        <p:spPr>
          <a:xfrm xmlns:a="http://schemas.openxmlformats.org/drawingml/2006/main">
            <a:off x="2600325" y="2028825"/>
            <a:ext cx="219075" cy="17145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8" name="">
            <a:extLst xmlns:a="http://schemas.openxmlformats.org/drawingml/2006/main">
              <a:ext uri="{FF2B5EF4-FFF2-40B4-BE49-F238E27FC236}">
                <a16:creationId xmlns:a16="http://schemas.microsoft.com/office/drawing/2014/main" id="{3031BEBE-3A55-496B-A971-59989A911162}"/>
              </a:ext>
            </a:extLst>
          </p:cNvPr>
          <p:cNvSpPr>
            <a:spLocks xmlns:a="http://schemas.openxmlformats.org/drawingml/2006/main" noGrp="1"/>
          </p:cNvSpPr>
          <p:nvPr/>
        </p:nvSpPr>
        <p:spPr>
          <a:xfrm xmlns:a="http://schemas.openxmlformats.org/drawingml/2006/main">
            <a:off x="2847975" y="1685925"/>
            <a:ext cx="1943100" cy="83820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50 Hz notch</a:t>
            </a:r>
          </a:p>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at 256 Hz</a:t>
            </a:r>
          </a:p>
        </p:txBody>
      </p:sp>
      <p:sp>
        <p:nvSpPr>
          <p:cNvPr id="9" name="">
            <a:extLst xmlns:a="http://schemas.openxmlformats.org/drawingml/2006/main">
              <a:ext uri="{FF2B5EF4-FFF2-40B4-BE49-F238E27FC236}">
                <a16:creationId xmlns:a16="http://schemas.microsoft.com/office/drawing/2014/main" id="{8B7B2585-7DF7-4144-B099-CB3FB11894F0}"/>
              </a:ext>
            </a:extLst>
          </p:cNvPr>
          <p:cNvSpPr>
            <a:spLocks xmlns:a="http://schemas.openxmlformats.org/drawingml/2006/main" noGrp="1"/>
          </p:cNvSpPr>
          <p:nvPr/>
        </p:nvSpPr>
        <p:spPr>
          <a:xfrm xmlns:a="http://schemas.openxmlformats.org/drawingml/2006/main">
            <a:off x="4838700" y="2028825"/>
            <a:ext cx="219075" cy="17145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0" name="">
            <a:extLst xmlns:a="http://schemas.openxmlformats.org/drawingml/2006/main">
              <a:ext uri="{FF2B5EF4-FFF2-40B4-BE49-F238E27FC236}">
                <a16:creationId xmlns:a16="http://schemas.microsoft.com/office/drawing/2014/main" id="{5A2D4C40-11F0-44AB-BDFE-D2EE7BAD673B}"/>
              </a:ext>
            </a:extLst>
          </p:cNvPr>
          <p:cNvSpPr>
            <a:spLocks xmlns:a="http://schemas.openxmlformats.org/drawingml/2006/main" noGrp="1"/>
          </p:cNvSpPr>
          <p:nvPr/>
        </p:nvSpPr>
        <p:spPr>
          <a:xfrm xmlns:a="http://schemas.openxmlformats.org/drawingml/2006/main">
            <a:off x="5086350" y="1685925"/>
            <a:ext cx="1943100" cy="83820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Bandpass</a:t>
            </a:r>
          </a:p>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0.3–35 Hz</a:t>
            </a:r>
          </a:p>
        </p:txBody>
      </p:sp>
      <p:sp>
        <p:nvSpPr>
          <p:cNvPr id="11" name="">
            <a:extLst xmlns:a="http://schemas.openxmlformats.org/drawingml/2006/main">
              <a:ext uri="{FF2B5EF4-FFF2-40B4-BE49-F238E27FC236}">
                <a16:creationId xmlns:a16="http://schemas.microsoft.com/office/drawing/2014/main" id="{9720FF8C-4569-4DAD-8DE0-5834D31D8F15}"/>
              </a:ext>
            </a:extLst>
          </p:cNvPr>
          <p:cNvSpPr>
            <a:spLocks xmlns:a="http://schemas.openxmlformats.org/drawingml/2006/main" noGrp="1"/>
          </p:cNvSpPr>
          <p:nvPr/>
        </p:nvSpPr>
        <p:spPr>
          <a:xfrm xmlns:a="http://schemas.openxmlformats.org/drawingml/2006/main">
            <a:off x="7077075" y="2028825"/>
            <a:ext cx="219075" cy="17145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2" name="">
            <a:extLst xmlns:a="http://schemas.openxmlformats.org/drawingml/2006/main">
              <a:ext uri="{FF2B5EF4-FFF2-40B4-BE49-F238E27FC236}">
                <a16:creationId xmlns:a16="http://schemas.microsoft.com/office/drawing/2014/main" id="{8B30581D-34D4-4084-B8FA-1B37DB5ACD35}"/>
              </a:ext>
            </a:extLst>
          </p:cNvPr>
          <p:cNvSpPr>
            <a:spLocks xmlns:a="http://schemas.openxmlformats.org/drawingml/2006/main" noGrp="1"/>
          </p:cNvSpPr>
          <p:nvPr/>
        </p:nvSpPr>
        <p:spPr>
          <a:xfrm xmlns:a="http://schemas.openxmlformats.org/drawingml/2006/main">
            <a:off x="7324725" y="1685925"/>
            <a:ext cx="1943100" cy="83820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Resample</a:t>
            </a:r>
          </a:p>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to 100 Hz</a:t>
            </a:r>
          </a:p>
        </p:txBody>
      </p:sp>
      <p:sp>
        <p:nvSpPr>
          <p:cNvPr id="13" name="">
            <a:extLst xmlns:a="http://schemas.openxmlformats.org/drawingml/2006/main">
              <a:ext uri="{FF2B5EF4-FFF2-40B4-BE49-F238E27FC236}">
                <a16:creationId xmlns:a16="http://schemas.microsoft.com/office/drawing/2014/main" id="{D4F0EAEE-901F-4FEF-B229-7EC5450239F9}"/>
              </a:ext>
            </a:extLst>
          </p:cNvPr>
          <p:cNvSpPr>
            <a:spLocks xmlns:a="http://schemas.openxmlformats.org/drawingml/2006/main" noGrp="1"/>
          </p:cNvSpPr>
          <p:nvPr/>
        </p:nvSpPr>
        <p:spPr>
          <a:xfrm xmlns:a="http://schemas.openxmlformats.org/drawingml/2006/main">
            <a:off x="9315450" y="2028825"/>
            <a:ext cx="219075" cy="17145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4" name="">
            <a:extLst xmlns:a="http://schemas.openxmlformats.org/drawingml/2006/main">
              <a:ext uri="{FF2B5EF4-FFF2-40B4-BE49-F238E27FC236}">
                <a16:creationId xmlns:a16="http://schemas.microsoft.com/office/drawing/2014/main" id="{B2505C57-9F1F-435D-A281-9054F5577C15}"/>
              </a:ext>
            </a:extLst>
          </p:cNvPr>
          <p:cNvSpPr>
            <a:spLocks xmlns:a="http://schemas.openxmlformats.org/drawingml/2006/main" noGrp="1"/>
          </p:cNvSpPr>
          <p:nvPr/>
        </p:nvSpPr>
        <p:spPr>
          <a:xfrm xmlns:a="http://schemas.openxmlformats.org/drawingml/2006/main">
            <a:off x="9563100" y="1685925"/>
            <a:ext cx="1943100" cy="83820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30 s epochs</a:t>
            </a:r>
          </a:p>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 normalize</a:t>
            </a:r>
          </a:p>
        </p:txBody>
      </p:sp>
      <p:sp>
        <p:nvSpPr>
          <p:cNvPr id="15" name="">
            <a:extLst xmlns:a="http://schemas.openxmlformats.org/drawingml/2006/main">
              <a:ext uri="{FF2B5EF4-FFF2-40B4-BE49-F238E27FC236}">
                <a16:creationId xmlns:a16="http://schemas.microsoft.com/office/drawing/2014/main" id="{15BDA4A3-0147-456B-BBA2-CFA2203184B2}"/>
              </a:ext>
            </a:extLst>
          </p:cNvPr>
          <p:cNvSpPr>
            <a:spLocks xmlns:a="http://schemas.openxmlformats.org/drawingml/2006/main" noGrp="1"/>
          </p:cNvSpPr>
          <p:nvPr/>
        </p:nvSpPr>
        <p:spPr>
          <a:xfrm xmlns:a="http://schemas.openxmlformats.org/drawingml/2006/main">
            <a:off x="609600" y="2981325"/>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1">
                <a:solidFill>
                  <a:srgbClr val="102E49"/>
                </a:solidFill>
                <a:latin typeface="Arial"/>
                <a:ea typeface="Arial"/>
                <a:cs typeface="Arial"/>
              </a:defRPr>
            </a:pPr>
            <a:r>
              <a:rPr sz="1650" b="1">
                <a:solidFill>
                  <a:srgbClr val="102E49"/>
                </a:solidFill>
                <a:latin typeface="Arial"/>
                <a:ea typeface="Arial"/>
                <a:cs typeface="Arial"/>
              </a:rPr>
              <a:t>Raw EEG · SN009, F4-M1</a:t>
            </a:r>
          </a:p>
        </p:txBody>
      </p:sp>
      <p:sp>
        <p:nvSpPr>
          <p:cNvPr id="16" name="">
            <a:extLst xmlns:a="http://schemas.openxmlformats.org/drawingml/2006/main">
              <a:ext uri="{FF2B5EF4-FFF2-40B4-BE49-F238E27FC236}">
                <a16:creationId xmlns:a16="http://schemas.microsoft.com/office/drawing/2014/main" id="{6C3DF35C-71FD-4F22-B147-1E065802CDF4}"/>
              </a:ext>
            </a:extLst>
          </p:cNvPr>
          <p:cNvSpPr>
            <a:spLocks xmlns:a="http://schemas.openxmlformats.org/drawingml/2006/main" noGrp="1"/>
          </p:cNvSpPr>
          <p:nvPr/>
        </p:nvSpPr>
        <p:spPr>
          <a:xfrm xmlns:a="http://schemas.openxmlformats.org/drawingml/2006/main">
            <a:off x="6334125" y="2981325"/>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1">
                <a:solidFill>
                  <a:srgbClr val="102E49"/>
                </a:solidFill>
                <a:latin typeface="Arial"/>
                <a:ea typeface="Arial"/>
                <a:cs typeface="Arial"/>
              </a:defRPr>
            </a:pPr>
            <a:r>
              <a:rPr sz="1650" b="1">
                <a:solidFill>
                  <a:srgbClr val="102E49"/>
                </a:solidFill>
                <a:latin typeface="Arial"/>
                <a:ea typeface="Arial"/>
                <a:cs typeface="Arial"/>
              </a:rPr>
              <a:t>Filtered and normalized EEG · same interval</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e33f33caedd44e01"/>
          <a:stretch xmlns:a="http://schemas.openxmlformats.org/drawingml/2006/main"/>
        </p:blipFill>
        <p:spPr>
          <a:xfrm xmlns:a="http://schemas.openxmlformats.org/drawingml/2006/main">
            <a:off x="696912" y="3400425"/>
            <a:ext cx="5016500" cy="2257425"/>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031a0a59915e43e7"/>
          <a:stretch xmlns:a="http://schemas.openxmlformats.org/drawingml/2006/main"/>
        </p:blipFill>
        <p:spPr>
          <a:xfrm xmlns:a="http://schemas.openxmlformats.org/drawingml/2006/main">
            <a:off x="6421438" y="3400425"/>
            <a:ext cx="5016500" cy="2257425"/>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952049F1-2849-4D87-8976-04DE7CB152AB}"/>
              </a:ext>
            </a:extLst>
          </p:cNvPr>
          <p:cNvSpPr>
            <a:spLocks xmlns:a="http://schemas.openxmlformats.org/drawingml/2006/main" noGrp="1"/>
          </p:cNvSpPr>
          <p:nvPr/>
        </p:nvSpPr>
        <p:spPr>
          <a:xfrm xmlns:a="http://schemas.openxmlformats.org/drawingml/2006/main">
            <a:off x="609600" y="5829300"/>
            <a:ext cx="1085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18A69B"/>
                </a:solidFill>
                <a:latin typeface="Arial"/>
                <a:ea typeface="Arial"/>
                <a:cs typeface="Arial"/>
              </a:defRPr>
            </a:pPr>
            <a:r>
              <a:rPr sz="1725" b="1">
                <a:solidFill>
                  <a:srgbClr val="18A69B"/>
                </a:solidFill>
                <a:latin typeface="Arial"/>
                <a:ea typeface="Arial"/>
                <a:cs typeface="Arial"/>
              </a:rPr>
              <a:t>Per-epoch, per-channel normalization. Apply the 50 Hz notch before resampling.</a:t>
            </a:r>
          </a:p>
        </p:txBody>
      </p:sp>
      <p:sp>
        <p:nvSpPr>
          <p:cNvPr id="20" name="">
            <a:extLst xmlns:a="http://schemas.openxmlformats.org/drawingml/2006/main">
              <a:ext uri="{FF2B5EF4-FFF2-40B4-BE49-F238E27FC236}">
                <a16:creationId xmlns:a16="http://schemas.microsoft.com/office/drawing/2014/main" id="{50E28E3D-724F-4FEA-A097-FD9810871F73}"/>
              </a:ext>
            </a:extLst>
          </p:cNvPr>
          <p:cNvSpPr>
            <a:spLocks xmlns:a="http://schemas.openxmlformats.org/drawingml/2006/main" noGrp="1"/>
          </p:cNvSpPr>
          <p:nvPr/>
        </p:nvSpPr>
        <p:spPr>
          <a:xfrm xmlns:a="http://schemas.openxmlformats.org/drawingml/2006/main">
            <a:off x="609600" y="6191250"/>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200" b="0">
                <a:solidFill>
                  <a:srgbClr val="526977"/>
                </a:solidFill>
                <a:latin typeface="Arial"/>
                <a:ea typeface="Arial"/>
                <a:cs typeface="Arial"/>
              </a:defRPr>
            </a:pPr>
            <a:r>
              <a:rPr sz="1200" b="0">
                <a:solidFill>
                  <a:srgbClr val="526977"/>
                </a:solidFill>
                <a:latin typeface="Arial"/>
                <a:ea typeface="Arial"/>
                <a:cs typeface="Arial"/>
              </a:rPr>
              <a:t>Archived 300–330 s signal illustration only; all performance results use the current 3,109-epoch run.</a:t>
            </a:r>
          </a:p>
        </p:txBody>
      </p:sp>
    </p:spTree>
    <p:extLst>
      <p:ext uri="{BB962C8B-B14F-4D97-AF65-F5344CB8AC3E}">
        <p14:creationId xmlns:p14="http://schemas.microsoft.com/office/powerpoint/2010/main" val="4252615662"/>
      </p:ext>
    </p:extLst>
  </p:cSld>
</p:sld>
</file>

<file path=ppt/slides/slide7.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FA81C85-5F69-4708-A271-50706755743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B226CFCB-D17A-46A1-85F3-FA25BFA2AD8C}"/>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700" b="1">
                <a:solidFill>
                  <a:srgbClr val="102E49"/>
                </a:solidFill>
                <a:latin typeface="Arial"/>
                <a:ea typeface="Arial"/>
                <a:cs typeface="Arial"/>
              </a:defRPr>
            </a:pPr>
            <a:r>
              <a:rPr sz="2700" b="1">
                <a:solidFill>
                  <a:srgbClr val="102E49"/>
                </a:solidFill>
                <a:latin typeface="Arial"/>
                <a:ea typeface="Arial"/>
                <a:cs typeface="Arial"/>
              </a:rPr>
              <a:t>Implemented system block diagram</a:t>
            </a:r>
          </a:p>
        </p:txBody>
      </p:sp>
      <p:sp>
        <p:nvSpPr>
          <p:cNvPr id="3" name="">
            <a:extLst xmlns:a="http://schemas.openxmlformats.org/drawingml/2006/main">
              <a:ext uri="{FF2B5EF4-FFF2-40B4-BE49-F238E27FC236}">
                <a16:creationId xmlns:a16="http://schemas.microsoft.com/office/drawing/2014/main" id="{58BA2114-7B6F-44C9-ACE0-240705ABFD55}"/>
              </a:ext>
            </a:extLst>
          </p:cNvPr>
          <p:cNvSpPr>
            <a:spLocks xmlns:a="http://schemas.openxmlformats.org/drawingml/2006/main" noGrp="1"/>
          </p:cNvSpPr>
          <p:nvPr/>
        </p:nvSpPr>
        <p:spPr>
          <a:xfrm xmlns:a="http://schemas.openxmlformats.org/drawingml/2006/main">
            <a:off x="609600" y="1238250"/>
            <a:ext cx="109347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4" name="">
            <a:extLst xmlns:a="http://schemas.openxmlformats.org/drawingml/2006/main">
              <a:ext uri="{FF2B5EF4-FFF2-40B4-BE49-F238E27FC236}">
                <a16:creationId xmlns:a16="http://schemas.microsoft.com/office/drawing/2014/main" id="{2915E78A-8EFB-4244-8B0C-792E397EBE67}"/>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900" b="0">
                <a:solidFill>
                  <a:srgbClr val="526977"/>
                </a:solidFill>
                <a:latin typeface="Arial"/>
                <a:ea typeface="Arial"/>
                <a:cs typeface="Arial"/>
              </a:defRPr>
            </a:pPr>
            <a:r>
              <a:rPr sz="900" b="0">
                <a:solidFill>
                  <a:srgbClr val="526977"/>
                </a:solidFill>
                <a:latin typeface="Arial"/>
                <a:ea typeface="Arial"/>
                <a:cs typeface="Arial"/>
              </a:rPr>
              <a:t>Notebook + verified run HMC-N1N2-20261007</a:t>
            </a:r>
          </a:p>
        </p:txBody>
      </p:sp>
      <p:sp>
        <p:nvSpPr>
          <p:cNvPr id="5" name="">
            <a:extLst xmlns:a="http://schemas.openxmlformats.org/drawingml/2006/main">
              <a:ext uri="{FF2B5EF4-FFF2-40B4-BE49-F238E27FC236}">
                <a16:creationId xmlns:a16="http://schemas.microsoft.com/office/drawing/2014/main" id="{E2C6AB10-967A-47D0-830E-8201103611B4}"/>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900" b="0">
                <a:solidFill>
                  <a:srgbClr val="526977"/>
                </a:solidFill>
                <a:latin typeface="Arial"/>
                <a:ea typeface="Arial"/>
                <a:cs typeface="Arial"/>
              </a:defRPr>
            </a:pPr>
            <a:r>
              <a:rPr sz="900" b="0">
                <a:solidFill>
                  <a:srgbClr val="526977"/>
                </a:solidFill>
                <a:latin typeface="Arial"/>
                <a:ea typeface="Arial"/>
                <a:cs typeface="Arial"/>
              </a:rPr>
              <a:t>07 / 13</a:t>
            </a:r>
          </a:p>
        </p:txBody>
      </p:sp>
      <p:sp>
        <p:nvSpPr>
          <p:cNvPr id="6" name="">
            <a:extLst xmlns:a="http://schemas.openxmlformats.org/drawingml/2006/main">
              <a:ext uri="{FF2B5EF4-FFF2-40B4-BE49-F238E27FC236}">
                <a16:creationId xmlns:a16="http://schemas.microsoft.com/office/drawing/2014/main" id="{11E80C58-BEBC-4A80-8D24-656149C90976}"/>
              </a:ext>
            </a:extLst>
          </p:cNvPr>
          <p:cNvSpPr>
            <a:spLocks xmlns:a="http://schemas.openxmlformats.org/drawingml/2006/main" noGrp="1"/>
          </p:cNvSpPr>
          <p:nvPr/>
        </p:nvSpPr>
        <p:spPr>
          <a:xfrm xmlns:a="http://schemas.openxmlformats.org/drawingml/2006/main">
            <a:off x="609600" y="15525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18A69B"/>
                </a:solidFill>
                <a:latin typeface="Arial"/>
                <a:ea typeface="Arial"/>
                <a:cs typeface="Arial"/>
              </a:defRPr>
            </a:pPr>
            <a:r>
              <a:rPr sz="1875" b="1">
                <a:solidFill>
                  <a:srgbClr val="18A69B"/>
                </a:solidFill>
                <a:latin typeface="Arial"/>
                <a:ea typeface="Arial"/>
                <a:cs typeface="Arial"/>
              </a:rPr>
              <a:t>Main implementation: Biomarker_N1_N2_Refinement.ipynb</a:t>
            </a:r>
          </a:p>
        </p:txBody>
      </p:sp>
      <p:sp>
        <p:nvSpPr>
          <p:cNvPr id="7" name="">
            <a:extLst xmlns:a="http://schemas.openxmlformats.org/drawingml/2006/main">
              <a:ext uri="{FF2B5EF4-FFF2-40B4-BE49-F238E27FC236}">
                <a16:creationId xmlns:a16="http://schemas.microsoft.com/office/drawing/2014/main" id="{E1451DA4-94E9-4DF9-A5A0-70DCD4217AC5}"/>
              </a:ext>
            </a:extLst>
          </p:cNvPr>
          <p:cNvSpPr>
            <a:spLocks xmlns:a="http://schemas.openxmlformats.org/drawingml/2006/main" noGrp="1"/>
          </p:cNvSpPr>
          <p:nvPr/>
        </p:nvSpPr>
        <p:spPr>
          <a:xfrm xmlns:a="http://schemas.openxmlformats.org/drawingml/2006/main">
            <a:off x="609600" y="2276475"/>
            <a:ext cx="2000250" cy="85725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Stored EEG</a:t>
            </a:r>
          </a:p>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4 × 3,000</a:t>
            </a:r>
          </a:p>
        </p:txBody>
      </p:sp>
      <p:sp>
        <p:nvSpPr>
          <p:cNvPr id="8" name="">
            <a:extLst xmlns:a="http://schemas.openxmlformats.org/drawingml/2006/main">
              <a:ext uri="{FF2B5EF4-FFF2-40B4-BE49-F238E27FC236}">
                <a16:creationId xmlns:a16="http://schemas.microsoft.com/office/drawing/2014/main" id="{D9DF9704-658B-469B-AB56-8BE81818ADCD}"/>
              </a:ext>
            </a:extLst>
          </p:cNvPr>
          <p:cNvSpPr>
            <a:spLocks xmlns:a="http://schemas.openxmlformats.org/drawingml/2006/main" noGrp="1"/>
          </p:cNvSpPr>
          <p:nvPr/>
        </p:nvSpPr>
        <p:spPr>
          <a:xfrm xmlns:a="http://schemas.openxmlformats.org/drawingml/2006/main">
            <a:off x="2695575" y="2609850"/>
            <a:ext cx="323850" cy="19050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9" name="">
            <a:extLst xmlns:a="http://schemas.openxmlformats.org/drawingml/2006/main">
              <a:ext uri="{FF2B5EF4-FFF2-40B4-BE49-F238E27FC236}">
                <a16:creationId xmlns:a16="http://schemas.microsoft.com/office/drawing/2014/main" id="{66A46A2D-AAB2-4B15-B9D4-096F0377CC2A}"/>
              </a:ext>
            </a:extLst>
          </p:cNvPr>
          <p:cNvSpPr>
            <a:spLocks xmlns:a="http://schemas.openxmlformats.org/drawingml/2006/main" noGrp="1"/>
          </p:cNvSpPr>
          <p:nvPr/>
        </p:nvSpPr>
        <p:spPr>
          <a:xfrm xmlns:a="http://schemas.openxmlformats.org/drawingml/2006/main">
            <a:off x="3114675" y="2276475"/>
            <a:ext cx="2476500" cy="857250"/>
          </a:xfrm>
          <a:prstGeom xmlns:a="http://schemas.openxmlformats.org/drawingml/2006/main" prst="rect">
            <a:avLst/>
          </a:prstGeom>
          <a:solidFill xmlns:a="http://schemas.openxmlformats.org/drawingml/2006/main">
            <a:srgbClr val="102E49"/>
          </a:solidFill>
          <a:ln xmlns:a="http://schemas.openxmlformats.org/drawingml/2006/main" w="14288">
            <a:solidFill>
              <a:srgbClr val="102E49"/>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FFFFFF"/>
                </a:solidFill>
                <a:latin typeface="Arial"/>
                <a:ea typeface="Arial"/>
                <a:cs typeface="Arial"/>
              </a:defRPr>
            </a:pPr>
            <a:r>
              <a:rPr sz="1725" b="1">
                <a:solidFill>
                  <a:srgbClr val="FFFFFF"/>
                </a:solidFill>
                <a:latin typeface="Arial"/>
                <a:ea typeface="Arial"/>
                <a:cs typeface="Arial"/>
              </a:rPr>
              <a:t>Fast SCFormer-U</a:t>
            </a:r>
          </a:p>
          <a:p xmlns:a="http://schemas.openxmlformats.org/drawingml/2006/main">
            <a:pPr algn="ctr">
              <a:buNone/>
              <a:defRPr sz="1725" b="1">
                <a:solidFill>
                  <a:srgbClr val="FFFFFF"/>
                </a:solidFill>
                <a:latin typeface="Arial"/>
                <a:ea typeface="Arial"/>
                <a:cs typeface="Arial"/>
              </a:defRPr>
            </a:pPr>
            <a:r>
              <a:rPr sz="1725" b="1">
                <a:solidFill>
                  <a:srgbClr val="FFFFFF"/>
                </a:solidFill>
                <a:latin typeface="Arial"/>
                <a:ea typeface="Arial"/>
                <a:cs typeface="Arial"/>
              </a:rPr>
              <a:t>5-stage output</a:t>
            </a:r>
          </a:p>
        </p:txBody>
      </p:sp>
      <p:sp>
        <p:nvSpPr>
          <p:cNvPr id="10" name="">
            <a:extLst xmlns:a="http://schemas.openxmlformats.org/drawingml/2006/main">
              <a:ext uri="{FF2B5EF4-FFF2-40B4-BE49-F238E27FC236}">
                <a16:creationId xmlns:a16="http://schemas.microsoft.com/office/drawing/2014/main" id="{9A28C14B-725A-4D1C-A206-6BFCF6F88A27}"/>
              </a:ext>
            </a:extLst>
          </p:cNvPr>
          <p:cNvSpPr>
            <a:spLocks xmlns:a="http://schemas.openxmlformats.org/drawingml/2006/main" noGrp="1"/>
          </p:cNvSpPr>
          <p:nvPr/>
        </p:nvSpPr>
        <p:spPr>
          <a:xfrm xmlns:a="http://schemas.openxmlformats.org/drawingml/2006/main">
            <a:off x="5676900" y="2609850"/>
            <a:ext cx="323850" cy="19050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1" name="">
            <a:extLst xmlns:a="http://schemas.openxmlformats.org/drawingml/2006/main">
              <a:ext uri="{FF2B5EF4-FFF2-40B4-BE49-F238E27FC236}">
                <a16:creationId xmlns:a16="http://schemas.microsoft.com/office/drawing/2014/main" id="{B5A81E8C-0120-48BC-AAAC-41D36F1E05FB}"/>
              </a:ext>
            </a:extLst>
          </p:cNvPr>
          <p:cNvSpPr>
            <a:spLocks xmlns:a="http://schemas.openxmlformats.org/drawingml/2006/main" noGrp="1"/>
          </p:cNvSpPr>
          <p:nvPr/>
        </p:nvSpPr>
        <p:spPr>
          <a:xfrm xmlns:a="http://schemas.openxmlformats.org/drawingml/2006/main">
            <a:off x="6096000" y="2276475"/>
            <a:ext cx="2667000" cy="85725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Predicted N1/N2?</a:t>
            </a:r>
          </a:p>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Spectral refiner</a:t>
            </a:r>
          </a:p>
        </p:txBody>
      </p:sp>
      <p:sp>
        <p:nvSpPr>
          <p:cNvPr id="12" name="">
            <a:extLst xmlns:a="http://schemas.openxmlformats.org/drawingml/2006/main">
              <a:ext uri="{FF2B5EF4-FFF2-40B4-BE49-F238E27FC236}">
                <a16:creationId xmlns:a16="http://schemas.microsoft.com/office/drawing/2014/main" id="{6F23CBFF-90B5-4A16-AA41-80E6CE5B9364}"/>
              </a:ext>
            </a:extLst>
          </p:cNvPr>
          <p:cNvSpPr>
            <a:spLocks xmlns:a="http://schemas.openxmlformats.org/drawingml/2006/main" noGrp="1"/>
          </p:cNvSpPr>
          <p:nvPr/>
        </p:nvSpPr>
        <p:spPr>
          <a:xfrm xmlns:a="http://schemas.openxmlformats.org/drawingml/2006/main">
            <a:off x="8848725" y="2609850"/>
            <a:ext cx="323850" cy="19050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3" name="">
            <a:extLst xmlns:a="http://schemas.openxmlformats.org/drawingml/2006/main">
              <a:ext uri="{FF2B5EF4-FFF2-40B4-BE49-F238E27FC236}">
                <a16:creationId xmlns:a16="http://schemas.microsoft.com/office/drawing/2014/main" id="{DB6FF941-0D1E-4F14-82DA-3B49BEA221F9}"/>
              </a:ext>
            </a:extLst>
          </p:cNvPr>
          <p:cNvSpPr>
            <a:spLocks xmlns:a="http://schemas.openxmlformats.org/drawingml/2006/main" noGrp="1"/>
          </p:cNvSpPr>
          <p:nvPr/>
        </p:nvSpPr>
        <p:spPr>
          <a:xfrm xmlns:a="http://schemas.openxmlformats.org/drawingml/2006/main">
            <a:off x="9267825" y="2276475"/>
            <a:ext cx="2238375" cy="857250"/>
          </a:xfrm>
          <a:prstGeom xmlns:a="http://schemas.openxmlformats.org/drawingml/2006/main" prst="rect">
            <a:avLst/>
          </a:prstGeom>
          <a:solidFill xmlns:a="http://schemas.openxmlformats.org/drawingml/2006/main">
            <a:srgbClr val="102E49"/>
          </a:solidFill>
          <a:ln xmlns:a="http://schemas.openxmlformats.org/drawingml/2006/main" w="14288">
            <a:solidFill>
              <a:srgbClr val="102E49"/>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FFFFFF"/>
                </a:solidFill>
                <a:latin typeface="Arial"/>
                <a:ea typeface="Arial"/>
                <a:cs typeface="Arial"/>
              </a:defRPr>
            </a:pPr>
            <a:r>
              <a:rPr sz="1725" b="1">
                <a:solidFill>
                  <a:srgbClr val="FFFFFF"/>
                </a:solidFill>
                <a:latin typeface="Arial"/>
                <a:ea typeface="Arial"/>
                <a:cs typeface="Arial"/>
              </a:rPr>
              <a:t>Final stage</a:t>
            </a:r>
          </a:p>
          <a:p xmlns:a="http://schemas.openxmlformats.org/drawingml/2006/main">
            <a:pPr algn="ctr">
              <a:buNone/>
              <a:defRPr sz="1725" b="1">
                <a:solidFill>
                  <a:srgbClr val="FFFFFF"/>
                </a:solidFill>
                <a:latin typeface="Arial"/>
                <a:ea typeface="Arial"/>
                <a:cs typeface="Arial"/>
              </a:defRPr>
            </a:pPr>
            <a:r>
              <a:rPr sz="1725" b="1">
                <a:solidFill>
                  <a:srgbClr val="FFFFFF"/>
                </a:solidFill>
                <a:latin typeface="Arial"/>
                <a:ea typeface="Arial"/>
                <a:cs typeface="Arial"/>
              </a:rPr>
              <a:t>per epoch</a:t>
            </a:r>
          </a:p>
        </p:txBody>
      </p:sp>
      <p:sp>
        <p:nvSpPr>
          <p:cNvPr id="14" name="">
            <a:extLst xmlns:a="http://schemas.openxmlformats.org/drawingml/2006/main">
              <a:ext uri="{FF2B5EF4-FFF2-40B4-BE49-F238E27FC236}">
                <a16:creationId xmlns:a16="http://schemas.microsoft.com/office/drawing/2014/main" id="{C971FD35-5B45-4C9B-81BF-7072C1C905E1}"/>
              </a:ext>
            </a:extLst>
          </p:cNvPr>
          <p:cNvSpPr>
            <a:spLocks xmlns:a="http://schemas.openxmlformats.org/drawingml/2006/main" noGrp="1"/>
          </p:cNvSpPr>
          <p:nvPr/>
        </p:nvSpPr>
        <p:spPr>
          <a:xfrm xmlns:a="http://schemas.openxmlformats.org/drawingml/2006/main">
            <a:off x="1428750" y="3238500"/>
            <a:ext cx="238125" cy="685800"/>
          </a:xfrm>
          <a:prstGeom xmlns:a="http://schemas.openxmlformats.org/drawingml/2006/main" prst="downArrow">
            <a:avLst/>
          </a:prstGeom>
          <a:solidFill xmlns:a="http://schemas.openxmlformats.org/drawingml/2006/main">
            <a:srgbClr val="18A69B"/>
          </a:solidFill>
          <a:ln xmlns:a="http://schemas.openxmlformats.org/drawingml/2006/main" w="14288">
            <a:solidFill>
              <a:srgbClr val="18A69B"/>
            </a:solidFill>
          </a:ln>
        </p:spPr>
      </p:sp>
      <p:sp>
        <p:nvSpPr>
          <p:cNvPr id="15" name="">
            <a:extLst xmlns:a="http://schemas.openxmlformats.org/drawingml/2006/main">
              <a:ext uri="{FF2B5EF4-FFF2-40B4-BE49-F238E27FC236}">
                <a16:creationId xmlns:a16="http://schemas.microsoft.com/office/drawing/2014/main" id="{C6F44493-C27F-4662-83AC-88EA96760E7E}"/>
              </a:ext>
            </a:extLst>
          </p:cNvPr>
          <p:cNvSpPr>
            <a:spLocks xmlns:a="http://schemas.openxmlformats.org/drawingml/2006/main" noGrp="1"/>
          </p:cNvSpPr>
          <p:nvPr/>
        </p:nvSpPr>
        <p:spPr>
          <a:xfrm xmlns:a="http://schemas.openxmlformats.org/drawingml/2006/main">
            <a:off x="609600" y="4048125"/>
            <a:ext cx="2000250" cy="85725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Welch spectral</a:t>
            </a:r>
          </a:p>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features</a:t>
            </a:r>
          </a:p>
        </p:txBody>
      </p:sp>
      <p:sp>
        <p:nvSpPr>
          <p:cNvPr id="16" name="">
            <a:extLst xmlns:a="http://schemas.openxmlformats.org/drawingml/2006/main">
              <a:ext uri="{FF2B5EF4-FFF2-40B4-BE49-F238E27FC236}">
                <a16:creationId xmlns:a16="http://schemas.microsoft.com/office/drawing/2014/main" id="{DB0DBDBB-6F72-4E5C-868D-ABD54DA6F0D3}"/>
              </a:ext>
            </a:extLst>
          </p:cNvPr>
          <p:cNvSpPr>
            <a:spLocks xmlns:a="http://schemas.openxmlformats.org/drawingml/2006/main" noGrp="1"/>
          </p:cNvSpPr>
          <p:nvPr/>
        </p:nvSpPr>
        <p:spPr>
          <a:xfrm xmlns:a="http://schemas.openxmlformats.org/drawingml/2006/main">
            <a:off x="2695575" y="4391025"/>
            <a:ext cx="323850" cy="20955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7" name="">
            <a:extLst xmlns:a="http://schemas.openxmlformats.org/drawingml/2006/main">
              <a:ext uri="{FF2B5EF4-FFF2-40B4-BE49-F238E27FC236}">
                <a16:creationId xmlns:a16="http://schemas.microsoft.com/office/drawing/2014/main" id="{61E2B147-999B-4E8A-B852-FC551F9CD9FD}"/>
              </a:ext>
            </a:extLst>
          </p:cNvPr>
          <p:cNvSpPr>
            <a:spLocks xmlns:a="http://schemas.openxmlformats.org/drawingml/2006/main" noGrp="1"/>
          </p:cNvSpPr>
          <p:nvPr/>
        </p:nvSpPr>
        <p:spPr>
          <a:xfrm xmlns:a="http://schemas.openxmlformats.org/drawingml/2006/main">
            <a:off x="3114675" y="4048125"/>
            <a:ext cx="2476500" cy="85725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Mean EEG features</a:t>
            </a:r>
          </a:p>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per recording</a:t>
            </a:r>
          </a:p>
        </p:txBody>
      </p:sp>
      <p:sp>
        <p:nvSpPr>
          <p:cNvPr id="18" name="">
            <a:extLst xmlns:a="http://schemas.openxmlformats.org/drawingml/2006/main">
              <a:ext uri="{FF2B5EF4-FFF2-40B4-BE49-F238E27FC236}">
                <a16:creationId xmlns:a16="http://schemas.microsoft.com/office/drawing/2014/main" id="{A8120AA1-F2FF-4B77-9205-1C012005E100}"/>
              </a:ext>
            </a:extLst>
          </p:cNvPr>
          <p:cNvSpPr>
            <a:spLocks xmlns:a="http://schemas.openxmlformats.org/drawingml/2006/main" noGrp="1"/>
          </p:cNvSpPr>
          <p:nvPr/>
        </p:nvSpPr>
        <p:spPr>
          <a:xfrm xmlns:a="http://schemas.openxmlformats.org/drawingml/2006/main">
            <a:off x="10258425" y="3238500"/>
            <a:ext cx="238125" cy="685800"/>
          </a:xfrm>
          <a:prstGeom xmlns:a="http://schemas.openxmlformats.org/drawingml/2006/main" prst="downArrow">
            <a:avLst/>
          </a:prstGeom>
          <a:solidFill xmlns:a="http://schemas.openxmlformats.org/drawingml/2006/main">
            <a:srgbClr val="18A69B"/>
          </a:solidFill>
          <a:ln xmlns:a="http://schemas.openxmlformats.org/drawingml/2006/main" w="14288">
            <a:solidFill>
              <a:srgbClr val="18A69B"/>
            </a:solidFill>
          </a:ln>
        </p:spPr>
      </p:sp>
      <p:sp>
        <p:nvSpPr>
          <p:cNvPr id="19" name="">
            <a:extLst xmlns:a="http://schemas.openxmlformats.org/drawingml/2006/main">
              <a:ext uri="{FF2B5EF4-FFF2-40B4-BE49-F238E27FC236}">
                <a16:creationId xmlns:a16="http://schemas.microsoft.com/office/drawing/2014/main" id="{14DB1E41-C4D8-4D42-B3E4-A8FAA97A1702}"/>
              </a:ext>
            </a:extLst>
          </p:cNvPr>
          <p:cNvSpPr>
            <a:spLocks xmlns:a="http://schemas.openxmlformats.org/drawingml/2006/main" noGrp="1"/>
          </p:cNvSpPr>
          <p:nvPr/>
        </p:nvSpPr>
        <p:spPr>
          <a:xfrm xmlns:a="http://schemas.openxmlformats.org/drawingml/2006/main">
            <a:off x="9267825" y="4048125"/>
            <a:ext cx="2238375" cy="85725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650" b="1">
                <a:solidFill>
                  <a:srgbClr val="102E49"/>
                </a:solidFill>
                <a:latin typeface="Arial"/>
                <a:ea typeface="Arial"/>
                <a:cs typeface="Arial"/>
              </a:defRPr>
            </a:pPr>
            <a:r>
              <a:rPr sz="1650" b="1">
                <a:solidFill>
                  <a:srgbClr val="102E49"/>
                </a:solidFill>
                <a:latin typeface="Arial"/>
                <a:ea typeface="Arial"/>
                <a:cs typeface="Arial"/>
              </a:rPr>
              <a:t>Hypnogram +</a:t>
            </a:r>
          </a:p>
          <a:p xmlns:a="http://schemas.openxmlformats.org/drawingml/2006/main">
            <a:pPr algn="ctr">
              <a:buNone/>
              <a:defRPr sz="1650" b="1">
                <a:solidFill>
                  <a:srgbClr val="102E49"/>
                </a:solidFill>
                <a:latin typeface="Arial"/>
                <a:ea typeface="Arial"/>
                <a:cs typeface="Arial"/>
              </a:defRPr>
            </a:pPr>
            <a:r>
              <a:rPr sz="1650" b="1">
                <a:solidFill>
                  <a:srgbClr val="102E49"/>
                </a:solidFill>
                <a:latin typeface="Arial"/>
                <a:ea typeface="Arial"/>
                <a:cs typeface="Arial"/>
              </a:rPr>
              <a:t>sleep architecture</a:t>
            </a:r>
          </a:p>
        </p:txBody>
      </p:sp>
      <p:sp>
        <p:nvSpPr>
          <p:cNvPr id="20" name="">
            <a:extLst xmlns:a="http://schemas.openxmlformats.org/drawingml/2006/main">
              <a:ext uri="{FF2B5EF4-FFF2-40B4-BE49-F238E27FC236}">
                <a16:creationId xmlns:a16="http://schemas.microsoft.com/office/drawing/2014/main" id="{F79F3F0F-4E20-432B-B8F2-15EA5F77E196}"/>
              </a:ext>
            </a:extLst>
          </p:cNvPr>
          <p:cNvSpPr>
            <a:spLocks xmlns:a="http://schemas.openxmlformats.org/drawingml/2006/main" noGrp="1"/>
          </p:cNvSpPr>
          <p:nvPr/>
        </p:nvSpPr>
        <p:spPr>
          <a:xfrm xmlns:a="http://schemas.openxmlformats.org/drawingml/2006/main">
            <a:off x="5676900" y="4391025"/>
            <a:ext cx="323850" cy="20955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21" name="">
            <a:extLst xmlns:a="http://schemas.openxmlformats.org/drawingml/2006/main">
              <a:ext uri="{FF2B5EF4-FFF2-40B4-BE49-F238E27FC236}">
                <a16:creationId xmlns:a16="http://schemas.microsoft.com/office/drawing/2014/main" id="{F83498DA-9B6E-4565-86C4-8F2BD6055B18}"/>
              </a:ext>
            </a:extLst>
          </p:cNvPr>
          <p:cNvSpPr>
            <a:spLocks xmlns:a="http://schemas.openxmlformats.org/drawingml/2006/main" noGrp="1"/>
          </p:cNvSpPr>
          <p:nvPr/>
        </p:nvSpPr>
        <p:spPr>
          <a:xfrm xmlns:a="http://schemas.openxmlformats.org/drawingml/2006/main">
            <a:off x="6096000" y="4048125"/>
            <a:ext cx="2667000" cy="85725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650" b="1">
                <a:solidFill>
                  <a:srgbClr val="102E49"/>
                </a:solidFill>
                <a:latin typeface="Arial"/>
                <a:ea typeface="Arial"/>
                <a:cs typeface="Arial"/>
              </a:defRPr>
            </a:pPr>
            <a:r>
              <a:rPr sz="1650" b="1">
                <a:solidFill>
                  <a:srgbClr val="102E49"/>
                </a:solidFill>
                <a:latin typeface="Arial"/>
                <a:ea typeface="Arial"/>
                <a:cs typeface="Arial"/>
              </a:rPr>
              <a:t>Recording profile</a:t>
            </a:r>
          </a:p>
          <a:p xmlns:a="http://schemas.openxmlformats.org/drawingml/2006/main">
            <a:pPr algn="ctr">
              <a:buNone/>
              <a:defRPr sz="1650" b="1">
                <a:solidFill>
                  <a:srgbClr val="102E49"/>
                </a:solidFill>
                <a:latin typeface="Arial"/>
                <a:ea typeface="Arial"/>
                <a:cs typeface="Arial"/>
              </a:defRPr>
            </a:pPr>
            <a:r>
              <a:rPr sz="1650" b="1">
                <a:solidFill>
                  <a:srgbClr val="102E49"/>
                </a:solidFill>
                <a:latin typeface="Arial"/>
                <a:ea typeface="Arial"/>
                <a:cs typeface="Arial"/>
              </a:rPr>
              <a:t>+ reference comparison</a:t>
            </a:r>
          </a:p>
        </p:txBody>
      </p:sp>
      <p:sp>
        <p:nvSpPr>
          <p:cNvPr id="22" name="">
            <a:extLst xmlns:a="http://schemas.openxmlformats.org/drawingml/2006/main">
              <a:ext uri="{FF2B5EF4-FFF2-40B4-BE49-F238E27FC236}">
                <a16:creationId xmlns:a16="http://schemas.microsoft.com/office/drawing/2014/main" id="{B0AF55AA-D70B-4BD8-8F31-5589644391CF}"/>
              </a:ext>
            </a:extLst>
          </p:cNvPr>
          <p:cNvSpPr>
            <a:spLocks xmlns:a="http://schemas.openxmlformats.org/drawingml/2006/main" noGrp="1"/>
          </p:cNvSpPr>
          <p:nvPr/>
        </p:nvSpPr>
        <p:spPr>
          <a:xfrm xmlns:a="http://schemas.openxmlformats.org/drawingml/2006/main">
            <a:off x="8848725" y="4391025"/>
            <a:ext cx="323850" cy="209550"/>
          </a:xfrm>
          <a:prstGeom xmlns:a="http://schemas.openxmlformats.org/drawingml/2006/main" prst="leftArrow">
            <a:avLst/>
          </a:prstGeom>
          <a:solidFill xmlns:a="http://schemas.openxmlformats.org/drawingml/2006/main">
            <a:srgbClr val="18A69B"/>
          </a:solidFill>
          <a:ln xmlns:a="http://schemas.openxmlformats.org/drawingml/2006/main" w="14288">
            <a:solidFill>
              <a:srgbClr val="18A69B"/>
            </a:solidFill>
          </a:ln>
        </p:spPr>
      </p:sp>
      <p:sp>
        <p:nvSpPr>
          <p:cNvPr id="23" name="">
            <a:extLst xmlns:a="http://schemas.openxmlformats.org/drawingml/2006/main">
              <a:ext uri="{FF2B5EF4-FFF2-40B4-BE49-F238E27FC236}">
                <a16:creationId xmlns:a16="http://schemas.microsoft.com/office/drawing/2014/main" id="{9E83119E-D85F-47E4-B1B0-316E60B409C9}"/>
              </a:ext>
            </a:extLst>
          </p:cNvPr>
          <p:cNvSpPr>
            <a:spLocks xmlns:a="http://schemas.openxmlformats.org/drawingml/2006/main" noGrp="1"/>
          </p:cNvSpPr>
          <p:nvPr/>
        </p:nvSpPr>
        <p:spPr>
          <a:xfrm xmlns:a="http://schemas.openxmlformats.org/drawingml/2006/main">
            <a:off x="2609850" y="4229100"/>
            <a:ext cx="200025"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24" name="">
            <a:extLst xmlns:a="http://schemas.openxmlformats.org/drawingml/2006/main">
              <a:ext uri="{FF2B5EF4-FFF2-40B4-BE49-F238E27FC236}">
                <a16:creationId xmlns:a16="http://schemas.microsoft.com/office/drawing/2014/main" id="{AA4BC0AF-9C58-4A04-B4D7-84F4462EF4E7}"/>
              </a:ext>
            </a:extLst>
          </p:cNvPr>
          <p:cNvSpPr>
            <a:spLocks xmlns:a="http://schemas.openxmlformats.org/drawingml/2006/main" noGrp="1"/>
          </p:cNvSpPr>
          <p:nvPr/>
        </p:nvSpPr>
        <p:spPr>
          <a:xfrm xmlns:a="http://schemas.openxmlformats.org/drawingml/2006/main">
            <a:off x="2809875" y="3505200"/>
            <a:ext cx="0" cy="72390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25" name="">
            <a:extLst xmlns:a="http://schemas.openxmlformats.org/drawingml/2006/main">
              <a:ext uri="{FF2B5EF4-FFF2-40B4-BE49-F238E27FC236}">
                <a16:creationId xmlns:a16="http://schemas.microsoft.com/office/drawing/2014/main" id="{F54A5605-06AE-469D-BA65-7A7253D65113}"/>
              </a:ext>
            </a:extLst>
          </p:cNvPr>
          <p:cNvSpPr>
            <a:spLocks xmlns:a="http://schemas.openxmlformats.org/drawingml/2006/main" noGrp="1"/>
          </p:cNvSpPr>
          <p:nvPr/>
        </p:nvSpPr>
        <p:spPr>
          <a:xfrm xmlns:a="http://schemas.openxmlformats.org/drawingml/2006/main">
            <a:off x="2809875" y="3505200"/>
            <a:ext cx="46101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26" name="">
            <a:extLst xmlns:a="http://schemas.openxmlformats.org/drawingml/2006/main">
              <a:ext uri="{FF2B5EF4-FFF2-40B4-BE49-F238E27FC236}">
                <a16:creationId xmlns:a16="http://schemas.microsoft.com/office/drawing/2014/main" id="{C19036A2-C133-4E63-86E4-93BDB713CF61}"/>
              </a:ext>
            </a:extLst>
          </p:cNvPr>
          <p:cNvSpPr>
            <a:spLocks xmlns:a="http://schemas.openxmlformats.org/drawingml/2006/main" noGrp="1"/>
          </p:cNvSpPr>
          <p:nvPr/>
        </p:nvSpPr>
        <p:spPr>
          <a:xfrm xmlns:a="http://schemas.openxmlformats.org/drawingml/2006/main">
            <a:off x="7305675" y="3248025"/>
            <a:ext cx="228600" cy="257175"/>
          </a:xfrm>
          <a:prstGeom xmlns:a="http://schemas.openxmlformats.org/drawingml/2006/main" prst="upArrow">
            <a:avLst/>
          </a:prstGeom>
          <a:solidFill xmlns:a="http://schemas.openxmlformats.org/drawingml/2006/main">
            <a:srgbClr val="18A69B"/>
          </a:solidFill>
          <a:ln xmlns:a="http://schemas.openxmlformats.org/drawingml/2006/main" w="14288">
            <a:solidFill>
              <a:srgbClr val="18A69B"/>
            </a:solidFill>
          </a:ln>
        </p:spPr>
      </p:sp>
      <p:sp>
        <p:nvSpPr>
          <p:cNvPr id="27" name="">
            <a:extLst xmlns:a="http://schemas.openxmlformats.org/drawingml/2006/main">
              <a:ext uri="{FF2B5EF4-FFF2-40B4-BE49-F238E27FC236}">
                <a16:creationId xmlns:a16="http://schemas.microsoft.com/office/drawing/2014/main" id="{595D7BDE-8073-471D-9877-0911574B7477}"/>
              </a:ext>
            </a:extLst>
          </p:cNvPr>
          <p:cNvSpPr>
            <a:spLocks xmlns:a="http://schemas.openxmlformats.org/drawingml/2006/main" noGrp="1"/>
          </p:cNvSpPr>
          <p:nvPr/>
        </p:nvSpPr>
        <p:spPr>
          <a:xfrm xmlns:a="http://schemas.openxmlformats.org/drawingml/2006/main">
            <a:off x="609600" y="542925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18A69B"/>
                </a:solidFill>
                <a:latin typeface="Arial"/>
                <a:ea typeface="Arial"/>
                <a:cs typeface="Arial"/>
              </a:defRPr>
            </a:pPr>
            <a:r>
              <a:rPr sz="1800" b="1">
                <a:solidFill>
                  <a:srgbClr val="18A69B"/>
                </a:solidFill>
                <a:latin typeface="Arial"/>
                <a:ea typeface="Arial"/>
                <a:cs typeface="Arial"/>
              </a:rPr>
              <a:t>Architecture + spectral features → z-scores / P10–P90 → four-domain profile → dashboard</a:t>
            </a:r>
          </a:p>
        </p:txBody>
      </p:sp>
      <p:sp>
        <p:nvSpPr>
          <p:cNvPr id="28" name="">
            <a:extLst xmlns:a="http://schemas.openxmlformats.org/drawingml/2006/main">
              <a:ext uri="{FF2B5EF4-FFF2-40B4-BE49-F238E27FC236}">
                <a16:creationId xmlns:a16="http://schemas.microsoft.com/office/drawing/2014/main" id="{07AD68EA-59F7-4308-8CD6-8AFE060A2BEB}"/>
              </a:ext>
            </a:extLst>
          </p:cNvPr>
          <p:cNvSpPr>
            <a:spLocks xmlns:a="http://schemas.openxmlformats.org/drawingml/2006/main" noGrp="1"/>
          </p:cNvSpPr>
          <p:nvPr/>
        </p:nvSpPr>
        <p:spPr>
          <a:xfrm xmlns:a="http://schemas.openxmlformats.org/drawingml/2006/main">
            <a:off x="609600" y="6153150"/>
            <a:ext cx="10906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425" b="0">
                <a:solidFill>
                  <a:srgbClr val="526977"/>
                </a:solidFill>
                <a:latin typeface="Arial"/>
                <a:ea typeface="Arial"/>
                <a:cs typeface="Arial"/>
              </a:defRPr>
            </a:pPr>
            <a:r>
              <a:rPr sz="1425" b="0">
                <a:solidFill>
                  <a:srgbClr val="526977"/>
                </a:solidFill>
                <a:latin typeface="Arial"/>
                <a:ea typeface="Arial"/>
                <a:cs typeface="Arial"/>
              </a:rPr>
              <a:t>The 16-recording training reference provides dataset-relative descriptions.</a:t>
            </a:r>
          </a:p>
        </p:txBody>
      </p:sp>
    </p:spTree>
    <p:extLst>
      <p:ext uri="{BB962C8B-B14F-4D97-AF65-F5344CB8AC3E}">
        <p14:creationId xmlns:p14="http://schemas.microsoft.com/office/powerpoint/2010/main" val="200319062"/>
      </p:ext>
    </p:extLst>
  </p:cSld>
</p:sld>
</file>

<file path=ppt/slides/slide8.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27E67C5-D83C-4DAB-811B-BCE503611C4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D7217AAB-85ED-4301-A463-7DC74502D44E}"/>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700" b="1">
                <a:solidFill>
                  <a:srgbClr val="102E49"/>
                </a:solidFill>
                <a:latin typeface="Arial"/>
                <a:ea typeface="Arial"/>
                <a:cs typeface="Arial"/>
              </a:defRPr>
            </a:pPr>
            <a:r>
              <a:rPr sz="2700" b="1">
                <a:solidFill>
                  <a:srgbClr val="102E49"/>
                </a:solidFill>
                <a:latin typeface="Arial"/>
                <a:ea typeface="Arial"/>
                <a:cs typeface="Arial"/>
              </a:rPr>
              <a:t>Existing model and training epochs</a:t>
            </a:r>
          </a:p>
        </p:txBody>
      </p:sp>
      <p:sp>
        <p:nvSpPr>
          <p:cNvPr id="3" name="">
            <a:extLst xmlns:a="http://schemas.openxmlformats.org/drawingml/2006/main">
              <a:ext uri="{FF2B5EF4-FFF2-40B4-BE49-F238E27FC236}">
                <a16:creationId xmlns:a16="http://schemas.microsoft.com/office/drawing/2014/main" id="{10F5232C-AAE3-4EAF-AE20-6489345AB513}"/>
              </a:ext>
            </a:extLst>
          </p:cNvPr>
          <p:cNvSpPr>
            <a:spLocks xmlns:a="http://schemas.openxmlformats.org/drawingml/2006/main" noGrp="1"/>
          </p:cNvSpPr>
          <p:nvPr/>
        </p:nvSpPr>
        <p:spPr>
          <a:xfrm xmlns:a="http://schemas.openxmlformats.org/drawingml/2006/main">
            <a:off x="609600" y="1238250"/>
            <a:ext cx="109347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4" name="">
            <a:extLst xmlns:a="http://schemas.openxmlformats.org/drawingml/2006/main">
              <a:ext uri="{FF2B5EF4-FFF2-40B4-BE49-F238E27FC236}">
                <a16:creationId xmlns:a16="http://schemas.microsoft.com/office/drawing/2014/main" id="{5DFCF7C3-6EF0-4381-A117-D8019D9B8DF5}"/>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900" b="0">
                <a:solidFill>
                  <a:srgbClr val="526977"/>
                </a:solidFill>
                <a:latin typeface="Arial"/>
                <a:ea typeface="Arial"/>
                <a:cs typeface="Arial"/>
              </a:defRPr>
            </a:pPr>
            <a:r>
              <a:rPr sz="900" b="0">
                <a:solidFill>
                  <a:srgbClr val="526977"/>
                </a:solidFill>
                <a:latin typeface="Arial"/>
                <a:ea typeface="Arial"/>
                <a:cs typeface="Arial"/>
              </a:rPr>
              <a:t>Notebook + verified run HMC-N1N2-20261007</a:t>
            </a:r>
          </a:p>
        </p:txBody>
      </p:sp>
      <p:sp>
        <p:nvSpPr>
          <p:cNvPr id="5" name="">
            <a:extLst xmlns:a="http://schemas.openxmlformats.org/drawingml/2006/main">
              <a:ext uri="{FF2B5EF4-FFF2-40B4-BE49-F238E27FC236}">
                <a16:creationId xmlns:a16="http://schemas.microsoft.com/office/drawing/2014/main" id="{29F6381F-0270-446E-B817-D5741DAB99F3}"/>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900" b="0">
                <a:solidFill>
                  <a:srgbClr val="526977"/>
                </a:solidFill>
                <a:latin typeface="Arial"/>
                <a:ea typeface="Arial"/>
                <a:cs typeface="Arial"/>
              </a:defRPr>
            </a:pPr>
            <a:r>
              <a:rPr sz="900" b="0">
                <a:solidFill>
                  <a:srgbClr val="526977"/>
                </a:solidFill>
                <a:latin typeface="Arial"/>
                <a:ea typeface="Arial"/>
                <a:cs typeface="Arial"/>
              </a:rPr>
              <a:t>08 / 13</a:t>
            </a:r>
          </a:p>
        </p:txBody>
      </p:sp>
      <p:sp>
        <p:nvSpPr>
          <p:cNvPr id="6" name="">
            <a:extLst xmlns:a="http://schemas.openxmlformats.org/drawingml/2006/main">
              <a:ext uri="{FF2B5EF4-FFF2-40B4-BE49-F238E27FC236}">
                <a16:creationId xmlns:a16="http://schemas.microsoft.com/office/drawing/2014/main" id="{83F0445D-DE2A-4437-B1FA-550DF3C4561B}"/>
              </a:ext>
            </a:extLst>
          </p:cNvPr>
          <p:cNvSpPr>
            <a:spLocks xmlns:a="http://schemas.openxmlformats.org/drawingml/2006/main" noGrp="1"/>
          </p:cNvSpPr>
          <p:nvPr/>
        </p:nvSpPr>
        <p:spPr>
          <a:xfrm xmlns:a="http://schemas.openxmlformats.org/drawingml/2006/main">
            <a:off x="609600" y="1657350"/>
            <a:ext cx="2476500" cy="87630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650" b="1">
                <a:solidFill>
                  <a:srgbClr val="102E49"/>
                </a:solidFill>
                <a:latin typeface="Arial"/>
                <a:ea typeface="Arial"/>
                <a:cs typeface="Arial"/>
              </a:defRPr>
            </a:pPr>
            <a:r>
              <a:rPr sz="1650" b="1">
                <a:solidFill>
                  <a:srgbClr val="102E49"/>
                </a:solidFill>
                <a:latin typeface="Arial"/>
                <a:ea typeface="Arial"/>
                <a:cs typeface="Arial"/>
              </a:rPr>
              <a:t>Conv1D encoder</a:t>
            </a:r>
          </a:p>
          <a:p xmlns:a="http://schemas.openxmlformats.org/drawingml/2006/main">
            <a:pPr algn="ctr">
              <a:buNone/>
              <a:defRPr sz="1650" b="1">
                <a:solidFill>
                  <a:srgbClr val="102E49"/>
                </a:solidFill>
                <a:latin typeface="Arial"/>
                <a:ea typeface="Arial"/>
                <a:cs typeface="Arial"/>
              </a:defRPr>
            </a:pPr>
            <a:r>
              <a:rPr sz="1650" b="1">
                <a:solidFill>
                  <a:srgbClr val="102E49"/>
                </a:solidFill>
                <a:latin typeface="Arial"/>
                <a:ea typeface="Arial"/>
                <a:cs typeface="Arial"/>
              </a:rPr>
              <a:t>64 → 128 filters</a:t>
            </a:r>
          </a:p>
        </p:txBody>
      </p:sp>
      <p:sp>
        <p:nvSpPr>
          <p:cNvPr id="7" name="">
            <a:extLst xmlns:a="http://schemas.openxmlformats.org/drawingml/2006/main">
              <a:ext uri="{FF2B5EF4-FFF2-40B4-BE49-F238E27FC236}">
                <a16:creationId xmlns:a16="http://schemas.microsoft.com/office/drawing/2014/main" id="{ECDC660B-F225-4C2D-88A7-2DC9C71B9CA1}"/>
              </a:ext>
            </a:extLst>
          </p:cNvPr>
          <p:cNvSpPr>
            <a:spLocks xmlns:a="http://schemas.openxmlformats.org/drawingml/2006/main" noGrp="1"/>
          </p:cNvSpPr>
          <p:nvPr/>
        </p:nvSpPr>
        <p:spPr>
          <a:xfrm xmlns:a="http://schemas.openxmlformats.org/drawingml/2006/main">
            <a:off x="3162300" y="2000250"/>
            <a:ext cx="228600" cy="19050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8" name="">
            <a:extLst xmlns:a="http://schemas.openxmlformats.org/drawingml/2006/main">
              <a:ext uri="{FF2B5EF4-FFF2-40B4-BE49-F238E27FC236}">
                <a16:creationId xmlns:a16="http://schemas.microsoft.com/office/drawing/2014/main" id="{6197247A-ED8B-4D06-B100-72A74351D6CD}"/>
              </a:ext>
            </a:extLst>
          </p:cNvPr>
          <p:cNvSpPr>
            <a:spLocks xmlns:a="http://schemas.openxmlformats.org/drawingml/2006/main" noGrp="1"/>
          </p:cNvSpPr>
          <p:nvPr/>
        </p:nvSpPr>
        <p:spPr>
          <a:xfrm xmlns:a="http://schemas.openxmlformats.org/drawingml/2006/main">
            <a:off x="3419475" y="1657350"/>
            <a:ext cx="2476500" cy="87630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650" b="1">
                <a:solidFill>
                  <a:srgbClr val="102E49"/>
                </a:solidFill>
                <a:latin typeface="Arial"/>
                <a:ea typeface="Arial"/>
                <a:cs typeface="Arial"/>
              </a:defRPr>
            </a:pPr>
            <a:r>
              <a:rPr sz="1650" b="1">
                <a:solidFill>
                  <a:srgbClr val="102E49"/>
                </a:solidFill>
                <a:latin typeface="Arial"/>
                <a:ea typeface="Arial"/>
                <a:cs typeface="Arial"/>
              </a:rPr>
              <a:t>Self-attention</a:t>
            </a:r>
          </a:p>
          <a:p xmlns:a="http://schemas.openxmlformats.org/drawingml/2006/main">
            <a:pPr algn="ctr">
              <a:buNone/>
              <a:defRPr sz="1650" b="1">
                <a:solidFill>
                  <a:srgbClr val="102E49"/>
                </a:solidFill>
                <a:latin typeface="Arial"/>
                <a:ea typeface="Arial"/>
                <a:cs typeface="Arial"/>
              </a:defRPr>
            </a:pPr>
            <a:r>
              <a:rPr sz="1650" b="1">
                <a:solidFill>
                  <a:srgbClr val="102E49"/>
                </a:solidFill>
                <a:latin typeface="Arial"/>
                <a:ea typeface="Arial"/>
                <a:cs typeface="Arial"/>
              </a:rPr>
              <a:t>4 heads, key dim 16</a:t>
            </a:r>
          </a:p>
        </p:txBody>
      </p:sp>
      <p:sp>
        <p:nvSpPr>
          <p:cNvPr id="9" name="">
            <a:extLst xmlns:a="http://schemas.openxmlformats.org/drawingml/2006/main">
              <a:ext uri="{FF2B5EF4-FFF2-40B4-BE49-F238E27FC236}">
                <a16:creationId xmlns:a16="http://schemas.microsoft.com/office/drawing/2014/main" id="{A44E4BFB-781D-48DF-9CFC-B1249FB0E66C}"/>
              </a:ext>
            </a:extLst>
          </p:cNvPr>
          <p:cNvSpPr>
            <a:spLocks xmlns:a="http://schemas.openxmlformats.org/drawingml/2006/main" noGrp="1"/>
          </p:cNvSpPr>
          <p:nvPr/>
        </p:nvSpPr>
        <p:spPr>
          <a:xfrm xmlns:a="http://schemas.openxmlformats.org/drawingml/2006/main">
            <a:off x="5972175" y="2000250"/>
            <a:ext cx="228600" cy="19050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0" name="">
            <a:extLst xmlns:a="http://schemas.openxmlformats.org/drawingml/2006/main">
              <a:ext uri="{FF2B5EF4-FFF2-40B4-BE49-F238E27FC236}">
                <a16:creationId xmlns:a16="http://schemas.microsoft.com/office/drawing/2014/main" id="{5EF1F0F3-91C6-4159-BE82-612A8B6DEACF}"/>
              </a:ext>
            </a:extLst>
          </p:cNvPr>
          <p:cNvSpPr>
            <a:spLocks xmlns:a="http://schemas.openxmlformats.org/drawingml/2006/main" noGrp="1"/>
          </p:cNvSpPr>
          <p:nvPr/>
        </p:nvSpPr>
        <p:spPr>
          <a:xfrm xmlns:a="http://schemas.openxmlformats.org/drawingml/2006/main">
            <a:off x="6229350" y="1657350"/>
            <a:ext cx="2476500" cy="87630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650" b="1">
                <a:solidFill>
                  <a:srgbClr val="102E49"/>
                </a:solidFill>
                <a:latin typeface="Arial"/>
                <a:ea typeface="Arial"/>
                <a:cs typeface="Arial"/>
              </a:defRPr>
            </a:pPr>
            <a:r>
              <a:rPr sz="1650" b="1">
                <a:solidFill>
                  <a:srgbClr val="102E49"/>
                </a:solidFill>
                <a:latin typeface="Arial"/>
                <a:ea typeface="Arial"/>
                <a:cs typeface="Arial"/>
              </a:rPr>
              <a:t>BiLSTM</a:t>
            </a:r>
          </a:p>
          <a:p xmlns:a="http://schemas.openxmlformats.org/drawingml/2006/main">
            <a:pPr algn="ctr">
              <a:buNone/>
              <a:defRPr sz="1650" b="1">
                <a:solidFill>
                  <a:srgbClr val="102E49"/>
                </a:solidFill>
                <a:latin typeface="Arial"/>
                <a:ea typeface="Arial"/>
                <a:cs typeface="Arial"/>
              </a:defRPr>
            </a:pPr>
            <a:r>
              <a:rPr sz="1650" b="1">
                <a:solidFill>
                  <a:srgbClr val="102E49"/>
                </a:solidFill>
                <a:latin typeface="Arial"/>
                <a:ea typeface="Arial"/>
                <a:cs typeface="Arial"/>
              </a:rPr>
              <a:t>64 units / direction</a:t>
            </a:r>
          </a:p>
        </p:txBody>
      </p:sp>
      <p:sp>
        <p:nvSpPr>
          <p:cNvPr id="11" name="">
            <a:extLst xmlns:a="http://schemas.openxmlformats.org/drawingml/2006/main">
              <a:ext uri="{FF2B5EF4-FFF2-40B4-BE49-F238E27FC236}">
                <a16:creationId xmlns:a16="http://schemas.microsoft.com/office/drawing/2014/main" id="{4B76D814-3D58-4C07-9A19-2D20A7E475DE}"/>
              </a:ext>
            </a:extLst>
          </p:cNvPr>
          <p:cNvSpPr>
            <a:spLocks xmlns:a="http://schemas.openxmlformats.org/drawingml/2006/main" noGrp="1"/>
          </p:cNvSpPr>
          <p:nvPr/>
        </p:nvSpPr>
        <p:spPr>
          <a:xfrm xmlns:a="http://schemas.openxmlformats.org/drawingml/2006/main">
            <a:off x="8782050" y="2000250"/>
            <a:ext cx="228600" cy="19050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2" name="">
            <a:extLst xmlns:a="http://schemas.openxmlformats.org/drawingml/2006/main">
              <a:ext uri="{FF2B5EF4-FFF2-40B4-BE49-F238E27FC236}">
                <a16:creationId xmlns:a16="http://schemas.microsoft.com/office/drawing/2014/main" id="{A63DECA5-71FA-44C4-9CB3-4E4482109885}"/>
              </a:ext>
            </a:extLst>
          </p:cNvPr>
          <p:cNvSpPr>
            <a:spLocks xmlns:a="http://schemas.openxmlformats.org/drawingml/2006/main" noGrp="1"/>
          </p:cNvSpPr>
          <p:nvPr/>
        </p:nvSpPr>
        <p:spPr>
          <a:xfrm xmlns:a="http://schemas.openxmlformats.org/drawingml/2006/main">
            <a:off x="9039225" y="1657350"/>
            <a:ext cx="2476500" cy="876300"/>
          </a:xfrm>
          <a:prstGeom xmlns:a="http://schemas.openxmlformats.org/drawingml/2006/main" prst="rect">
            <a:avLst/>
          </a:prstGeom>
          <a:solidFill xmlns:a="http://schemas.openxmlformats.org/drawingml/2006/main">
            <a:srgbClr val="102E49"/>
          </a:solidFill>
          <a:ln xmlns:a="http://schemas.openxmlformats.org/drawingml/2006/main" w="14288">
            <a:solidFill>
              <a:srgbClr val="102E49"/>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Pooling + dense</a:t>
            </a:r>
          </a:p>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5 evidence outputs</a:t>
            </a:r>
          </a:p>
        </p:txBody>
      </p:sp>
      <p:sp>
        <p:nvSpPr>
          <p:cNvPr id="13" name="">
            <a:extLst xmlns:a="http://schemas.openxmlformats.org/drawingml/2006/main">
              <a:ext uri="{FF2B5EF4-FFF2-40B4-BE49-F238E27FC236}">
                <a16:creationId xmlns:a16="http://schemas.microsoft.com/office/drawing/2014/main" id="{224BEB6B-CFF6-4E62-8FBC-A99C3511C5CC}"/>
              </a:ext>
            </a:extLst>
          </p:cNvPr>
          <p:cNvSpPr>
            <a:spLocks xmlns:a="http://schemas.openxmlformats.org/drawingml/2006/main" noGrp="1"/>
          </p:cNvSpPr>
          <p:nvPr/>
        </p:nvSpPr>
        <p:spPr>
          <a:xfrm xmlns:a="http://schemas.openxmlformats.org/drawingml/2006/main">
            <a:off x="609600" y="27813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18A69B"/>
                </a:solidFill>
                <a:latin typeface="Arial"/>
                <a:ea typeface="Arial"/>
                <a:cs typeface="Arial"/>
              </a:defRPr>
            </a:pPr>
            <a:r>
              <a:rPr sz="1725" b="1">
                <a:solidFill>
                  <a:srgbClr val="18A69B"/>
                </a:solidFill>
                <a:latin typeface="Arial"/>
                <a:ea typeface="Arial"/>
                <a:cs typeface="Arial"/>
              </a:rPr>
              <a:t>226,309 parameters · Attention and BiLSTM operate within each 30-second EEG epoch</a:t>
            </a:r>
          </a:p>
        </p:txBody>
      </p:sp>
      <p:sp>
        <p:nvSpPr>
          <p:cNvPr id="14" name="">
            <a:extLst xmlns:a="http://schemas.openxmlformats.org/drawingml/2006/main">
              <a:ext uri="{FF2B5EF4-FFF2-40B4-BE49-F238E27FC236}">
                <a16:creationId xmlns:a16="http://schemas.microsoft.com/office/drawing/2014/main" id="{E6F1F37E-8BB4-4203-AB02-50F1942B09CE}"/>
              </a:ext>
            </a:extLst>
          </p:cNvPr>
          <p:cNvSpPr>
            <a:spLocks xmlns:a="http://schemas.openxmlformats.org/drawingml/2006/main" noGrp="1"/>
          </p:cNvSpPr>
          <p:nvPr/>
        </p:nvSpPr>
        <p:spPr>
          <a:xfrm xmlns:a="http://schemas.openxmlformats.org/drawingml/2006/main">
            <a:off x="609600" y="3248025"/>
            <a:ext cx="6572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1">
                <a:solidFill>
                  <a:srgbClr val="102E49"/>
                </a:solidFill>
                <a:latin typeface="Arial"/>
                <a:ea typeface="Arial"/>
                <a:cs typeface="Arial"/>
              </a:defRPr>
            </a:pPr>
            <a:r>
              <a:rPr sz="1650" b="1">
                <a:solidFill>
                  <a:srgbClr val="102E49"/>
                </a:solidFill>
                <a:latin typeface="Arial"/>
                <a:ea typeface="Arial"/>
                <a:cs typeface="Arial"/>
              </a:rPr>
              <a:t>Training / validation accuracy</a:t>
            </a:r>
          </a:p>
        </p:txBody>
      </p:sp>
      <p:graphicFrame>
        <p:nvGraphicFramePr>
          <p:cNvPr id="35" name="Chart"/>
          <p:cNvGraphicFramePr/>
          <p:nvPr/>
        </p:nvGraphicFramePr>
        <p:xfrm>
          <a:off xmlns:a="http://schemas.openxmlformats.org/drawingml/2006/main" x="609600" y="3609975"/>
          <a:ext xmlns:a="http://schemas.openxmlformats.org/drawingml/2006/main" cx="6572250" cy="2324100"/>
        </p:xfrm>
        <a:graphic xmlns:a="http://schemas.openxmlformats.org/drawingml/2006/main">
          <a:graphicData uri="http://schemas.openxmlformats.org/drawingml/2006/chart">
            <c:chart xmlns:r="http://schemas.openxmlformats.org/officeDocument/2006/relationships" xmlns:c="http://schemas.openxmlformats.org/drawingml/2006/chart" r:id="Rb072f7e1ce7e4a55"/>
          </a:graphicData>
        </a:graphic>
      </p:graphicFrame>
      <p:sp>
        <p:nvSpPr>
          <p:cNvPr id="16" name="">
            <a:extLst xmlns:a="http://schemas.openxmlformats.org/drawingml/2006/main">
              <a:ext uri="{FF2B5EF4-FFF2-40B4-BE49-F238E27FC236}">
                <a16:creationId xmlns:a16="http://schemas.microsoft.com/office/drawing/2014/main" id="{C687648D-E196-4A3F-83C3-703CBB2690F0}"/>
              </a:ext>
            </a:extLst>
          </p:cNvPr>
          <p:cNvSpPr>
            <a:spLocks xmlns:a="http://schemas.openxmlformats.org/drawingml/2006/main" noGrp="1"/>
          </p:cNvSpPr>
          <p:nvPr/>
        </p:nvSpPr>
        <p:spPr>
          <a:xfrm xmlns:a="http://schemas.openxmlformats.org/drawingml/2006/main">
            <a:off x="7591425" y="3343275"/>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102E49"/>
                </a:solidFill>
                <a:latin typeface="Arial"/>
                <a:ea typeface="Arial"/>
                <a:cs typeface="Arial"/>
              </a:defRPr>
            </a:pPr>
            <a:r>
              <a:rPr sz="1875" b="1">
                <a:solidFill>
                  <a:srgbClr val="102E49"/>
                </a:solidFill>
                <a:latin typeface="Arial"/>
                <a:ea typeface="Arial"/>
                <a:cs typeface="Arial"/>
              </a:rPr>
              <a:t>A training epoch = one full</a:t>
            </a:r>
          </a:p>
          <a:p xmlns:a="http://schemas.openxmlformats.org/drawingml/2006/main">
            <a:pPr algn="l">
              <a:buNone/>
              <a:defRPr sz="1875" b="1">
                <a:solidFill>
                  <a:srgbClr val="102E49"/>
                </a:solidFill>
                <a:latin typeface="Arial"/>
                <a:ea typeface="Arial"/>
                <a:cs typeface="Arial"/>
              </a:defRPr>
            </a:pPr>
            <a:r>
              <a:rPr sz="1875" b="1">
                <a:solidFill>
                  <a:srgbClr val="102E49"/>
                </a:solidFill>
                <a:latin typeface="Arial"/>
                <a:ea typeface="Arial"/>
                <a:cs typeface="Arial"/>
              </a:rPr>
              <a:t>pass through training data</a:t>
            </a:r>
          </a:p>
        </p:txBody>
      </p:sp>
      <p:sp>
        <p:nvSpPr>
          <p:cNvPr id="17" name="">
            <a:extLst xmlns:a="http://schemas.openxmlformats.org/drawingml/2006/main">
              <a:ext uri="{FF2B5EF4-FFF2-40B4-BE49-F238E27FC236}">
                <a16:creationId xmlns:a16="http://schemas.microsoft.com/office/drawing/2014/main" id="{7128204F-0025-4889-8A51-8B079845FB2D}"/>
              </a:ext>
            </a:extLst>
          </p:cNvPr>
          <p:cNvSpPr>
            <a:spLocks xmlns:a="http://schemas.openxmlformats.org/drawingml/2006/main" noGrp="1"/>
          </p:cNvSpPr>
          <p:nvPr/>
        </p:nvSpPr>
        <p:spPr>
          <a:xfrm xmlns:a="http://schemas.openxmlformats.org/drawingml/2006/main">
            <a:off x="7591425" y="4276725"/>
            <a:ext cx="3905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0">
                <a:solidFill>
                  <a:srgbClr val="102E49"/>
                </a:solidFill>
                <a:latin typeface="Arial"/>
                <a:ea typeface="Arial"/>
                <a:cs typeface="Arial"/>
              </a:defRPr>
            </a:pPr>
            <a:r>
              <a:rPr sz="1800" b="0">
                <a:solidFill>
                  <a:srgbClr val="102E49"/>
                </a:solidFill>
                <a:latin typeface="Arial"/>
                <a:ea typeface="Arial"/>
                <a:cs typeface="Arial"/>
              </a:rPr>
              <a:t>Adam · learning rate 0.0001</a:t>
            </a:r>
          </a:p>
          <a:p xmlns:a="http://schemas.openxmlformats.org/drawingml/2006/main">
            <a:pPr algn="l">
              <a:buNone/>
              <a:defRPr sz="1800" b="0">
                <a:solidFill>
                  <a:srgbClr val="102E49"/>
                </a:solidFill>
                <a:latin typeface="Arial"/>
                <a:ea typeface="Arial"/>
                <a:cs typeface="Arial"/>
              </a:defRPr>
            </a:pPr>
            <a:r>
              <a:rPr sz="1800" b="0">
                <a:solidFill>
                  <a:srgbClr val="102E49"/>
                </a:solidFill>
                <a:latin typeface="Arial"/>
                <a:ea typeface="Arial"/>
                <a:cs typeface="Arial"/>
              </a:rPr>
              <a:t>Batch size: 128</a:t>
            </a:r>
          </a:p>
          <a:p xmlns:a="http://schemas.openxmlformats.org/drawingml/2006/main">
            <a:pPr algn="l">
              <a:buNone/>
              <a:defRPr sz="1800" b="0">
                <a:solidFill>
                  <a:srgbClr val="102E49"/>
                </a:solidFill>
                <a:latin typeface="Arial"/>
                <a:ea typeface="Arial"/>
                <a:cs typeface="Arial"/>
              </a:defRPr>
            </a:pPr>
            <a:r>
              <a:rPr sz="1800" b="0">
                <a:solidFill>
                  <a:srgbClr val="102E49"/>
                </a:solidFill>
                <a:latin typeface="Arial"/>
                <a:ea typeface="Arial"/>
                <a:cs typeface="Arial"/>
              </a:rPr>
              <a:t>10 training epochs</a:t>
            </a:r>
          </a:p>
          <a:p xmlns:a="http://schemas.openxmlformats.org/drawingml/2006/main">
            <a:pPr algn="l">
              <a:buNone/>
              <a:defRPr sz="1800" b="0">
                <a:solidFill>
                  <a:srgbClr val="102E49"/>
                </a:solidFill>
                <a:latin typeface="Arial"/>
                <a:ea typeface="Arial"/>
                <a:cs typeface="Arial"/>
              </a:defRPr>
            </a:pPr>
            <a:r>
              <a:rPr sz="1800" b="0">
                <a:solidFill>
                  <a:srgbClr val="102E49"/>
                </a:solidFill>
                <a:latin typeface="Arial"/>
                <a:ea typeface="Arial"/>
                <a:cs typeface="Arial"/>
              </a:rPr>
              <a:t>Selected checkpoint: epoch 9</a:t>
            </a:r>
          </a:p>
        </p:txBody>
      </p:sp>
      <p:sp>
        <p:nvSpPr>
          <p:cNvPr id="18" name="">
            <a:extLst xmlns:a="http://schemas.openxmlformats.org/drawingml/2006/main">
              <a:ext uri="{FF2B5EF4-FFF2-40B4-BE49-F238E27FC236}">
                <a16:creationId xmlns:a16="http://schemas.microsoft.com/office/drawing/2014/main" id="{F36CD6D1-342D-4BDA-883E-42B46AB75BF8}"/>
              </a:ext>
            </a:extLst>
          </p:cNvPr>
          <p:cNvSpPr>
            <a:spLocks xmlns:a="http://schemas.openxmlformats.org/drawingml/2006/main" noGrp="1"/>
          </p:cNvSpPr>
          <p:nvPr/>
        </p:nvSpPr>
        <p:spPr>
          <a:xfrm xmlns:a="http://schemas.openxmlformats.org/drawingml/2006/main">
            <a:off x="609600" y="6124575"/>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575" b="0">
                <a:solidFill>
                  <a:srgbClr val="526977"/>
                </a:solidFill>
                <a:latin typeface="Arial"/>
                <a:ea typeface="Arial"/>
                <a:cs typeface="Arial"/>
              </a:defRPr>
            </a:pPr>
            <a:r>
              <a:rPr sz="1575" b="0">
                <a:solidFill>
                  <a:srgbClr val="526977"/>
                </a:solidFill>
                <a:latin typeface="Arial"/>
                <a:ea typeface="Arial"/>
                <a:cs typeface="Arial"/>
              </a:rPr>
              <a:t>Current notebook loads this checkpoint; it trains the spectral refiner separately.</a:t>
            </a:r>
          </a:p>
        </p:txBody>
      </p:sp>
    </p:spTree>
    <p:extLst>
      <p:ext uri="{BB962C8B-B14F-4D97-AF65-F5344CB8AC3E}">
        <p14:creationId xmlns:p14="http://schemas.microsoft.com/office/powerpoint/2010/main" val="1302933991"/>
      </p:ext>
    </p:extLst>
  </p:cSld>
</p:sld>
</file>

<file path=ppt/slides/slide9.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054B9CA-A436-4029-9BF9-F95F45E64E1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E00ACDC4-4966-4FD6-BE61-B9959FC3DD55}"/>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700" b="1">
                <a:solidFill>
                  <a:srgbClr val="102E49"/>
                </a:solidFill>
                <a:latin typeface="Arial"/>
                <a:ea typeface="Arial"/>
                <a:cs typeface="Arial"/>
              </a:defRPr>
            </a:pPr>
            <a:r>
              <a:rPr sz="2700" b="1">
                <a:solidFill>
                  <a:srgbClr val="102E49"/>
                </a:solidFill>
                <a:latin typeface="Arial"/>
                <a:ea typeface="Arial"/>
                <a:cs typeface="Arial"/>
              </a:rPr>
              <a:t>N1/N2 refinement flowchart</a:t>
            </a:r>
          </a:p>
        </p:txBody>
      </p:sp>
      <p:sp>
        <p:nvSpPr>
          <p:cNvPr id="3" name="">
            <a:extLst xmlns:a="http://schemas.openxmlformats.org/drawingml/2006/main">
              <a:ext uri="{FF2B5EF4-FFF2-40B4-BE49-F238E27FC236}">
                <a16:creationId xmlns:a16="http://schemas.microsoft.com/office/drawing/2014/main" id="{9A7250F0-9E6A-4754-98A4-C235F4F5E145}"/>
              </a:ext>
            </a:extLst>
          </p:cNvPr>
          <p:cNvSpPr>
            <a:spLocks xmlns:a="http://schemas.openxmlformats.org/drawingml/2006/main" noGrp="1"/>
          </p:cNvSpPr>
          <p:nvPr/>
        </p:nvSpPr>
        <p:spPr>
          <a:xfrm xmlns:a="http://schemas.openxmlformats.org/drawingml/2006/main">
            <a:off x="609600" y="1238250"/>
            <a:ext cx="109347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4" name="">
            <a:extLst xmlns:a="http://schemas.openxmlformats.org/drawingml/2006/main">
              <a:ext uri="{FF2B5EF4-FFF2-40B4-BE49-F238E27FC236}">
                <a16:creationId xmlns:a16="http://schemas.microsoft.com/office/drawing/2014/main" id="{C4020F3A-7CF8-43FC-9E00-483FEECE9356}"/>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900" b="0">
                <a:solidFill>
                  <a:srgbClr val="526977"/>
                </a:solidFill>
                <a:latin typeface="Arial"/>
                <a:ea typeface="Arial"/>
                <a:cs typeface="Arial"/>
              </a:defRPr>
            </a:pPr>
            <a:r>
              <a:rPr sz="900" b="0">
                <a:solidFill>
                  <a:srgbClr val="526977"/>
                </a:solidFill>
                <a:latin typeface="Arial"/>
                <a:ea typeface="Arial"/>
                <a:cs typeface="Arial"/>
              </a:rPr>
              <a:t>Notebook + verified run HMC-N1N2-20261007</a:t>
            </a:r>
          </a:p>
        </p:txBody>
      </p:sp>
      <p:sp>
        <p:nvSpPr>
          <p:cNvPr id="5" name="">
            <a:extLst xmlns:a="http://schemas.openxmlformats.org/drawingml/2006/main">
              <a:ext uri="{FF2B5EF4-FFF2-40B4-BE49-F238E27FC236}">
                <a16:creationId xmlns:a16="http://schemas.microsoft.com/office/drawing/2014/main" id="{73445329-8793-4FEF-82C2-E3506849BF7D}"/>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900" b="0">
                <a:solidFill>
                  <a:srgbClr val="526977"/>
                </a:solidFill>
                <a:latin typeface="Arial"/>
                <a:ea typeface="Arial"/>
                <a:cs typeface="Arial"/>
              </a:defRPr>
            </a:pPr>
            <a:r>
              <a:rPr sz="900" b="0">
                <a:solidFill>
                  <a:srgbClr val="526977"/>
                </a:solidFill>
                <a:latin typeface="Arial"/>
                <a:ea typeface="Arial"/>
                <a:cs typeface="Arial"/>
              </a:rPr>
              <a:t>09 / 13</a:t>
            </a:r>
          </a:p>
        </p:txBody>
      </p:sp>
      <p:sp>
        <p:nvSpPr>
          <p:cNvPr id="6" name="">
            <a:extLst xmlns:a="http://schemas.openxmlformats.org/drawingml/2006/main">
              <a:ext uri="{FF2B5EF4-FFF2-40B4-BE49-F238E27FC236}">
                <a16:creationId xmlns:a16="http://schemas.microsoft.com/office/drawing/2014/main" id="{82815605-5A51-495F-BE1B-EDF792667072}"/>
              </a:ext>
            </a:extLst>
          </p:cNvPr>
          <p:cNvSpPr>
            <a:spLocks xmlns:a="http://schemas.openxmlformats.org/drawingml/2006/main" noGrp="1"/>
          </p:cNvSpPr>
          <p:nvPr/>
        </p:nvSpPr>
        <p:spPr>
          <a:xfrm xmlns:a="http://schemas.openxmlformats.org/drawingml/2006/main">
            <a:off x="609600" y="1828800"/>
            <a:ext cx="2000250" cy="781050"/>
          </a:xfrm>
          <a:prstGeom xmlns:a="http://schemas.openxmlformats.org/drawingml/2006/main" prst="rect">
            <a:avLst/>
          </a:prstGeom>
          <a:solidFill xmlns:a="http://schemas.openxmlformats.org/drawingml/2006/main">
            <a:srgbClr val="102E49"/>
          </a:solidFill>
          <a:ln xmlns:a="http://schemas.openxmlformats.org/drawingml/2006/main" w="14288">
            <a:solidFill>
              <a:srgbClr val="102E49"/>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FFFFFF"/>
                </a:solidFill>
                <a:latin typeface="Arial"/>
                <a:ea typeface="Arial"/>
                <a:cs typeface="Arial"/>
              </a:defRPr>
            </a:pPr>
            <a:r>
              <a:rPr sz="1725" b="1">
                <a:solidFill>
                  <a:srgbClr val="FFFFFF"/>
                </a:solidFill>
                <a:latin typeface="Arial"/>
                <a:ea typeface="Arial"/>
                <a:cs typeface="Arial"/>
              </a:rPr>
              <a:t>Initial stage</a:t>
            </a:r>
          </a:p>
          <a:p xmlns:a="http://schemas.openxmlformats.org/drawingml/2006/main">
            <a:pPr algn="ctr">
              <a:buNone/>
              <a:defRPr sz="1725" b="1">
                <a:solidFill>
                  <a:srgbClr val="FFFFFF"/>
                </a:solidFill>
                <a:latin typeface="Arial"/>
                <a:ea typeface="Arial"/>
                <a:cs typeface="Arial"/>
              </a:defRPr>
            </a:pPr>
            <a:r>
              <a:rPr sz="1725" b="1">
                <a:solidFill>
                  <a:srgbClr val="FFFFFF"/>
                </a:solidFill>
                <a:latin typeface="Arial"/>
                <a:ea typeface="Arial"/>
                <a:cs typeface="Arial"/>
              </a:rPr>
              <a:t>prediction</a:t>
            </a:r>
          </a:p>
        </p:txBody>
      </p:sp>
      <p:sp>
        <p:nvSpPr>
          <p:cNvPr id="7" name="">
            <a:extLst xmlns:a="http://schemas.openxmlformats.org/drawingml/2006/main">
              <a:ext uri="{FF2B5EF4-FFF2-40B4-BE49-F238E27FC236}">
                <a16:creationId xmlns:a16="http://schemas.microsoft.com/office/drawing/2014/main" id="{C4A1C9E3-36E9-4248-ADBE-EA3B3C2013B7}"/>
              </a:ext>
            </a:extLst>
          </p:cNvPr>
          <p:cNvSpPr>
            <a:spLocks xmlns:a="http://schemas.openxmlformats.org/drawingml/2006/main" noGrp="1"/>
          </p:cNvSpPr>
          <p:nvPr/>
        </p:nvSpPr>
        <p:spPr>
          <a:xfrm xmlns:a="http://schemas.openxmlformats.org/drawingml/2006/main">
            <a:off x="2724150" y="2124075"/>
            <a:ext cx="314325" cy="19050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8" name="">
            <a:extLst xmlns:a="http://schemas.openxmlformats.org/drawingml/2006/main">
              <a:ext uri="{FF2B5EF4-FFF2-40B4-BE49-F238E27FC236}">
                <a16:creationId xmlns:a16="http://schemas.microsoft.com/office/drawing/2014/main" id="{965FFC8B-5581-40EC-837C-AE1DFF52B708}"/>
              </a:ext>
            </a:extLst>
          </p:cNvPr>
          <p:cNvSpPr>
            <a:spLocks xmlns:a="http://schemas.openxmlformats.org/drawingml/2006/main" noGrp="1"/>
          </p:cNvSpPr>
          <p:nvPr/>
        </p:nvSpPr>
        <p:spPr>
          <a:xfrm xmlns:a="http://schemas.openxmlformats.org/drawingml/2006/main">
            <a:off x="3209925" y="1724025"/>
            <a:ext cx="2019300" cy="1000125"/>
          </a:xfrm>
          <a:prstGeom xmlns:a="http://schemas.openxmlformats.org/drawingml/2006/main" prst="diamond">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800" b="1">
                <a:solidFill>
                  <a:srgbClr val="102E49"/>
                </a:solidFill>
                <a:latin typeface="Arial"/>
                <a:ea typeface="Arial"/>
                <a:cs typeface="Arial"/>
              </a:defRPr>
            </a:pPr>
            <a:r>
              <a:rPr sz="1800" b="1">
                <a:solidFill>
                  <a:srgbClr val="102E49"/>
                </a:solidFill>
                <a:latin typeface="Arial"/>
                <a:ea typeface="Arial"/>
                <a:cs typeface="Arial"/>
              </a:rPr>
              <a:t>N1 or N2?</a:t>
            </a:r>
          </a:p>
        </p:txBody>
      </p:sp>
      <p:sp>
        <p:nvSpPr>
          <p:cNvPr id="9" name="">
            <a:extLst xmlns:a="http://schemas.openxmlformats.org/drawingml/2006/main">
              <a:ext uri="{FF2B5EF4-FFF2-40B4-BE49-F238E27FC236}">
                <a16:creationId xmlns:a16="http://schemas.microsoft.com/office/drawing/2014/main" id="{53DADE3E-E40E-4298-BA6B-F4E82F4835A0}"/>
              </a:ext>
            </a:extLst>
          </p:cNvPr>
          <p:cNvSpPr>
            <a:spLocks xmlns:a="http://schemas.openxmlformats.org/drawingml/2006/main" noGrp="1"/>
          </p:cNvSpPr>
          <p:nvPr/>
        </p:nvSpPr>
        <p:spPr>
          <a:xfrm xmlns:a="http://schemas.openxmlformats.org/drawingml/2006/main">
            <a:off x="5457825" y="19431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8A69B"/>
                </a:solidFill>
                <a:latin typeface="Arial"/>
                <a:ea typeface="Arial"/>
                <a:cs typeface="Arial"/>
              </a:defRPr>
            </a:pPr>
            <a:r>
              <a:rPr sz="1350" b="1">
                <a:solidFill>
                  <a:srgbClr val="18A69B"/>
                </a:solidFill>
                <a:latin typeface="Arial"/>
                <a:ea typeface="Arial"/>
                <a:cs typeface="Arial"/>
              </a:rPr>
              <a:t>YES</a:t>
            </a:r>
          </a:p>
        </p:txBody>
      </p:sp>
      <p:sp>
        <p:nvSpPr>
          <p:cNvPr id="10" name="">
            <a:extLst xmlns:a="http://schemas.openxmlformats.org/drawingml/2006/main">
              <a:ext uri="{FF2B5EF4-FFF2-40B4-BE49-F238E27FC236}">
                <a16:creationId xmlns:a16="http://schemas.microsoft.com/office/drawing/2014/main" id="{9E51FFBD-D764-4B64-B34C-70C51454E3CF}"/>
              </a:ext>
            </a:extLst>
          </p:cNvPr>
          <p:cNvSpPr>
            <a:spLocks xmlns:a="http://schemas.openxmlformats.org/drawingml/2006/main" noGrp="1"/>
          </p:cNvSpPr>
          <p:nvPr/>
        </p:nvSpPr>
        <p:spPr>
          <a:xfrm xmlns:a="http://schemas.openxmlformats.org/drawingml/2006/main">
            <a:off x="5372100" y="2314575"/>
            <a:ext cx="609600" cy="180975"/>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1" name="">
            <a:extLst xmlns:a="http://schemas.openxmlformats.org/drawingml/2006/main">
              <a:ext uri="{FF2B5EF4-FFF2-40B4-BE49-F238E27FC236}">
                <a16:creationId xmlns:a16="http://schemas.microsoft.com/office/drawing/2014/main" id="{B9AB376A-8483-4054-80FA-C4CD26C9AFB3}"/>
              </a:ext>
            </a:extLst>
          </p:cNvPr>
          <p:cNvSpPr>
            <a:spLocks xmlns:a="http://schemas.openxmlformats.org/drawingml/2006/main" noGrp="1"/>
          </p:cNvSpPr>
          <p:nvPr/>
        </p:nvSpPr>
        <p:spPr>
          <a:xfrm xmlns:a="http://schemas.openxmlformats.org/drawingml/2006/main">
            <a:off x="6134100" y="1828800"/>
            <a:ext cx="2457450" cy="78105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9 spectral features</a:t>
            </a:r>
          </a:p>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 StandardScaler</a:t>
            </a:r>
          </a:p>
        </p:txBody>
      </p:sp>
      <p:sp>
        <p:nvSpPr>
          <p:cNvPr id="12" name="">
            <a:extLst xmlns:a="http://schemas.openxmlformats.org/drawingml/2006/main">
              <a:ext uri="{FF2B5EF4-FFF2-40B4-BE49-F238E27FC236}">
                <a16:creationId xmlns:a16="http://schemas.microsoft.com/office/drawing/2014/main" id="{0F018F61-EE3B-43CD-8B6F-7DD7C0B0657A}"/>
              </a:ext>
            </a:extLst>
          </p:cNvPr>
          <p:cNvSpPr>
            <a:spLocks xmlns:a="http://schemas.openxmlformats.org/drawingml/2006/main" noGrp="1"/>
          </p:cNvSpPr>
          <p:nvPr/>
        </p:nvSpPr>
        <p:spPr>
          <a:xfrm xmlns:a="http://schemas.openxmlformats.org/drawingml/2006/main">
            <a:off x="8705850" y="2124075"/>
            <a:ext cx="304800" cy="19050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3" name="">
            <a:extLst xmlns:a="http://schemas.openxmlformats.org/drawingml/2006/main">
              <a:ext uri="{FF2B5EF4-FFF2-40B4-BE49-F238E27FC236}">
                <a16:creationId xmlns:a16="http://schemas.microsoft.com/office/drawing/2014/main" id="{27421683-9B61-4122-BA27-27017EC766F4}"/>
              </a:ext>
            </a:extLst>
          </p:cNvPr>
          <p:cNvSpPr>
            <a:spLocks xmlns:a="http://schemas.openxmlformats.org/drawingml/2006/main" noGrp="1"/>
          </p:cNvSpPr>
          <p:nvPr/>
        </p:nvSpPr>
        <p:spPr>
          <a:xfrm xmlns:a="http://schemas.openxmlformats.org/drawingml/2006/main">
            <a:off x="9153525" y="1828800"/>
            <a:ext cx="2352675" cy="781050"/>
          </a:xfrm>
          <a:prstGeom xmlns:a="http://schemas.openxmlformats.org/drawingml/2006/main" prst="rect">
            <a:avLst/>
          </a:prstGeom>
          <a:solidFill xmlns:a="http://schemas.openxmlformats.org/drawingml/2006/main">
            <a:srgbClr val="102E49"/>
          </a:solidFill>
          <a:ln xmlns:a="http://schemas.openxmlformats.org/drawingml/2006/main" w="14288">
            <a:solidFill>
              <a:srgbClr val="102E49"/>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Balanced logistic</a:t>
            </a:r>
          </a:p>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regression → N1 / N2</a:t>
            </a:r>
          </a:p>
        </p:txBody>
      </p:sp>
      <p:sp>
        <p:nvSpPr>
          <p:cNvPr id="14" name="">
            <a:extLst xmlns:a="http://schemas.openxmlformats.org/drawingml/2006/main">
              <a:ext uri="{FF2B5EF4-FFF2-40B4-BE49-F238E27FC236}">
                <a16:creationId xmlns:a16="http://schemas.microsoft.com/office/drawing/2014/main" id="{B8986655-6457-43EC-B2F0-228F0368B69C}"/>
              </a:ext>
            </a:extLst>
          </p:cNvPr>
          <p:cNvSpPr>
            <a:spLocks xmlns:a="http://schemas.openxmlformats.org/drawingml/2006/main" noGrp="1"/>
          </p:cNvSpPr>
          <p:nvPr/>
        </p:nvSpPr>
        <p:spPr>
          <a:xfrm xmlns:a="http://schemas.openxmlformats.org/drawingml/2006/main">
            <a:off x="4105275" y="2867025"/>
            <a:ext cx="238125" cy="619125"/>
          </a:xfrm>
          <a:prstGeom xmlns:a="http://schemas.openxmlformats.org/drawingml/2006/main" prst="downArrow">
            <a:avLst/>
          </a:prstGeom>
          <a:solidFill xmlns:a="http://schemas.openxmlformats.org/drawingml/2006/main">
            <a:srgbClr val="18A69B"/>
          </a:solidFill>
          <a:ln xmlns:a="http://schemas.openxmlformats.org/drawingml/2006/main" w="14288">
            <a:solidFill>
              <a:srgbClr val="18A69B"/>
            </a:solidFill>
          </a:ln>
        </p:spPr>
      </p:sp>
      <p:sp>
        <p:nvSpPr>
          <p:cNvPr id="15" name="">
            <a:extLst xmlns:a="http://schemas.openxmlformats.org/drawingml/2006/main">
              <a:ext uri="{FF2B5EF4-FFF2-40B4-BE49-F238E27FC236}">
                <a16:creationId xmlns:a16="http://schemas.microsoft.com/office/drawing/2014/main" id="{00F3B75D-FA93-4462-A4E4-C4D973C6BA91}"/>
              </a:ext>
            </a:extLst>
          </p:cNvPr>
          <p:cNvSpPr>
            <a:spLocks xmlns:a="http://schemas.openxmlformats.org/drawingml/2006/main" noGrp="1"/>
          </p:cNvSpPr>
          <p:nvPr/>
        </p:nvSpPr>
        <p:spPr>
          <a:xfrm xmlns:a="http://schemas.openxmlformats.org/drawingml/2006/main">
            <a:off x="4505325" y="30480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8A69B"/>
                </a:solidFill>
                <a:latin typeface="Arial"/>
                <a:ea typeface="Arial"/>
                <a:cs typeface="Arial"/>
              </a:defRPr>
            </a:pPr>
            <a:r>
              <a:rPr sz="1350" b="1">
                <a:solidFill>
                  <a:srgbClr val="18A69B"/>
                </a:solidFill>
                <a:latin typeface="Arial"/>
                <a:ea typeface="Arial"/>
                <a:cs typeface="Arial"/>
              </a:rPr>
              <a:t>NO</a:t>
            </a:r>
          </a:p>
        </p:txBody>
      </p:sp>
      <p:sp>
        <p:nvSpPr>
          <p:cNvPr id="16" name="">
            <a:extLst xmlns:a="http://schemas.openxmlformats.org/drawingml/2006/main">
              <a:ext uri="{FF2B5EF4-FFF2-40B4-BE49-F238E27FC236}">
                <a16:creationId xmlns:a16="http://schemas.microsoft.com/office/drawing/2014/main" id="{98307A59-AE4E-4514-83AC-436E39AAC48D}"/>
              </a:ext>
            </a:extLst>
          </p:cNvPr>
          <p:cNvSpPr>
            <a:spLocks xmlns:a="http://schemas.openxmlformats.org/drawingml/2006/main" noGrp="1"/>
          </p:cNvSpPr>
          <p:nvPr/>
        </p:nvSpPr>
        <p:spPr>
          <a:xfrm xmlns:a="http://schemas.openxmlformats.org/drawingml/2006/main">
            <a:off x="2647950" y="3638550"/>
            <a:ext cx="4524375" cy="561975"/>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Retain original Wake / N3 / REM prediction</a:t>
            </a:r>
          </a:p>
        </p:txBody>
      </p:sp>
      <p:graphicFrame>
        <p:nvGraphicFramePr>
          <p:cNvPr id="39" name=""/>
          <p:cNvGraphicFramePr/>
          <p:nvPr/>
        </p:nvGraphicFramePr>
        <p:xfrm>
          <a:off xmlns:a="http://schemas.openxmlformats.org/drawingml/2006/main" x="609600" y="4629150"/>
          <a:ext xmlns:a="http://schemas.openxmlformats.org/drawingml/2006/main" cx="6743700" cy="1362075"/>
        </p:xfrm>
        <a:graphic xmlns:a="http://schemas.openxmlformats.org/drawingml/2006/main">
          <a:graphicData uri="http://schemas.openxmlformats.org/drawingml/2006/table">
            <a:tbl>
              <a:tblPr/>
              <a:tblGrid>
                <a:gridCol w="2333625"/>
                <a:gridCol w="4410075"/>
              </a:tblGrid>
              <a:tr h="454025">
                <a:tc>
                  <a:txBody>
                    <a:bodyPr>
                      <a:noAutofit/>
                    </a:bodyPr>
                    <a:lstStyle/>
                    <a:p>
                      <a:r>
                        <a:rPr sz="1650" b="1">
                          <a:solidFill>
                            <a:srgbClr val="FFFFFF"/>
                          </a:solidFill>
                          <a:latin typeface="Arial"/>
                          <a:ea typeface="Arial"/>
                          <a:cs typeface="Arial"/>
                        </a:rPr>
                        <a:t>Feature group</a:t>
                      </a:r>
                    </a:p>
                  </a:txBody>
                  <a:tcPr marL="91440" marR="91440" marT="45720" marB="45720">
                    <a:solidFill>
                      <a:srgbClr val="102E49"/>
                    </a:solidFill>
                  </a:tcPr>
                </a:tc>
                <a:tc>
                  <a:txBody>
                    <a:bodyPr>
                      <a:noAutofit/>
                    </a:bodyPr>
                    <a:lstStyle/>
                    <a:p>
                      <a:r>
                        <a:rPr sz="1650" b="1">
                          <a:solidFill>
                            <a:srgbClr val="FFFFFF"/>
                          </a:solidFill>
                          <a:latin typeface="Arial"/>
                          <a:ea typeface="Arial"/>
                          <a:cs typeface="Arial"/>
                        </a:rPr>
                        <a:t>Input to the refiner</a:t>
                      </a:r>
                    </a:p>
                  </a:txBody>
                  <a:tcPr marL="91440" marR="91440" marT="45720" marB="45720">
                    <a:solidFill>
                      <a:srgbClr val="102E49"/>
                    </a:solidFill>
                  </a:tcPr>
                </a:tc>
              </a:tr>
              <a:tr h="454025">
                <a:tc>
                  <a:txBody>
                    <a:bodyPr>
                      <a:noAutofit/>
                    </a:bodyPr>
                    <a:lstStyle/>
                    <a:p>
                      <a:r>
                        <a:rPr sz="1650" b="0">
                          <a:solidFill>
                            <a:srgbClr val="102E49"/>
                          </a:solidFill>
                          <a:latin typeface="Arial"/>
                          <a:ea typeface="Arial"/>
                          <a:cs typeface="Arial"/>
                        </a:rPr>
                        <a:t>Relative powers</a:t>
                      </a:r>
                    </a:p>
                  </a:txBody>
                  <a:tcPr marL="91440" marR="91440" marT="45720" marB="45720">
                    <a:solidFill>
                      <a:srgbClr val="FFFFFF"/>
                    </a:solidFill>
                  </a:tcPr>
                </a:tc>
                <a:tc>
                  <a:txBody>
                    <a:bodyPr>
                      <a:noAutofit/>
                    </a:bodyPr>
                    <a:lstStyle/>
                    <a:p>
                      <a:r>
                        <a:rPr sz="1650" b="0">
                          <a:solidFill>
                            <a:srgbClr val="102E49"/>
                          </a:solidFill>
                          <a:latin typeface="Arial"/>
                          <a:ea typeface="Arial"/>
                          <a:cs typeface="Arial"/>
                        </a:rPr>
                        <a:t>Delta, Theta, Alpha, Sigma, Beta</a:t>
                      </a:r>
                    </a:p>
                  </a:txBody>
                  <a:tcPr marL="91440" marR="91440" marT="45720" marB="45720">
                    <a:solidFill>
                      <a:srgbClr val="FFFFFF"/>
                    </a:solidFill>
                  </a:tcPr>
                </a:tc>
              </a:tr>
              <a:tr h="454025">
                <a:tc>
                  <a:txBody>
                    <a:bodyPr>
                      <a:noAutofit/>
                    </a:bodyPr>
                    <a:lstStyle/>
                    <a:p>
                      <a:r>
                        <a:rPr sz="1650" b="0">
                          <a:solidFill>
                            <a:srgbClr val="102E49"/>
                          </a:solidFill>
                          <a:latin typeface="Arial"/>
                          <a:ea typeface="Arial"/>
                          <a:cs typeface="Arial"/>
                        </a:rPr>
                        <a:t>Band / Delta ratios</a:t>
                      </a:r>
                    </a:p>
                  </a:txBody>
                  <a:tcPr marL="91440" marR="91440" marT="45720" marB="45720">
                    <a:solidFill>
                      <a:srgbClr val="E8F2F5"/>
                    </a:solidFill>
                  </a:tcPr>
                </a:tc>
                <a:tc>
                  <a:txBody>
                    <a:bodyPr>
                      <a:noAutofit/>
                    </a:bodyPr>
                    <a:lstStyle/>
                    <a:p>
                      <a:r>
                        <a:rPr sz="1650" b="0">
                          <a:solidFill>
                            <a:srgbClr val="102E49"/>
                          </a:solidFill>
                          <a:latin typeface="Arial"/>
                          <a:ea typeface="Arial"/>
                          <a:cs typeface="Arial"/>
                        </a:rPr>
                        <a:t>Theta, Alpha, Sigma, Beta</a:t>
                      </a:r>
                    </a:p>
                  </a:txBody>
                  <a:tcPr marL="91440" marR="91440" marT="45720" marB="45720">
                    <a:solidFill>
                      <a:srgbClr val="E8F2F5"/>
                    </a:solidFill>
                  </a:tcPr>
                </a:tc>
              </a:tr>
            </a:tbl>
          </a:graphicData>
        </a:graphic>
      </p:graphicFrame>
      <p:sp>
        <p:nvSpPr>
          <p:cNvPr id="18" name="">
            <a:extLst xmlns:a="http://schemas.openxmlformats.org/drawingml/2006/main">
              <a:ext uri="{FF2B5EF4-FFF2-40B4-BE49-F238E27FC236}">
                <a16:creationId xmlns:a16="http://schemas.microsoft.com/office/drawing/2014/main" id="{991B7394-94E7-47CD-9089-081158AAC0A3}"/>
              </a:ext>
            </a:extLst>
          </p:cNvPr>
          <p:cNvSpPr>
            <a:spLocks xmlns:a="http://schemas.openxmlformats.org/drawingml/2006/main" noGrp="1"/>
          </p:cNvSpPr>
          <p:nvPr/>
        </p:nvSpPr>
        <p:spPr>
          <a:xfrm xmlns:a="http://schemas.openxmlformats.org/drawingml/2006/main">
            <a:off x="7791450" y="4467225"/>
            <a:ext cx="3714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18A69B"/>
                </a:solidFill>
                <a:latin typeface="Arial"/>
                <a:ea typeface="Arial"/>
                <a:cs typeface="Arial"/>
              </a:defRPr>
            </a:pPr>
            <a:r>
              <a:rPr sz="1875" b="1">
                <a:solidFill>
                  <a:srgbClr val="18A69B"/>
                </a:solidFill>
                <a:latin typeface="Arial"/>
                <a:ea typeface="Arial"/>
                <a:cs typeface="Arial"/>
              </a:rPr>
              <a:t>Fit on training data only</a:t>
            </a:r>
          </a:p>
        </p:txBody>
      </p:sp>
      <p:sp>
        <p:nvSpPr>
          <p:cNvPr id="19" name="">
            <a:extLst xmlns:a="http://schemas.openxmlformats.org/drawingml/2006/main">
              <a:ext uri="{FF2B5EF4-FFF2-40B4-BE49-F238E27FC236}">
                <a16:creationId xmlns:a16="http://schemas.microsoft.com/office/drawing/2014/main" id="{537DAAC0-F5DC-49F8-A785-0463BCF1F309}"/>
              </a:ext>
            </a:extLst>
          </p:cNvPr>
          <p:cNvSpPr>
            <a:spLocks xmlns:a="http://schemas.openxmlformats.org/drawingml/2006/main" noGrp="1"/>
          </p:cNvSpPr>
          <p:nvPr/>
        </p:nvSpPr>
        <p:spPr>
          <a:xfrm xmlns:a="http://schemas.openxmlformats.org/drawingml/2006/main">
            <a:off x="7791450" y="4953000"/>
            <a:ext cx="3714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0">
                <a:solidFill>
                  <a:srgbClr val="102E49"/>
                </a:solidFill>
                <a:latin typeface="Arial"/>
                <a:ea typeface="Arial"/>
                <a:cs typeface="Arial"/>
              </a:defRPr>
            </a:pPr>
            <a:r>
              <a:rPr sz="1650" b="0">
                <a:solidFill>
                  <a:srgbClr val="102E49"/>
                </a:solidFill>
                <a:latin typeface="Arial"/>
                <a:ea typeface="Arial"/>
                <a:cs typeface="Arial"/>
              </a:rPr>
              <a:t>True AND predicted N1/N2:</a:t>
            </a:r>
          </a:p>
          <a:p xmlns:a="http://schemas.openxmlformats.org/drawingml/2006/main">
            <a:pPr algn="l">
              <a:buNone/>
              <a:defRPr sz="1650" b="0">
                <a:solidFill>
                  <a:srgbClr val="102E49"/>
                </a:solidFill>
                <a:latin typeface="Arial"/>
                <a:ea typeface="Arial"/>
                <a:cs typeface="Arial"/>
              </a:defRPr>
            </a:pPr>
            <a:r>
              <a:rPr sz="1650" b="0">
                <a:solidFill>
                  <a:srgbClr val="102E49"/>
                </a:solidFill>
                <a:latin typeface="Arial"/>
                <a:ea typeface="Arial"/>
                <a:cs typeface="Arial"/>
              </a:rPr>
              <a:t>1,278 N1 + 4,588 N2 epochs</a:t>
            </a:r>
          </a:p>
          <a:p xmlns:a="http://schemas.openxmlformats.org/drawingml/2006/main">
            <a:pPr algn="l">
              <a:buNone/>
              <a:defRPr sz="1650" b="0">
                <a:solidFill>
                  <a:srgbClr val="102E49"/>
                </a:solidFill>
                <a:latin typeface="Arial"/>
                <a:ea typeface="Arial"/>
                <a:cs typeface="Arial"/>
              </a:defRPr>
            </a:pPr>
            <a:r>
              <a:rPr sz="1650" b="0">
                <a:solidFill>
                  <a:srgbClr val="102E49"/>
                </a:solidFill>
                <a:latin typeface="Arial"/>
                <a:ea typeface="Arial"/>
                <a:cs typeface="Arial"/>
              </a:rPr>
              <a:t>Test gate uses predictions only.</a:t>
            </a:r>
          </a:p>
        </p:txBody>
      </p:sp>
      <p:sp>
        <p:nvSpPr>
          <p:cNvPr id="20" name="">
            <a:extLst xmlns:a="http://schemas.openxmlformats.org/drawingml/2006/main">
              <a:ext uri="{FF2B5EF4-FFF2-40B4-BE49-F238E27FC236}">
                <a16:creationId xmlns:a16="http://schemas.microsoft.com/office/drawing/2014/main" id="{496FD3AD-35F9-479F-B44F-3365065E2E26}"/>
              </a:ext>
            </a:extLst>
          </p:cNvPr>
          <p:cNvSpPr>
            <a:spLocks xmlns:a="http://schemas.openxmlformats.org/drawingml/2006/main" noGrp="1"/>
          </p:cNvSpPr>
          <p:nvPr/>
        </p:nvSpPr>
        <p:spPr>
          <a:xfrm xmlns:a="http://schemas.openxmlformats.org/drawingml/2006/main">
            <a:off x="609600" y="6181725"/>
            <a:ext cx="10906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0">
                <a:solidFill>
                  <a:srgbClr val="526977"/>
                </a:solidFill>
                <a:latin typeface="Arial"/>
                <a:ea typeface="Arial"/>
                <a:cs typeface="Arial"/>
              </a:defRPr>
            </a:pPr>
            <a:r>
              <a:rPr sz="1350" b="0">
                <a:solidFill>
                  <a:srgbClr val="526977"/>
                </a:solidFill>
                <a:latin typeface="Arial"/>
                <a:ea typeface="Arial"/>
                <a:cs typeface="Arial"/>
              </a:rPr>
              <a:t>Welch: 4 s windows, 2 s overlap; average channel powers before computing ratios.</a:t>
            </a:r>
          </a:p>
        </p:txBody>
      </p:sp>
    </p:spTree>
    <p:extLst>
      <p:ext uri="{BB962C8B-B14F-4D97-AF65-F5344CB8AC3E}">
        <p14:creationId xmlns:p14="http://schemas.microsoft.com/office/powerpoint/2010/main" val="1069679893"/>
      </p:ext>
    </p:extLst>
  </p:cSld>
</p:sld>
</file>

<file path=ppt/slides/slide10.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1F9FC30-5734-4F4E-9F0A-E40BE66D12A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AD026E77-FC07-4333-B572-88FCC6757B3B}"/>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700" b="1">
                <a:solidFill>
                  <a:srgbClr val="102E49"/>
                </a:solidFill>
                <a:latin typeface="Arial"/>
                <a:ea typeface="Arial"/>
                <a:cs typeface="Arial"/>
              </a:defRPr>
            </a:pPr>
            <a:r>
              <a:rPr sz="2700" b="1">
                <a:solidFill>
                  <a:srgbClr val="102E49"/>
                </a:solidFill>
                <a:latin typeface="Arial"/>
                <a:ea typeface="Arial"/>
                <a:cs typeface="Arial"/>
              </a:rPr>
              <a:t>Results and measured gains</a:t>
            </a:r>
          </a:p>
        </p:txBody>
      </p:sp>
      <p:sp>
        <p:nvSpPr>
          <p:cNvPr id="3" name="">
            <a:extLst xmlns:a="http://schemas.openxmlformats.org/drawingml/2006/main">
              <a:ext uri="{FF2B5EF4-FFF2-40B4-BE49-F238E27FC236}">
                <a16:creationId xmlns:a16="http://schemas.microsoft.com/office/drawing/2014/main" id="{976C3F30-1E38-480B-8902-D59095D795FD}"/>
              </a:ext>
            </a:extLst>
          </p:cNvPr>
          <p:cNvSpPr>
            <a:spLocks xmlns:a="http://schemas.openxmlformats.org/drawingml/2006/main" noGrp="1"/>
          </p:cNvSpPr>
          <p:nvPr/>
        </p:nvSpPr>
        <p:spPr>
          <a:xfrm xmlns:a="http://schemas.openxmlformats.org/drawingml/2006/main">
            <a:off x="609600" y="1238250"/>
            <a:ext cx="109347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4" name="">
            <a:extLst xmlns:a="http://schemas.openxmlformats.org/drawingml/2006/main">
              <a:ext uri="{FF2B5EF4-FFF2-40B4-BE49-F238E27FC236}">
                <a16:creationId xmlns:a16="http://schemas.microsoft.com/office/drawing/2014/main" id="{E91C006F-75E5-4D5A-B2D9-5F523E59283B}"/>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900" b="0">
                <a:solidFill>
                  <a:srgbClr val="526977"/>
                </a:solidFill>
                <a:latin typeface="Arial"/>
                <a:ea typeface="Arial"/>
                <a:cs typeface="Arial"/>
              </a:defRPr>
            </a:pPr>
            <a:r>
              <a:rPr sz="900" b="0">
                <a:solidFill>
                  <a:srgbClr val="526977"/>
                </a:solidFill>
                <a:latin typeface="Arial"/>
                <a:ea typeface="Arial"/>
                <a:cs typeface="Arial"/>
              </a:rPr>
              <a:t>Notebook + verified run HMC-N1N2-20261007</a:t>
            </a:r>
          </a:p>
        </p:txBody>
      </p:sp>
      <p:sp>
        <p:nvSpPr>
          <p:cNvPr id="5" name="">
            <a:extLst xmlns:a="http://schemas.openxmlformats.org/drawingml/2006/main">
              <a:ext uri="{FF2B5EF4-FFF2-40B4-BE49-F238E27FC236}">
                <a16:creationId xmlns:a16="http://schemas.microsoft.com/office/drawing/2014/main" id="{5B4988DB-40DA-4952-A70E-061404D0788A}"/>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900" b="0">
                <a:solidFill>
                  <a:srgbClr val="526977"/>
                </a:solidFill>
                <a:latin typeface="Arial"/>
                <a:ea typeface="Arial"/>
                <a:cs typeface="Arial"/>
              </a:defRPr>
            </a:pPr>
            <a:r>
              <a:rPr sz="900" b="0">
                <a:solidFill>
                  <a:srgbClr val="526977"/>
                </a:solidFill>
                <a:latin typeface="Arial"/>
                <a:ea typeface="Arial"/>
                <a:cs typeface="Arial"/>
              </a:rPr>
              <a:t>10 / 13</a:t>
            </a:r>
          </a:p>
        </p:txBody>
      </p:sp>
      <p:graphicFrame>
        <p:nvGraphicFramePr>
          <p:cNvPr id="20" name="Chart"/>
          <p:cNvGraphicFramePr/>
          <p:nvPr/>
        </p:nvGraphicFramePr>
        <p:xfrm>
          <a:off xmlns:a="http://schemas.openxmlformats.org/drawingml/2006/main" x="609600" y="1704975"/>
          <a:ext xmlns:a="http://schemas.openxmlformats.org/drawingml/2006/main" cx="7477125" cy="3705225"/>
        </p:xfrm>
        <a:graphic xmlns:a="http://schemas.openxmlformats.org/drawingml/2006/main">
          <a:graphicData uri="http://schemas.openxmlformats.org/drawingml/2006/chart">
            <c:chart xmlns:r="http://schemas.openxmlformats.org/officeDocument/2006/relationships" xmlns:c="http://schemas.openxmlformats.org/drawingml/2006/chart" r:id="R59209d24898f474b"/>
          </a:graphicData>
        </a:graphic>
      </p:graphicFrame>
      <p:sp>
        <p:nvSpPr>
          <p:cNvPr id="7" name="">
            <a:extLst xmlns:a="http://schemas.openxmlformats.org/drawingml/2006/main">
              <a:ext uri="{FF2B5EF4-FFF2-40B4-BE49-F238E27FC236}">
                <a16:creationId xmlns:a16="http://schemas.microsoft.com/office/drawing/2014/main" id="{3004B653-3887-4357-9FDB-20EC8B4A95C0}"/>
              </a:ext>
            </a:extLst>
          </p:cNvPr>
          <p:cNvSpPr>
            <a:spLocks xmlns:a="http://schemas.openxmlformats.org/drawingml/2006/main" noGrp="1"/>
          </p:cNvSpPr>
          <p:nvPr/>
        </p:nvSpPr>
        <p:spPr>
          <a:xfrm xmlns:a="http://schemas.openxmlformats.org/drawingml/2006/main">
            <a:off x="8601075" y="1971675"/>
            <a:ext cx="29241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225" b="1">
                <a:solidFill>
                  <a:srgbClr val="18A69B"/>
                </a:solidFill>
                <a:latin typeface="Arial"/>
                <a:ea typeface="Arial"/>
                <a:cs typeface="Arial"/>
              </a:defRPr>
            </a:pPr>
            <a:r>
              <a:rPr sz="3225" b="1">
                <a:solidFill>
                  <a:srgbClr val="18A69B"/>
                </a:solidFill>
                <a:latin typeface="Arial"/>
                <a:ea typeface="Arial"/>
                <a:cs typeface="Arial"/>
              </a:rPr>
              <a:t>+3.89 pp</a:t>
            </a:r>
          </a:p>
        </p:txBody>
      </p:sp>
      <p:sp>
        <p:nvSpPr>
          <p:cNvPr id="8" name="">
            <a:extLst xmlns:a="http://schemas.openxmlformats.org/drawingml/2006/main">
              <a:ext uri="{FF2B5EF4-FFF2-40B4-BE49-F238E27FC236}">
                <a16:creationId xmlns:a16="http://schemas.microsoft.com/office/drawing/2014/main" id="{29F92C9F-40B2-4148-AB87-6A43C1A0FE0D}"/>
              </a:ext>
            </a:extLst>
          </p:cNvPr>
          <p:cNvSpPr>
            <a:spLocks xmlns:a="http://schemas.openxmlformats.org/drawingml/2006/main" noGrp="1"/>
          </p:cNvSpPr>
          <p:nvPr/>
        </p:nvSpPr>
        <p:spPr>
          <a:xfrm xmlns:a="http://schemas.openxmlformats.org/drawingml/2006/main">
            <a:off x="8601075" y="2667000"/>
            <a:ext cx="2905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102E49"/>
                </a:solidFill>
                <a:latin typeface="Arial"/>
                <a:ea typeface="Arial"/>
                <a:cs typeface="Arial"/>
              </a:defRPr>
            </a:pPr>
            <a:r>
              <a:rPr sz="1725" b="0">
                <a:solidFill>
                  <a:srgbClr val="102E49"/>
                </a:solidFill>
                <a:latin typeface="Arial"/>
                <a:ea typeface="Arial"/>
                <a:cs typeface="Arial"/>
              </a:rPr>
              <a:t>Accuracy: 55.45% → 59.34%</a:t>
            </a:r>
          </a:p>
        </p:txBody>
      </p:sp>
      <p:sp>
        <p:nvSpPr>
          <p:cNvPr id="9" name="">
            <a:extLst xmlns:a="http://schemas.openxmlformats.org/drawingml/2006/main">
              <a:ext uri="{FF2B5EF4-FFF2-40B4-BE49-F238E27FC236}">
                <a16:creationId xmlns:a16="http://schemas.microsoft.com/office/drawing/2014/main" id="{82B687C0-242B-4084-802C-DD328EB83539}"/>
              </a:ext>
            </a:extLst>
          </p:cNvPr>
          <p:cNvSpPr>
            <a:spLocks xmlns:a="http://schemas.openxmlformats.org/drawingml/2006/main" noGrp="1"/>
          </p:cNvSpPr>
          <p:nvPr/>
        </p:nvSpPr>
        <p:spPr>
          <a:xfrm xmlns:a="http://schemas.openxmlformats.org/drawingml/2006/main">
            <a:off x="8601075" y="3705225"/>
            <a:ext cx="29241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3225" b="1">
                <a:solidFill>
                  <a:srgbClr val="18A69B"/>
                </a:solidFill>
                <a:latin typeface="Arial"/>
                <a:ea typeface="Arial"/>
                <a:cs typeface="Arial"/>
              </a:defRPr>
            </a:pPr>
            <a:r>
              <a:rPr sz="3225" b="1">
                <a:solidFill>
                  <a:srgbClr val="18A69B"/>
                </a:solidFill>
                <a:latin typeface="Arial"/>
                <a:ea typeface="Arial"/>
                <a:cs typeface="Arial"/>
              </a:rPr>
              <a:t>+2.10 pp</a:t>
            </a:r>
          </a:p>
        </p:txBody>
      </p:sp>
      <p:sp>
        <p:nvSpPr>
          <p:cNvPr id="10" name="">
            <a:extLst xmlns:a="http://schemas.openxmlformats.org/drawingml/2006/main">
              <a:ext uri="{FF2B5EF4-FFF2-40B4-BE49-F238E27FC236}">
                <a16:creationId xmlns:a16="http://schemas.microsoft.com/office/drawing/2014/main" id="{2CF1146E-A588-432C-9DB6-2212CD61EF26}"/>
              </a:ext>
            </a:extLst>
          </p:cNvPr>
          <p:cNvSpPr>
            <a:spLocks xmlns:a="http://schemas.openxmlformats.org/drawingml/2006/main" noGrp="1"/>
          </p:cNvSpPr>
          <p:nvPr/>
        </p:nvSpPr>
        <p:spPr>
          <a:xfrm xmlns:a="http://schemas.openxmlformats.org/drawingml/2006/main">
            <a:off x="8601075" y="4400550"/>
            <a:ext cx="2905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102E49"/>
                </a:solidFill>
                <a:latin typeface="Arial"/>
                <a:ea typeface="Arial"/>
                <a:cs typeface="Arial"/>
              </a:defRPr>
            </a:pPr>
            <a:r>
              <a:rPr sz="1725" b="0">
                <a:solidFill>
                  <a:srgbClr val="102E49"/>
                </a:solidFill>
                <a:latin typeface="Arial"/>
                <a:ea typeface="Arial"/>
                <a:cs typeface="Arial"/>
              </a:rPr>
              <a:t>Macro F1:</a:t>
            </a:r>
          </a:p>
          <a:p xmlns:a="http://schemas.openxmlformats.org/drawingml/2006/main">
            <a:pPr algn="l">
              <a:buNone/>
              <a:defRPr sz="1725" b="0">
                <a:solidFill>
                  <a:srgbClr val="102E49"/>
                </a:solidFill>
                <a:latin typeface="Arial"/>
                <a:ea typeface="Arial"/>
                <a:cs typeface="Arial"/>
              </a:defRPr>
            </a:pPr>
            <a:r>
              <a:rPr sz="1725" b="0">
                <a:solidFill>
                  <a:srgbClr val="102E49"/>
                </a:solidFill>
                <a:latin typeface="Arial"/>
                <a:ea typeface="Arial"/>
                <a:cs typeface="Arial"/>
              </a:rPr>
              <a:t>57.42% → 59.51%</a:t>
            </a:r>
          </a:p>
        </p:txBody>
      </p:sp>
      <p:sp>
        <p:nvSpPr>
          <p:cNvPr id="11" name="">
            <a:extLst xmlns:a="http://schemas.openxmlformats.org/drawingml/2006/main">
              <a:ext uri="{FF2B5EF4-FFF2-40B4-BE49-F238E27FC236}">
                <a16:creationId xmlns:a16="http://schemas.microsoft.com/office/drawing/2014/main" id="{053456BD-04A1-45A6-A334-17B9D0A0D1DD}"/>
              </a:ext>
            </a:extLst>
          </p:cNvPr>
          <p:cNvSpPr>
            <a:spLocks xmlns:a="http://schemas.openxmlformats.org/drawingml/2006/main" noGrp="1"/>
          </p:cNvSpPr>
          <p:nvPr/>
        </p:nvSpPr>
        <p:spPr>
          <a:xfrm xmlns:a="http://schemas.openxmlformats.org/drawingml/2006/main">
            <a:off x="609600" y="57435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950" b="1">
                <a:solidFill>
                  <a:srgbClr val="102E49"/>
                </a:solidFill>
                <a:latin typeface="Arial"/>
                <a:ea typeface="Arial"/>
                <a:cs typeface="Arial"/>
              </a:defRPr>
            </a:pPr>
            <a:r>
              <a:rPr sz="1950" b="1">
                <a:solidFill>
                  <a:srgbClr val="102E49"/>
                </a:solidFill>
                <a:latin typeface="Arial"/>
                <a:ea typeface="Arial"/>
                <a:cs typeface="Arial"/>
              </a:rPr>
              <a:t>154 corrected − 33 degraded = 121 net additional correct epochs</a:t>
            </a:r>
          </a:p>
        </p:txBody>
      </p:sp>
      <p:sp>
        <p:nvSpPr>
          <p:cNvPr id="12" name="">
            <a:extLst xmlns:a="http://schemas.openxmlformats.org/drawingml/2006/main">
              <a:ext uri="{FF2B5EF4-FFF2-40B4-BE49-F238E27FC236}">
                <a16:creationId xmlns:a16="http://schemas.microsoft.com/office/drawing/2014/main" id="{1A16650C-0958-4EC0-889B-A993D215F12C}"/>
              </a:ext>
            </a:extLst>
          </p:cNvPr>
          <p:cNvSpPr>
            <a:spLocks xmlns:a="http://schemas.openxmlformats.org/drawingml/2006/main" noGrp="1"/>
          </p:cNvSpPr>
          <p:nvPr/>
        </p:nvSpPr>
        <p:spPr>
          <a:xfrm xmlns:a="http://schemas.openxmlformats.org/drawingml/2006/main">
            <a:off x="609600" y="6172200"/>
            <a:ext cx="1085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425" b="0">
                <a:solidFill>
                  <a:srgbClr val="526977"/>
                </a:solidFill>
                <a:latin typeface="Arial"/>
                <a:ea typeface="Arial"/>
                <a:cs typeface="Arial"/>
              </a:defRPr>
            </a:pPr>
            <a:r>
              <a:rPr sz="1425" b="0">
                <a:solidFill>
                  <a:srgbClr val="526977"/>
                </a:solidFill>
                <a:latin typeface="Arial"/>
                <a:ea typeface="Arial"/>
                <a:cs typeface="Arial"/>
              </a:rPr>
              <a:t>Same 3,109 test epochs across 4 recordings · 238 labels changed · pp = percentage points</a:t>
            </a:r>
          </a:p>
        </p:txBody>
      </p:sp>
    </p:spTree>
    <p:extLst>
      <p:ext uri="{BB962C8B-B14F-4D97-AF65-F5344CB8AC3E}">
        <p14:creationId xmlns:p14="http://schemas.microsoft.com/office/powerpoint/2010/main" val="434895987"/>
      </p:ext>
    </p:extLst>
  </p:cSld>
</p:sld>
</file>

<file path=ppt/slides/slide11.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609B8A6-9AB2-4335-BC1E-6C4E4E39867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1E31EACD-E31E-44CD-A39C-FF4384F88E60}"/>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700" b="1">
                <a:solidFill>
                  <a:srgbClr val="102E49"/>
                </a:solidFill>
                <a:latin typeface="Arial"/>
                <a:ea typeface="Arial"/>
                <a:cs typeface="Arial"/>
              </a:defRPr>
            </a:pPr>
            <a:r>
              <a:rPr sz="2700" b="1">
                <a:solidFill>
                  <a:srgbClr val="102E49"/>
                </a:solidFill>
                <a:latin typeface="Arial"/>
                <a:ea typeface="Arial"/>
                <a:cs typeface="Arial"/>
              </a:rPr>
              <a:t>Project outputs: hypnogram and sleep profile</a:t>
            </a:r>
          </a:p>
        </p:txBody>
      </p:sp>
      <p:sp>
        <p:nvSpPr>
          <p:cNvPr id="3" name="">
            <a:extLst xmlns:a="http://schemas.openxmlformats.org/drawingml/2006/main">
              <a:ext uri="{FF2B5EF4-FFF2-40B4-BE49-F238E27FC236}">
                <a16:creationId xmlns:a16="http://schemas.microsoft.com/office/drawing/2014/main" id="{16937A5D-8EA5-4052-9795-070D51D98C0C}"/>
              </a:ext>
            </a:extLst>
          </p:cNvPr>
          <p:cNvSpPr>
            <a:spLocks xmlns:a="http://schemas.openxmlformats.org/drawingml/2006/main" noGrp="1"/>
          </p:cNvSpPr>
          <p:nvPr/>
        </p:nvSpPr>
        <p:spPr>
          <a:xfrm xmlns:a="http://schemas.openxmlformats.org/drawingml/2006/main">
            <a:off x="609600" y="1238250"/>
            <a:ext cx="109347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4" name="">
            <a:extLst xmlns:a="http://schemas.openxmlformats.org/drawingml/2006/main">
              <a:ext uri="{FF2B5EF4-FFF2-40B4-BE49-F238E27FC236}">
                <a16:creationId xmlns:a16="http://schemas.microsoft.com/office/drawing/2014/main" id="{98F18EEB-8CD2-4400-B8B3-951EB6178C79}"/>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900" b="0">
                <a:solidFill>
                  <a:srgbClr val="526977"/>
                </a:solidFill>
                <a:latin typeface="Arial"/>
                <a:ea typeface="Arial"/>
                <a:cs typeface="Arial"/>
              </a:defRPr>
            </a:pPr>
            <a:r>
              <a:rPr sz="900" b="0">
                <a:solidFill>
                  <a:srgbClr val="526977"/>
                </a:solidFill>
                <a:latin typeface="Arial"/>
                <a:ea typeface="Arial"/>
                <a:cs typeface="Arial"/>
              </a:rPr>
              <a:t>Notebook + verified run HMC-N1N2-20261007</a:t>
            </a:r>
          </a:p>
        </p:txBody>
      </p:sp>
      <p:sp>
        <p:nvSpPr>
          <p:cNvPr id="5" name="">
            <a:extLst xmlns:a="http://schemas.openxmlformats.org/drawingml/2006/main">
              <a:ext uri="{FF2B5EF4-FFF2-40B4-BE49-F238E27FC236}">
                <a16:creationId xmlns:a16="http://schemas.microsoft.com/office/drawing/2014/main" id="{EFDBB1DC-54D3-4EFA-BA98-8C47F14FFABD}"/>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900" b="0">
                <a:solidFill>
                  <a:srgbClr val="526977"/>
                </a:solidFill>
                <a:latin typeface="Arial"/>
                <a:ea typeface="Arial"/>
                <a:cs typeface="Arial"/>
              </a:defRPr>
            </a:pPr>
            <a:r>
              <a:rPr sz="900" b="0">
                <a:solidFill>
                  <a:srgbClr val="526977"/>
                </a:solidFill>
                <a:latin typeface="Arial"/>
                <a:ea typeface="Arial"/>
                <a:cs typeface="Arial"/>
              </a:rPr>
              <a:t>11 / 13</a:t>
            </a:r>
          </a:p>
        </p:txBody>
      </p:sp>
      <p:sp>
        <p:nvSpPr>
          <p:cNvPr id="6" name="">
            <a:extLst xmlns:a="http://schemas.openxmlformats.org/drawingml/2006/main">
              <a:ext uri="{FF2B5EF4-FFF2-40B4-BE49-F238E27FC236}">
                <a16:creationId xmlns:a16="http://schemas.microsoft.com/office/drawing/2014/main" id="{5F5886AB-A5EB-4215-B556-021340329524}"/>
              </a:ext>
            </a:extLst>
          </p:cNvPr>
          <p:cNvSpPr>
            <a:spLocks xmlns:a="http://schemas.openxmlformats.org/drawingml/2006/main" noGrp="1"/>
          </p:cNvSpPr>
          <p:nvPr/>
        </p:nvSpPr>
        <p:spPr>
          <a:xfrm xmlns:a="http://schemas.openxmlformats.org/drawingml/2006/main">
            <a:off x="609600" y="154305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18A69B"/>
                </a:solidFill>
                <a:latin typeface="Arial"/>
                <a:ea typeface="Arial"/>
                <a:cs typeface="Arial"/>
              </a:defRPr>
            </a:pPr>
            <a:r>
              <a:rPr sz="1875" b="1">
                <a:solidFill>
                  <a:srgbClr val="18A69B"/>
                </a:solidFill>
                <a:latin typeface="Arial"/>
                <a:ea typeface="Arial"/>
                <a:cs typeface="Arial"/>
              </a:rPr>
              <a:t>SN009 · verified stage sequence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6054059975784c22"/>
          <a:stretch xmlns:a="http://schemas.openxmlformats.org/drawingml/2006/main"/>
        </p:blipFill>
        <p:spPr>
          <a:xfrm xmlns:a="http://schemas.openxmlformats.org/drawingml/2006/main">
            <a:off x="609600" y="2222224"/>
            <a:ext cx="6858000" cy="2832652"/>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8556298-EFC5-4B31-B74C-9303D0573947}"/>
              </a:ext>
            </a:extLst>
          </p:cNvPr>
          <p:cNvSpPr>
            <a:spLocks xmlns:a="http://schemas.openxmlformats.org/drawingml/2006/main" noGrp="1"/>
          </p:cNvSpPr>
          <p:nvPr/>
        </p:nvSpPr>
        <p:spPr>
          <a:xfrm xmlns:a="http://schemas.openxmlformats.org/drawingml/2006/main">
            <a:off x="7829550" y="1543050"/>
            <a:ext cx="3695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18A69B"/>
                </a:solidFill>
                <a:latin typeface="Arial"/>
                <a:ea typeface="Arial"/>
                <a:cs typeface="Arial"/>
              </a:defRPr>
            </a:pPr>
            <a:r>
              <a:rPr sz="1875" b="1">
                <a:solidFill>
                  <a:srgbClr val="18A69B"/>
                </a:solidFill>
                <a:latin typeface="Arial"/>
                <a:ea typeface="Arial"/>
                <a:cs typeface="Arial"/>
              </a:rPr>
              <a:t>Sleep Studio · current GUI</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fe8df05a18d4e9e"/>
          <a:stretch xmlns:a="http://schemas.openxmlformats.org/drawingml/2006/main"/>
        </p:blipFill>
        <p:spPr>
          <a:xfrm xmlns:a="http://schemas.openxmlformats.org/drawingml/2006/main">
            <a:off x="7829550" y="2011320"/>
            <a:ext cx="3695700" cy="2397211"/>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0BFA6A2-75A9-42F0-970D-7EB5A35C2060}"/>
              </a:ext>
            </a:extLst>
          </p:cNvPr>
          <p:cNvSpPr>
            <a:spLocks xmlns:a="http://schemas.openxmlformats.org/drawingml/2006/main" noGrp="1"/>
          </p:cNvSpPr>
          <p:nvPr/>
        </p:nvSpPr>
        <p:spPr>
          <a:xfrm xmlns:a="http://schemas.openxmlformats.org/drawingml/2006/main">
            <a:off x="7829550" y="4705350"/>
            <a:ext cx="3695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102E49"/>
                </a:solidFill>
                <a:latin typeface="Arial"/>
                <a:ea typeface="Arial"/>
                <a:cs typeface="Arial"/>
              </a:defRPr>
            </a:pPr>
            <a:r>
              <a:rPr sz="1725" b="0">
                <a:solidFill>
                  <a:srgbClr val="102E49"/>
                </a:solidFill>
                <a:latin typeface="Arial"/>
                <a:ea typeface="Arial"/>
                <a:cs typeface="Arial"/>
              </a:rPr>
              <a:t>Architecture, spectral features,</a:t>
            </a:r>
          </a:p>
          <a:p xmlns:a="http://schemas.openxmlformats.org/drawingml/2006/main">
            <a:pPr algn="l">
              <a:buNone/>
              <a:defRPr sz="1725" b="0">
                <a:solidFill>
                  <a:srgbClr val="102E49"/>
                </a:solidFill>
                <a:latin typeface="Arial"/>
                <a:ea typeface="Arial"/>
                <a:cs typeface="Arial"/>
              </a:defRPr>
            </a:pPr>
            <a:r>
              <a:rPr sz="1725" b="0">
                <a:solidFill>
                  <a:srgbClr val="102E49"/>
                </a:solidFill>
                <a:latin typeface="Arial"/>
                <a:ea typeface="Arial"/>
                <a:cs typeface="Arial"/>
              </a:rPr>
              <a:t>reference deviations and exports</a:t>
            </a:r>
          </a:p>
        </p:txBody>
      </p:sp>
      <p:sp>
        <p:nvSpPr>
          <p:cNvPr id="11" name="">
            <a:extLst xmlns:a="http://schemas.openxmlformats.org/drawingml/2006/main">
              <a:ext uri="{FF2B5EF4-FFF2-40B4-BE49-F238E27FC236}">
                <a16:creationId xmlns:a16="http://schemas.microsoft.com/office/drawing/2014/main" id="{B311A6B7-8020-4E23-8C29-C9A19B7A84C5}"/>
              </a:ext>
            </a:extLst>
          </p:cNvPr>
          <p:cNvSpPr>
            <a:spLocks xmlns:a="http://schemas.openxmlformats.org/drawingml/2006/main" noGrp="1"/>
          </p:cNvSpPr>
          <p:nvPr/>
        </p:nvSpPr>
        <p:spPr>
          <a:xfrm xmlns:a="http://schemas.openxmlformats.org/drawingml/2006/main">
            <a:off x="609600" y="56197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18A69B"/>
                </a:solidFill>
                <a:latin typeface="Arial"/>
                <a:ea typeface="Arial"/>
                <a:cs typeface="Arial"/>
              </a:defRPr>
            </a:pPr>
            <a:r>
              <a:rPr sz="1875" b="1">
                <a:solidFill>
                  <a:srgbClr val="18A69B"/>
                </a:solidFill>
                <a:latin typeface="Arial"/>
                <a:ea typeface="Arial"/>
                <a:cs typeface="Arial"/>
              </a:rPr>
              <a:t>Stage labels → architecture metrics → training-reference comparison → four-domain profile</a:t>
            </a:r>
          </a:p>
        </p:txBody>
      </p:sp>
      <p:sp>
        <p:nvSpPr>
          <p:cNvPr id="12" name="">
            <a:extLst xmlns:a="http://schemas.openxmlformats.org/drawingml/2006/main">
              <a:ext uri="{FF2B5EF4-FFF2-40B4-BE49-F238E27FC236}">
                <a16:creationId xmlns:a16="http://schemas.microsoft.com/office/drawing/2014/main" id="{159C74E0-3EB2-45CF-8B4F-164CC0AEEBCC}"/>
              </a:ext>
            </a:extLst>
          </p:cNvPr>
          <p:cNvSpPr>
            <a:spLocks xmlns:a="http://schemas.openxmlformats.org/drawingml/2006/main" noGrp="1"/>
          </p:cNvSpPr>
          <p:nvPr/>
        </p:nvSpPr>
        <p:spPr>
          <a:xfrm xmlns:a="http://schemas.openxmlformats.org/drawingml/2006/main">
            <a:off x="609600" y="62007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0">
                <a:solidFill>
                  <a:srgbClr val="526977"/>
                </a:solidFill>
                <a:latin typeface="Arial"/>
                <a:ea typeface="Arial"/>
                <a:cs typeface="Arial"/>
              </a:defRPr>
            </a:pPr>
            <a:r>
              <a:rPr sz="1350" b="0">
                <a:solidFill>
                  <a:srgbClr val="526977"/>
                </a:solidFill>
                <a:latin typeface="Arial"/>
                <a:ea typeface="Arial"/>
                <a:cs typeface="Arial"/>
              </a:rPr>
              <a:t>Duration · Continuity · Initiation · Architecture | Descriptive research profiles, not diagnoses</a:t>
            </a:r>
          </a:p>
        </p:txBody>
      </p:sp>
    </p:spTree>
    <p:extLst>
      <p:ext uri="{BB962C8B-B14F-4D97-AF65-F5344CB8AC3E}">
        <p14:creationId xmlns:p14="http://schemas.microsoft.com/office/powerpoint/2010/main" val="192251261"/>
      </p:ext>
    </p:extLst>
  </p:cSld>
</p:sld>
</file>

<file path=ppt/slides/slide12.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C1CBA15-DD68-4F89-9241-A35EC84267B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0EB2A9CB-6924-4609-AC5B-86F76A42A525}"/>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700" b="1">
                <a:solidFill>
                  <a:srgbClr val="102E49"/>
                </a:solidFill>
                <a:latin typeface="Arial"/>
                <a:ea typeface="Arial"/>
                <a:cs typeface="Arial"/>
              </a:defRPr>
            </a:pPr>
            <a:r>
              <a:rPr sz="2700" b="1">
                <a:solidFill>
                  <a:srgbClr val="102E49"/>
                </a:solidFill>
                <a:latin typeface="Arial"/>
                <a:ea typeface="Arial"/>
                <a:cs typeface="Arial"/>
              </a:rPr>
              <a:t>Future plan: multistage, multimodel architecture</a:t>
            </a:r>
          </a:p>
        </p:txBody>
      </p:sp>
      <p:sp>
        <p:nvSpPr>
          <p:cNvPr id="3" name="">
            <a:extLst xmlns:a="http://schemas.openxmlformats.org/drawingml/2006/main">
              <a:ext uri="{FF2B5EF4-FFF2-40B4-BE49-F238E27FC236}">
                <a16:creationId xmlns:a16="http://schemas.microsoft.com/office/drawing/2014/main" id="{8A3054E8-C7E7-4ADD-950B-FBF4CB29B6CD}"/>
              </a:ext>
            </a:extLst>
          </p:cNvPr>
          <p:cNvSpPr>
            <a:spLocks xmlns:a="http://schemas.openxmlformats.org/drawingml/2006/main" noGrp="1"/>
          </p:cNvSpPr>
          <p:nvPr/>
        </p:nvSpPr>
        <p:spPr>
          <a:xfrm xmlns:a="http://schemas.openxmlformats.org/drawingml/2006/main">
            <a:off x="609600" y="1238250"/>
            <a:ext cx="109347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4" name="">
            <a:extLst xmlns:a="http://schemas.openxmlformats.org/drawingml/2006/main">
              <a:ext uri="{FF2B5EF4-FFF2-40B4-BE49-F238E27FC236}">
                <a16:creationId xmlns:a16="http://schemas.microsoft.com/office/drawing/2014/main" id="{606568E5-FBA4-4DC7-880D-26F27D47C802}"/>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900" b="0">
                <a:solidFill>
                  <a:srgbClr val="526977"/>
                </a:solidFill>
                <a:latin typeface="Arial"/>
                <a:ea typeface="Arial"/>
                <a:cs typeface="Arial"/>
              </a:defRPr>
            </a:pPr>
            <a:r>
              <a:rPr sz="900" b="0">
                <a:solidFill>
                  <a:srgbClr val="526977"/>
                </a:solidFill>
                <a:latin typeface="Arial"/>
                <a:ea typeface="Arial"/>
                <a:cs typeface="Arial"/>
              </a:rPr>
              <a:t>Proposed research design; inspired by SeqSleepNet, RobustSleepNet and SLEEPYLAND</a:t>
            </a:r>
          </a:p>
        </p:txBody>
      </p:sp>
      <p:sp>
        <p:nvSpPr>
          <p:cNvPr id="5" name="">
            <a:extLst xmlns:a="http://schemas.openxmlformats.org/drawingml/2006/main">
              <a:ext uri="{FF2B5EF4-FFF2-40B4-BE49-F238E27FC236}">
                <a16:creationId xmlns:a16="http://schemas.microsoft.com/office/drawing/2014/main" id="{DDD26CD4-98E1-4843-A87E-184A658ADAB9}"/>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900" b="0">
                <a:solidFill>
                  <a:srgbClr val="526977"/>
                </a:solidFill>
                <a:latin typeface="Arial"/>
                <a:ea typeface="Arial"/>
                <a:cs typeface="Arial"/>
              </a:defRPr>
            </a:pPr>
            <a:r>
              <a:rPr sz="900" b="0">
                <a:solidFill>
                  <a:srgbClr val="526977"/>
                </a:solidFill>
                <a:latin typeface="Arial"/>
                <a:ea typeface="Arial"/>
                <a:cs typeface="Arial"/>
              </a:rPr>
              <a:t>12 / 13</a:t>
            </a:r>
          </a:p>
        </p:txBody>
      </p:sp>
      <p:sp>
        <p:nvSpPr>
          <p:cNvPr id="6" name="">
            <a:extLst xmlns:a="http://schemas.openxmlformats.org/drawingml/2006/main">
              <a:ext uri="{FF2B5EF4-FFF2-40B4-BE49-F238E27FC236}">
                <a16:creationId xmlns:a16="http://schemas.microsoft.com/office/drawing/2014/main" id="{9C18BF36-D3DB-4F64-83AB-5FFCFF27C9EC}"/>
              </a:ext>
            </a:extLst>
          </p:cNvPr>
          <p:cNvSpPr>
            <a:spLocks xmlns:a="http://schemas.openxmlformats.org/drawingml/2006/main" noGrp="1"/>
          </p:cNvSpPr>
          <p:nvPr/>
        </p:nvSpPr>
        <p:spPr>
          <a:xfrm xmlns:a="http://schemas.openxmlformats.org/drawingml/2006/main">
            <a:off x="609600" y="1533525"/>
            <a:ext cx="1085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18A69B"/>
                </a:solidFill>
                <a:latin typeface="Arial"/>
                <a:ea typeface="Arial"/>
                <a:cs typeface="Arial"/>
              </a:defRPr>
            </a:pPr>
            <a:r>
              <a:rPr sz="1725" b="1">
                <a:solidFill>
                  <a:srgbClr val="18A69B"/>
                </a:solidFill>
                <a:latin typeface="Arial"/>
                <a:ea typeface="Arial"/>
                <a:cs typeface="Arial"/>
              </a:rPr>
              <a:t>Proposed • not yet implemented or evaluated</a:t>
            </a:r>
          </a:p>
        </p:txBody>
      </p:sp>
      <p:sp>
        <p:nvSpPr>
          <p:cNvPr id="7" name="">
            <a:extLst xmlns:a="http://schemas.openxmlformats.org/drawingml/2006/main">
              <a:ext uri="{FF2B5EF4-FFF2-40B4-BE49-F238E27FC236}">
                <a16:creationId xmlns:a16="http://schemas.microsoft.com/office/drawing/2014/main" id="{95DC8C84-371E-4D08-833A-EC72189BEB5B}"/>
              </a:ext>
            </a:extLst>
          </p:cNvPr>
          <p:cNvSpPr>
            <a:spLocks xmlns:a="http://schemas.openxmlformats.org/drawingml/2006/main" noGrp="1"/>
          </p:cNvSpPr>
          <p:nvPr/>
        </p:nvSpPr>
        <p:spPr>
          <a:xfrm xmlns:a="http://schemas.openxmlformats.org/drawingml/2006/main">
            <a:off x="609600" y="2352675"/>
            <a:ext cx="1781175" cy="809625"/>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Aligned EEG</a:t>
            </a:r>
          </a:p>
          <a:p xmlns:a="http://schemas.openxmlformats.org/drawingml/2006/main">
            <a:pPr algn="ctr">
              <a:buNone/>
              <a:defRPr sz="1725" b="1">
                <a:solidFill>
                  <a:srgbClr val="102E49"/>
                </a:solidFill>
                <a:latin typeface="Arial"/>
                <a:ea typeface="Arial"/>
                <a:cs typeface="Arial"/>
              </a:defRPr>
            </a:pPr>
            <a:r>
              <a:rPr sz="1725" b="1">
                <a:solidFill>
                  <a:srgbClr val="102E49"/>
                </a:solidFill>
                <a:latin typeface="Arial"/>
                <a:ea typeface="Arial"/>
                <a:cs typeface="Arial"/>
              </a:rPr>
              <a:t>+ quality checks</a:t>
            </a:r>
          </a:p>
        </p:txBody>
      </p:sp>
      <p:sp>
        <p:nvSpPr>
          <p:cNvPr id="8" name="">
            <a:extLst xmlns:a="http://schemas.openxmlformats.org/drawingml/2006/main">
              <a:ext uri="{FF2B5EF4-FFF2-40B4-BE49-F238E27FC236}">
                <a16:creationId xmlns:a16="http://schemas.microsoft.com/office/drawing/2014/main" id="{3A1BB145-970D-47D8-B8E5-440F6BFD53A8}"/>
              </a:ext>
            </a:extLst>
          </p:cNvPr>
          <p:cNvSpPr>
            <a:spLocks xmlns:a="http://schemas.openxmlformats.org/drawingml/2006/main" noGrp="1"/>
          </p:cNvSpPr>
          <p:nvPr/>
        </p:nvSpPr>
        <p:spPr>
          <a:xfrm xmlns:a="http://schemas.openxmlformats.org/drawingml/2006/main">
            <a:off x="2895600" y="2057400"/>
            <a:ext cx="2924175" cy="809625"/>
          </a:xfrm>
          <a:prstGeom xmlns:a="http://schemas.openxmlformats.org/drawingml/2006/main" prst="rect">
            <a:avLst/>
          </a:prstGeom>
          <a:solidFill xmlns:a="http://schemas.openxmlformats.org/drawingml/2006/main">
            <a:srgbClr val="102E49"/>
          </a:solidFill>
          <a:ln xmlns:a="http://schemas.openxmlformats.org/drawingml/2006/main" w="14288">
            <a:solidFill>
              <a:srgbClr val="102E49"/>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Model A: coarse CNN</a:t>
            </a:r>
          </a:p>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Wake / REM / NREM</a:t>
            </a:r>
          </a:p>
        </p:txBody>
      </p:sp>
      <p:sp>
        <p:nvSpPr>
          <p:cNvPr id="9" name="">
            <a:extLst xmlns:a="http://schemas.openxmlformats.org/drawingml/2006/main">
              <a:ext uri="{FF2B5EF4-FFF2-40B4-BE49-F238E27FC236}">
                <a16:creationId xmlns:a16="http://schemas.microsoft.com/office/drawing/2014/main" id="{27B7F729-9B12-45EE-8F42-08D9603CF52E}"/>
              </a:ext>
            </a:extLst>
          </p:cNvPr>
          <p:cNvSpPr>
            <a:spLocks xmlns:a="http://schemas.openxmlformats.org/drawingml/2006/main" noGrp="1"/>
          </p:cNvSpPr>
          <p:nvPr/>
        </p:nvSpPr>
        <p:spPr>
          <a:xfrm xmlns:a="http://schemas.openxmlformats.org/drawingml/2006/main">
            <a:off x="2895600" y="3324225"/>
            <a:ext cx="2924175" cy="809625"/>
          </a:xfrm>
          <a:prstGeom xmlns:a="http://schemas.openxmlformats.org/drawingml/2006/main" prst="rect">
            <a:avLst/>
          </a:prstGeom>
          <a:solidFill xmlns:a="http://schemas.openxmlformats.org/drawingml/2006/main">
            <a:srgbClr val="102E49"/>
          </a:solidFill>
          <a:ln xmlns:a="http://schemas.openxmlformats.org/drawingml/2006/main" w="14288">
            <a:solidFill>
              <a:srgbClr val="102E49"/>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Model B: NREM expert</a:t>
            </a:r>
          </a:p>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N1 / N2 / N3</a:t>
            </a:r>
          </a:p>
        </p:txBody>
      </p:sp>
      <p:sp>
        <p:nvSpPr>
          <p:cNvPr id="10" name="">
            <a:extLst xmlns:a="http://schemas.openxmlformats.org/drawingml/2006/main">
              <a:ext uri="{FF2B5EF4-FFF2-40B4-BE49-F238E27FC236}">
                <a16:creationId xmlns:a16="http://schemas.microsoft.com/office/drawing/2014/main" id="{EC26E0CD-B956-41EB-BF19-8237F2FE2DB2}"/>
              </a:ext>
            </a:extLst>
          </p:cNvPr>
          <p:cNvSpPr>
            <a:spLocks xmlns:a="http://schemas.openxmlformats.org/drawingml/2006/main" noGrp="1"/>
          </p:cNvSpPr>
          <p:nvPr/>
        </p:nvSpPr>
        <p:spPr>
          <a:xfrm xmlns:a="http://schemas.openxmlformats.org/drawingml/2006/main">
            <a:off x="2514600" y="2752725"/>
            <a:ext cx="200025"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11" name="">
            <a:extLst xmlns:a="http://schemas.openxmlformats.org/drawingml/2006/main">
              <a:ext uri="{FF2B5EF4-FFF2-40B4-BE49-F238E27FC236}">
                <a16:creationId xmlns:a16="http://schemas.microsoft.com/office/drawing/2014/main" id="{53818038-B9AE-4BD9-A5B2-91EECC4E0099}"/>
              </a:ext>
            </a:extLst>
          </p:cNvPr>
          <p:cNvSpPr>
            <a:spLocks xmlns:a="http://schemas.openxmlformats.org/drawingml/2006/main" noGrp="1"/>
          </p:cNvSpPr>
          <p:nvPr/>
        </p:nvSpPr>
        <p:spPr>
          <a:xfrm xmlns:a="http://schemas.openxmlformats.org/drawingml/2006/main">
            <a:off x="2714625" y="2457450"/>
            <a:ext cx="0" cy="1266825"/>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12" name="">
            <a:extLst xmlns:a="http://schemas.openxmlformats.org/drawingml/2006/main">
              <a:ext uri="{FF2B5EF4-FFF2-40B4-BE49-F238E27FC236}">
                <a16:creationId xmlns:a16="http://schemas.microsoft.com/office/drawing/2014/main" id="{1B8ECF43-5244-4C3D-9964-B380D78EAB37}"/>
              </a:ext>
            </a:extLst>
          </p:cNvPr>
          <p:cNvSpPr>
            <a:spLocks xmlns:a="http://schemas.openxmlformats.org/drawingml/2006/main" noGrp="1"/>
          </p:cNvSpPr>
          <p:nvPr/>
        </p:nvSpPr>
        <p:spPr>
          <a:xfrm xmlns:a="http://schemas.openxmlformats.org/drawingml/2006/main">
            <a:off x="2714625" y="2400300"/>
            <a:ext cx="180975" cy="123825"/>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3" name="">
            <a:extLst xmlns:a="http://schemas.openxmlformats.org/drawingml/2006/main">
              <a:ext uri="{FF2B5EF4-FFF2-40B4-BE49-F238E27FC236}">
                <a16:creationId xmlns:a16="http://schemas.microsoft.com/office/drawing/2014/main" id="{8E2E42AB-B672-4CB8-92E8-55BDF885058B}"/>
              </a:ext>
            </a:extLst>
          </p:cNvPr>
          <p:cNvSpPr>
            <a:spLocks xmlns:a="http://schemas.openxmlformats.org/drawingml/2006/main" noGrp="1"/>
          </p:cNvSpPr>
          <p:nvPr/>
        </p:nvSpPr>
        <p:spPr>
          <a:xfrm xmlns:a="http://schemas.openxmlformats.org/drawingml/2006/main">
            <a:off x="2714625" y="3667125"/>
            <a:ext cx="180975" cy="123825"/>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4" name="">
            <a:extLst xmlns:a="http://schemas.openxmlformats.org/drawingml/2006/main">
              <a:ext uri="{FF2B5EF4-FFF2-40B4-BE49-F238E27FC236}">
                <a16:creationId xmlns:a16="http://schemas.microsoft.com/office/drawing/2014/main" id="{B25DBC2B-113F-4350-AB5B-E02BB8FADFE1}"/>
              </a:ext>
            </a:extLst>
          </p:cNvPr>
          <p:cNvSpPr>
            <a:spLocks xmlns:a="http://schemas.openxmlformats.org/drawingml/2006/main" noGrp="1"/>
          </p:cNvSpPr>
          <p:nvPr/>
        </p:nvSpPr>
        <p:spPr>
          <a:xfrm xmlns:a="http://schemas.openxmlformats.org/drawingml/2006/main">
            <a:off x="6477000" y="2628900"/>
            <a:ext cx="2333625" cy="1104900"/>
          </a:xfrm>
          <a:prstGeom xmlns:a="http://schemas.openxmlformats.org/drawingml/2006/main" prst="rect">
            <a:avLst/>
          </a:prstGeom>
          <a:solidFill xmlns:a="http://schemas.openxmlformats.org/drawingml/2006/main">
            <a:srgbClr val="E8F2F5"/>
          </a:solidFill>
          <a:ln xmlns:a="http://schemas.openxmlformats.org/drawingml/2006/main" w="14288">
            <a:solidFill>
              <a:srgbClr val="18A69B"/>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650" b="1">
                <a:solidFill>
                  <a:srgbClr val="102E49"/>
                </a:solidFill>
                <a:latin typeface="Arial"/>
                <a:ea typeface="Arial"/>
                <a:cs typeface="Arial"/>
              </a:defRPr>
            </a:pPr>
            <a:r>
              <a:rPr sz="1650" b="1">
                <a:solidFill>
                  <a:srgbClr val="102E49"/>
                </a:solidFill>
                <a:latin typeface="Arial"/>
                <a:ea typeface="Arial"/>
                <a:cs typeface="Arial"/>
              </a:rPr>
              <a:t>Soft probability</a:t>
            </a:r>
          </a:p>
          <a:p xmlns:a="http://schemas.openxmlformats.org/drawingml/2006/main">
            <a:pPr algn="ctr">
              <a:buNone/>
              <a:defRPr sz="1650" b="1">
                <a:solidFill>
                  <a:srgbClr val="102E49"/>
                </a:solidFill>
                <a:latin typeface="Arial"/>
                <a:ea typeface="Arial"/>
                <a:cs typeface="Arial"/>
              </a:defRPr>
            </a:pPr>
            <a:r>
              <a:rPr sz="1650" b="1">
                <a:solidFill>
                  <a:srgbClr val="102E49"/>
                </a:solidFill>
                <a:latin typeface="Arial"/>
                <a:ea typeface="Arial"/>
                <a:cs typeface="Arial"/>
              </a:rPr>
              <a:t>composition +</a:t>
            </a:r>
          </a:p>
          <a:p xmlns:a="http://schemas.openxmlformats.org/drawingml/2006/main">
            <a:pPr algn="ctr">
              <a:buNone/>
              <a:defRPr sz="1650" b="1">
                <a:solidFill>
                  <a:srgbClr val="102E49"/>
                </a:solidFill>
                <a:latin typeface="Arial"/>
                <a:ea typeface="Arial"/>
                <a:cs typeface="Arial"/>
              </a:defRPr>
            </a:pPr>
            <a:r>
              <a:rPr sz="1650" b="1">
                <a:solidFill>
                  <a:srgbClr val="102E49"/>
                </a:solidFill>
                <a:latin typeface="Arial"/>
                <a:ea typeface="Arial"/>
                <a:cs typeface="Arial"/>
              </a:rPr>
              <a:t>optional baseline fusion</a:t>
            </a:r>
          </a:p>
        </p:txBody>
      </p:sp>
      <p:sp>
        <p:nvSpPr>
          <p:cNvPr id="15" name="">
            <a:extLst xmlns:a="http://schemas.openxmlformats.org/drawingml/2006/main">
              <a:ext uri="{FF2B5EF4-FFF2-40B4-BE49-F238E27FC236}">
                <a16:creationId xmlns:a16="http://schemas.microsoft.com/office/drawing/2014/main" id="{F595083E-FEA6-4828-8782-4983E0BA0F4C}"/>
              </a:ext>
            </a:extLst>
          </p:cNvPr>
          <p:cNvSpPr>
            <a:spLocks xmlns:a="http://schemas.openxmlformats.org/drawingml/2006/main" noGrp="1"/>
          </p:cNvSpPr>
          <p:nvPr/>
        </p:nvSpPr>
        <p:spPr>
          <a:xfrm xmlns:a="http://schemas.openxmlformats.org/drawingml/2006/main">
            <a:off x="5915025" y="2457450"/>
            <a:ext cx="2286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16" name="">
            <a:extLst xmlns:a="http://schemas.openxmlformats.org/drawingml/2006/main">
              <a:ext uri="{FF2B5EF4-FFF2-40B4-BE49-F238E27FC236}">
                <a16:creationId xmlns:a16="http://schemas.microsoft.com/office/drawing/2014/main" id="{C3B5EB1E-4860-4FD9-9C1C-1F7FA4AA33B5}"/>
              </a:ext>
            </a:extLst>
          </p:cNvPr>
          <p:cNvSpPr>
            <a:spLocks xmlns:a="http://schemas.openxmlformats.org/drawingml/2006/main" noGrp="1"/>
          </p:cNvSpPr>
          <p:nvPr/>
        </p:nvSpPr>
        <p:spPr>
          <a:xfrm xmlns:a="http://schemas.openxmlformats.org/drawingml/2006/main">
            <a:off x="6143625" y="2457450"/>
            <a:ext cx="0" cy="60960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17" name="">
            <a:extLst xmlns:a="http://schemas.openxmlformats.org/drawingml/2006/main">
              <a:ext uri="{FF2B5EF4-FFF2-40B4-BE49-F238E27FC236}">
                <a16:creationId xmlns:a16="http://schemas.microsoft.com/office/drawing/2014/main" id="{6FE91125-9E11-4841-9934-9B0674187B92}"/>
              </a:ext>
            </a:extLst>
          </p:cNvPr>
          <p:cNvSpPr>
            <a:spLocks xmlns:a="http://schemas.openxmlformats.org/drawingml/2006/main" noGrp="1"/>
          </p:cNvSpPr>
          <p:nvPr/>
        </p:nvSpPr>
        <p:spPr>
          <a:xfrm xmlns:a="http://schemas.openxmlformats.org/drawingml/2006/main">
            <a:off x="6143625" y="2990850"/>
            <a:ext cx="247650" cy="15240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18" name="">
            <a:extLst xmlns:a="http://schemas.openxmlformats.org/drawingml/2006/main">
              <a:ext uri="{FF2B5EF4-FFF2-40B4-BE49-F238E27FC236}">
                <a16:creationId xmlns:a16="http://schemas.microsoft.com/office/drawing/2014/main" id="{E4CB3ADA-8F79-46A9-8A06-19CF23F1CBD5}"/>
              </a:ext>
            </a:extLst>
          </p:cNvPr>
          <p:cNvSpPr>
            <a:spLocks xmlns:a="http://schemas.openxmlformats.org/drawingml/2006/main" noGrp="1"/>
          </p:cNvSpPr>
          <p:nvPr/>
        </p:nvSpPr>
        <p:spPr>
          <a:xfrm xmlns:a="http://schemas.openxmlformats.org/drawingml/2006/main">
            <a:off x="5915025" y="3724275"/>
            <a:ext cx="2286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19" name="">
            <a:extLst xmlns:a="http://schemas.openxmlformats.org/drawingml/2006/main">
              <a:ext uri="{FF2B5EF4-FFF2-40B4-BE49-F238E27FC236}">
                <a16:creationId xmlns:a16="http://schemas.microsoft.com/office/drawing/2014/main" id="{42A6562C-D78C-499E-A198-5B22AFCEA1C7}"/>
              </a:ext>
            </a:extLst>
          </p:cNvPr>
          <p:cNvSpPr>
            <a:spLocks xmlns:a="http://schemas.openxmlformats.org/drawingml/2006/main" noGrp="1"/>
          </p:cNvSpPr>
          <p:nvPr/>
        </p:nvSpPr>
        <p:spPr>
          <a:xfrm xmlns:a="http://schemas.openxmlformats.org/drawingml/2006/main">
            <a:off x="6143625" y="3333750"/>
            <a:ext cx="0" cy="390525"/>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20" name="">
            <a:extLst xmlns:a="http://schemas.openxmlformats.org/drawingml/2006/main">
              <a:ext uri="{FF2B5EF4-FFF2-40B4-BE49-F238E27FC236}">
                <a16:creationId xmlns:a16="http://schemas.microsoft.com/office/drawing/2014/main" id="{7688241B-6854-4B0B-849C-694A1C759337}"/>
              </a:ext>
            </a:extLst>
          </p:cNvPr>
          <p:cNvSpPr>
            <a:spLocks xmlns:a="http://schemas.openxmlformats.org/drawingml/2006/main" noGrp="1"/>
          </p:cNvSpPr>
          <p:nvPr/>
        </p:nvSpPr>
        <p:spPr>
          <a:xfrm xmlns:a="http://schemas.openxmlformats.org/drawingml/2006/main">
            <a:off x="6143625" y="3257550"/>
            <a:ext cx="247650" cy="15240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21" name="">
            <a:extLst xmlns:a="http://schemas.openxmlformats.org/drawingml/2006/main">
              <a:ext uri="{FF2B5EF4-FFF2-40B4-BE49-F238E27FC236}">
                <a16:creationId xmlns:a16="http://schemas.microsoft.com/office/drawing/2014/main" id="{575C5536-C34D-42E2-A5C3-F74BE237CD06}"/>
              </a:ext>
            </a:extLst>
          </p:cNvPr>
          <p:cNvSpPr>
            <a:spLocks xmlns:a="http://schemas.openxmlformats.org/drawingml/2006/main" noGrp="1"/>
          </p:cNvSpPr>
          <p:nvPr/>
        </p:nvSpPr>
        <p:spPr>
          <a:xfrm xmlns:a="http://schemas.openxmlformats.org/drawingml/2006/main">
            <a:off x="8943975" y="3076575"/>
            <a:ext cx="304800" cy="190500"/>
          </a:xfrm>
          <a:prstGeom xmlns:a="http://schemas.openxmlformats.org/drawingml/2006/main" prst="rightArrow">
            <a:avLst/>
          </a:prstGeom>
          <a:solidFill xmlns:a="http://schemas.openxmlformats.org/drawingml/2006/main">
            <a:srgbClr val="18A69B"/>
          </a:solidFill>
          <a:ln xmlns:a="http://schemas.openxmlformats.org/drawingml/2006/main" w="14288">
            <a:solidFill>
              <a:srgbClr val="18A69B"/>
            </a:solidFill>
          </a:ln>
        </p:spPr>
      </p:sp>
      <p:sp>
        <p:nvSpPr>
          <p:cNvPr id="22" name="">
            <a:extLst xmlns:a="http://schemas.openxmlformats.org/drawingml/2006/main">
              <a:ext uri="{FF2B5EF4-FFF2-40B4-BE49-F238E27FC236}">
                <a16:creationId xmlns:a16="http://schemas.microsoft.com/office/drawing/2014/main" id="{9C88F09D-D2D6-41A0-83AD-26AEC262AD65}"/>
              </a:ext>
            </a:extLst>
          </p:cNvPr>
          <p:cNvSpPr>
            <a:spLocks xmlns:a="http://schemas.openxmlformats.org/drawingml/2006/main" noGrp="1"/>
          </p:cNvSpPr>
          <p:nvPr/>
        </p:nvSpPr>
        <p:spPr>
          <a:xfrm xmlns:a="http://schemas.openxmlformats.org/drawingml/2006/main">
            <a:off x="9363075" y="2628900"/>
            <a:ext cx="2143125" cy="1104900"/>
          </a:xfrm>
          <a:prstGeom xmlns:a="http://schemas.openxmlformats.org/drawingml/2006/main" prst="rect">
            <a:avLst/>
          </a:prstGeom>
          <a:solidFill xmlns:a="http://schemas.openxmlformats.org/drawingml/2006/main">
            <a:srgbClr val="102E49"/>
          </a:solidFill>
          <a:ln xmlns:a="http://schemas.openxmlformats.org/drawingml/2006/main" w="14288">
            <a:solidFill>
              <a:srgbClr val="102E49"/>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Model C: TCN</a:t>
            </a:r>
          </a:p>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Temporal CNN</a:t>
            </a:r>
          </a:p>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across epochs</a:t>
            </a:r>
          </a:p>
        </p:txBody>
      </p:sp>
      <p:sp>
        <p:nvSpPr>
          <p:cNvPr id="23" name="">
            <a:extLst xmlns:a="http://schemas.openxmlformats.org/drawingml/2006/main">
              <a:ext uri="{FF2B5EF4-FFF2-40B4-BE49-F238E27FC236}">
                <a16:creationId xmlns:a16="http://schemas.microsoft.com/office/drawing/2014/main" id="{317ADB2C-F32B-4D95-8C46-04A20D8E288E}"/>
              </a:ext>
            </a:extLst>
          </p:cNvPr>
          <p:cNvSpPr>
            <a:spLocks xmlns:a="http://schemas.openxmlformats.org/drawingml/2006/main" noGrp="1"/>
          </p:cNvSpPr>
          <p:nvPr/>
        </p:nvSpPr>
        <p:spPr>
          <a:xfrm xmlns:a="http://schemas.openxmlformats.org/drawingml/2006/main">
            <a:off x="609600" y="4391025"/>
            <a:ext cx="1085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1">
                <a:solidFill>
                  <a:srgbClr val="18A69B"/>
                </a:solidFill>
                <a:latin typeface="Arial"/>
                <a:ea typeface="Arial"/>
                <a:cs typeface="Arial"/>
              </a:defRPr>
            </a:pPr>
            <a:r>
              <a:rPr sz="1650" b="1">
                <a:solidFill>
                  <a:srgbClr val="18A69B"/>
                </a:solidFill>
                <a:latin typeface="Arial"/>
                <a:ea typeface="Arial"/>
                <a:cs typeface="Arial"/>
              </a:rPr>
              <a:t>Conditional NREM probabilities preserve five-class normalization</a:t>
            </a:r>
          </a:p>
        </p:txBody>
      </p:sp>
      <p:sp>
        <p:nvSpPr>
          <p:cNvPr id="24" name="">
            <a:extLst xmlns:a="http://schemas.openxmlformats.org/drawingml/2006/main">
              <a:ext uri="{FF2B5EF4-FFF2-40B4-BE49-F238E27FC236}">
                <a16:creationId xmlns:a16="http://schemas.microsoft.com/office/drawing/2014/main" id="{DE1ACA95-E855-4A1F-B12B-6FF458E0823F}"/>
              </a:ext>
            </a:extLst>
          </p:cNvPr>
          <p:cNvSpPr>
            <a:spLocks xmlns:a="http://schemas.openxmlformats.org/drawingml/2006/main" noGrp="1"/>
          </p:cNvSpPr>
          <p:nvPr/>
        </p:nvSpPr>
        <p:spPr>
          <a:xfrm xmlns:a="http://schemas.openxmlformats.org/drawingml/2006/main">
            <a:off x="609600" y="50101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950" b="1">
                <a:solidFill>
                  <a:srgbClr val="102E49"/>
                </a:solidFill>
                <a:latin typeface="Arial"/>
                <a:ea typeface="Arial"/>
                <a:cs typeface="Arial"/>
              </a:defRPr>
            </a:pPr>
            <a:r>
              <a:rPr sz="1950" b="1">
                <a:solidFill>
                  <a:srgbClr val="102E49"/>
                </a:solidFill>
                <a:latin typeface="Arial"/>
                <a:ea typeface="Arial"/>
                <a:cs typeface="Arial"/>
              </a:rPr>
              <a:t>1  Experts</a:t>
            </a:r>
          </a:p>
        </p:txBody>
      </p:sp>
      <p:sp>
        <p:nvSpPr>
          <p:cNvPr id="25" name="">
            <a:extLst xmlns:a="http://schemas.openxmlformats.org/drawingml/2006/main">
              <a:ext uri="{FF2B5EF4-FFF2-40B4-BE49-F238E27FC236}">
                <a16:creationId xmlns:a16="http://schemas.microsoft.com/office/drawing/2014/main" id="{2774EDC2-F05B-496F-A873-72FF4D742737}"/>
              </a:ext>
            </a:extLst>
          </p:cNvPr>
          <p:cNvSpPr>
            <a:spLocks xmlns:a="http://schemas.openxmlformats.org/drawingml/2006/main" noGrp="1"/>
          </p:cNvSpPr>
          <p:nvPr/>
        </p:nvSpPr>
        <p:spPr>
          <a:xfrm xmlns:a="http://schemas.openxmlformats.org/drawingml/2006/main">
            <a:off x="609600" y="5505450"/>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102E49"/>
                </a:solidFill>
                <a:latin typeface="Arial"/>
                <a:ea typeface="Arial"/>
                <a:cs typeface="Arial"/>
              </a:defRPr>
            </a:pPr>
            <a:r>
              <a:rPr sz="1725" b="0">
                <a:solidFill>
                  <a:srgbClr val="102E49"/>
                </a:solidFill>
                <a:latin typeface="Arial"/>
                <a:ea typeface="Arial"/>
                <a:cs typeface="Arial"/>
              </a:rPr>
              <a:t>Test coarse + NREM models</a:t>
            </a:r>
          </a:p>
          <a:p xmlns:a="http://schemas.openxmlformats.org/drawingml/2006/main">
            <a:pPr algn="l">
              <a:buNone/>
              <a:defRPr sz="1725" b="0">
                <a:solidFill>
                  <a:srgbClr val="102E49"/>
                </a:solidFill>
                <a:latin typeface="Arial"/>
                <a:ea typeface="Arial"/>
                <a:cs typeface="Arial"/>
              </a:defRPr>
            </a:pPr>
            <a:r>
              <a:rPr sz="1725" b="0">
                <a:solidFill>
                  <a:srgbClr val="102E49"/>
                </a:solidFill>
                <a:latin typeface="Arial"/>
                <a:ea typeface="Arial"/>
                <a:cs typeface="Arial"/>
              </a:rPr>
              <a:t>against the current baseline.</a:t>
            </a:r>
          </a:p>
        </p:txBody>
      </p:sp>
      <p:sp>
        <p:nvSpPr>
          <p:cNvPr id="26" name="">
            <a:extLst xmlns:a="http://schemas.openxmlformats.org/drawingml/2006/main">
              <a:ext uri="{FF2B5EF4-FFF2-40B4-BE49-F238E27FC236}">
                <a16:creationId xmlns:a16="http://schemas.microsoft.com/office/drawing/2014/main" id="{E6B03B76-6445-497E-9CDB-B53197A56DBB}"/>
              </a:ext>
            </a:extLst>
          </p:cNvPr>
          <p:cNvSpPr>
            <a:spLocks xmlns:a="http://schemas.openxmlformats.org/drawingml/2006/main" noGrp="1"/>
          </p:cNvSpPr>
          <p:nvPr/>
        </p:nvSpPr>
        <p:spPr>
          <a:xfrm xmlns:a="http://schemas.openxmlformats.org/drawingml/2006/main">
            <a:off x="4333875" y="50101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950" b="1">
                <a:solidFill>
                  <a:srgbClr val="102E49"/>
                </a:solidFill>
                <a:latin typeface="Arial"/>
                <a:ea typeface="Arial"/>
                <a:cs typeface="Arial"/>
              </a:defRPr>
            </a:pPr>
            <a:r>
              <a:rPr sz="1950" b="1">
                <a:solidFill>
                  <a:srgbClr val="102E49"/>
                </a:solidFill>
                <a:latin typeface="Arial"/>
                <a:ea typeface="Arial"/>
                <a:cs typeface="Arial"/>
              </a:rPr>
              <a:t>2  Context + confidence</a:t>
            </a:r>
          </a:p>
        </p:txBody>
      </p:sp>
      <p:sp>
        <p:nvSpPr>
          <p:cNvPr id="27" name="">
            <a:extLst xmlns:a="http://schemas.openxmlformats.org/drawingml/2006/main">
              <a:ext uri="{FF2B5EF4-FFF2-40B4-BE49-F238E27FC236}">
                <a16:creationId xmlns:a16="http://schemas.microsoft.com/office/drawing/2014/main" id="{49C20E6E-B001-4C6E-9E8E-E929B16775EC}"/>
              </a:ext>
            </a:extLst>
          </p:cNvPr>
          <p:cNvSpPr>
            <a:spLocks xmlns:a="http://schemas.openxmlformats.org/drawingml/2006/main" noGrp="1"/>
          </p:cNvSpPr>
          <p:nvPr/>
        </p:nvSpPr>
        <p:spPr>
          <a:xfrm xmlns:a="http://schemas.openxmlformats.org/drawingml/2006/main">
            <a:off x="4333875" y="5505450"/>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102E49"/>
                </a:solidFill>
                <a:latin typeface="Arial"/>
                <a:ea typeface="Arial"/>
                <a:cs typeface="Arial"/>
              </a:defRPr>
            </a:pPr>
            <a:r>
              <a:rPr sz="1725" b="0">
                <a:solidFill>
                  <a:srgbClr val="102E49"/>
                </a:solidFill>
                <a:latin typeface="Arial"/>
                <a:ea typeface="Arial"/>
                <a:cs typeface="Arial"/>
              </a:rPr>
              <a:t>Train TCN on out-of-fold outputs.</a:t>
            </a:r>
          </a:p>
          <a:p xmlns:a="http://schemas.openxmlformats.org/drawingml/2006/main">
            <a:pPr algn="l">
              <a:buNone/>
              <a:defRPr sz="1725" b="0">
                <a:solidFill>
                  <a:srgbClr val="102E49"/>
                </a:solidFill>
                <a:latin typeface="Arial"/>
                <a:ea typeface="Arial"/>
                <a:cs typeface="Arial"/>
              </a:defRPr>
            </a:pPr>
            <a:r>
              <a:rPr sz="1725" b="0">
                <a:solidFill>
                  <a:srgbClr val="102E49"/>
                </a:solidFill>
                <a:latin typeface="Arial"/>
                <a:ea typeface="Arial"/>
                <a:cs typeface="Arial"/>
              </a:rPr>
              <a:t>Calibrate final probabilities.</a:t>
            </a:r>
          </a:p>
        </p:txBody>
      </p:sp>
      <p:sp>
        <p:nvSpPr>
          <p:cNvPr id="28" name="">
            <a:extLst xmlns:a="http://schemas.openxmlformats.org/drawingml/2006/main">
              <a:ext uri="{FF2B5EF4-FFF2-40B4-BE49-F238E27FC236}">
                <a16:creationId xmlns:a16="http://schemas.microsoft.com/office/drawing/2014/main" id="{E8822F42-E185-4C89-ABAF-97E1DC39CA4E}"/>
              </a:ext>
            </a:extLst>
          </p:cNvPr>
          <p:cNvSpPr>
            <a:spLocks xmlns:a="http://schemas.openxmlformats.org/drawingml/2006/main" noGrp="1"/>
          </p:cNvSpPr>
          <p:nvPr/>
        </p:nvSpPr>
        <p:spPr>
          <a:xfrm xmlns:a="http://schemas.openxmlformats.org/drawingml/2006/main">
            <a:off x="8096250" y="50101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950" b="1">
                <a:solidFill>
                  <a:srgbClr val="102E49"/>
                </a:solidFill>
                <a:latin typeface="Arial"/>
                <a:ea typeface="Arial"/>
                <a:cs typeface="Arial"/>
              </a:defRPr>
            </a:pPr>
            <a:r>
              <a:rPr sz="1950" b="1">
                <a:solidFill>
                  <a:srgbClr val="102E49"/>
                </a:solidFill>
                <a:latin typeface="Arial"/>
                <a:ea typeface="Arial"/>
                <a:cs typeface="Arial"/>
              </a:rPr>
              <a:t>3  Broader validation</a:t>
            </a:r>
          </a:p>
        </p:txBody>
      </p:sp>
      <p:sp>
        <p:nvSpPr>
          <p:cNvPr id="29" name="">
            <a:extLst xmlns:a="http://schemas.openxmlformats.org/drawingml/2006/main">
              <a:ext uri="{FF2B5EF4-FFF2-40B4-BE49-F238E27FC236}">
                <a16:creationId xmlns:a16="http://schemas.microsoft.com/office/drawing/2014/main" id="{34DB2A65-C847-472B-B292-6A2C0467AE30}"/>
              </a:ext>
            </a:extLst>
          </p:cNvPr>
          <p:cNvSpPr>
            <a:spLocks xmlns:a="http://schemas.openxmlformats.org/drawingml/2006/main" noGrp="1"/>
          </p:cNvSpPr>
          <p:nvPr/>
        </p:nvSpPr>
        <p:spPr>
          <a:xfrm xmlns:a="http://schemas.openxmlformats.org/drawingml/2006/main">
            <a:off x="8096250" y="5505450"/>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102E49"/>
                </a:solidFill>
                <a:latin typeface="Arial"/>
                <a:ea typeface="Arial"/>
                <a:cs typeface="Arial"/>
              </a:defRPr>
            </a:pPr>
            <a:r>
              <a:rPr sz="1725" b="0">
                <a:solidFill>
                  <a:srgbClr val="102E49"/>
                </a:solidFill>
                <a:latin typeface="Arial"/>
                <a:ea typeface="Arial"/>
                <a:cs typeface="Arial"/>
              </a:rPr>
              <a:t>New locked cohort, then external</a:t>
            </a:r>
          </a:p>
          <a:p xmlns:a="http://schemas.openxmlformats.org/drawingml/2006/main">
            <a:pPr algn="l">
              <a:buNone/>
              <a:defRPr sz="1725" b="0">
                <a:solidFill>
                  <a:srgbClr val="102E49"/>
                </a:solidFill>
                <a:latin typeface="Arial"/>
                <a:ea typeface="Arial"/>
                <a:cs typeface="Arial"/>
              </a:defRPr>
            </a:pPr>
            <a:r>
              <a:rPr sz="1725" b="0">
                <a:solidFill>
                  <a:srgbClr val="102E49"/>
                </a:solidFill>
                <a:latin typeface="Arial"/>
                <a:ea typeface="Arial"/>
                <a:cs typeface="Arial"/>
              </a:rPr>
              <a:t>data and optional EOG / EMG.</a:t>
            </a:r>
          </a:p>
        </p:txBody>
      </p:sp>
    </p:spTree>
    <p:extLst>
      <p:ext uri="{BB962C8B-B14F-4D97-AF65-F5344CB8AC3E}">
        <p14:creationId xmlns:p14="http://schemas.microsoft.com/office/powerpoint/2010/main" val="275512249"/>
      </p:ext>
    </p:extLst>
  </p:cSld>
</p:sld>
</file>

<file path=ppt/slides/slide13.xml><?xml version="1.0" encoding="utf-8"?>
<p:sld xmlns:p="http://schemas.openxmlformats.org/presentationml/2006/main">
  <p:cSld>
    <p:bg>
      <p:bgPr>
        <a:solidFill xmlns:a="http://schemas.openxmlformats.org/drawingml/2006/main">
          <a:srgbClr val="F5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7889F58-0FD7-40A1-B98C-B60CA001EA1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8A69B"/>
          </a:solidFill>
          <a:ln xmlns:a="http://schemas.openxmlformats.org/drawingml/2006/main" w="14288">
            <a:solidFill>
              <a:srgbClr val="18A69B"/>
            </a:solidFill>
          </a:ln>
        </p:spPr>
      </p:sp>
      <p:sp>
        <p:nvSpPr>
          <p:cNvPr id="2" name="">
            <a:extLst xmlns:a="http://schemas.openxmlformats.org/drawingml/2006/main">
              <a:ext uri="{FF2B5EF4-FFF2-40B4-BE49-F238E27FC236}">
                <a16:creationId xmlns:a16="http://schemas.microsoft.com/office/drawing/2014/main" id="{13D66711-83FB-44E7-8D99-D15604A414DD}"/>
              </a:ext>
            </a:extLst>
          </p:cNvPr>
          <p:cNvSpPr>
            <a:spLocks xmlns:a="http://schemas.openxmlformats.org/drawingml/2006/main" noGrp="1"/>
          </p:cNvSpPr>
          <p:nvPr/>
        </p:nvSpPr>
        <p:spPr>
          <a:xfrm xmlns:a="http://schemas.openxmlformats.org/drawingml/2006/main">
            <a:off x="609600" y="3429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700" b="1">
                <a:solidFill>
                  <a:srgbClr val="102E49"/>
                </a:solidFill>
                <a:latin typeface="Arial"/>
                <a:ea typeface="Arial"/>
                <a:cs typeface="Arial"/>
              </a:defRPr>
            </a:pPr>
            <a:r>
              <a:rPr sz="2700" b="1">
                <a:solidFill>
                  <a:srgbClr val="102E49"/>
                </a:solidFill>
                <a:latin typeface="Arial"/>
                <a:ea typeface="Arial"/>
                <a:cs typeface="Arial"/>
              </a:rPr>
              <a:t>Conclusion and next milestones</a:t>
            </a:r>
          </a:p>
        </p:txBody>
      </p:sp>
      <p:sp>
        <p:nvSpPr>
          <p:cNvPr id="3" name="">
            <a:extLst xmlns:a="http://schemas.openxmlformats.org/drawingml/2006/main">
              <a:ext uri="{FF2B5EF4-FFF2-40B4-BE49-F238E27FC236}">
                <a16:creationId xmlns:a16="http://schemas.microsoft.com/office/drawing/2014/main" id="{BA17DEB7-E593-44AB-8D22-C6356583F0C8}"/>
              </a:ext>
            </a:extLst>
          </p:cNvPr>
          <p:cNvSpPr>
            <a:spLocks xmlns:a="http://schemas.openxmlformats.org/drawingml/2006/main" noGrp="1"/>
          </p:cNvSpPr>
          <p:nvPr/>
        </p:nvSpPr>
        <p:spPr>
          <a:xfrm xmlns:a="http://schemas.openxmlformats.org/drawingml/2006/main">
            <a:off x="609600" y="1238250"/>
            <a:ext cx="10934700" cy="0"/>
          </a:xfrm>
          <a:prstGeom xmlns:a="http://schemas.openxmlformats.org/drawingml/2006/main" prst="line">
            <a:avLst/>
          </a:prstGeom>
          <a:noFill xmlns:a="http://schemas.openxmlformats.org/drawingml/2006/main"/>
          <a:ln xmlns:a="http://schemas.openxmlformats.org/drawingml/2006/main" w="19050">
            <a:solidFill>
              <a:srgbClr val="18A69B"/>
            </a:solidFill>
          </a:ln>
        </p:spPr>
      </p:sp>
      <p:sp>
        <p:nvSpPr>
          <p:cNvPr id="4" name="">
            <a:extLst xmlns:a="http://schemas.openxmlformats.org/drawingml/2006/main">
              <a:ext uri="{FF2B5EF4-FFF2-40B4-BE49-F238E27FC236}">
                <a16:creationId xmlns:a16="http://schemas.microsoft.com/office/drawing/2014/main" id="{341FE588-7C3F-4116-A328-416E8D85FE49}"/>
              </a:ext>
            </a:extLst>
          </p:cNvPr>
          <p:cNvSpPr>
            <a:spLocks xmlns:a="http://schemas.openxmlformats.org/drawingml/2006/main" noGrp="1"/>
          </p:cNvSpPr>
          <p:nvPr/>
        </p:nvSpPr>
        <p:spPr>
          <a:xfrm xmlns:a="http://schemas.openxmlformats.org/drawingml/2006/main">
            <a:off x="609600" y="6515100"/>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900" b="0">
                <a:solidFill>
                  <a:srgbClr val="526977"/>
                </a:solidFill>
                <a:latin typeface="Arial"/>
                <a:ea typeface="Arial"/>
                <a:cs typeface="Arial"/>
              </a:defRPr>
            </a:pPr>
            <a:r>
              <a:rPr sz="900" b="0">
                <a:solidFill>
                  <a:srgbClr val="526977"/>
                </a:solidFill>
                <a:latin typeface="Arial"/>
                <a:ea typeface="Arial"/>
                <a:cs typeface="Arial"/>
              </a:rPr>
              <a:t>Notebook + verified run HMC-N1N2-20261007</a:t>
            </a:r>
          </a:p>
        </p:txBody>
      </p:sp>
      <p:sp>
        <p:nvSpPr>
          <p:cNvPr id="5" name="">
            <a:extLst xmlns:a="http://schemas.openxmlformats.org/drawingml/2006/main">
              <a:ext uri="{FF2B5EF4-FFF2-40B4-BE49-F238E27FC236}">
                <a16:creationId xmlns:a16="http://schemas.microsoft.com/office/drawing/2014/main" id="{96B13D83-29CF-4B51-8CC5-266BFA87417C}"/>
              </a:ext>
            </a:extLst>
          </p:cNvPr>
          <p:cNvSpPr>
            <a:spLocks xmlns:a="http://schemas.openxmlformats.org/drawingml/2006/main" noGrp="1"/>
          </p:cNvSpPr>
          <p:nvPr/>
        </p:nvSpPr>
        <p:spPr>
          <a:xfrm xmlns:a="http://schemas.openxmlformats.org/drawingml/2006/main">
            <a:off x="11220450" y="651510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900" b="0">
                <a:solidFill>
                  <a:srgbClr val="526977"/>
                </a:solidFill>
                <a:latin typeface="Arial"/>
                <a:ea typeface="Arial"/>
                <a:cs typeface="Arial"/>
              </a:defRPr>
            </a:pPr>
            <a:r>
              <a:rPr sz="900" b="0">
                <a:solidFill>
                  <a:srgbClr val="526977"/>
                </a:solidFill>
                <a:latin typeface="Arial"/>
                <a:ea typeface="Arial"/>
                <a:cs typeface="Arial"/>
              </a:rPr>
              <a:t>13 / 13</a:t>
            </a:r>
          </a:p>
        </p:txBody>
      </p:sp>
      <p:sp>
        <p:nvSpPr>
          <p:cNvPr id="6" name="">
            <a:extLst xmlns:a="http://schemas.openxmlformats.org/drawingml/2006/main">
              <a:ext uri="{FF2B5EF4-FFF2-40B4-BE49-F238E27FC236}">
                <a16:creationId xmlns:a16="http://schemas.microsoft.com/office/drawing/2014/main" id="{6DC7C425-965E-4A4C-AB2A-6095653403AA}"/>
              </a:ext>
            </a:extLst>
          </p:cNvPr>
          <p:cNvSpPr>
            <a:spLocks xmlns:a="http://schemas.openxmlformats.org/drawingml/2006/main" noGrp="1"/>
          </p:cNvSpPr>
          <p:nvPr/>
        </p:nvSpPr>
        <p:spPr>
          <a:xfrm xmlns:a="http://schemas.openxmlformats.org/drawingml/2006/main">
            <a:off x="609600" y="16954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75" b="1">
                <a:solidFill>
                  <a:srgbClr val="18A69B"/>
                </a:solidFill>
                <a:latin typeface="Arial"/>
                <a:ea typeface="Arial"/>
                <a:cs typeface="Arial"/>
              </a:defRPr>
            </a:pPr>
            <a:r>
              <a:rPr sz="2175" b="1">
                <a:solidFill>
                  <a:srgbClr val="18A69B"/>
                </a:solidFill>
                <a:latin typeface="Arial"/>
                <a:ea typeface="Arial"/>
                <a:cs typeface="Arial"/>
              </a:rPr>
              <a:t>What is demonstrated</a:t>
            </a:r>
          </a:p>
        </p:txBody>
      </p:sp>
      <p:sp>
        <p:nvSpPr>
          <p:cNvPr id="7" name="">
            <a:extLst xmlns:a="http://schemas.openxmlformats.org/drawingml/2006/main">
              <a:ext uri="{FF2B5EF4-FFF2-40B4-BE49-F238E27FC236}">
                <a16:creationId xmlns:a16="http://schemas.microsoft.com/office/drawing/2014/main" id="{8F175AD2-5F1A-4A6B-9994-8152C7727C03}"/>
              </a:ext>
            </a:extLst>
          </p:cNvPr>
          <p:cNvSpPr>
            <a:spLocks xmlns:a="http://schemas.openxmlformats.org/drawingml/2006/main" noGrp="1"/>
          </p:cNvSpPr>
          <p:nvPr/>
        </p:nvSpPr>
        <p:spPr>
          <a:xfrm xmlns:a="http://schemas.openxmlformats.org/drawingml/2006/main">
            <a:off x="609600" y="2390775"/>
            <a:ext cx="50768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75" b="1">
                <a:solidFill>
                  <a:srgbClr val="102E49"/>
                </a:solidFill>
                <a:latin typeface="Arial"/>
                <a:ea typeface="Arial"/>
                <a:cs typeface="Arial"/>
              </a:defRPr>
            </a:pPr>
            <a:r>
              <a:rPr sz="2175" b="1">
                <a:solidFill>
                  <a:srgbClr val="102E49"/>
                </a:solidFill>
                <a:latin typeface="Arial"/>
                <a:ea typeface="Arial"/>
                <a:cs typeface="Arial"/>
              </a:rPr>
              <a:t>Spectral features improve</a:t>
            </a:r>
          </a:p>
          <a:p xmlns:a="http://schemas.openxmlformats.org/drawingml/2006/main">
            <a:pPr algn="l">
              <a:buNone/>
              <a:defRPr sz="2175" b="1">
                <a:solidFill>
                  <a:srgbClr val="102E49"/>
                </a:solidFill>
                <a:latin typeface="Arial"/>
                <a:ea typeface="Arial"/>
                <a:cs typeface="Arial"/>
              </a:defRPr>
            </a:pPr>
            <a:r>
              <a:rPr sz="2175" b="1">
                <a:solidFill>
                  <a:srgbClr val="102E49"/>
                </a:solidFill>
                <a:latin typeface="Arial"/>
                <a:ea typeface="Arial"/>
                <a:cs typeface="Arial"/>
              </a:rPr>
              <a:t>N1/N2 discrimination</a:t>
            </a:r>
          </a:p>
          <a:p xmlns:a="http://schemas.openxmlformats.org/drawingml/2006/main">
            <a:pPr algn="l">
              <a:buNone/>
              <a:defRPr sz="2175" b="1">
                <a:solidFill>
                  <a:srgbClr val="102E49"/>
                </a:solidFill>
                <a:latin typeface="Arial"/>
                <a:ea typeface="Arial"/>
                <a:cs typeface="Arial"/>
              </a:defRPr>
            </a:pPr>
            <a:r>
              <a:rPr sz="2175" b="1">
                <a:solidFill>
                  <a:srgbClr val="102E49"/>
                </a:solidFill>
                <a:latin typeface="Arial"/>
                <a:ea typeface="Arial"/>
                <a:cs typeface="Arial"/>
              </a:rPr>
              <a:t>in the current experiment.</a:t>
            </a:r>
          </a:p>
        </p:txBody>
      </p:sp>
      <p:sp>
        <p:nvSpPr>
          <p:cNvPr id="8" name="">
            <a:extLst xmlns:a="http://schemas.openxmlformats.org/drawingml/2006/main">
              <a:ext uri="{FF2B5EF4-FFF2-40B4-BE49-F238E27FC236}">
                <a16:creationId xmlns:a16="http://schemas.microsoft.com/office/drawing/2014/main" id="{E194DBFF-4AF2-4739-88D0-7CD5336B4A81}"/>
              </a:ext>
            </a:extLst>
          </p:cNvPr>
          <p:cNvSpPr>
            <a:spLocks xmlns:a="http://schemas.openxmlformats.org/drawingml/2006/main" noGrp="1"/>
          </p:cNvSpPr>
          <p:nvPr/>
        </p:nvSpPr>
        <p:spPr>
          <a:xfrm xmlns:a="http://schemas.openxmlformats.org/drawingml/2006/main">
            <a:off x="609600" y="3629025"/>
            <a:ext cx="50768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102E49"/>
                </a:solidFill>
                <a:latin typeface="Arial"/>
                <a:ea typeface="Arial"/>
                <a:cs typeface="Arial"/>
              </a:defRPr>
            </a:pPr>
            <a:r>
              <a:rPr sz="1875" b="0">
                <a:solidFill>
                  <a:srgbClr val="102E49"/>
                </a:solidFill>
                <a:latin typeface="Arial"/>
                <a:ea typeface="Arial"/>
                <a:cs typeface="Arial"/>
              </a:rPr>
              <a:t>59.34% test accuracy; 59.51% macro F1.</a:t>
            </a:r>
          </a:p>
          <a:p xmlns:a="http://schemas.openxmlformats.org/drawingml/2006/main">
            <a:pPr algn="l">
              <a:buNone/>
              <a:defRPr sz="1875" b="0">
                <a:solidFill>
                  <a:srgbClr val="102E49"/>
                </a:solidFill>
                <a:latin typeface="Arial"/>
                <a:ea typeface="Arial"/>
                <a:cs typeface="Arial"/>
              </a:defRPr>
            </a:pPr>
            <a:r>
              <a:rPr sz="1875" b="0">
                <a:solidFill>
                  <a:srgbClr val="102E49"/>
                </a:solidFill>
                <a:latin typeface="Arial"/>
                <a:ea typeface="Arial"/>
                <a:cs typeface="Arial"/>
              </a:rPr>
              <a:t>A complete notebook-to-GUI pipeline</a:t>
            </a:r>
          </a:p>
          <a:p xmlns:a="http://schemas.openxmlformats.org/drawingml/2006/main">
            <a:pPr algn="l">
              <a:buNone/>
              <a:defRPr sz="1875" b="0">
                <a:solidFill>
                  <a:srgbClr val="102E49"/>
                </a:solidFill>
                <a:latin typeface="Arial"/>
                <a:ea typeface="Arial"/>
                <a:cs typeface="Arial"/>
              </a:defRPr>
            </a:pPr>
            <a:r>
              <a:rPr sz="1875" b="0">
                <a:solidFill>
                  <a:srgbClr val="102E49"/>
                </a:solidFill>
                <a:latin typeface="Arial"/>
                <a:ea typeface="Arial"/>
                <a:cs typeface="Arial"/>
              </a:rPr>
              <a:t>produces stage labels and profiles.</a:t>
            </a:r>
          </a:p>
        </p:txBody>
      </p:sp>
      <p:sp>
        <p:nvSpPr>
          <p:cNvPr id="9" name="">
            <a:extLst xmlns:a="http://schemas.openxmlformats.org/drawingml/2006/main">
              <a:ext uri="{FF2B5EF4-FFF2-40B4-BE49-F238E27FC236}">
                <a16:creationId xmlns:a16="http://schemas.microsoft.com/office/drawing/2014/main" id="{702BBC20-D3E8-40BD-AB6A-EE0E9468F408}"/>
              </a:ext>
            </a:extLst>
          </p:cNvPr>
          <p:cNvSpPr>
            <a:spLocks xmlns:a="http://schemas.openxmlformats.org/drawingml/2006/main" noGrp="1"/>
          </p:cNvSpPr>
          <p:nvPr/>
        </p:nvSpPr>
        <p:spPr>
          <a:xfrm xmlns:a="http://schemas.openxmlformats.org/drawingml/2006/main">
            <a:off x="609600" y="5305425"/>
            <a:ext cx="50768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0">
                <a:solidFill>
                  <a:srgbClr val="526977"/>
                </a:solidFill>
                <a:latin typeface="Arial"/>
                <a:ea typeface="Arial"/>
                <a:cs typeface="Arial"/>
              </a:defRPr>
            </a:pPr>
            <a:r>
              <a:rPr sz="1725" b="0">
                <a:solidFill>
                  <a:srgbClr val="526977"/>
                </a:solidFill>
                <a:latin typeface="Arial"/>
                <a:ea typeface="Arial"/>
                <a:cs typeface="Arial"/>
              </a:rPr>
              <a:t>Limits: 4 test recordings, partial SN001,</a:t>
            </a:r>
          </a:p>
          <a:p xmlns:a="http://schemas.openxmlformats.org/drawingml/2006/main">
            <a:pPr algn="l">
              <a:buNone/>
              <a:defRPr sz="1725" b="0">
                <a:solidFill>
                  <a:srgbClr val="526977"/>
                </a:solidFill>
                <a:latin typeface="Arial"/>
                <a:ea typeface="Arial"/>
                <a:cs typeface="Arial"/>
              </a:defRPr>
            </a:pPr>
            <a:r>
              <a:rPr sz="1725" b="0">
                <a:solidFill>
                  <a:srgbClr val="526977"/>
                </a:solidFill>
                <a:latin typeface="Arial"/>
                <a:ea typeface="Arial"/>
                <a:cs typeface="Arial"/>
              </a:rPr>
              <a:t>N1 F1 40.63%, no clinical validation.</a:t>
            </a:r>
          </a:p>
        </p:txBody>
      </p:sp>
      <p:sp>
        <p:nvSpPr>
          <p:cNvPr id="10" name="">
            <a:extLst xmlns:a="http://schemas.openxmlformats.org/drawingml/2006/main">
              <a:ext uri="{FF2B5EF4-FFF2-40B4-BE49-F238E27FC236}">
                <a16:creationId xmlns:a16="http://schemas.microsoft.com/office/drawing/2014/main" id="{372E7CAD-E952-48BB-BA74-B81162AF8FEF}"/>
              </a:ext>
            </a:extLst>
          </p:cNvPr>
          <p:cNvSpPr>
            <a:spLocks xmlns:a="http://schemas.openxmlformats.org/drawingml/2006/main" noGrp="1"/>
          </p:cNvSpPr>
          <p:nvPr/>
        </p:nvSpPr>
        <p:spPr>
          <a:xfrm xmlns:a="http://schemas.openxmlformats.org/drawingml/2006/main">
            <a:off x="6591300" y="1695450"/>
            <a:ext cx="4914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2175" b="1">
                <a:solidFill>
                  <a:srgbClr val="18A69B"/>
                </a:solidFill>
                <a:latin typeface="Arial"/>
                <a:ea typeface="Arial"/>
                <a:cs typeface="Arial"/>
              </a:defRPr>
            </a:pPr>
            <a:r>
              <a:rPr sz="2175" b="1">
                <a:solidFill>
                  <a:srgbClr val="18A69B"/>
                </a:solidFill>
                <a:latin typeface="Arial"/>
                <a:ea typeface="Arial"/>
                <a:cs typeface="Arial"/>
              </a:rPr>
              <a:t>Next milestones</a:t>
            </a:r>
          </a:p>
        </p:txBody>
      </p:sp>
      <p:sp>
        <p:nvSpPr>
          <p:cNvPr id="11" name="">
            <a:extLst xmlns:a="http://schemas.openxmlformats.org/drawingml/2006/main">
              <a:ext uri="{FF2B5EF4-FFF2-40B4-BE49-F238E27FC236}">
                <a16:creationId xmlns:a16="http://schemas.microsoft.com/office/drawing/2014/main" id="{B6BFFA03-1C20-4089-B268-BAC86216926B}"/>
              </a:ext>
            </a:extLst>
          </p:cNvPr>
          <p:cNvSpPr>
            <a:spLocks xmlns:a="http://schemas.openxmlformats.org/drawingml/2006/main" noGrp="1"/>
          </p:cNvSpPr>
          <p:nvPr/>
        </p:nvSpPr>
        <p:spPr>
          <a:xfrm xmlns:a="http://schemas.openxmlformats.org/drawingml/2006/main">
            <a:off x="6591300" y="2390775"/>
            <a:ext cx="49149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102E49"/>
                </a:solidFill>
                <a:latin typeface="Arial"/>
                <a:ea typeface="Arial"/>
                <a:cs typeface="Arial"/>
              </a:defRPr>
            </a:pPr>
            <a:r>
              <a:rPr sz="1875" b="0">
                <a:solidFill>
                  <a:srgbClr val="102E49"/>
                </a:solidFill>
                <a:latin typeface="Arial"/>
                <a:ea typeface="Arial"/>
                <a:cs typeface="Arial"/>
              </a:rPr>
              <a:t>01  Audit full EDF alignment and quality;</a:t>
            </a:r>
          </a:p>
          <a:p xmlns:a="http://schemas.openxmlformats.org/drawingml/2006/main">
            <a:pPr algn="l">
              <a:buNone/>
              <a:defRPr sz="1875" b="0">
                <a:solidFill>
                  <a:srgbClr val="102E49"/>
                </a:solidFill>
                <a:latin typeface="Arial"/>
                <a:ea typeface="Arial"/>
                <a:cs typeface="Arial"/>
              </a:defRPr>
            </a:pPr>
            <a:r>
              <a:rPr sz="1875" b="0">
                <a:solidFill>
                  <a:srgbClr val="102E49"/>
                </a:solidFill>
                <a:latin typeface="Arial"/>
                <a:ea typeface="Arial"/>
                <a:cs typeface="Arial"/>
              </a:rPr>
              <a:t>       reserve a new locked test cohort.</a:t>
            </a:r>
          </a:p>
        </p:txBody>
      </p:sp>
      <p:sp>
        <p:nvSpPr>
          <p:cNvPr id="12" name="">
            <a:extLst xmlns:a="http://schemas.openxmlformats.org/drawingml/2006/main">
              <a:ext uri="{FF2B5EF4-FFF2-40B4-BE49-F238E27FC236}">
                <a16:creationId xmlns:a16="http://schemas.microsoft.com/office/drawing/2014/main" id="{0F86E9A1-8DF3-4D3A-9992-A84A74178445}"/>
              </a:ext>
            </a:extLst>
          </p:cNvPr>
          <p:cNvSpPr>
            <a:spLocks xmlns:a="http://schemas.openxmlformats.org/drawingml/2006/main" noGrp="1"/>
          </p:cNvSpPr>
          <p:nvPr/>
        </p:nvSpPr>
        <p:spPr>
          <a:xfrm xmlns:a="http://schemas.openxmlformats.org/drawingml/2006/main">
            <a:off x="6591300" y="3409950"/>
            <a:ext cx="49149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102E49"/>
                </a:solidFill>
                <a:latin typeface="Arial"/>
                <a:ea typeface="Arial"/>
                <a:cs typeface="Arial"/>
              </a:defRPr>
            </a:pPr>
            <a:r>
              <a:rPr sz="1875" b="0">
                <a:solidFill>
                  <a:srgbClr val="102E49"/>
                </a:solidFill>
                <a:latin typeface="Arial"/>
                <a:ea typeface="Arial"/>
                <a:cs typeface="Arial"/>
              </a:rPr>
              <a:t>02  Compare experts, soft fusion and TCN</a:t>
            </a:r>
          </a:p>
          <a:p xmlns:a="http://schemas.openxmlformats.org/drawingml/2006/main">
            <a:pPr algn="l">
              <a:buNone/>
              <a:defRPr sz="1875" b="0">
                <a:solidFill>
                  <a:srgbClr val="102E49"/>
                </a:solidFill>
                <a:latin typeface="Arial"/>
                <a:ea typeface="Arial"/>
                <a:cs typeface="Arial"/>
              </a:defRPr>
            </a:pPr>
            <a:r>
              <a:rPr sz="1875" b="0">
                <a:solidFill>
                  <a:srgbClr val="102E49"/>
                </a:solidFill>
                <a:latin typeface="Arial"/>
                <a:ea typeface="Arial"/>
                <a:cs typeface="Arial"/>
              </a:rPr>
              <a:t>       through controlled ablations.</a:t>
            </a:r>
          </a:p>
        </p:txBody>
      </p:sp>
      <p:sp>
        <p:nvSpPr>
          <p:cNvPr id="13" name="">
            <a:extLst xmlns:a="http://schemas.openxmlformats.org/drawingml/2006/main">
              <a:ext uri="{FF2B5EF4-FFF2-40B4-BE49-F238E27FC236}">
                <a16:creationId xmlns:a16="http://schemas.microsoft.com/office/drawing/2014/main" id="{ED48A36B-27E7-4C31-A251-73D9F96568C0}"/>
              </a:ext>
            </a:extLst>
          </p:cNvPr>
          <p:cNvSpPr>
            <a:spLocks xmlns:a="http://schemas.openxmlformats.org/drawingml/2006/main" noGrp="1"/>
          </p:cNvSpPr>
          <p:nvPr/>
        </p:nvSpPr>
        <p:spPr>
          <a:xfrm xmlns:a="http://schemas.openxmlformats.org/drawingml/2006/main">
            <a:off x="6591300" y="4429125"/>
            <a:ext cx="49149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102E49"/>
                </a:solidFill>
                <a:latin typeface="Arial"/>
                <a:ea typeface="Arial"/>
                <a:cs typeface="Arial"/>
              </a:defRPr>
            </a:pPr>
            <a:r>
              <a:rPr sz="1875" b="0">
                <a:solidFill>
                  <a:srgbClr val="102E49"/>
                </a:solidFill>
                <a:latin typeface="Arial"/>
                <a:ea typeface="Arial"/>
                <a:cs typeface="Arial"/>
              </a:rPr>
              <a:t>03  Evaluate calibration, external data</a:t>
            </a:r>
          </a:p>
          <a:p xmlns:a="http://schemas.openxmlformats.org/drawingml/2006/main">
            <a:pPr algn="l">
              <a:buNone/>
              <a:defRPr sz="1875" b="0">
                <a:solidFill>
                  <a:srgbClr val="102E49"/>
                </a:solidFill>
                <a:latin typeface="Arial"/>
                <a:ea typeface="Arial"/>
                <a:cs typeface="Arial"/>
              </a:defRPr>
            </a:pPr>
            <a:r>
              <a:rPr sz="1875" b="0">
                <a:solidFill>
                  <a:srgbClr val="102E49"/>
                </a:solidFill>
                <a:latin typeface="Arial"/>
                <a:ea typeface="Arial"/>
                <a:cs typeface="Arial"/>
              </a:rPr>
              <a:t>       and biomarker errors; add modalities.</a:t>
            </a:r>
          </a:p>
        </p:txBody>
      </p:sp>
      <p:sp>
        <p:nvSpPr>
          <p:cNvPr id="14" name="">
            <a:extLst xmlns:a="http://schemas.openxmlformats.org/drawingml/2006/main">
              <a:ext uri="{FF2B5EF4-FFF2-40B4-BE49-F238E27FC236}">
                <a16:creationId xmlns:a16="http://schemas.microsoft.com/office/drawing/2014/main" id="{B1063E6F-0A85-4CB7-96CE-897D3FC1E218}"/>
              </a:ext>
            </a:extLst>
          </p:cNvPr>
          <p:cNvSpPr>
            <a:spLocks xmlns:a="http://schemas.openxmlformats.org/drawingml/2006/main" noGrp="1"/>
          </p:cNvSpPr>
          <p:nvPr/>
        </p:nvSpPr>
        <p:spPr>
          <a:xfrm xmlns:a="http://schemas.openxmlformats.org/drawingml/2006/main">
            <a:off x="6591300" y="5534025"/>
            <a:ext cx="4914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1">
                <a:solidFill>
                  <a:srgbClr val="18A69B"/>
                </a:solidFill>
                <a:latin typeface="Arial"/>
                <a:ea typeface="Arial"/>
                <a:cs typeface="Arial"/>
              </a:defRPr>
            </a:pPr>
            <a:r>
              <a:rPr sz="1650" b="1">
                <a:solidFill>
                  <a:srgbClr val="18A69B"/>
                </a:solidFill>
                <a:latin typeface="Arial"/>
                <a:ea typeface="Arial"/>
                <a:cs typeface="Arial"/>
              </a:rPr>
              <a:t>Evaluate macro F1, N1/N2 F1, calibration,</a:t>
            </a:r>
          </a:p>
          <a:p xmlns:a="http://schemas.openxmlformats.org/drawingml/2006/main">
            <a:pPr algn="l">
              <a:buNone/>
              <a:defRPr sz="1650" b="1">
                <a:solidFill>
                  <a:srgbClr val="18A69B"/>
                </a:solidFill>
                <a:latin typeface="Arial"/>
                <a:ea typeface="Arial"/>
                <a:cs typeface="Arial"/>
              </a:defRPr>
            </a:pPr>
            <a:r>
              <a:rPr sz="1650" b="1">
                <a:solidFill>
                  <a:srgbClr val="18A69B"/>
                </a:solidFill>
                <a:latin typeface="Arial"/>
                <a:ea typeface="Arial"/>
                <a:cs typeface="Arial"/>
              </a:rPr>
              <a:t>latency and errors in sleep biomarkers.</a:t>
            </a:r>
          </a:p>
        </p:txBody>
      </p:sp>
    </p:spTree>
    <p:extLst>
      <p:ext uri="{BB962C8B-B14F-4D97-AF65-F5344CB8AC3E}">
        <p14:creationId xmlns:p14="http://schemas.microsoft.com/office/powerpoint/2010/main" val="18301199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2026-10-08T11:43:42.0840000Z</dcterms:created>
  <dcterms:modified xsi:type="dcterms:W3CDTF">2026-10-08T11:43:42.0840000Z</dcterms:modified>
</coreProperties>
</file>