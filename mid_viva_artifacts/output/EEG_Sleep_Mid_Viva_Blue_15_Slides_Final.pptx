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35615b23c414024" /><Relationship Type="http://schemas.openxmlformats.org/officeDocument/2006/relationships/extended-properties" Target="/docProps/app.xml" Id="R2cf3218871614253" /><Relationship Type="http://schemas.openxmlformats.org/officeDocument/2006/relationships/officeDocument" Target="/ppt/presentation.xml" Id="R3cad38a84fa5497f" /></Relationships>
</file>

<file path=ppt/presentation.xml><?xml version="1.0" encoding="utf-8"?>
<p:presentation xmlns:p="http://schemas.openxmlformats.org/presentationml/2006/main">
  <p:sldMasterIdLst>
    <p:sldMasterId xmlns:r="http://schemas.openxmlformats.org/officeDocument/2006/relationships" id="2147483648" r:id="Re4ab40ccd3ee42d2"/>
  </p:sldMasterIdLst>
  <p:notesMasterIdLst>
    <p:notesMasterId xmlns:r="http://schemas.openxmlformats.org/officeDocument/2006/relationships" r:id="R042033148b134777"/>
  </p:notesMasterIdLst>
  <p:sldIdLst>
    <p:sldId xmlns:r="http://schemas.openxmlformats.org/officeDocument/2006/relationships" id="256" r:id="R29fb0638e807462c"/>
    <p:sldId xmlns:r="http://schemas.openxmlformats.org/officeDocument/2006/relationships" id="257" r:id="R43acd329aa074d1d"/>
    <p:sldId xmlns:r="http://schemas.openxmlformats.org/officeDocument/2006/relationships" id="258" r:id="Rb517845e497e4c2c"/>
    <p:sldId xmlns:r="http://schemas.openxmlformats.org/officeDocument/2006/relationships" id="259" r:id="Readc08f7b2134e47"/>
    <p:sldId xmlns:r="http://schemas.openxmlformats.org/officeDocument/2006/relationships" id="260" r:id="R38ce799f4244491d"/>
    <p:sldId xmlns:r="http://schemas.openxmlformats.org/officeDocument/2006/relationships" id="261" r:id="Rceae516a07b74163"/>
    <p:sldId xmlns:r="http://schemas.openxmlformats.org/officeDocument/2006/relationships" id="262" r:id="Rec1b6476c01f4025"/>
    <p:sldId xmlns:r="http://schemas.openxmlformats.org/officeDocument/2006/relationships" id="263" r:id="Rfb0c9aee13824aac"/>
    <p:sldId xmlns:r="http://schemas.openxmlformats.org/officeDocument/2006/relationships" id="264" r:id="Rde0764e45d3e4089"/>
    <p:sldId xmlns:r="http://schemas.openxmlformats.org/officeDocument/2006/relationships" id="265" r:id="R12adbc83312a439b"/>
    <p:sldId xmlns:r="http://schemas.openxmlformats.org/officeDocument/2006/relationships" id="266" r:id="R4a4c7fa247e64dcd"/>
    <p:sldId xmlns:r="http://schemas.openxmlformats.org/officeDocument/2006/relationships" id="267" r:id="Re0d3d61cd34e4b95"/>
    <p:sldId xmlns:r="http://schemas.openxmlformats.org/officeDocument/2006/relationships" id="268" r:id="Re5655185783a46fa"/>
    <p:sldId xmlns:r="http://schemas.openxmlformats.org/officeDocument/2006/relationships" id="269" r:id="R52500f54777d4874"/>
    <p:sldId xmlns:r="http://schemas.openxmlformats.org/officeDocument/2006/relationships" id="270" r:id="R4f5b4f9ad81f4d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c8691c8dc75465f" /><Relationship Type="http://schemas.openxmlformats.org/officeDocument/2006/relationships/slideMaster" Target="/ppt/slideMasters/slideMaster1.xml" Id="Re4ab40ccd3ee42d2" /><Relationship Type="http://schemas.openxmlformats.org/officeDocument/2006/relationships/notesMaster" Target="/ppt/notesMasters/notesMaster1.xml" Id="R042033148b134777" /><Relationship Type="http://schemas.openxmlformats.org/officeDocument/2006/relationships/presProps" Target="/ppt/presProps.xml" Id="R646aef2418d7415d" /><Relationship Type="http://schemas.openxmlformats.org/officeDocument/2006/relationships/viewProps" Target="/ppt/viewProps.xml" Id="R48441e1979494b1b" /><Relationship Type="http://schemas.openxmlformats.org/officeDocument/2006/relationships/tableStyles" Target="/ppt/tableStyles.xml" Id="Rbeb3697efbaf41b2" /><Relationship Type="http://schemas.openxmlformats.org/officeDocument/2006/relationships/slide" Target="/ppt/slides/slide1.xml" Id="R29fb0638e807462c" /><Relationship Type="http://schemas.openxmlformats.org/officeDocument/2006/relationships/slide" Target="/ppt/slides/slide2.xml" Id="R43acd329aa074d1d" /><Relationship Type="http://schemas.openxmlformats.org/officeDocument/2006/relationships/slide" Target="/ppt/slides/slide3.xml" Id="Rb517845e497e4c2c" /><Relationship Type="http://schemas.openxmlformats.org/officeDocument/2006/relationships/slide" Target="/ppt/slides/slide4.xml" Id="Readc08f7b2134e47" /><Relationship Type="http://schemas.openxmlformats.org/officeDocument/2006/relationships/slide" Target="/ppt/slides/slide5.xml" Id="R38ce799f4244491d" /><Relationship Type="http://schemas.openxmlformats.org/officeDocument/2006/relationships/slide" Target="/ppt/slides/slide6.xml" Id="Rceae516a07b74163" /><Relationship Type="http://schemas.openxmlformats.org/officeDocument/2006/relationships/slide" Target="/ppt/slides/slide7.xml" Id="Rec1b6476c01f4025" /><Relationship Type="http://schemas.openxmlformats.org/officeDocument/2006/relationships/slide" Target="/ppt/slides/slide8.xml" Id="Rfb0c9aee13824aac" /><Relationship Type="http://schemas.openxmlformats.org/officeDocument/2006/relationships/slide" Target="/ppt/slides/slide9.xml" Id="Rde0764e45d3e4089" /><Relationship Type="http://schemas.openxmlformats.org/officeDocument/2006/relationships/slide" Target="/ppt/slides/slide10.xml" Id="R12adbc83312a439b" /><Relationship Type="http://schemas.openxmlformats.org/officeDocument/2006/relationships/slide" Target="/ppt/slides/slide11.xml" Id="R4a4c7fa247e64dcd" /><Relationship Type="http://schemas.openxmlformats.org/officeDocument/2006/relationships/slide" Target="/ppt/slides/slide12.xml" Id="Re0d3d61cd34e4b95" /><Relationship Type="http://schemas.openxmlformats.org/officeDocument/2006/relationships/slide" Target="/ppt/slides/slide13.xml" Id="Re5655185783a46fa" /><Relationship Type="http://schemas.openxmlformats.org/officeDocument/2006/relationships/slide" Target="/ppt/slides/slide14.xml" Id="R52500f54777d4874" /><Relationship Type="http://schemas.openxmlformats.org/officeDocument/2006/relationships/slide" Target="/ppt/slides/slide15.xml" Id="R4f5b4f9ad81f4d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699ddc97e4547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618e53e8b8455b" /><Relationship Type="http://schemas.openxmlformats.org/officeDocument/2006/relationships/notesMaster" Target="/ppt/notesMasters/notesMaster1.xml" Id="R46b8cb8f13624471" /></Relationships>
</file>

<file path=ppt/notesSlides/_rels/notesSlide2.xml.rels>&#65279;<?xml version="1.0" encoding="utf-8"?><Relationships xmlns="http://schemas.openxmlformats.org/package/2006/relationships"><Relationship Type="http://schemas.openxmlformats.org/officeDocument/2006/relationships/slide" Target="/ppt/slides/slide2.xml" Id="R30f90739249e471b" /><Relationship Type="http://schemas.openxmlformats.org/officeDocument/2006/relationships/notesMaster" Target="/ppt/notesMasters/notesMaster1.xml" Id="R625d89fe2a7945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f701102ec943c9" /><Relationship Type="http://schemas.openxmlformats.org/officeDocument/2006/relationships/notesMaster" Target="/ppt/notesMasters/notesMaster1.xml" Id="R3d025e2262f54c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b7f1c30901f4333" /><Relationship Type="http://schemas.openxmlformats.org/officeDocument/2006/relationships/notesMaster" Target="/ppt/notesMasters/notesMaster1.xml" Id="R7203a009d92b47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900782150641c8" /><Relationship Type="http://schemas.openxmlformats.org/officeDocument/2006/relationships/notesMaster" Target="/ppt/notesMasters/notesMaster1.xml" Id="Re56d48f003bc4a2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98d0a7019f4fd0" /><Relationship Type="http://schemas.openxmlformats.org/officeDocument/2006/relationships/notesMaster" Target="/ppt/notesMasters/notesMaster1.xml" Id="R6e1fa6b801424b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85dd360132964d24" /><Relationship Type="http://schemas.openxmlformats.org/officeDocument/2006/relationships/notesMaster" Target="/ppt/notesMasters/notesMaster1.xml" Id="R2b3e5e71b50842e9" /></Relationships>
</file>

<file path=ppt/notesSlides/_rels/notesSlide8.xml.rels>&#65279;<?xml version="1.0" encoding="utf-8"?><Relationships xmlns="http://schemas.openxmlformats.org/package/2006/relationships"><Relationship Type="http://schemas.openxmlformats.org/officeDocument/2006/relationships/slide" Target="/ppt/slides/slide8.xml" Id="R992027df5186486a" /><Relationship Type="http://schemas.openxmlformats.org/officeDocument/2006/relationships/notesMaster" Target="/ppt/notesMasters/notesMaster1.xml" Id="Rde720726a146411e" /></Relationships>
</file>

<file path=ppt/notesSlides/_rels/notesSlide9.xml.rels>&#65279;<?xml version="1.0" encoding="utf-8"?><Relationships xmlns="http://schemas.openxmlformats.org/package/2006/relationships"><Relationship Type="http://schemas.openxmlformats.org/officeDocument/2006/relationships/slide" Target="/ppt/slides/slide9.xml" Id="R287cb94792904be6" /><Relationship Type="http://schemas.openxmlformats.org/officeDocument/2006/relationships/notesMaster" Target="/ppt/notesMasters/notesMaster1.xml" Id="R8464bae1a8ed4aa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c2a902c96854aa6" /><Relationship Type="http://schemas.openxmlformats.org/officeDocument/2006/relationships/notesMaster" Target="/ppt/notesMasters/notesMaster1.xml" Id="R592d99f0b1ed427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61f61002b9b4b5e" /><Relationship Type="http://schemas.openxmlformats.org/officeDocument/2006/relationships/notesMaster" Target="/ppt/notesMasters/notesMaster1.xml" Id="R924e51e02e5e458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857641d9de4f05" /><Relationship Type="http://schemas.openxmlformats.org/officeDocument/2006/relationships/notesMaster" Target="/ppt/notesMasters/notesMaster1.xml" Id="Raf5073e0f9f14c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27c461314d845d4" /><Relationship Type="http://schemas.openxmlformats.org/officeDocument/2006/relationships/notesMaster" Target="/ppt/notesMasters/notesMaster1.xml" Id="R85fd47977a9b48f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7de948bf6534d40" /><Relationship Type="http://schemas.openxmlformats.org/officeDocument/2006/relationships/notesMaster" Target="/ppt/notesMasters/notesMaster1.xml" Id="Rc20ad58241ce466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9491a297a714333" /><Relationship Type="http://schemas.openxmlformats.org/officeDocument/2006/relationships/notesMaster" Target="/ppt/notesMasters/notesMaster1.xml" Id="Rc18043c0159b442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Our project classifies five sleep stages, adds a targeted spectral refiner for N1/N2, and derives descriptive recording profiles. This is a progress presentation. The main implementation is the biomarker N1/N2 refinement notebook. Names and institutional details are retained from the existing deck.</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Background: sleep staging supports descriptive sleep architecture; the project does not diagnose disorders. Method: the saved Fast SCFormer-U classifier uses four-channel 100 Hz EEG, 30-second epochs, with Conv1D, self-attention and BiLSTM within an epoch. The refinement uses nine spectral features, StandardScaler and balanced logistic regression; training uses training recordings only and inference gates on predicted N1/N2. Results are measured on the identical 3,109 held-out epochs: accuracy 55.4519% to 59.3438% (+3.89 percentage points); macro-F1 57.4155% to 59.5122% (+2.10 percentage points). Future work is proposed, not implemented: hierarchical coarse and NREM experts, probabilistic composition, optional baseline fusion, temporal context and external validation. Sources: Biomarker_N1_N2_Refinement.ipynb; refinement_artifacts/verified/final_results.json.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project exists: Sleep supports learning, memory and physical health. Time asleep does not describe interruptions or stage distribution. Sleep staging creates a hypnogram and enables onset, Wake after sleep onset, stage durations and stage proportions to be measured. These measurements describe sleep organization and can support research and expert sleep-study review.</a:t>
            </a:r>
          </a:p>
          <a:p xmlns:a="http://schemas.openxmlformats.org/drawingml/2006/main">
            <a:r>
              <a:t/>
            </a:r>
          </a:p>
          <a:p xmlns:a="http://schemas.openxmlformats.org/drawingml/2006/main">
            <a:r>
              <a:t>Why choose this engineering project: EEG provides brain activity used in staging; the public HMC dataset provides expert labels for reproducible testing. Our saved baseline has 506 true N2 epochs predicted as N1, giving a specific, measurable weakness to investigate with complementary spectral features. N1/N2 errors can distort their proportions and transition counts. Relabeling between two sleep stages does not change total sleep time or efficiency. This is the reason for targeted refinement rather than a general claim of improving every aspect of sleep quality.</a:t>
            </a:r>
          </a:p>
          <a:p xmlns:a="http://schemas.openxmlformats.org/drawingml/2006/main">
            <a:r>
              <a:t/>
            </a:r>
          </a:p>
          <a:p xmlns:a="http://schemas.openxmlformats.org/drawingml/2006/main">
            <a:r>
              <a:t>Potential users: researchers analyzing recordings and, after suitable external and clinical validation, experts reviewing sleep studies. Automation could reduce repetitive scoring work; this project has not measured clinician time savings or demonstrated clinical utility. It does not infer apnea, diagnose disease, or prescribe treatment. Those tasks require appropriate additional measurements and validation. Research reference profiles are not healthy normative judgments.</a:t>
            </a:r>
          </a:p>
          <a:p xmlns:a="http://schemas.openxmlformats.org/drawingml/2006/main">
            <a:r>
              <a:t/>
            </a:r>
          </a:p>
          <a:p xmlns:a="http://schemas.openxmlformats.org/drawingml/2006/main">
            <a:r>
              <a:t>Sources:</a:t>
            </a:r>
          </a:p>
          <a:p xmlns:a="http://schemas.openxmlformats.org/drawingml/2006/main">
            <a:r>
              <a:t>https://www.nhlbi.nih.gov/health/sleep/why-sleep-important</a:t>
            </a:r>
          </a:p>
          <a:p xmlns:a="http://schemas.openxmlformats.org/drawingml/2006/main">
            <a:r>
              <a:t>https://www.nhlbi.nih.gov/health/sleep/stages-of-sleep</a:t>
            </a:r>
          </a:p>
          <a:p xmlns:a="http://schemas.openxmlformats.org/drawingml/2006/main">
            <a:r>
              <a:t>https://www.nature.com/articles/s41746-021-00440-5</a:t>
            </a:r>
          </a:p>
          <a:p xmlns:a="http://schemas.openxmlformats.org/drawingml/2006/main">
            <a:r>
              <a:t>https://physionet.org/content/hmc-sleep-staging/1.1/</a:t>
            </a:r>
          </a:p>
          <a:p xmlns:a="http://schemas.openxmlformats.org/drawingml/2006/main">
            <a:r>
              <a:t>Biomarker_N1_N2_Refinement.ipynb; refinement_artifacts/verified/final_results.json and confusion matrices.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N1, N2 and N3 are stages of non-REM sleep, and REM is the other sleep phase. Wake is an additional class used to score awake epochs; it is not a sleep stage. A sleep cycle is a repeating combination of NREM and REM, not a synonym for one stage. The real sequence varies and can include returns to lighter stages and brief awakenings. The current system classifies 30-second epochs and displays their sequence; it does not separately validate or count complete physiological cycles.</a:t>
            </a:r>
          </a:p>
          <a:p xmlns:a="http://schemas.openxmlformats.org/drawingml/2006/main">
            <a:r>
              <a:t/>
            </a:r>
          </a:p>
          <a:p xmlns:a="http://schemas.openxmlformats.org/drawingml/2006/main">
            <a:r>
              <a:t>N1 is the transition into light sleep. N2 is light non-REM sleep with slower brain activity. N3 is deep slow-wave sleep and supports restoration. REM includes active brain activity, rapid eye movements and frequent vivid dreaming. N3 generally occupies more time early in the night; REM periods generally become longer later. Both non-REM and REM support learning and memory, so no single stage is a complete measure of sleep quality. Stage patterns vary with age and other factors. These are general physiology descriptions, not healthy threshold rules for this project. Eye movement and muscle tone are physiological characteristics; the current four-channel EEG classifier infers the stage and does not measure those signals directly.</a:t>
            </a:r>
          </a:p>
          <a:p xmlns:a="http://schemas.openxmlformats.org/drawingml/2006/main">
            <a:r>
              <a:t/>
            </a:r>
          </a:p>
          <a:p xmlns:a="http://schemas.openxmlformats.org/drawingml/2006/main">
            <a:r>
              <a:t>Practical link: Wake epochs yield sleep onset and interruptions; sleep labels yield stage time and architecture. Confusing N1 and N2 changes the estimated architecture, motivating our focused refinement. Classifying stages is a prerequisite for useful descriptive summaries, while evidence for diagnosis or treatment remains separate.</a:t>
            </a:r>
          </a:p>
          <a:p xmlns:a="http://schemas.openxmlformats.org/drawingml/2006/main">
            <a:r>
              <a:t/>
            </a:r>
          </a:p>
          <a:p xmlns:a="http://schemas.openxmlformats.org/drawingml/2006/main">
            <a:r>
              <a:t>Sources:</a:t>
            </a:r>
          </a:p>
          <a:p xmlns:a="http://schemas.openxmlformats.org/drawingml/2006/main">
            <a:r>
              <a:t>https://www.nhlbi.nih.gov/health/sleep/stages-of-sleep</a:t>
            </a:r>
          </a:p>
          <a:p xmlns:a="http://schemas.openxmlformats.org/drawingml/2006/main">
            <a:r>
              <a:t>https://www.nichd.nih.gov/health/topics/sleep/conditioninfo/Pages/what-happens.aspx</a:t>
            </a:r>
          </a:p>
          <a:p xmlns:a="http://schemas.openxmlformats.org/drawingml/2006/main">
            <a:r>
              <a:t>https://www.nhlbi.nih.gov/health/sleep/why-sleep-important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review: DeepSleepNet: a Model for Automatic Sleep Stage Scoring based on Raw Single-Channel EEG, Supratak et al., IEEE TNSRE 2017, DOI 10.1109/TNSRE.2017.2721116. SeqSleepNet: End-to-End Hierarchical Recurrent Neural Network for Sequence-to-Sequence Automatic Sleep Staging, Phan et al., IEEE TNSRE 2019, DOI 10.1109/TNSRE.2019.2896659. U-Sleep: resilient high-frequency sleep staging, Perslev et al., npj Digital Medicine 2021, DOI 10.1038/s41746-021-00440-5. RobustSleepNet: Transfer learning for automated sleep staging at scale, Guillot and Thorey, 2021. SLEEPYLAND: trust begins with fair evaluation of automatic sleep staging models, Dei Rossi et al., 2025 arXiv preprint. These papers motivate context, robust evaluation and soft fusion. Our proposed coarse/NREM hierarchy is an engineering hypothesis, not an implementation attributed to any of these papers. Different data, channels and evaluation protocols prevent score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https://arxiv.org/abs/1703.04046</a:t>
            </a:r>
          </a:p>
          <a:p xmlns:a="http://schemas.openxmlformats.org/drawingml/2006/main">
            <a:r>
              <a:t>https://arxiv.org/abs/1809.10932</a:t>
            </a:r>
          </a:p>
          <a:p xmlns:a="http://schemas.openxmlformats.org/drawingml/2006/main">
            <a:r>
              <a:t>https://arxiv.org/abs/2101.02452</a:t>
            </a:r>
          </a:p>
          <a:p xmlns:a="http://schemas.openxmlformats.org/drawingml/2006/main">
            <a:r>
              <a:t>https://www.nature.com/articles/s41746-021-00440-5</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PSG means polysomnography. HMC is a heterogeneous clinical population, not a healthy normative database. Four EEG derivations and original 256 Hz sampling are documented. We use a 24-recording subset, separated by recording ID into 16/4/4. IDs identify recordings; a repeated-person mapping is not provided, so person-level separation is not proven. Test IDs: SN001, SN004, SN009, SN022. EEG epoch is a temporal segment, whereas training epoch means one pass through the training data. Stored SN001 is a 95-minute segment. Dataset total is 15,216+3,619+3,109=21,944.</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pipeline order from preprocessing_config.json: selected four channels, notch 50 Hz at original sampling rate, bandpass 0.3–35 Hz, resample 100 Hz, epoch and channel normalization. The current refinement notebook loads stored preprocessed NPZ EEG and normalizes each epoch again for neural inference; spectral extraction uses stored EEG before that second normalization. Automatic artifact rejection was not established in the source preprocessing; explicit quality gates are future work. Existing example metadata: SN009, F4-M1, index 10, 300–330 seconds, raw 256 Hz, processed 100 Hz; saved/reprocessed difference 0.0. These figures are retained as explanatory signal evidence from ppt_artifacts, not as evidence for the current numerical comparison.</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path left to right: stored input, retained five-stage model, targeted N1/N2 refinement, final labels. Welch features support the refiner (shown explicitly on slide 8) and recording EEG means. Final labels produce architecture metrics. Both architecture and spectral means join the recording profile; the lower connector carries architecture into that profile. Ten architecture metrics determine four domain flags; EEG deviations are displayed separately. The training reference uses only 16 training recordings. The resulting profile is descriptive, not a diagnosis.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verified against model_layers.csv and saved checkpoint: first convolution kernel 7/stride 4, second kernel 5/stride 4, 64 and 128 filters; 4-head attention with key dimension 16, residual normalization/feed-forward layers; within-epoch bidirectional LSTM, 64 units in each direction; pooling, dense and five softplus evidence outputs. 226,309 total parameters. Dirichlet alpha=evidence+1; probability alpha/sum(alpha); original uncertainty=5/sum(alpha). Training chart is the saved historical training log for this retained model, not a new run. Ten maximum and actual training epochs, checkpoint selected at 9 by validation evidential accuracy (67.97%). No automatic scheduler in final training cell. The biomarker notebook loads the checkpoint and fits the refiner without retraining this neural model.</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training gate from notebook cells 20–21: true labels AND baseline predictions in {N1,N2}. This produces 5,866 training candidates. Pipeline: StandardScaler then LogisticRegression(class_weight="balanced", max_iter=2000, random_state=42). At inference, ONLY the initial predicted label routes the epoch. Ground truth is never an inference input. Nine features: relative Delta/Theta/Alpha/Sigma/Beta plus Sigma/Delta, Theta/Delta, Alpha/Delta, Beta/Delta. Bands: [0.5,4), [4,8), [8,12), [12,16), [16,30) Hz. Welch at 100 Hz uses 400 samples/window and 200 overlap; total power [0.5,30). Four channel powers are averaged first. Sigma power does not measure spindle density. Original predicted Wake/N3/REM labels are kept; original neural probabilities and uncertainty are not recalibrated to the refined labels.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experiment HMC-N1N2-20261007 only. Raw/refined accuracy: 0.5545191379864909 / 0.5934384046317144; macro F1 0.5741553020766511 / 0.5951219684303188. N1 F1 0.3660403618649965 / 0.4063241106719368; N2 F1 0.571173583221776 / 0.6357231661831745. Accuracy gain 3.8919267 percentage points; macro F1 gain 2.0966666 percentage points, rounded once to 3.89/2.10. Corrections 154, degradations 33, wrong-to-wrong 51, unchanged 2,871, total 3,109. Of 238 changes, 121 are net additional correct. N2-to-N1 errors 506 to 379. N1 F1 gain 4.03 pp; N2 F1 gain 6.45 pp. Kappa 0.4253 to 0.4647. Per-stage Wake/N3/REM F1 remain unchanged because predictions of these stages are retained. Results are modest and limited to this small subset; not a comparison against the literature datasets.</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Hypnogram is the verified SN009 plot showing original and refined labels versus ground truth. SN009 has 901 epochs. Dashboard screenshot is from the current verified GUI; it demonstrates implemented outputs rather than a mockup. Master features have recording ID + 22 numeric fields; compare 21 fields after excluding recording_minutes. Architecture metrics include TST, efficiency, SOL, WASO, stage percentages, awakenings and project-defined fragmentation. Efficiency uses evaluated duration; stage percentages use TST. Reference mean/sample SD and P10/P90 derive from 16 training recordings; any out-of-interval architecture metric flags the corresponding domain. Four domains are Duration, Continuity, Initiation, Architecture. SN009: one deviated domain, descriptive Mild Deviation. EEG deviations do not contribute additional domains. HMC is clinical, not healthy normative data; in-sample architecture reference and unknown whole-night timing limit interpretation. Current GUI has PDF/JSON/CSV/ZIP exports and a Colab worker; live SN009 predictions were already independently reproduced.</a:t>
            </a:r>
          </a:p>
          <a:p xmlns:a="http://schemas.openxmlformats.org/drawingml/2006/main">
            <a:r>
              <a:t/>
            </a:r>
          </a:p>
          <a:p xmlns:a="http://schemas.openxmlformats.org/drawingml/2006/main">
            <a:r>
              <a:t>Project evidence: Biomarker_N1_N2_Refinement.ipynb; refinement_artifacts/verified; independent reproduction HMC-N1N2-20261007.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engineering design, not current implementation. Train compact Model A with Wake/REM/NREM targets, Model B on true training NREM epochs. Evaluate B on each inference epoch. Let g be coarse probabilities and h be conditional NREM probabilities: q=[gW,gNREM*hN1,gNREM*hN2,gNREM*hN3,gREM]. This sums to 1. Optional soft fusion r=lambda*q+(1-lambda)*p with the retained five-stage model p; choose lambda on development data only. Avoid hard gating because coarse mistakes could otherwise become irreversible. Model C is a small temporal convolutional network operating across consecutive epochs, unlike current within-epoch BiLSTM. Train it on out-of-fold expert predictions, preserve recording boundaries/gaps, then calibrate final output on a held-out validation partition. TCN and Viterbi are alternatives to compare by ablation, not refiners to stack automatically. Add EOG/EMG specialists only if aligned data and missing-modality tests are available. Start small with 24 recordings to limit overfitting. Current four test recordings have already been examined; reserve genuinely new recordings/person cohort before new tuning. Person-level grouping requires a verified mapping. Sequence context motivated by SeqSleepNet and L-SeqSleepNet; heterogeneous cohort testing by RobustSleepNet; soft voting and fair evaluation by SLEEPYLAND. Benefits are hypotheses, not guaranteed gains.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https://arxiv.org/abs/1809.10932</a:t>
            </a:r>
          </a:p>
          <a:p xmlns:a="http://schemas.openxmlformats.org/drawingml/2006/main">
            <a:r>
              <a:t>https://arxiv.org/abs/2301.03441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 the current reproducible experiment supports complementary spectral features for N1/N2. Net correction is 121 epochs and the gains are modest. The project also implements recording architecture and spectral features, descriptive reference profiles, a Windows Electron GUI and reports. It does not establish clinical diagnosis or superior performance versus the literature. Roadmap: verify original EDF alignment, retain timestamp continuity and quality checks, expand HMC data and reserve untouched recordings/person cohort; compare flat baseline, coarse/NREM composition, optional soft fusion, temporal model, and decoder alternatives on identical locked epochs. Fit scalers, class weights and transitions on training data only; use grouped development folds and out-of-fold base predictions for stacking. Report accuracy, macro F1, per-stage F1, kappa, ECE, error-detection AUROC, risk-coverage, latency and model size. Include recording/person bootstrap confidence intervals, stage distribution and individual recording variability. Validate TST/WASO/SOL/stage fractions against label-derived ground truth using verified denominators. Test external dataset/channel compatibility and optional aligned EOG/EMG specialists. No accuracy target or delivery date is promised without experiments.</a:t>
            </a:r>
          </a:p>
          <a:p xmlns:a="http://schemas.openxmlformats.org/drawingml/2006/main">
            <a:r>
              <a:t/>
            </a:r>
            <a:endParaRPr/>
          </a:p>
          <a:p xmlns:a="http://schemas.openxmlformats.org/drawingml/2006/main">
            <a:r>
              <a:t>Project evidence: Biomarker_N1_N2_Refinement.ipynb; refinement_artifacts/verified; independent reproduction HMC-N1N2-20261007.</a:t>
            </a:r>
          </a:p>
          <a:p xmlns:a="http://schemas.openxmlformats.org/drawingml/2006/main">
            <a:r>
              <a:t>https://physionet.org/content/hmc-sleep-staging/1.1/</a:t>
            </a:r>
          </a:p>
          <a:p xmlns:a="http://schemas.openxmlformats.org/drawingml/2006/main">
            <a:r>
              <a:t>https://arxiv.org/abs/2101.02452</a:t>
            </a:r>
          </a:p>
          <a:p xmlns:a="http://schemas.openxmlformats.org/drawingml/2006/main">
            <a:r>
              <a:t>https://arxiv.org/abs/2506.08574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Om Ahuja (23BIT014) and Rikin Parekh (23BIT044). Project guide: Dr. Santosh Sathpathy. Names and IDs follow the supplied project presentation. Portraits and official logo were supplied by the user. Portrait backgrounds were removed with imagegen; the logo artwork was preserved.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4693257a314162" /></Relationships>
</file>

<file path=ppt/slideLayouts/slideLayout1.xml><?xml version="1.0" encoding="utf-8"?>
<p:sldLayout xmlns:p="http://schemas.openxmlformats.org/presentationml/2006/main">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36833bc49b423b" /><Relationship Type="http://schemas.openxmlformats.org/officeDocument/2006/relationships/slideLayout" Target="/ppt/slideLayouts/slideLayout1.xml" Id="R029d31737d4744e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9d31737d4744e4"/>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fcb6dc445214eaf" /><Relationship Type="http://schemas.openxmlformats.org/officeDocument/2006/relationships/image" Target="/ppt/media/image.jpeg" Id="Rc392604d41ae4f23" /><Relationship Type="http://schemas.openxmlformats.org/officeDocument/2006/relationships/notesSlide" Target="/ppt/notesSlides/notesSlide1.xml" Id="R8d9f5022644348a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4f4f9c440e4758" /><Relationship Type="http://schemas.openxmlformats.org/officeDocument/2006/relationships/notesSlide" Target="/ppt/notesSlides/notesSlide2.xml" Id="R8c91b990c5c04e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45ca26a7174e97" /><Relationship Type="http://schemas.openxmlformats.org/officeDocument/2006/relationships/notesSlide" Target="/ppt/notesSlides/notesSlide3.xml" Id="Rf929bda964b8426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00f1ebd485411e" /><Relationship Type="http://schemas.openxmlformats.org/officeDocument/2006/relationships/notesSlide" Target="/ppt/notesSlides/notesSlide4.xml" Id="R9274e4146f4b4c5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e7dac999ba4c12" /><Relationship Type="http://schemas.openxmlformats.org/officeDocument/2006/relationships/notesSlide" Target="/ppt/notesSlides/notesSlide5.xml" Id="Rd11f2e1073f747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fab9374c5584c40" /><Relationship Type="http://schemas.openxmlformats.org/officeDocument/2006/relationships/notesSlide" Target="/ppt/notesSlides/notesSlide6.xml" Id="R0e814e80e7d9417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d72ab43f5c4f1f" /><Relationship Type="http://schemas.openxmlformats.org/officeDocument/2006/relationships/image" Target="/ppt/media/image.png" Id="R1e8dbd200cc44b5f" /><Relationship Type="http://schemas.openxmlformats.org/officeDocument/2006/relationships/image" Target="/ppt/media/image2.png" Id="R2cfbc0478a8f4e4e" /><Relationship Type="http://schemas.openxmlformats.org/officeDocument/2006/relationships/notesSlide" Target="/ppt/notesSlides/notesSlide7.xml" Id="Ra400184740f045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591f78239fa414d" /><Relationship Type="http://schemas.openxmlformats.org/officeDocument/2006/relationships/notesSlide" Target="/ppt/notesSlides/notesSlide8.xml" Id="Rad0da225cbfd49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e00d23784eb45ed" /><Relationship Type="http://schemas.openxmlformats.org/officeDocument/2006/relationships/chart" Target="/ppt/slides/charts/chart1.xml" Id="R6d1d9ae71a08443b" /><Relationship Type="http://schemas.openxmlformats.org/officeDocument/2006/relationships/notesSlide" Target="/ppt/notesSlides/notesSlide9.xml" Id="R3f8a1ca8760e47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bc3a4c64dde407f" /><Relationship Type="http://schemas.openxmlformats.org/officeDocument/2006/relationships/notesSlide" Target="/ppt/notesSlides/notesSlide10.xml" Id="Rcdeab4223ae64e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10ed76b56834c00" /><Relationship Type="http://schemas.openxmlformats.org/officeDocument/2006/relationships/chart" Target="/ppt/slides/charts/chart2.xml" Id="R2bee1d0add414f24" /><Relationship Type="http://schemas.openxmlformats.org/officeDocument/2006/relationships/notesSlide" Target="/ppt/notesSlides/notesSlide11.xml" Id="R1536bab2adda44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e10ac829fc2466b" /><Relationship Type="http://schemas.openxmlformats.org/officeDocument/2006/relationships/image" Target="/ppt/media/image3.png" Id="R705a2807782b4f18" /><Relationship Type="http://schemas.openxmlformats.org/officeDocument/2006/relationships/image" Target="/ppt/media/image4.png" Id="Ra6bf989d56354401" /><Relationship Type="http://schemas.openxmlformats.org/officeDocument/2006/relationships/notesSlide" Target="/ppt/notesSlides/notesSlide12.xml" Id="R6bba1acb31bf4e5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791d7b28ca4d2e" /><Relationship Type="http://schemas.openxmlformats.org/officeDocument/2006/relationships/notesSlide" Target="/ppt/notesSlides/notesSlide13.xml" Id="Rf3255851f21b493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5066b165b144f12" /><Relationship Type="http://schemas.openxmlformats.org/officeDocument/2006/relationships/notesSlide" Target="/ppt/notesSlides/notesSlide14.xml" Id="Rb75f54af4c9d41b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01de3955244ec5" /><Relationship Type="http://schemas.openxmlformats.org/officeDocument/2006/relationships/image" Target="/ppt/media/image5.png" Id="R7f98b3d123064671" /><Relationship Type="http://schemas.openxmlformats.org/officeDocument/2006/relationships/image" Target="/ppt/media/image6.png" Id="Ra087751d176a461d" /><Relationship Type="http://schemas.openxmlformats.org/officeDocument/2006/relationships/image" Target="/ppt/media/image7.png" Id="R1e8ffa748ad2477b" /><Relationship Type="http://schemas.openxmlformats.org/officeDocument/2006/relationships/notesSlide" Target="/ppt/notesSlides/notesSlide15.xml" Id="R215858aa55c04ba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a="http://schemas.openxmlformats.org/drawingml/2006/main" xmlns:c="http://schemas.openxmlformats.org/drawingml/2006/chart" xmlns:ns2="http://schemas.openxmlformats.org/officeDocument/2006/relationships">
  <c:lang val="en-US"/>
  <c:chart>
    <c:plotArea>
      <c:lineChart>
        <c:grouping val="standard"/>
        <c:varyColors val="0"/>
        <c:ser>
          <c:idx val="0"/>
          <c:order val="0"/>
          <c:tx>
            <c:v>Training</c:v>
          </c:tx>
          <c:spPr>
            <a:ln w="28575">
              <a:solidFill>
                <a:srgbClr val="84B9FF"/>
              </a:solidFill>
            </a:ln>
          </c:spPr>
          <c:marker>
            <c:symbol val="none"/>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0.4426261783</c:v>
                </c:pt>
                <c:pt idx="1">
                  <c:v>0.6033123136</c:v>
                </c:pt>
                <c:pt idx="2">
                  <c:v>0.6714642644</c:v>
                </c:pt>
                <c:pt idx="3">
                  <c:v>0.6994611025</c:v>
                </c:pt>
                <c:pt idx="4">
                  <c:v>0.7164826393</c:v>
                </c:pt>
                <c:pt idx="5">
                  <c:v>0.735278666</c:v>
                </c:pt>
                <c:pt idx="6">
                  <c:v>0.7447423935</c:v>
                </c:pt>
                <c:pt idx="7">
                  <c:v>0.7499342561</c:v>
                </c:pt>
                <c:pt idx="8">
                  <c:v>0.7593979836</c:v>
                </c:pt>
                <c:pt idx="9">
                  <c:v>0.7661671638</c:v>
                </c:pt>
              </c:numCache>
            </c:numRef>
          </c:val>
          <c:smooth val="0"/>
        </c:ser>
        <c:ser>
          <c:idx val="1"/>
          <c:order val="1"/>
          <c:tx>
            <c:v>Validation</c:v>
          </c:tx>
          <c:spPr>
            <a:ln w="28575">
              <a:solidFill>
                <a:srgbClr val="6CDCDD"/>
              </a:solidFill>
            </a:ln>
          </c:spPr>
          <c:marker>
            <c:symbol val="none"/>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0.1652390212</c:v>
                </c:pt>
                <c:pt idx="1">
                  <c:v>0.176844433</c:v>
                </c:pt>
                <c:pt idx="2">
                  <c:v>0.2390163094</c:v>
                </c:pt>
                <c:pt idx="3">
                  <c:v>0.413926512</c:v>
                </c:pt>
                <c:pt idx="4">
                  <c:v>0.6090080142</c:v>
                </c:pt>
                <c:pt idx="5">
                  <c:v>0.6446532011</c:v>
                </c:pt>
                <c:pt idx="6">
                  <c:v>0.6266924739</c:v>
                </c:pt>
                <c:pt idx="7">
                  <c:v>0.644376874</c:v>
                </c:pt>
                <c:pt idx="8">
                  <c:v>0.6797457933</c:v>
                </c:pt>
                <c:pt idx="9">
                  <c:v>0.652390182</c:v>
                </c:pt>
              </c:numCache>
            </c:numRef>
          </c:val>
          <c:smooth val="0"/>
        </c:ser>
        <c:dLbls>
          <c:txPr>
            <a:bodyPr anchorCtr="1"/>
            <a:lstStyle/>
            <a:p>
              <a:pPr>
                <a:defRPr sz="1275">
                  <a:solidFill>
                    <a:srgbClr val="FFFFFF"/>
                  </a:solidFill>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a:lstStyle/>
              <a:p>
                <a:r>
                  <a:rPr sz="1275">
                    <a:solidFill>
                      <a:srgbClr val="FFFFFF"/>
                    </a:solidFill>
                    <a:latin typeface="Arial"/>
                    <a:ea typeface="Arial"/>
                    <a:cs typeface="Arial"/>
                  </a:rPr>
                  <a:t>Training epoch</a:t>
                </a:r>
              </a:p>
            </c:rich>
          </c:tx>
          <c:overlay val="0"/>
          <c:txPr>
            <a:bodyPr anchorCtr="1"/>
            <a:lstStyle/>
            <a:p>
              <a:pPr>
                <a:defRPr sz="1275">
                  <a:solidFill>
                    <a:srgbClr val="FFFFFF"/>
                  </a:solidFill>
                  <a:latin typeface="Arial"/>
                  <a:ea typeface="Arial"/>
                  <a:cs typeface="Arial"/>
                </a:defRPr>
              </a:pPr>
            </a:p>
          </c:txPr>
        </c:title>
        <c:numFmt formatCode="General"/>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w="9525">
            <a:solidFill>
              <a:srgbClr val="D4D4D4"/>
            </a:solidFill>
            <a:prstDash val="solid"/>
          </a:ln>
        </c:spPr>
        <c:txPr>
          <a:bodyPr anchorCtr="1"/>
          <a:lstStyle/>
          <a:p>
            <a:pPr>
              <a:defRPr sz="1275">
                <a:solidFill>
                  <a:srgbClr val="BED0E4"/>
                </a:solidFill>
                <a:latin typeface="Arial"/>
                <a:ea typeface="Arial"/>
                <a:cs typeface="Arial"/>
              </a:defRPr>
            </a:pPr>
          </a:p>
        </c:txPr>
        <c:crossAx val="48650112"/>
        <c:crossBetween val="between"/>
        <c:majorUnit val="0.25"/>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charts/chart2.xml><?xml version="1.0" encoding="utf-8"?>
<c:chartSpace xmlns:a="http://schemas.openxmlformats.org/drawingml/2006/main" xmlns:c="http://schemas.openxmlformats.org/drawingml/2006/chart" xmlns:ns2="http://schemas.openxmlformats.org/officeDocument/2006/relationships">
  <c:lang val="en-US"/>
  <c:chart>
    <c:plotArea>
      <c:barChart>
        <c:barDir val="col"/>
        <c:grouping val="clustered"/>
        <c:varyColors val="0"/>
        <c:ser>
          <c:idx val="0"/>
          <c:order val="0"/>
          <c:tx>
            <c:v>Existing model</c:v>
          </c:tx>
          <c:spPr>
            <a:solidFill>
              <a:srgbClr val="84B9FF"/>
            </a:solidFill>
          </c:spPr>
          <c:cat>
            <c:strRef>
              <c:f>'Chart Data'!$A$2:$A$5</c:f>
              <c:strCache>
                <c:ptCount val="4"/>
                <c:pt idx="0">
                  <c:v>Accuracy</c:v>
                </c:pt>
                <c:pt idx="1">
                  <c:v>Macro F1</c:v>
                </c:pt>
                <c:pt idx="2">
                  <c:v>N1 F1</c:v>
                </c:pt>
                <c:pt idx="3">
                  <c:v>N2 F1</c:v>
                </c:pt>
              </c:strCache>
            </c:strRef>
          </c:cat>
          <c:val>
            <c:numRef>
              <c:f>'Chart Data'!$B$2:$B$5</c:f>
              <c:numCache>
                <c:formatCode>0.00%</c:formatCode>
                <c:ptCount val="4"/>
                <c:pt idx="0">
                  <c:v>0.554519138</c:v>
                </c:pt>
                <c:pt idx="1">
                  <c:v>0.5741553021</c:v>
                </c:pt>
                <c:pt idx="2">
                  <c:v>0.3660403619</c:v>
                </c:pt>
                <c:pt idx="3">
                  <c:v>0.5711735832</c:v>
                </c:pt>
              </c:numCache>
            </c:numRef>
          </c:val>
        </c:ser>
        <c:ser>
          <c:idx val="1"/>
          <c:order val="1"/>
          <c:tx>
            <c:v>N1/N2 refined</c:v>
          </c:tx>
          <c:spPr>
            <a:solidFill>
              <a:srgbClr val="6CDCDD"/>
            </a:solidFill>
          </c:spPr>
          <c:cat>
            <c:strRef>
              <c:f>'Chart Data'!$C$2:$C$5</c:f>
              <c:strCache>
                <c:ptCount val="4"/>
                <c:pt idx="0">
                  <c:v>Accuracy</c:v>
                </c:pt>
                <c:pt idx="1">
                  <c:v>Macro F1</c:v>
                </c:pt>
                <c:pt idx="2">
                  <c:v>N1 F1</c:v>
                </c:pt>
                <c:pt idx="3">
                  <c:v>N2 F1</c:v>
                </c:pt>
              </c:strCache>
            </c:strRef>
          </c:cat>
          <c:val>
            <c:numRef>
              <c:f>'Chart Data'!$D$2:$D$5</c:f>
              <c:numCache>
                <c:formatCode>0.00%</c:formatCode>
                <c:ptCount val="4"/>
                <c:pt idx="0">
                  <c:v>0.5934384046</c:v>
                </c:pt>
                <c:pt idx="1">
                  <c:v>0.5951219684</c:v>
                </c:pt>
                <c:pt idx="2">
                  <c:v>0.4063241107</c:v>
                </c:pt>
                <c:pt idx="3">
                  <c:v>0.6357231662</c:v>
                </c:pt>
              </c:numCache>
            </c:numRef>
          </c:val>
        </c:ser>
        <c:dLbls>
          <c:txPr>
            <a:bodyPr anchorCtr="1"/>
            <a:lstStyle/>
            <a:p>
              <a:pPr>
                <a:defRPr sz="1350">
                  <a:solidFill>
                    <a:srgbClr val="FFFFFF"/>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w="9525">
            <a:solidFill>
              <a:srgbClr val="D4D4D4"/>
            </a:solidFill>
            <a:prstDash val="solid"/>
          </a:ln>
        </c:spPr>
        <c:txPr>
          <a:bodyPr anchorCtr="1"/>
          <a:lstStyle/>
          <a:p>
            <a:pPr>
              <a:defRPr sz="1575">
                <a:solidFill>
                  <a:srgbClr val="BED0E4"/>
                </a:solidFill>
                <a:latin typeface="Arial"/>
                <a:ea typeface="Arial"/>
                <a:cs typeface="Arial"/>
              </a:defRPr>
            </a:pPr>
          </a:p>
        </c:txPr>
        <c:crossAx val="48672768"/>
      </c:catAx>
      <c:valAx>
        <c:axId val="48672768"/>
        <c:scaling>
          <c:orientation val="minMax"/>
          <c:max val="0.8"/>
          <c:min val="0"/>
        </c:scaling>
        <c:delete val="0"/>
        <c:axPos val="l"/>
        <c:numFmt formatCode="0%"/>
        <c:majorTickMark val="none"/>
        <c:minorTickMark val="none"/>
        <c:spPr>
          <a:ln w="9525">
            <a:solidFill>
              <a:srgbClr val="D4D4D4"/>
            </a:solidFill>
            <a:prstDash val="solid"/>
          </a:ln>
        </c:spPr>
        <c:txPr>
          <a:bodyPr anchorCtr="1"/>
          <a:lstStyle/>
          <a:p>
            <a:pPr>
              <a:defRPr sz="1350">
                <a:solidFill>
                  <a:srgbClr val="BED0E4"/>
                </a:solidFill>
                <a:latin typeface="Arial"/>
                <a:ea typeface="Arial"/>
                <a:cs typeface="Arial"/>
              </a:defRPr>
            </a:pPr>
          </a:p>
        </c:txPr>
        <c:crossAx val="48650112"/>
        <c:crossBetween val="between"/>
        <c:majorUnit val="0.2"/>
      </c:valAx>
      <c:spPr>
        <a:solidFill>
          <a:srgbClr val="0E2C50"/>
        </a:solidFill>
      </c:spPr>
    </c:plotArea>
    <c:legend>
      <c:legendPos val="b"/>
      <c:overlay val="0"/>
      <c:txPr>
        <a:bodyPr anchorCtr="1"/>
        <a:lstStyle/>
        <a:p>
          <a:pPr>
            <a:defRPr sz="1275">
              <a:solidFill>
                <a:srgbClr val="FFFFFF"/>
              </a:solidFill>
              <a:latin typeface="Arial"/>
              <a:ea typeface="Arial"/>
              <a:cs typeface="Arial"/>
            </a:defRPr>
          </a:pPr>
        </a:p>
      </c:txPr>
    </c:legend>
    <c:plotVisOnly val="1"/>
  </c:chart>
  <c:spPr>
    <a:solidFill>
      <a:srgbClr val="0E2C50"/>
    </a:solidFill>
  </c:spPr>
  <c:externalData ns2:id="rIdChartSnapshot1">
    <c:autoUpdate val="0"/>
  </c:externalData>
</c:chartSpace>
</file>

<file path=ppt/slides/slide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0" name="">
            <a:extLst>
              <a:ext uri="{FF2B5EF4-FFF2-40B4-BE49-F238E27FC236}">
                <ns2:creationId id="{6ABE9CCB-1305-4EA4-920F-ACF276833F7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530FEC0D-D70F-4C15-8F09-CE3C1D2E064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r>
              <a:t/>
            </a:r>
          </a:p>
        </p:txBody>
      </p:sp>
      <p:sp>
        <p:nvSpPr>
          <p:cNvPr id="4" name="">
            <a:extLst>
              <a:ext uri="{FF2B5EF4-FFF2-40B4-BE49-F238E27FC236}">
                <ns2:creationId id="{8A20FE83-8B2B-4B13-BA5F-2A11C2DFA3F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A7267547-2912-4707-B0A7-91FCCE0553F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01 / 15</a:t>
            </a:r>
          </a:p>
        </p:txBody>
      </p:sp>
      <p:sp>
        <p:nvSpPr>
          <p:cNvPr id="6" name="">
            <a:extLst>
              <a:ext uri="{FF2B5EF4-FFF2-40B4-BE49-F238E27FC236}">
                <ns2:creationId id="{B452130D-8242-41EB-B7BE-87A893847D17}"/>
              </a:ext>
            </a:extLst>
          </p:cNvPr>
          <p:cNvSpPr>
            <a:spLocks noGrp="1"/>
          </p:cNvSpPr>
          <p:nvPr/>
        </p:nvSpPr>
        <p:spPr>
          <a:xfrm>
            <a:off x="609600" y="476250"/>
            <a:ext cx="10668000" cy="333375"/>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MID-VIVA • PROJECT PROGRESS</a:t>
            </a:r>
          </a:p>
        </p:txBody>
      </p:sp>
      <p:sp>
        <p:nvSpPr>
          <p:cNvPr id="7" name="">
            <a:extLst>
              <a:ext uri="{FF2B5EF4-FFF2-40B4-BE49-F238E27FC236}">
                <ns2:creationId id="{C5EFA22A-A815-41F4-8181-156CF309DF9F}"/>
              </a:ext>
            </a:extLst>
          </p:cNvPr>
          <p:cNvSpPr>
            <a:spLocks noGrp="1"/>
          </p:cNvSpPr>
          <p:nvPr/>
        </p:nvSpPr>
        <p:spPr>
          <a:xfrm>
            <a:off x="609600" y="1190625"/>
            <a:ext cx="10820400" cy="1333500"/>
          </a:xfrm>
          <a:prstGeom prst="rect">
            <a:avLst/>
          </a:prstGeom>
          <a:noFill/>
          <a:ln w="0">
            <a:noFill/>
          </a:ln>
        </p:spPr>
        <p:txBody>
          <a:bodyPr lIns="0" tIns="0" rIns="0" bIns="0" anchor="t">
            <a:noAutofit/>
          </a:bodyPr>
          <a:lstStyle/>
          <a:p>
            <a:pPr algn="l">
              <a:buNone/>
              <a:defRPr sz="3150" b="1">
                <a:solidFill>
                  <a:srgbClr val="FFFFFF"/>
                </a:solidFill>
                <a:latin typeface="Arial"/>
                <a:ea typeface="Arial"/>
                <a:cs typeface="Arial"/>
              </a:defRPr>
            </a:pPr>
            <a:r>
              <a:rPr sz="3150" b="1">
                <a:solidFill>
                  <a:srgbClr val="FFFFFF"/>
                </a:solidFill>
                <a:latin typeface="Arial"/>
                <a:ea typeface="Arial"/>
                <a:cs typeface="Arial"/>
              </a:rPr>
              <a:t>EEG Sleep Classification and</a:t>
            </a:r>
          </a:p>
          <a:p>
            <a:pPr algn="l">
              <a:buNone/>
              <a:defRPr sz="3150" b="1">
                <a:solidFill>
                  <a:srgbClr val="FFFFFF"/>
                </a:solidFill>
                <a:latin typeface="Arial"/>
                <a:ea typeface="Arial"/>
                <a:cs typeface="Arial"/>
              </a:defRPr>
            </a:pPr>
            <a:r>
              <a:rPr sz="3150" b="1">
                <a:solidFill>
                  <a:srgbClr val="FFFFFF"/>
                </a:solidFill>
                <a:latin typeface="Arial"/>
                <a:ea typeface="Arial"/>
                <a:cs typeface="Arial"/>
              </a:rPr>
              <a:t>Reference-Based Sleep-Health Profiling</a:t>
            </a:r>
          </a:p>
        </p:txBody>
      </p:sp>
      <p:sp>
        <p:nvSpPr>
          <p:cNvPr id="8" name="">
            <a:extLst>
              <a:ext uri="{FF2B5EF4-FFF2-40B4-BE49-F238E27FC236}">
                <ns2:creationId id="{AB5FB207-95FA-40A0-B59C-ADBDAE156188}"/>
              </a:ext>
            </a:extLst>
          </p:cNvPr>
          <p:cNvSpPr>
            <a:spLocks noGrp="1"/>
          </p:cNvSpPr>
          <p:nvPr/>
        </p:nvSpPr>
        <p:spPr>
          <a:xfrm>
            <a:off x="609600" y="2857500"/>
            <a:ext cx="10572750" cy="457200"/>
          </a:xfrm>
          <a:prstGeom prst="rect">
            <a:avLst/>
          </a:prstGeom>
          <a:noFill/>
          <a:ln w="0">
            <a:noFill/>
          </a:ln>
        </p:spPr>
        <p:txBody>
          <a:bodyPr lIns="0" tIns="0" rIns="0" bIns="0" anchor="t">
            <a:noAutofit/>
          </a:bodyPr>
          <a:lstStyle/>
          <a:p>
            <a:pPr algn="l">
              <a:buNone/>
              <a:defRPr sz="2100" b="0">
                <a:solidFill>
                  <a:srgbClr val="BED0E4"/>
                </a:solidFill>
                <a:latin typeface="Arial"/>
                <a:ea typeface="Arial"/>
                <a:cs typeface="Arial"/>
              </a:defRPr>
            </a:pPr>
            <a:r>
              <a:rPr sz="2100" b="0">
                <a:solidFill>
                  <a:srgbClr val="BED0E4"/>
                </a:solidFill>
                <a:latin typeface="Arial"/>
                <a:ea typeface="Arial"/>
                <a:cs typeface="Arial"/>
              </a:rPr>
              <a:t>Biomarker-assisted N1/N2 refinement</a:t>
            </a:r>
          </a:p>
        </p:txBody>
      </p:sp>
      <p:sp>
        <p:nvSpPr>
          <p:cNvPr id="9" name="">
            <a:extLst>
              <a:ext uri="{FF2B5EF4-FFF2-40B4-BE49-F238E27FC236}">
                <ns2:creationId id="{D8015AA1-35C0-4D56-8602-7C34B5B570E7}"/>
              </a:ext>
            </a:extLst>
          </p:cNvPr>
          <p:cNvSpPr>
            <a:spLocks noGrp="1"/>
          </p:cNvSpPr>
          <p:nvPr/>
        </p:nvSpPr>
        <p:spPr>
          <a:xfrm>
            <a:off x="609600" y="4000500"/>
            <a:ext cx="10477500" cy="1714500"/>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Rikin Parekh · Om Ahuja</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23BIT044 · 23BIT014</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Guide: Dr. Santosh Sathpathy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Information and Communication Technology</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Pandit Deendayal Energy University</a:t>
            </a:r>
          </a:p>
        </p:txBody>
      </p:sp>
      <p:pic>
        <p:nvPicPr>
          <p:cNvPr id="20" name=""/>
          <p:cNvPicPr>
            <a:picLocks noChangeAspect="1"/>
          </p:cNvPicPr>
          <p:nvPr/>
        </p:nvPicPr>
        <p:blipFill>
          <a:blip ns3:embed="Rc392604d41ae4f23"/>
          <a:stretch/>
        </p:blipFill>
        <p:spPr>
          <a:xfrm>
            <a:off x="10267950" y="257175"/>
            <a:ext cx="1238250" cy="1238250"/>
          </a:xfrm>
          <a:prstGeom prst="rect">
            <a:avLst/>
          </a:prstGeom>
        </p:spPr>
      </p:pic>
    </p:spTree>
    <p:extLst>
      <p:ext uri="{BB962C8B-B14F-4D97-AF65-F5344CB8AC3E}">
        <ns4:creationId val="2208732020"/>
      </p:ext>
    </p:extLst>
  </p:cSld>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F81CE479-806B-485A-97CC-EC45E49859D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C1C7F214-9F08-4E9D-9A18-2292EF585CF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Abstract</a:t>
            </a:r>
          </a:p>
        </p:txBody>
      </p:sp>
      <p:sp>
        <p:nvSpPr>
          <p:cNvPr id="3" name="">
            <a:extLst>
              <a:ext uri="{FF2B5EF4-FFF2-40B4-BE49-F238E27FC236}">
                <ns2:creationId id="{4D878C72-724A-4A77-8B16-CC684F3E387E}"/>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A443D092-C1BF-4464-AC89-EA8482AD8A8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Source: Biomarker_N1_N2_Refinement.ipynb and verified held-out results</a:t>
            </a:r>
          </a:p>
        </p:txBody>
      </p:sp>
      <p:sp>
        <p:nvSpPr>
          <p:cNvPr id="5" name="">
            <a:extLst>
              <a:ext uri="{FF2B5EF4-FFF2-40B4-BE49-F238E27FC236}">
                <ns2:creationId id="{3294A697-2D77-4FE9-B5AC-0DC2C433F6ED}"/>
              </a:ext>
            </a:extLst>
          </p:cNvPr>
          <p:cNvSpPr>
            <a:spLocks noGrp="1"/>
          </p:cNvSpPr>
          <p:nvPr/>
        </p:nvSpPr>
        <p:spPr>
          <a:xfrm>
            <a:off x="60960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BACKGROUND</a:t>
            </a:r>
          </a:p>
        </p:txBody>
      </p:sp>
      <p:sp>
        <p:nvSpPr>
          <p:cNvPr id="6" name="">
            <a:extLst>
              <a:ext uri="{FF2B5EF4-FFF2-40B4-BE49-F238E27FC236}">
                <ns2:creationId id="{AC761A6C-A693-402C-B7F3-10EA3110FAB0}"/>
              </a:ext>
            </a:extLst>
          </p:cNvPr>
          <p:cNvSpPr>
            <a:spLocks noGrp="1"/>
          </p:cNvSpPr>
          <p:nvPr/>
        </p:nvSpPr>
        <p:spPr>
          <a:xfrm>
            <a:off x="60960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Sleep-stage sequences describe sleep continuity and architecture. N1/N2 confusion can distort these profiles.</a:t>
            </a:r>
          </a:p>
        </p:txBody>
      </p:sp>
      <p:sp>
        <p:nvSpPr>
          <p:cNvPr id="7" name="">
            <a:extLst>
              <a:ext uri="{FF2B5EF4-FFF2-40B4-BE49-F238E27FC236}">
                <ns2:creationId id="{EA27BAA3-5A56-4C19-8AB4-05B228B2FA5F}"/>
              </a:ext>
            </a:extLst>
          </p:cNvPr>
          <p:cNvSpPr>
            <a:spLocks noGrp="1"/>
          </p:cNvSpPr>
          <p:nvPr/>
        </p:nvSpPr>
        <p:spPr>
          <a:xfrm>
            <a:off x="6419850" y="172402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METHOD</a:t>
            </a:r>
          </a:p>
        </p:txBody>
      </p:sp>
      <p:sp>
        <p:nvSpPr>
          <p:cNvPr id="8" name="">
            <a:extLst>
              <a:ext uri="{FF2B5EF4-FFF2-40B4-BE49-F238E27FC236}">
                <ns2:creationId id="{5E198437-6C76-4B2B-8505-E717BEE0442E}"/>
              </a:ext>
            </a:extLst>
          </p:cNvPr>
          <p:cNvSpPr>
            <a:spLocks noGrp="1"/>
          </p:cNvSpPr>
          <p:nvPr/>
        </p:nvSpPr>
        <p:spPr>
          <a:xfrm>
            <a:off x="6419850" y="225742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Four-channel EEG is scored in 30-second epochs. A retained hybrid model is refined using nine spectral features and logistic regression.</a:t>
            </a:r>
          </a:p>
        </p:txBody>
      </p:sp>
      <p:sp>
        <p:nvSpPr>
          <p:cNvPr id="9" name="">
            <a:extLst>
              <a:ext uri="{FF2B5EF4-FFF2-40B4-BE49-F238E27FC236}">
                <ns2:creationId id="{1D22DA8B-4264-418A-BD15-243150CBFF5F}"/>
              </a:ext>
            </a:extLst>
          </p:cNvPr>
          <p:cNvSpPr>
            <a:spLocks noGrp="1"/>
          </p:cNvSpPr>
          <p:nvPr/>
        </p:nvSpPr>
        <p:spPr>
          <a:xfrm>
            <a:off x="60960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RESULTS</a:t>
            </a:r>
          </a:p>
        </p:txBody>
      </p:sp>
      <p:sp>
        <p:nvSpPr>
          <p:cNvPr id="10" name="">
            <a:extLst>
              <a:ext uri="{FF2B5EF4-FFF2-40B4-BE49-F238E27FC236}">
                <ns2:creationId id="{E0ED35BF-CC69-48BC-89E4-BE06703CAB80}"/>
              </a:ext>
            </a:extLst>
          </p:cNvPr>
          <p:cNvSpPr>
            <a:spLocks noGrp="1"/>
          </p:cNvSpPr>
          <p:nvPr/>
        </p:nvSpPr>
        <p:spPr>
          <a:xfrm>
            <a:off x="60960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On the same 3,109 test epochs, accuracy rose from 55.45% to 59.34%; macro-F1 rose from 57.42% to 59.51%.</a:t>
            </a:r>
          </a:p>
        </p:txBody>
      </p:sp>
      <p:sp>
        <p:nvSpPr>
          <p:cNvPr id="11" name="">
            <a:extLst>
              <a:ext uri="{FF2B5EF4-FFF2-40B4-BE49-F238E27FC236}">
                <ns2:creationId id="{D88B9C7D-F0A4-45FB-892C-CF59F3BBB01D}"/>
              </a:ext>
            </a:extLst>
          </p:cNvPr>
          <p:cNvSpPr>
            <a:spLocks noGrp="1"/>
          </p:cNvSpPr>
          <p:nvPr/>
        </p:nvSpPr>
        <p:spPr>
          <a:xfrm>
            <a:off x="6419850" y="3838575"/>
            <a:ext cx="5086350" cy="381000"/>
          </a:xfrm>
          <a:prstGeom prst="rect">
            <a:avLst/>
          </a:prstGeom>
          <a:noFill/>
          <a:ln w="0">
            <a:noFill/>
          </a:ln>
        </p:spPr>
        <p:txBody>
          <a:bodyPr lIns="0" tIns="0" rIns="0" bIns="0" anchor="t">
            <a:noAutofit/>
          </a:bodyPr>
          <a:lstStyle/>
          <a:p>
            <a:pPr algn="l">
              <a:defRPr sz="1875" b="1">
                <a:solidFill>
                  <a:srgbClr val="75D5FF"/>
                </a:solidFill>
                <a:latin typeface="Arial"/>
                <a:ea typeface="Arial"/>
                <a:cs typeface="Arial"/>
              </a:defRPr>
            </a:pPr>
            <a:r>
              <a:rPr sz="1875" b="1">
                <a:solidFill>
                  <a:srgbClr val="75D5FF"/>
                </a:solidFill>
                <a:latin typeface="Arial"/>
                <a:ea typeface="Arial"/>
                <a:cs typeface="Arial"/>
              </a:rPr>
              <a:t>FUTURE WORK</a:t>
            </a:r>
          </a:p>
        </p:txBody>
      </p:sp>
      <p:sp>
        <p:nvSpPr>
          <p:cNvPr id="12" name="">
            <a:extLst>
              <a:ext uri="{FF2B5EF4-FFF2-40B4-BE49-F238E27FC236}">
                <ns2:creationId id="{6278CD5F-4E42-40E7-9B13-450EDEB35594}"/>
              </a:ext>
            </a:extLst>
          </p:cNvPr>
          <p:cNvSpPr>
            <a:spLocks noGrp="1"/>
          </p:cNvSpPr>
          <p:nvPr/>
        </p:nvSpPr>
        <p:spPr>
          <a:xfrm>
            <a:off x="6419850" y="4371975"/>
            <a:ext cx="5086350" cy="1466850"/>
          </a:xfrm>
          <a:prstGeom prst="rect">
            <a:avLst/>
          </a:prstGeom>
          <a:noFill/>
          <a:ln w="0">
            <a:noFill/>
          </a:ln>
        </p:spPr>
        <p:txBody>
          <a:bodyPr lIns="0" tIns="0" rIns="0" bIns="0" anchor="t">
            <a:noAutofit/>
          </a:bodyPr>
          <a:lstStyle/>
          <a:p>
            <a:pPr algn="l">
              <a:defRPr sz="1875" b="0">
                <a:solidFill>
                  <a:srgbClr val="FFFFFF"/>
                </a:solidFill>
                <a:latin typeface="Arial"/>
                <a:ea typeface="Arial"/>
                <a:cs typeface="Arial"/>
              </a:defRPr>
            </a:pPr>
            <a:r>
              <a:rPr sz="1875" b="0">
                <a:solidFill>
                  <a:srgbClr val="FFFFFF"/>
                </a:solidFill>
                <a:latin typeface="Arial"/>
                <a:ea typeface="Arial"/>
                <a:cs typeface="Arial"/>
              </a:rPr>
              <a:t>Develop coarse and NREM specialist models, combine their probabilities, add temporal context, and validate on external recordings.</a:t>
            </a:r>
          </a:p>
        </p:txBody>
      </p:sp>
      <p:sp>
        <p:nvSpPr>
          <p:cNvPr id="13" name="">
            <a:extLst>
              <a:ext uri="{FF2B5EF4-FFF2-40B4-BE49-F238E27FC236}">
                <ns2:creationId id="{B91D32C1-D6E1-4610-B7C3-3119BC314590}"/>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02 / 15</a:t>
            </a:r>
          </a:p>
        </p:txBody>
      </p:sp>
    </p:spTree>
    <p:extLst>
      <p:ext uri="{BB962C8B-B14F-4D97-AF65-F5344CB8AC3E}">
        <ns3:creationId val="1202001751"/>
      </p:ext>
    </p:extLst>
  </p:cSld>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4" name="">
            <a:extLst>
              <a:ext uri="{FF2B5EF4-FFF2-40B4-BE49-F238E27FC236}">
                <ns2:creationId id="{A9DF200B-9F37-4DC3-BF83-DD5CEB2F9979}"/>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19552FE-08E7-4369-84DD-6ED23D869964}"/>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Why detect sleep stages? Why this project?</a:t>
            </a:r>
          </a:p>
        </p:txBody>
      </p:sp>
      <p:sp>
        <p:nvSpPr>
          <p:cNvPr id="3" name="">
            <a:extLst>
              <a:ext uri="{FF2B5EF4-FFF2-40B4-BE49-F238E27FC236}">
                <ns2:creationId id="{C8A854E8-A4F6-4CE5-B41D-BA0BC5830707}"/>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32E8DB0-04A6-4991-9F0B-A17A22E27231}"/>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sleep education; U-Sleep (2021); verified project artifacts</a:t>
            </a:r>
          </a:p>
        </p:txBody>
      </p:sp>
      <p:sp>
        <p:nvSpPr>
          <p:cNvPr id="5" name="">
            <a:extLst>
              <a:ext uri="{FF2B5EF4-FFF2-40B4-BE49-F238E27FC236}">
                <ns2:creationId id="{9C01FD9A-F774-4E98-940E-BBD9B4E30054}"/>
              </a:ext>
            </a:extLst>
          </p:cNvPr>
          <p:cNvSpPr>
            <a:spLocks noGrp="1"/>
          </p:cNvSpPr>
          <p:nvPr/>
        </p:nvSpPr>
        <p:spPr>
          <a:xfrm>
            <a:off x="609600" y="1552575"/>
            <a:ext cx="10858500" cy="428625"/>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Sleep supports memory, learning and physical health.</a:t>
            </a:r>
          </a:p>
        </p:txBody>
      </p:sp>
      <p:sp>
        <p:nvSpPr>
          <p:cNvPr id="6" name="">
            <a:extLst>
              <a:ext uri="{FF2B5EF4-FFF2-40B4-BE49-F238E27FC236}">
                <ns2:creationId id="{73646887-3643-43C1-BBDC-3767A26BD9DD}"/>
              </a:ext>
            </a:extLst>
          </p:cNvPr>
          <p:cNvSpPr>
            <a:spLocks noGrp="1"/>
          </p:cNvSpPr>
          <p:nvPr/>
        </p:nvSpPr>
        <p:spPr>
          <a:xfrm>
            <a:off x="609600" y="2066925"/>
            <a:ext cx="10858500" cy="666750"/>
          </a:xfrm>
          <a:prstGeom prst="rect">
            <a:avLst/>
          </a:prstGeom>
          <a:noFill/>
          <a:ln w="0">
            <a:noFill/>
          </a:ln>
        </p:spPr>
        <p:txBody>
          <a:bodyPr lIns="0" tIns="0" rIns="0" bIns="0" anchor="t">
            <a:noAutofit/>
          </a:bodyPr>
          <a:lstStyle/>
          <a:p>
            <a:pPr algn="l">
              <a:buNone/>
              <a:defRPr sz="1875" b="0">
                <a:solidFill>
                  <a:srgbClr val="BED0E4"/>
                </a:solidFill>
                <a:latin typeface="Arial"/>
                <a:ea typeface="Arial"/>
                <a:cs typeface="Arial"/>
              </a:defRPr>
            </a:pPr>
            <a:r>
              <a:rPr sz="1875" b="0">
                <a:solidFill>
                  <a:srgbClr val="BED0E4"/>
                </a:solidFill>
                <a:latin typeface="Arial"/>
                <a:ea typeface="Arial"/>
                <a:cs typeface="Arial"/>
              </a:rPr>
              <a:t>Duration alone does not show when sleep is interrupted or how stages are distributed.</a:t>
            </a:r>
          </a:p>
        </p:txBody>
      </p:sp>
      <p:sp>
        <p:nvSpPr>
          <p:cNvPr id="7" name="">
            <a:extLst>
              <a:ext uri="{FF2B5EF4-FFF2-40B4-BE49-F238E27FC236}">
                <ns2:creationId id="{2E9A17CD-B23A-4DFC-B977-22DB7B25B08A}"/>
              </a:ext>
            </a:extLst>
          </p:cNvPr>
          <p:cNvSpPr>
            <a:spLocks noGrp="1"/>
          </p:cNvSpPr>
          <p:nvPr/>
        </p:nvSpPr>
        <p:spPr>
          <a:xfrm>
            <a:off x="609600" y="3086100"/>
            <a:ext cx="5191125"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What stage detection gives us</a:t>
            </a:r>
          </a:p>
        </p:txBody>
      </p:sp>
      <p:sp>
        <p:nvSpPr>
          <p:cNvPr id="8" name="">
            <a:extLst>
              <a:ext uri="{FF2B5EF4-FFF2-40B4-BE49-F238E27FC236}">
                <ns2:creationId id="{33E57110-AA5B-4DA1-A2DD-FAF4B4653C1E}"/>
              </a:ext>
            </a:extLst>
          </p:cNvPr>
          <p:cNvSpPr>
            <a:spLocks noGrp="1"/>
          </p:cNvSpPr>
          <p:nvPr/>
        </p:nvSpPr>
        <p:spPr>
          <a:xfrm>
            <a:off x="609600" y="3705225"/>
            <a:ext cx="5191125"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Sleep onset and Wake time → continuity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 / N2 / N3 / REM time → architecture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hypnogram → when patterns change</a:t>
            </a:r>
          </a:p>
        </p:txBody>
      </p:sp>
      <p:sp>
        <p:nvSpPr>
          <p:cNvPr id="9" name="">
            <a:extLst>
              <a:ext uri="{FF2B5EF4-FFF2-40B4-BE49-F238E27FC236}">
                <ns2:creationId id="{93F990B0-2D06-4171-B583-E257A43BB64A}"/>
              </a:ext>
            </a:extLst>
          </p:cNvPr>
          <p:cNvSpPr>
            <a:spLocks noGrp="1"/>
          </p:cNvSpPr>
          <p:nvPr/>
        </p:nvSpPr>
        <p:spPr>
          <a:xfrm>
            <a:off x="6419850" y="3086100"/>
            <a:ext cx="5086350" cy="381000"/>
          </a:xfrm>
          <a:prstGeom prst="rect">
            <a:avLst/>
          </a:prstGeom>
          <a:noFill/>
          <a:ln w="0">
            <a:noFill/>
          </a:ln>
        </p:spPr>
        <p:txBody>
          <a:bodyPr lIns="0" tIns="0" rIns="0" bIns="0" anchor="t">
            <a:noAutofit/>
          </a:bodyPr>
          <a:lstStyle/>
          <a:p>
            <a:pPr algn="l">
              <a:buNone/>
              <a:defRPr sz="2025" b="1">
                <a:solidFill>
                  <a:srgbClr val="75D5FF"/>
                </a:solidFill>
                <a:latin typeface="Arial"/>
                <a:ea typeface="Arial"/>
                <a:cs typeface="Arial"/>
              </a:defRPr>
            </a:pPr>
            <a:r>
              <a:rPr sz="2025" b="1">
                <a:solidFill>
                  <a:srgbClr val="75D5FF"/>
                </a:solidFill>
                <a:latin typeface="Arial"/>
                <a:ea typeface="Arial"/>
                <a:cs typeface="Arial"/>
              </a:rPr>
              <a:t>Why we chose this project</a:t>
            </a:r>
          </a:p>
        </p:txBody>
      </p:sp>
      <p:sp>
        <p:nvSpPr>
          <p:cNvPr id="10" name="">
            <a:extLst>
              <a:ext uri="{FF2B5EF4-FFF2-40B4-BE49-F238E27FC236}">
                <ns2:creationId id="{E940C4E0-82F9-4F36-A20E-84E5C34F84EC}"/>
              </a:ext>
            </a:extLst>
          </p:cNvPr>
          <p:cNvSpPr>
            <a:spLocks noGrp="1"/>
          </p:cNvSpPr>
          <p:nvPr/>
        </p:nvSpPr>
        <p:spPr>
          <a:xfrm>
            <a:off x="6419850" y="3705225"/>
            <a:ext cx="5086350" cy="13620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EEG records brain activity used in staging.</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HMC provides labels to test our predictions.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N1/N2 confusion is a measurable target.</a:t>
            </a:r>
          </a:p>
        </p:txBody>
      </p:sp>
      <p:sp>
        <p:nvSpPr>
          <p:cNvPr id="11" name="">
            <a:extLst>
              <a:ext uri="{FF2B5EF4-FFF2-40B4-BE49-F238E27FC236}">
                <ns2:creationId id="{15EB18A3-EC98-4E08-85EB-739F6D6FE797}"/>
              </a:ext>
            </a:extLst>
          </p:cNvPr>
          <p:cNvSpPr>
            <a:spLocks noGrp="1"/>
          </p:cNvSpPr>
          <p:nvPr/>
        </p:nvSpPr>
        <p:spPr>
          <a:xfrm>
            <a:off x="609600" y="5457825"/>
            <a:ext cx="10858500" cy="4286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Potential benefit: assist sleep-study review and quantify patterns for research.</a:t>
            </a:r>
          </a:p>
        </p:txBody>
      </p:sp>
      <p:sp>
        <p:nvSpPr>
          <p:cNvPr id="12" name="">
            <a:extLst>
              <a:ext uri="{FF2B5EF4-FFF2-40B4-BE49-F238E27FC236}">
                <ns2:creationId id="{A720957A-EDEC-4E6C-B0E7-213EEA2233E3}"/>
              </a:ext>
            </a:extLst>
          </p:cNvPr>
          <p:cNvSpPr>
            <a:spLocks noGrp="1"/>
          </p:cNvSpPr>
          <p:nvPr/>
        </p:nvSpPr>
        <p:spPr>
          <a:xfrm>
            <a:off x="609600" y="6029325"/>
            <a:ext cx="10858500" cy="39052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Our contribution: targeted refinement + descriptive profiles. Stage labels alone do not diagnose disease.</a:t>
            </a:r>
          </a:p>
        </p:txBody>
      </p:sp>
      <p:sp>
        <p:nvSpPr>
          <p:cNvPr id="13" name="">
            <a:extLst>
              <a:ext uri="{FF2B5EF4-FFF2-40B4-BE49-F238E27FC236}">
                <ns2:creationId id="{1DF2486C-83F5-45E1-BA38-7305D6103D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03 / 15</a:t>
            </a:r>
          </a:p>
        </p:txBody>
      </p:sp>
    </p:spTree>
    <p:extLst>
      <p:ext uri="{BB962C8B-B14F-4D97-AF65-F5344CB8AC3E}">
        <ns3:creationId val="1202001751"/>
      </p:ext>
    </p:extLst>
  </p:cSld>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A813899A-F26C-4F35-9D5E-937DD8BB45CC}"/>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4DF62C94-FDDE-4214-B5F9-30949B29C521}"/>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Sleep stages and what a sleep cycle means</a:t>
            </a:r>
          </a:p>
        </p:txBody>
      </p:sp>
      <p:sp>
        <p:nvSpPr>
          <p:cNvPr id="3" name="">
            <a:extLst>
              <a:ext uri="{FF2B5EF4-FFF2-40B4-BE49-F238E27FC236}">
                <ns2:creationId id="{D31C3255-94AE-4682-8701-4670AD1E580E}"/>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031C1D00-6E47-45B0-B414-46DEB2573650}"/>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Sources: NIH / NHLBI Sleep Phases and Stages; NIH / NICHD What happens during sleep?</a:t>
            </a:r>
          </a:p>
        </p:txBody>
      </p:sp>
      <p:graphicFrame>
        <p:nvGraphicFramePr>
          <p:cNvPr id="15" name=""/>
          <p:cNvGraphicFramePr/>
          <p:nvPr/>
        </p:nvGraphicFramePr>
        <p:xfrm>
          <a:off x="609600" y="1628775"/>
          <a:ext cx="10934700" cy="3914775"/>
        </p:xfrm>
        <a:graphic>
          <a:graphicData uri="http://schemas.openxmlformats.org/drawingml/2006/table">
            <a:tbl>
              <a:tblPr/>
              <a:tblGrid>
                <a:gridCol w="1285875"/>
                <a:gridCol w="4857750"/>
                <a:gridCol w="4791075"/>
              </a:tblGrid>
              <a:tr h="652463">
                <a:tc>
                  <a:txBody>
                    <a:bodyPr>
                      <a:noAutofit/>
                    </a:bodyPr>
                    <a:lstStyle/>
                    <a:p>
                      <a:r>
                        <a:rPr sz="1725" b="1">
                          <a:solidFill>
                            <a:srgbClr val="FFFFFF"/>
                          </a:solidFill>
                          <a:latin typeface="Arial"/>
                          <a:ea typeface="Arial"/>
                          <a:cs typeface="Arial"/>
                        </a:rPr>
                        <a:t>Stage</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What it means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Why we measure it</a:t>
                      </a:r>
                    </a:p>
                  </a:txBody>
                  <a:tcPr marL="91440" marR="91440" marT="45720" marB="45720">
                    <a:solidFill>
                      <a:srgbClr val="18558A"/>
                    </a:solidFill>
                  </a:tcPr>
                </a:tc>
              </a:tr>
              <a:tr h="652463">
                <a:tc>
                  <a:txBody>
                    <a:bodyPr>
                      <a:noAutofit/>
                    </a:bodyPr>
                    <a:lstStyle/>
                    <a:p>
                      <a:r>
                        <a:rPr sz="1725" b="1">
                          <a:solidFill>
                            <a:srgbClr val="FFFFFF"/>
                          </a:solidFill>
                          <a:latin typeface="Arial"/>
                          <a:ea typeface="Arial"/>
                          <a:cs typeface="Arial"/>
                        </a:rPr>
                        <a:t>Wake</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Awake before or between</a:t>
                      </a:r>
                    </a:p>
                    <a:p>
                      <a:r>
                        <a:rPr sz="1725" b="0">
                          <a:solidFill>
                            <a:srgbClr val="FFFFFF"/>
                          </a:solidFill>
                          <a:latin typeface="Arial"/>
                          <a:ea typeface="Arial"/>
                          <a:cs typeface="Arial"/>
                        </a:rPr>
                        <a:t>sleep periods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Sleep onset and interruptions</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N1</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Transition from Wake</a:t>
                      </a:r>
                    </a:p>
                    <a:p>
                      <a:r>
                        <a:rPr sz="1725" b="0">
                          <a:solidFill>
                            <a:srgbClr val="FFFFFF"/>
                          </a:solidFill>
                          <a:latin typeface="Arial"/>
                          <a:ea typeface="Arial"/>
                          <a:cs typeface="Arial"/>
                        </a:rPr>
                        <a:t>to light sleep</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Onset of sleep; distinguish N1 from N2</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N2</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Light non-REM sleep;</a:t>
                      </a:r>
                    </a:p>
                    <a:p>
                      <a:r>
                        <a:rPr sz="1725" b="0">
                          <a:solidFill>
                            <a:srgbClr val="FFFFFF"/>
                          </a:solidFill>
                          <a:latin typeface="Arial"/>
                          <a:ea typeface="Arial"/>
                          <a:cs typeface="Arial"/>
                        </a:rPr>
                        <a:t>brain activity slows</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Time in N2; our refinement target</a:t>
                      </a:r>
                    </a:p>
                  </a:txBody>
                  <a:tcPr marL="91440" marR="91440" marT="45720" marB="45720">
                    <a:solidFill>
                      <a:srgbClr val="123658"/>
                    </a:solidFill>
                  </a:tcPr>
                </a:tc>
              </a:tr>
              <a:tr h="652463">
                <a:tc>
                  <a:txBody>
                    <a:bodyPr>
                      <a:noAutofit/>
                    </a:bodyPr>
                    <a:lstStyle/>
                    <a:p>
                      <a:r>
                        <a:rPr sz="1725" b="1">
                          <a:solidFill>
                            <a:srgbClr val="FFFFFF"/>
                          </a:solidFill>
                          <a:latin typeface="Arial"/>
                          <a:ea typeface="Arial"/>
                          <a:cs typeface="Arial"/>
                        </a:rPr>
                        <a:t>N3</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Deep, slow-wave sleep;</a:t>
                      </a:r>
                    </a:p>
                    <a:p>
                      <a:r>
                        <a:rPr sz="1725" b="0">
                          <a:solidFill>
                            <a:srgbClr val="FFFFFF"/>
                          </a:solidFill>
                          <a:latin typeface="Arial"/>
                          <a:ea typeface="Arial"/>
                          <a:cs typeface="Arial"/>
                        </a:rPr>
                        <a:t>supports restoration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Time spent in deep sleep</a:t>
                      </a:r>
                    </a:p>
                  </a:txBody>
                  <a:tcPr marL="91440" marR="91440" marT="45720" marB="45720">
                    <a:solidFill>
                      <a:srgbClr val="1D4770"/>
                    </a:solidFill>
                  </a:tcPr>
                </a:tc>
              </a:tr>
              <a:tr h="652463">
                <a:tc>
                  <a:txBody>
                    <a:bodyPr>
                      <a:noAutofit/>
                    </a:bodyPr>
                    <a:lstStyle/>
                    <a:p>
                      <a:r>
                        <a:rPr sz="1725" b="1">
                          <a:solidFill>
                            <a:srgbClr val="FFFFFF"/>
                          </a:solidFill>
                          <a:latin typeface="Arial"/>
                          <a:ea typeface="Arial"/>
                          <a:cs typeface="Arial"/>
                        </a:rPr>
                        <a:t>REM</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Active brain, rapid eye movements;</a:t>
                      </a:r>
                    </a:p>
                    <a:p>
                      <a:r>
                        <a:rPr sz="1725" b="0">
                          <a:solidFill>
                            <a:srgbClr val="FFFFFF"/>
                          </a:solidFill>
                          <a:latin typeface="Arial"/>
                          <a:ea typeface="Arial"/>
                          <a:cs typeface="Arial"/>
                        </a:rPr>
                        <a:t>dreaming is common</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Timing and duration of REM sleep</a:t>
                      </a:r>
                    </a:p>
                  </a:txBody>
                  <a:tcPr marL="91440" marR="91440" marT="45720" marB="45720">
                    <a:solidFill>
                      <a:srgbClr val="123658"/>
                    </a:solidFill>
                  </a:tcPr>
                </a:tc>
              </a:tr>
            </a:tbl>
          </a:graphicData>
        </a:graphic>
      </p:graphicFrame>
      <p:sp>
        <p:nvSpPr>
          <p:cNvPr id="6" name="">
            <a:extLst>
              <a:ext uri="{FF2B5EF4-FFF2-40B4-BE49-F238E27FC236}">
                <ns2:creationId id="{0873FF7B-BD0C-4B58-A789-4DE490340048}"/>
              </a:ext>
            </a:extLst>
          </p:cNvPr>
          <p:cNvSpPr>
            <a:spLocks noGrp="1"/>
          </p:cNvSpPr>
          <p:nvPr/>
        </p:nvSpPr>
        <p:spPr>
          <a:xfrm>
            <a:off x="609600" y="5800725"/>
            <a:ext cx="10858500" cy="33337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A cycle combines NREM and REM; these stages recur across the night.</a:t>
            </a:r>
          </a:p>
        </p:txBody>
      </p:sp>
      <p:sp>
        <p:nvSpPr>
          <p:cNvPr id="7" name="">
            <a:extLst>
              <a:ext uri="{FF2B5EF4-FFF2-40B4-BE49-F238E27FC236}">
                <ns2:creationId id="{A3B42373-EF27-4653-A207-FF520BC59A1D}"/>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Typically, more N3 occurs early and REM periods lengthen later. Both phases support learning and memory.</a:t>
            </a:r>
          </a:p>
        </p:txBody>
      </p:sp>
      <p:sp>
        <p:nvSpPr>
          <p:cNvPr id="8" name="">
            <a:extLst>
              <a:ext uri="{FF2B5EF4-FFF2-40B4-BE49-F238E27FC236}">
                <ns2:creationId id="{9CDF6D74-3957-4A3D-9551-4FFFA43F2EEE}"/>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04 / 15</a:t>
            </a:r>
          </a:p>
        </p:txBody>
      </p:sp>
    </p:spTree>
    <p:extLst>
      <p:ext uri="{BB962C8B-B14F-4D97-AF65-F5344CB8AC3E}">
        <ns3:creationId val="1202001751"/>
      </p:ext>
    </p:extLst>
  </p:cSld>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9" name="">
            <a:extLst>
              <a:ext uri="{FF2B5EF4-FFF2-40B4-BE49-F238E27FC236}">
                <ns2:creationId id="{83AE9453-A3A0-48B7-B1FD-4E7A9F232AC6}"/>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F2D8B472-841D-4C4D-8F68-8C8888D37CC8}"/>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Literature review and project direction</a:t>
            </a:r>
          </a:p>
        </p:txBody>
      </p:sp>
      <p:sp>
        <p:nvSpPr>
          <p:cNvPr id="3" name="">
            <a:extLst>
              <a:ext uri="{FF2B5EF4-FFF2-40B4-BE49-F238E27FC236}">
                <ns2:creationId id="{3BFC5411-EF13-41D6-89D6-A6577C20D9D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F54E4287-6DDF-4E63-9D17-BB74AAB252B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Selected primary papers; full citations and links in speaker notes</a:t>
            </a:r>
          </a:p>
        </p:txBody>
      </p:sp>
      <p:sp>
        <p:nvSpPr>
          <p:cNvPr id="5" name="">
            <a:extLst>
              <a:ext uri="{FF2B5EF4-FFF2-40B4-BE49-F238E27FC236}">
                <ns2:creationId id="{889AFC30-752C-42E2-989B-B1778799AF9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05 / 15</a:t>
            </a:r>
          </a:p>
        </p:txBody>
      </p:sp>
      <p:graphicFrame>
        <p:nvGraphicFramePr>
          <p:cNvPr id="16" name=""/>
          <p:cNvGraphicFramePr/>
          <p:nvPr/>
        </p:nvGraphicFramePr>
        <p:xfrm>
          <a:off x="609600" y="1600200"/>
          <a:ext cx="10934700" cy="4000500"/>
        </p:xfrm>
        <a:graphic>
          <a:graphicData uri="http://schemas.openxmlformats.org/drawingml/2006/table">
            <a:tbl>
              <a:tblPr/>
              <a:tblGrid>
                <a:gridCol w="3143250"/>
                <a:gridCol w="3905250"/>
                <a:gridCol w="3886200"/>
              </a:tblGrid>
              <a:tr h="666750">
                <a:tc>
                  <a:txBody>
                    <a:bodyPr>
                      <a:noAutofit/>
                    </a:bodyPr>
                    <a:lstStyle/>
                    <a:p>
                      <a:r>
                        <a:rPr sz="1650" b="1">
                          <a:solidFill>
                            <a:srgbClr val="FFFFFF"/>
                          </a:solidFill>
                          <a:latin typeface="Arial"/>
                          <a:ea typeface="Arial"/>
                          <a:cs typeface="Arial"/>
                        </a:rPr>
                        <a:t>Study</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Main contribution</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Relevance to our project</a:t>
                      </a:r>
                    </a:p>
                  </a:txBody>
                  <a:tcPr marL="91440" marR="91440" marT="45720" marB="45720">
                    <a:solidFill>
                      <a:srgbClr val="18558A"/>
                    </a:solidFill>
                  </a:tcPr>
                </a:tc>
              </a:tr>
              <a:tr h="666750">
                <a:tc>
                  <a:txBody>
                    <a:bodyPr>
                      <a:noAutofit/>
                    </a:bodyPr>
                    <a:lstStyle/>
                    <a:p>
                      <a:r>
                        <a:rPr sz="1650" b="0">
                          <a:solidFill>
                            <a:srgbClr val="FFFFFF"/>
                          </a:solidFill>
                          <a:latin typeface="Arial"/>
                          <a:ea typeface="Arial"/>
                          <a:cs typeface="Arial"/>
                        </a:rPr>
                        <a:t>DeepSleepNet</a:t>
                      </a:r>
                    </a:p>
                    <a:p>
                      <a:r>
                        <a:rPr sz="1650" b="0">
                          <a:solidFill>
                            <a:srgbClr val="FFFFFF"/>
                          </a:solidFill>
                          <a:latin typeface="Arial"/>
                          <a:ea typeface="Arial"/>
                          <a:cs typeface="Arial"/>
                        </a:rPr>
                        <a:t>Supratak et al., 2017</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CNN features + BiLSTM</a:t>
                      </a:r>
                    </a:p>
                    <a:p>
                      <a:r>
                        <a:rPr sz="1650" b="0">
                          <a:solidFill>
                            <a:srgbClr val="FFFFFF"/>
                          </a:solidFill>
                          <a:latin typeface="Arial"/>
                          <a:ea typeface="Arial"/>
                          <a:cs typeface="Arial"/>
                        </a:rPr>
                        <a:t>across EEG epochs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Compare a learned</a:t>
                      </a:r>
                    </a:p>
                    <a:p>
                      <a:r>
                        <a:rPr sz="1650" b="0">
                          <a:solidFill>
                            <a:srgbClr val="FFFFFF"/>
                          </a:solidFill>
                          <a:latin typeface="Arial"/>
                          <a:ea typeface="Arial"/>
                          <a:cs typeface="Arial"/>
                        </a:rPr>
                        <a:t>sequence-context baseline</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SeqSleepNet</a:t>
                      </a:r>
                    </a:p>
                    <a:p>
                      <a:r>
                        <a:rPr sz="1650" b="0">
                          <a:solidFill>
                            <a:srgbClr val="FFFFFF"/>
                          </a:solidFill>
                          <a:latin typeface="Arial"/>
                          <a:ea typeface="Arial"/>
                          <a:cs typeface="Arial"/>
                        </a:rPr>
                        <a:t>Phan et al., 2019</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Hierarchical recurrent</a:t>
                      </a:r>
                    </a:p>
                    <a:p>
                      <a:r>
                        <a:rPr sz="1650" b="0">
                          <a:solidFill>
                            <a:srgbClr val="FFFFFF"/>
                          </a:solidFill>
                          <a:latin typeface="Arial"/>
                          <a:ea typeface="Arial"/>
                          <a:cs typeface="Arial"/>
                        </a:rPr>
                        <a:t>sequence-to-sequence staging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Add context between epochs;</a:t>
                      </a:r>
                    </a:p>
                    <a:p>
                      <a:r>
                        <a:rPr sz="1650" b="0">
                          <a:solidFill>
                            <a:srgbClr val="FFFFFF"/>
                          </a:solidFill>
                          <a:latin typeface="Arial"/>
                          <a:ea typeface="Arial"/>
                          <a:cs typeface="Arial"/>
                        </a:rPr>
                        <a:t>current model is within-epoch</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U-Sleep</a:t>
                      </a:r>
                    </a:p>
                    <a:p>
                      <a:r>
                        <a:rPr sz="1650" b="0">
                          <a:solidFill>
                            <a:srgbClr val="FFFFFF"/>
                          </a:solidFill>
                          <a:latin typeface="Arial"/>
                          <a:ea typeface="Arial"/>
                          <a:cs typeface="Arial"/>
                        </a:rPr>
                        <a:t>Perslev et al., 2021</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Fully convolutional staging</a:t>
                      </a:r>
                    </a:p>
                    <a:p>
                      <a:r>
                        <a:rPr sz="1650" b="0">
                          <a:solidFill>
                            <a:srgbClr val="FFFFFF"/>
                          </a:solidFill>
                          <a:latin typeface="Arial"/>
                          <a:ea typeface="Arial"/>
                          <a:cs typeface="Arial"/>
                        </a:rPr>
                        <a:t>across clinical cohorts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transfer and robustness</a:t>
                      </a:r>
                    </a:p>
                    <a:p>
                      <a:r>
                        <a:rPr sz="1650" b="0">
                          <a:solidFill>
                            <a:srgbClr val="FFFFFF"/>
                          </a:solidFill>
                          <a:latin typeface="Arial"/>
                          <a:ea typeface="Arial"/>
                          <a:cs typeface="Arial"/>
                        </a:rPr>
                        <a:t>on a separate dataset</a:t>
                      </a:r>
                    </a:p>
                  </a:txBody>
                  <a:tcPr marL="91440" marR="91440" marT="45720" marB="45720">
                    <a:solidFill>
                      <a:srgbClr val="123658"/>
                    </a:solidFill>
                  </a:tcPr>
                </a:tc>
              </a:tr>
              <a:tr h="666750">
                <a:tc>
                  <a:txBody>
                    <a:bodyPr>
                      <a:noAutofit/>
                    </a:bodyPr>
                    <a:lstStyle/>
                    <a:p>
                      <a:r>
                        <a:rPr sz="1650" b="0">
                          <a:solidFill>
                            <a:srgbClr val="FFFFFF"/>
                          </a:solidFill>
                          <a:latin typeface="Arial"/>
                          <a:ea typeface="Arial"/>
                          <a:cs typeface="Arial"/>
                        </a:rPr>
                        <a:t>RobustSleepNet</a:t>
                      </a:r>
                    </a:p>
                    <a:p>
                      <a:r>
                        <a:rPr sz="1650" b="0">
                          <a:solidFill>
                            <a:srgbClr val="FFFFFF"/>
                          </a:solidFill>
                          <a:latin typeface="Arial"/>
                          <a:ea typeface="Arial"/>
                          <a:cs typeface="Arial"/>
                        </a:rPr>
                        <a:t>Guillot &amp; Thorey, 2021</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Montage flexibility and</a:t>
                      </a:r>
                    </a:p>
                    <a:p>
                      <a:r>
                        <a:rPr sz="1650" b="0">
                          <a:solidFill>
                            <a:srgbClr val="FFFFFF"/>
                          </a:solidFill>
                          <a:latin typeface="Arial"/>
                          <a:ea typeface="Arial"/>
                          <a:cs typeface="Arial"/>
                        </a:rPr>
                        <a:t>leave-one-dataset-out testing</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Check channel compatibility</a:t>
                      </a:r>
                    </a:p>
                    <a:p>
                      <a:r>
                        <a:rPr sz="1650" b="0">
                          <a:solidFill>
                            <a:srgbClr val="FFFFFF"/>
                          </a:solidFill>
                          <a:latin typeface="Arial"/>
                          <a:ea typeface="Arial"/>
                          <a:cs typeface="Arial"/>
                        </a:rPr>
                        <a:t>and external generalization</a:t>
                      </a:r>
                    </a:p>
                  </a:txBody>
                  <a:tcPr marL="91440" marR="91440" marT="45720" marB="45720">
                    <a:solidFill>
                      <a:srgbClr val="1D4770"/>
                    </a:solidFill>
                  </a:tcPr>
                </a:tc>
              </a:tr>
              <a:tr h="666750">
                <a:tc>
                  <a:txBody>
                    <a:bodyPr>
                      <a:noAutofit/>
                    </a:bodyPr>
                    <a:lstStyle/>
                    <a:p>
                      <a:r>
                        <a:rPr sz="1650" b="0">
                          <a:solidFill>
                            <a:srgbClr val="FFFFFF"/>
                          </a:solidFill>
                          <a:latin typeface="Arial"/>
                          <a:ea typeface="Arial"/>
                          <a:cs typeface="Arial"/>
                        </a:rPr>
                        <a:t>SLEEPYLAND</a:t>
                      </a:r>
                    </a:p>
                    <a:p>
                      <a:r>
                        <a:rPr sz="1650" b="0">
                          <a:solidFill>
                            <a:srgbClr val="FFFFFF"/>
                          </a:solidFill>
                          <a:latin typeface="Arial"/>
                          <a:ea typeface="Arial"/>
                          <a:cs typeface="Arial"/>
                        </a:rPr>
                        <a:t>Dei Rossi et al., 2025*</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Standardized evaluation;</a:t>
                      </a:r>
                    </a:p>
                    <a:p>
                      <a:r>
                        <a:rPr sz="1650" b="0">
                          <a:solidFill>
                            <a:srgbClr val="FFFFFF"/>
                          </a:solidFill>
                          <a:latin typeface="Arial"/>
                          <a:ea typeface="Arial"/>
                          <a:cs typeface="Arial"/>
                        </a:rPr>
                        <a:t>SOMNUS soft-voting ensemble</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Test model fusion and</a:t>
                      </a:r>
                    </a:p>
                    <a:p>
                      <a:r>
                        <a:rPr sz="1650" b="0">
                          <a:solidFill>
                            <a:srgbClr val="FFFFFF"/>
                          </a:solidFill>
                          <a:latin typeface="Arial"/>
                          <a:ea typeface="Arial"/>
                          <a:cs typeface="Arial"/>
                        </a:rPr>
                        <a:t>calibrate the final output</a:t>
                      </a:r>
                    </a:p>
                  </a:txBody>
                  <a:tcPr marL="91440" marR="91440" marT="45720" marB="45720">
                    <a:solidFill>
                      <a:srgbClr val="123658"/>
                    </a:solidFill>
                  </a:tcPr>
                </a:tc>
              </a:tr>
            </a:tbl>
          </a:graphicData>
        </a:graphic>
      </p:graphicFrame>
      <p:sp>
        <p:nvSpPr>
          <p:cNvPr id="7" name="">
            <a:extLst>
              <a:ext uri="{FF2B5EF4-FFF2-40B4-BE49-F238E27FC236}">
                <ns2:creationId id="{78D03B09-FFC5-4AA1-941C-DA9AC3929386}"/>
              </a:ext>
            </a:extLst>
          </p:cNvPr>
          <p:cNvSpPr>
            <a:spLocks noGrp="1"/>
          </p:cNvSpPr>
          <p:nvPr/>
        </p:nvSpPr>
        <p:spPr>
          <a:xfrm>
            <a:off x="609600" y="5810250"/>
            <a:ext cx="10858500" cy="342900"/>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Design direction: targeted experts + sequence context + fair external evaluation</a:t>
            </a:r>
          </a:p>
        </p:txBody>
      </p:sp>
      <p:sp>
        <p:nvSpPr>
          <p:cNvPr id="8" name="">
            <a:extLst>
              <a:ext uri="{FF2B5EF4-FFF2-40B4-BE49-F238E27FC236}">
                <ns2:creationId id="{60C0E19B-6892-4D12-8373-99D13442B837}"/>
              </a:ext>
            </a:extLst>
          </p:cNvPr>
          <p:cNvSpPr>
            <a:spLocks noGrp="1"/>
          </p:cNvSpPr>
          <p:nvPr/>
        </p:nvSpPr>
        <p:spPr>
          <a:xfrm>
            <a:off x="609600" y="6200775"/>
            <a:ext cx="10858500" cy="23812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*2025 arXiv preprint. Published scores use different datasets and protocols; no direct ranking is claimed.</a:t>
            </a:r>
          </a:p>
        </p:txBody>
      </p:sp>
    </p:spTree>
    <p:extLst>
      <p:ext uri="{BB962C8B-B14F-4D97-AF65-F5344CB8AC3E}">
        <ns3:creationId val="1069184251"/>
      </p:ext>
    </p:extLst>
  </p:cSld>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24C7B66E-3A83-491F-AB62-639A6C1C1DE8}"/>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56C77D5-37B8-42FE-A385-29B9C6D7B88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Dataset and 30-second EEG epochs</a:t>
            </a:r>
          </a:p>
        </p:txBody>
      </p:sp>
      <p:sp>
        <p:nvSpPr>
          <p:cNvPr id="3" name="">
            <a:extLst>
              <a:ext uri="{FF2B5EF4-FFF2-40B4-BE49-F238E27FC236}">
                <ns2:creationId id="{5B9DD5A0-7AEC-40D2-8643-442D8D8A70A9}"/>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4D508E73-3489-4F01-9CF9-897C85E8EBFA}"/>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PhysioNet HMC v1.1; verified split_summary.json</a:t>
            </a:r>
          </a:p>
        </p:txBody>
      </p:sp>
      <p:sp>
        <p:nvSpPr>
          <p:cNvPr id="5" name="">
            <a:extLst>
              <a:ext uri="{FF2B5EF4-FFF2-40B4-BE49-F238E27FC236}">
                <ns2:creationId id="{B20068BF-D435-47E3-B638-561038BE57B2}"/>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06 / 15</a:t>
            </a:r>
          </a:p>
        </p:txBody>
      </p:sp>
      <p:sp>
        <p:nvSpPr>
          <p:cNvPr id="6" name="">
            <a:extLst>
              <a:ext uri="{FF2B5EF4-FFF2-40B4-BE49-F238E27FC236}">
                <ns2:creationId id="{C23C1947-9140-4F45-B721-A68E4A694055}"/>
              </a:ext>
            </a:extLst>
          </p:cNvPr>
          <p:cNvSpPr>
            <a:spLocks noGrp="1"/>
          </p:cNvSpPr>
          <p:nvPr/>
        </p:nvSpPr>
        <p:spPr>
          <a:xfrm>
            <a:off x="609600" y="1581150"/>
            <a:ext cx="10934700" cy="38100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HMC v1.1: 151 clinical PSG recordings; project subset: 24 recordings</a:t>
            </a:r>
          </a:p>
        </p:txBody>
      </p:sp>
      <p:graphicFrame>
        <p:nvGraphicFramePr>
          <p:cNvPr id="23" name=""/>
          <p:cNvGraphicFramePr/>
          <p:nvPr/>
        </p:nvGraphicFramePr>
        <p:xfrm>
          <a:off x="609600" y="2286000"/>
          <a:ext cx="5429250" cy="2857500"/>
        </p:xfrm>
        <a:graphic>
          <a:graphicData uri="http://schemas.openxmlformats.org/drawingml/2006/table">
            <a:tbl>
              <a:tblPr/>
              <a:tblGrid>
                <a:gridCol w="2238375"/>
                <a:gridCol w="1428750"/>
                <a:gridCol w="1762125"/>
              </a:tblGrid>
              <a:tr h="571500">
                <a:tc>
                  <a:txBody>
                    <a:bodyPr>
                      <a:noAutofit/>
                    </a:bodyPr>
                    <a:lstStyle/>
                    <a:p>
                      <a:r>
                        <a:rPr sz="1725" b="1">
                          <a:solidFill>
                            <a:srgbClr val="FFFFFF"/>
                          </a:solidFill>
                          <a:latin typeface="Arial"/>
                          <a:ea typeface="Arial"/>
                          <a:cs typeface="Arial"/>
                        </a:rPr>
                        <a:t>Partition</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Recordings</a:t>
                      </a:r>
                    </a:p>
                  </a:txBody>
                  <a:tcPr marL="91440" marR="91440" marT="45720" marB="45720">
                    <a:solidFill>
                      <a:srgbClr val="18558A"/>
                    </a:solidFill>
                  </a:tcPr>
                </a:tc>
                <a:tc>
                  <a:txBody>
                    <a:bodyPr>
                      <a:noAutofit/>
                    </a:bodyPr>
                    <a:lstStyle/>
                    <a:p>
                      <a:r>
                        <a:rPr sz="1725" b="1">
                          <a:solidFill>
                            <a:srgbClr val="FFFFFF"/>
                          </a:solidFill>
                          <a:latin typeface="Arial"/>
                          <a:ea typeface="Arial"/>
                          <a:cs typeface="Arial"/>
                        </a:rPr>
                        <a:t>EEG epochs</a:t>
                      </a:r>
                    </a:p>
                  </a:txBody>
                  <a:tcPr marL="91440" marR="91440" marT="45720" marB="45720">
                    <a:solidFill>
                      <a:srgbClr val="18558A"/>
                    </a:solidFill>
                  </a:tcPr>
                </a:tc>
              </a:tr>
              <a:tr h="571500">
                <a:tc>
                  <a:txBody>
                    <a:bodyPr>
                      <a:noAutofit/>
                    </a:bodyPr>
                    <a:lstStyle/>
                    <a:p>
                      <a:r>
                        <a:rPr sz="1725" b="0">
                          <a:solidFill>
                            <a:srgbClr val="FFFFFF"/>
                          </a:solidFill>
                          <a:latin typeface="Arial"/>
                          <a:ea typeface="Arial"/>
                          <a:cs typeface="Arial"/>
                        </a:rPr>
                        <a:t>Training</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16</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15,216</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Validation</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3,619</a:t>
                      </a:r>
                    </a:p>
                  </a:txBody>
                  <a:tcPr marL="91440" marR="91440" marT="45720" marB="45720">
                    <a:solidFill>
                      <a:srgbClr val="1D4770"/>
                    </a:solidFill>
                  </a:tcPr>
                </a:tc>
              </a:tr>
              <a:tr h="571500">
                <a:tc>
                  <a:txBody>
                    <a:bodyPr>
                      <a:noAutofit/>
                    </a:bodyPr>
                    <a:lstStyle/>
                    <a:p>
                      <a:r>
                        <a:rPr sz="1725" b="0">
                          <a:solidFill>
                            <a:srgbClr val="FFFFFF"/>
                          </a:solidFill>
                          <a:latin typeface="Arial"/>
                          <a:ea typeface="Arial"/>
                          <a:cs typeface="Arial"/>
                        </a:rPr>
                        <a:t>Test</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4</a:t>
                      </a:r>
                    </a:p>
                  </a:txBody>
                  <a:tcPr marL="91440" marR="91440" marT="45720" marB="45720">
                    <a:solidFill>
                      <a:srgbClr val="123658"/>
                    </a:solidFill>
                  </a:tcPr>
                </a:tc>
                <a:tc>
                  <a:txBody>
                    <a:bodyPr>
                      <a:noAutofit/>
                    </a:bodyPr>
                    <a:lstStyle/>
                    <a:p>
                      <a:r>
                        <a:rPr sz="1725" b="0">
                          <a:solidFill>
                            <a:srgbClr val="FFFFFF"/>
                          </a:solidFill>
                          <a:latin typeface="Arial"/>
                          <a:ea typeface="Arial"/>
                          <a:cs typeface="Arial"/>
                        </a:rPr>
                        <a:t>3,109</a:t>
                      </a:r>
                    </a:p>
                  </a:txBody>
                  <a:tcPr marL="91440" marR="91440" marT="45720" marB="45720">
                    <a:solidFill>
                      <a:srgbClr val="123658"/>
                    </a:solidFill>
                  </a:tcPr>
                </a:tc>
              </a:tr>
              <a:tr h="571500">
                <a:tc>
                  <a:txBody>
                    <a:bodyPr>
                      <a:noAutofit/>
                    </a:bodyPr>
                    <a:lstStyle/>
                    <a:p>
                      <a:r>
                        <a:rPr sz="1725" b="0">
                          <a:solidFill>
                            <a:srgbClr val="FFFFFF"/>
                          </a:solidFill>
                          <a:latin typeface="Arial"/>
                          <a:ea typeface="Arial"/>
                          <a:cs typeface="Arial"/>
                        </a:rPr>
                        <a:t>Total</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24</a:t>
                      </a:r>
                    </a:p>
                  </a:txBody>
                  <a:tcPr marL="91440" marR="91440" marT="45720" marB="45720">
                    <a:solidFill>
                      <a:srgbClr val="1D4770"/>
                    </a:solidFill>
                  </a:tcPr>
                </a:tc>
                <a:tc>
                  <a:txBody>
                    <a:bodyPr>
                      <a:noAutofit/>
                    </a:bodyPr>
                    <a:lstStyle/>
                    <a:p>
                      <a:r>
                        <a:rPr sz="1725" b="0">
                          <a:solidFill>
                            <a:srgbClr val="FFFFFF"/>
                          </a:solidFill>
                          <a:latin typeface="Arial"/>
                          <a:ea typeface="Arial"/>
                          <a:cs typeface="Arial"/>
                        </a:rPr>
                        <a:t>21,944</a:t>
                      </a:r>
                    </a:p>
                  </a:txBody>
                  <a:tcPr marL="91440" marR="91440" marT="45720" marB="45720">
                    <a:solidFill>
                      <a:srgbClr val="1D4770"/>
                    </a:solidFill>
                  </a:tcPr>
                </a:tc>
              </a:tr>
            </a:tbl>
          </a:graphicData>
        </a:graphic>
      </p:graphicFrame>
      <p:sp>
        <p:nvSpPr>
          <p:cNvPr id="8" name="">
            <a:extLst>
              <a:ext uri="{FF2B5EF4-FFF2-40B4-BE49-F238E27FC236}">
                <ns2:creationId id="{57147288-5914-416E-BA22-15CF090CA854}"/>
              </a:ext>
            </a:extLst>
          </p:cNvPr>
          <p:cNvSpPr>
            <a:spLocks noGrp="1"/>
          </p:cNvSpPr>
          <p:nvPr/>
        </p:nvSpPr>
        <p:spPr>
          <a:xfrm>
            <a:off x="6534150" y="2295525"/>
            <a:ext cx="4953000" cy="381000"/>
          </a:xfrm>
          <a:prstGeom prst="rect">
            <a:avLst/>
          </a:prstGeom>
          <a:noFill/>
          <a:ln w="0">
            <a:noFill/>
          </a:ln>
        </p:spPr>
        <p:txBody>
          <a:bodyPr lIns="0" tIns="0" rIns="0" bIns="0" anchor="t">
            <a:noAutofit/>
          </a:bodyPr>
          <a:lstStyle/>
          <a:p>
            <a:pPr algn="l">
              <a:buNone/>
              <a:defRPr sz="1950" b="1">
                <a:solidFill>
                  <a:srgbClr val="75D5FF"/>
                </a:solidFill>
                <a:latin typeface="Arial"/>
                <a:ea typeface="Arial"/>
                <a:cs typeface="Arial"/>
              </a:defRPr>
            </a:pPr>
            <a:r>
              <a:rPr sz="1950" b="1">
                <a:solidFill>
                  <a:srgbClr val="75D5FF"/>
                </a:solidFill>
                <a:latin typeface="Arial"/>
                <a:ea typeface="Arial"/>
                <a:cs typeface="Arial"/>
              </a:rPr>
              <a:t>One EEG epoch = one 30 s segment</a:t>
            </a:r>
          </a:p>
        </p:txBody>
      </p:sp>
      <p:sp>
        <p:nvSpPr>
          <p:cNvPr id="9" name="">
            <a:extLst>
              <a:ext uri="{FF2B5EF4-FFF2-40B4-BE49-F238E27FC236}">
                <ns2:creationId id="{5C81E5BD-32DC-4F51-8139-B02B9163CA5C}"/>
              </a:ext>
            </a:extLst>
          </p:cNvPr>
          <p:cNvSpPr>
            <a:spLocks noGrp="1"/>
          </p:cNvSpPr>
          <p:nvPr/>
        </p:nvSpPr>
        <p:spPr>
          <a:xfrm>
            <a:off x="653415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0–30 s</a:t>
            </a:r>
          </a:p>
        </p:txBody>
      </p:sp>
      <p:sp>
        <p:nvSpPr>
          <p:cNvPr id="10" name="">
            <a:extLst>
              <a:ext uri="{FF2B5EF4-FFF2-40B4-BE49-F238E27FC236}">
                <ns2:creationId id="{9B98B8D3-04EA-49B4-811C-003B6DEF4F19}"/>
              </a:ext>
            </a:extLst>
          </p:cNvPr>
          <p:cNvSpPr>
            <a:spLocks noGrp="1"/>
          </p:cNvSpPr>
          <p:nvPr/>
        </p:nvSpPr>
        <p:spPr>
          <a:xfrm>
            <a:off x="8201025"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30–60 s</a:t>
            </a:r>
          </a:p>
        </p:txBody>
      </p:sp>
      <p:sp>
        <p:nvSpPr>
          <p:cNvPr id="11" name="">
            <a:extLst>
              <a:ext uri="{FF2B5EF4-FFF2-40B4-BE49-F238E27FC236}">
                <ns2:creationId id="{0C5B8F8E-F86A-4CB4-BFDB-3736BD97B2C9}"/>
              </a:ext>
            </a:extLst>
          </p:cNvPr>
          <p:cNvSpPr>
            <a:spLocks noGrp="1"/>
          </p:cNvSpPr>
          <p:nvPr/>
        </p:nvSpPr>
        <p:spPr>
          <a:xfrm>
            <a:off x="9867900" y="2971800"/>
            <a:ext cx="1504950" cy="6286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60–90 s</a:t>
            </a:r>
          </a:p>
        </p:txBody>
      </p:sp>
      <p:sp>
        <p:nvSpPr>
          <p:cNvPr id="12" name="">
            <a:extLst>
              <a:ext uri="{FF2B5EF4-FFF2-40B4-BE49-F238E27FC236}">
                <ns2:creationId id="{BC2A8BB5-F9B5-4E5C-AE10-45EE9C22AA2F}"/>
              </a:ext>
            </a:extLst>
          </p:cNvPr>
          <p:cNvSpPr>
            <a:spLocks noGrp="1"/>
          </p:cNvSpPr>
          <p:nvPr/>
        </p:nvSpPr>
        <p:spPr>
          <a:xfrm>
            <a:off x="6534150" y="3924300"/>
            <a:ext cx="4953000" cy="952500"/>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At 100 Hz: 30 × 100 = 3,000 samples</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Four channels → input shape 4 × 3,000</a:t>
            </a:r>
          </a:p>
        </p:txBody>
      </p:sp>
      <p:sp>
        <p:nvSpPr>
          <p:cNvPr id="13" name="">
            <a:extLst>
              <a:ext uri="{FF2B5EF4-FFF2-40B4-BE49-F238E27FC236}">
                <ns2:creationId id="{5AABC591-C608-4EB3-B495-8314DE0B0433}"/>
              </a:ext>
            </a:extLst>
          </p:cNvPr>
          <p:cNvSpPr>
            <a:spLocks noGrp="1"/>
          </p:cNvSpPr>
          <p:nvPr/>
        </p:nvSpPr>
        <p:spPr>
          <a:xfrm>
            <a:off x="6534150" y="5067300"/>
            <a:ext cx="4953000" cy="381000"/>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F4-M1 · C4-M1 · O2-M1 · C3-M2</a:t>
            </a:r>
          </a:p>
        </p:txBody>
      </p:sp>
      <p:sp>
        <p:nvSpPr>
          <p:cNvPr id="14" name="">
            <a:extLst>
              <a:ext uri="{FF2B5EF4-FFF2-40B4-BE49-F238E27FC236}">
                <ns2:creationId id="{50F34D03-0627-4943-B7DC-A0749811A30A}"/>
              </a:ext>
            </a:extLst>
          </p:cNvPr>
          <p:cNvSpPr>
            <a:spLocks noGrp="1"/>
          </p:cNvSpPr>
          <p:nvPr/>
        </p:nvSpPr>
        <p:spPr>
          <a:xfrm>
            <a:off x="609600" y="5848350"/>
            <a:ext cx="10934700" cy="514350"/>
          </a:xfrm>
          <a:prstGeom prst="rect">
            <a:avLst/>
          </a:prstGeom>
          <a:noFill/>
          <a:ln w="0">
            <a:noFill/>
          </a:ln>
        </p:spPr>
        <p:txBody>
          <a:bodyPr lIns="0" tIns="0" rIns="0" bIns="0" anchor="t">
            <a:noAutofit/>
          </a:bodyPr>
          <a:lstStyle/>
          <a:p>
            <a:pPr algn="l">
              <a:buNone/>
              <a:defRPr sz="1500" b="0">
                <a:solidFill>
                  <a:srgbClr val="BED0E4"/>
                </a:solidFill>
                <a:latin typeface="Arial"/>
                <a:ea typeface="Arial"/>
                <a:cs typeface="Arial"/>
              </a:defRPr>
            </a:pPr>
            <a:r>
              <a:rPr sz="1500" b="0">
                <a:solidFill>
                  <a:srgbClr val="BED0E4"/>
                </a:solidFill>
                <a:latin typeface="Arial"/>
                <a:ea typeface="Arial"/>
                <a:cs typeface="Arial"/>
              </a:rPr>
              <a:t>Split by recording ID. SN001 covers only 190 epochs (95 min); whole-night claims are unsupported.</a:t>
            </a:r>
          </a:p>
        </p:txBody>
      </p:sp>
    </p:spTree>
    <p:extLst>
      <p:ext uri="{BB962C8B-B14F-4D97-AF65-F5344CB8AC3E}">
        <ns3:creationId val="3355814683"/>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BD7E4CAC-2CD8-4765-83CF-5C9B2159BD2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1587AE5-EB65-42A1-BD4D-D3B91A2DD40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EEG preprocessing</a:t>
            </a:r>
          </a:p>
        </p:txBody>
      </p:sp>
      <p:sp>
        <p:nvSpPr>
          <p:cNvPr id="3" name="">
            <a:extLst>
              <a:ext uri="{FF2B5EF4-FFF2-40B4-BE49-F238E27FC236}">
                <ns2:creationId id="{FF0BC5C8-9BF8-4CC4-83EA-38665EE465CA}"/>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5FAF112-65F0-4EBF-8B3E-EBE2B180243C}"/>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preprocessing lineage; archived matched SN009 signal example</a:t>
            </a:r>
          </a:p>
        </p:txBody>
      </p:sp>
      <p:sp>
        <p:nvSpPr>
          <p:cNvPr id="5" name="">
            <a:extLst>
              <a:ext uri="{FF2B5EF4-FFF2-40B4-BE49-F238E27FC236}">
                <ns2:creationId id="{E8BBBD98-7BFA-4F8E-82CD-B4BD83D94191}"/>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07 / 15</a:t>
            </a:r>
          </a:p>
        </p:txBody>
      </p:sp>
      <p:sp>
        <p:nvSpPr>
          <p:cNvPr id="6" name="">
            <a:extLst>
              <a:ext uri="{FF2B5EF4-FFF2-40B4-BE49-F238E27FC236}">
                <ns2:creationId id="{A0E14CBE-1CB7-40D5-BF3B-C32BA032913C}"/>
              </a:ext>
            </a:extLst>
          </p:cNvPr>
          <p:cNvSpPr>
            <a:spLocks noGrp="1"/>
          </p:cNvSpPr>
          <p:nvPr/>
        </p:nvSpPr>
        <p:spPr>
          <a:xfrm>
            <a:off x="6096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Select 4</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channels</a:t>
            </a:r>
          </a:p>
        </p:txBody>
      </p:sp>
      <p:sp>
        <p:nvSpPr>
          <p:cNvPr id="7" name="">
            <a:extLst>
              <a:ext uri="{FF2B5EF4-FFF2-40B4-BE49-F238E27FC236}">
                <ns2:creationId id="{946A2F46-DD23-4AA7-BC53-AEB0D9E213F9}"/>
              </a:ext>
            </a:extLst>
          </p:cNvPr>
          <p:cNvSpPr>
            <a:spLocks noGrp="1"/>
          </p:cNvSpPr>
          <p:nvPr/>
        </p:nvSpPr>
        <p:spPr>
          <a:xfrm>
            <a:off x="2600325" y="2028825"/>
            <a:ext cx="219075" cy="171450"/>
          </a:xfrm>
          <a:prstGeom prst="rightArrow">
            <a:avLst/>
          </a:prstGeom>
          <a:solidFill>
            <a:srgbClr val="75D5FF"/>
          </a:solidFill>
          <a:ln w="14288">
            <a:solidFill>
              <a:srgbClr val="75D5FF"/>
            </a:solidFill>
          </a:ln>
        </p:spPr>
      </p:sp>
      <p:sp>
        <p:nvSpPr>
          <p:cNvPr id="8" name="">
            <a:extLst>
              <a:ext uri="{FF2B5EF4-FFF2-40B4-BE49-F238E27FC236}">
                <ns2:creationId id="{3031BEBE-3A55-496B-A971-59989A911162}"/>
              </a:ext>
            </a:extLst>
          </p:cNvPr>
          <p:cNvSpPr>
            <a:spLocks noGrp="1"/>
          </p:cNvSpPr>
          <p:nvPr/>
        </p:nvSpPr>
        <p:spPr>
          <a:xfrm>
            <a:off x="284797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50 Hz notch</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at 256 Hz</a:t>
            </a:r>
          </a:p>
        </p:txBody>
      </p:sp>
      <p:sp>
        <p:nvSpPr>
          <p:cNvPr id="9" name="">
            <a:extLst>
              <a:ext uri="{FF2B5EF4-FFF2-40B4-BE49-F238E27FC236}">
                <ns2:creationId id="{8B7B2585-7DF7-4144-B099-CB3FB11894F0}"/>
              </a:ext>
            </a:extLst>
          </p:cNvPr>
          <p:cNvSpPr>
            <a:spLocks noGrp="1"/>
          </p:cNvSpPr>
          <p:nvPr/>
        </p:nvSpPr>
        <p:spPr>
          <a:xfrm>
            <a:off x="4838700" y="2028825"/>
            <a:ext cx="219075" cy="171450"/>
          </a:xfrm>
          <a:prstGeom prst="rightArrow">
            <a:avLst/>
          </a:prstGeom>
          <a:solidFill>
            <a:srgbClr val="75D5FF"/>
          </a:solidFill>
          <a:ln w="14288">
            <a:solidFill>
              <a:srgbClr val="75D5FF"/>
            </a:solidFill>
          </a:ln>
        </p:spPr>
      </p:sp>
      <p:sp>
        <p:nvSpPr>
          <p:cNvPr id="10" name="">
            <a:extLst>
              <a:ext uri="{FF2B5EF4-FFF2-40B4-BE49-F238E27FC236}">
                <ns2:creationId id="{5A2D4C40-11F0-44AB-BDFE-D2EE7BAD673B}"/>
              </a:ext>
            </a:extLst>
          </p:cNvPr>
          <p:cNvSpPr>
            <a:spLocks noGrp="1"/>
          </p:cNvSpPr>
          <p:nvPr/>
        </p:nvSpPr>
        <p:spPr>
          <a:xfrm>
            <a:off x="508635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Bandpass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0.3–35 Hz</a:t>
            </a:r>
          </a:p>
        </p:txBody>
      </p:sp>
      <p:sp>
        <p:nvSpPr>
          <p:cNvPr id="11" name="">
            <a:extLst>
              <a:ext uri="{FF2B5EF4-FFF2-40B4-BE49-F238E27FC236}">
                <ns2:creationId id="{9720FF8C-4569-4DAD-8DE0-5834D31D8F15}"/>
              </a:ext>
            </a:extLst>
          </p:cNvPr>
          <p:cNvSpPr>
            <a:spLocks noGrp="1"/>
          </p:cNvSpPr>
          <p:nvPr/>
        </p:nvSpPr>
        <p:spPr>
          <a:xfrm>
            <a:off x="7077075" y="2028825"/>
            <a:ext cx="219075" cy="171450"/>
          </a:xfrm>
          <a:prstGeom prst="rightArrow">
            <a:avLst/>
          </a:prstGeom>
          <a:solidFill>
            <a:srgbClr val="75D5FF"/>
          </a:solidFill>
          <a:ln w="14288">
            <a:solidFill>
              <a:srgbClr val="75D5FF"/>
            </a:solidFill>
          </a:ln>
        </p:spPr>
      </p:sp>
      <p:sp>
        <p:nvSpPr>
          <p:cNvPr id="12" name="">
            <a:extLst>
              <a:ext uri="{FF2B5EF4-FFF2-40B4-BE49-F238E27FC236}">
                <ns2:creationId id="{8B30581D-34D4-4084-B8FA-1B37DB5ACD35}"/>
              </a:ext>
            </a:extLst>
          </p:cNvPr>
          <p:cNvSpPr>
            <a:spLocks noGrp="1"/>
          </p:cNvSpPr>
          <p:nvPr/>
        </p:nvSpPr>
        <p:spPr>
          <a:xfrm>
            <a:off x="7324725"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Resample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to 100 Hz</a:t>
            </a:r>
          </a:p>
        </p:txBody>
      </p:sp>
      <p:sp>
        <p:nvSpPr>
          <p:cNvPr id="13" name="">
            <a:extLst>
              <a:ext uri="{FF2B5EF4-FFF2-40B4-BE49-F238E27FC236}">
                <ns2:creationId id="{D4F0EAEE-901F-4FEF-B229-7EC5450239F9}"/>
              </a:ext>
            </a:extLst>
          </p:cNvPr>
          <p:cNvSpPr>
            <a:spLocks noGrp="1"/>
          </p:cNvSpPr>
          <p:nvPr/>
        </p:nvSpPr>
        <p:spPr>
          <a:xfrm>
            <a:off x="9315450" y="2028825"/>
            <a:ext cx="219075" cy="171450"/>
          </a:xfrm>
          <a:prstGeom prst="rightArrow">
            <a:avLst/>
          </a:prstGeom>
          <a:solidFill>
            <a:srgbClr val="75D5FF"/>
          </a:solidFill>
          <a:ln w="14288">
            <a:solidFill>
              <a:srgbClr val="75D5FF"/>
            </a:solidFill>
          </a:ln>
        </p:spPr>
      </p:sp>
      <p:sp>
        <p:nvSpPr>
          <p:cNvPr id="14" name="">
            <a:extLst>
              <a:ext uri="{FF2B5EF4-FFF2-40B4-BE49-F238E27FC236}">
                <ns2:creationId id="{B2505C57-9F1F-435D-A281-9054F5577C15}"/>
              </a:ext>
            </a:extLst>
          </p:cNvPr>
          <p:cNvSpPr>
            <a:spLocks noGrp="1"/>
          </p:cNvSpPr>
          <p:nvPr/>
        </p:nvSpPr>
        <p:spPr>
          <a:xfrm>
            <a:off x="9563100" y="1685925"/>
            <a:ext cx="1943100" cy="83820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30 s epochs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normalize</a:t>
            </a:r>
          </a:p>
        </p:txBody>
      </p:sp>
      <p:sp>
        <p:nvSpPr>
          <p:cNvPr id="15" name="">
            <a:extLst>
              <a:ext uri="{FF2B5EF4-FFF2-40B4-BE49-F238E27FC236}">
                <ns2:creationId id="{15BDA4A3-0147-456B-BBA2-CFA2203184B2}"/>
              </a:ext>
            </a:extLst>
          </p:cNvPr>
          <p:cNvSpPr>
            <a:spLocks noGrp="1"/>
          </p:cNvSpPr>
          <p:nvPr/>
        </p:nvSpPr>
        <p:spPr>
          <a:xfrm>
            <a:off x="609600"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Raw EEG · SN009, F4-M1</a:t>
            </a:r>
          </a:p>
        </p:txBody>
      </p:sp>
      <p:sp>
        <p:nvSpPr>
          <p:cNvPr id="16" name="">
            <a:extLst>
              <a:ext uri="{FF2B5EF4-FFF2-40B4-BE49-F238E27FC236}">
                <ns2:creationId id="{6C3DF35C-71FD-4F22-B147-1E065802CDF4}"/>
              </a:ext>
            </a:extLst>
          </p:cNvPr>
          <p:cNvSpPr>
            <a:spLocks noGrp="1"/>
          </p:cNvSpPr>
          <p:nvPr/>
        </p:nvSpPr>
        <p:spPr>
          <a:xfrm>
            <a:off x="6334125" y="2981325"/>
            <a:ext cx="5191125" cy="304800"/>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Filtered and normalized EEG · same interval</a:t>
            </a:r>
          </a:p>
        </p:txBody>
      </p:sp>
      <p:pic>
        <p:nvPicPr>
          <p:cNvPr id="40" name=""/>
          <p:cNvPicPr>
            <a:picLocks noChangeAspect="1"/>
          </p:cNvPicPr>
          <p:nvPr/>
        </p:nvPicPr>
        <p:blipFill>
          <a:blip ns3:embed="R1e8dbd200cc44b5f"/>
          <a:stretch/>
        </p:blipFill>
        <p:spPr>
          <a:xfrm>
            <a:off x="696912" y="3400425"/>
            <a:ext cx="5016500" cy="2257425"/>
          </a:xfrm>
          <a:prstGeom prst="rect">
            <a:avLst/>
          </a:prstGeom>
        </p:spPr>
      </p:pic>
      <p:pic>
        <p:nvPicPr>
          <p:cNvPr id="41" name=""/>
          <p:cNvPicPr>
            <a:picLocks noChangeAspect="1"/>
          </p:cNvPicPr>
          <p:nvPr/>
        </p:nvPicPr>
        <p:blipFill>
          <a:blip ns3:embed="R2cfbc0478a8f4e4e"/>
          <a:stretch/>
        </p:blipFill>
        <p:spPr>
          <a:xfrm>
            <a:off x="6421438" y="3400425"/>
            <a:ext cx="5016500" cy="2257425"/>
          </a:xfrm>
          <a:prstGeom prst="rect">
            <a:avLst/>
          </a:prstGeom>
        </p:spPr>
      </p:pic>
      <p:sp>
        <p:nvSpPr>
          <p:cNvPr id="19" name="">
            <a:extLst>
              <a:ext uri="{FF2B5EF4-FFF2-40B4-BE49-F238E27FC236}">
                <ns2:creationId id="{952049F1-2849-4D87-8976-04DE7CB152AB}"/>
              </a:ext>
            </a:extLst>
          </p:cNvPr>
          <p:cNvSpPr>
            <a:spLocks noGrp="1"/>
          </p:cNvSpPr>
          <p:nvPr/>
        </p:nvSpPr>
        <p:spPr>
          <a:xfrm>
            <a:off x="609600" y="5829300"/>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Per-epoch, per-channel normalization. Apply the 50 Hz notch before resampling.</a:t>
            </a:r>
          </a:p>
        </p:txBody>
      </p:sp>
      <p:sp>
        <p:nvSpPr>
          <p:cNvPr id="20" name="">
            <a:extLst>
              <a:ext uri="{FF2B5EF4-FFF2-40B4-BE49-F238E27FC236}">
                <ns2:creationId id="{50E28E3D-724F-4FEA-A097-FD9810871F73}"/>
              </a:ext>
            </a:extLst>
          </p:cNvPr>
          <p:cNvSpPr>
            <a:spLocks noGrp="1"/>
          </p:cNvSpPr>
          <p:nvPr/>
        </p:nvSpPr>
        <p:spPr>
          <a:xfrm>
            <a:off x="609600" y="6191250"/>
            <a:ext cx="10858500" cy="257175"/>
          </a:xfrm>
          <a:prstGeom prst="rect">
            <a:avLst/>
          </a:prstGeom>
          <a:noFill/>
          <a:ln w="0">
            <a:noFill/>
          </a:ln>
        </p:spPr>
        <p:txBody>
          <a:bodyPr lIns="0" tIns="0" rIns="0" bIns="0" anchor="t">
            <a:noAutofit/>
          </a:bodyPr>
          <a:lstStyle/>
          <a:p>
            <a:pPr algn="l">
              <a:buNone/>
              <a:defRPr sz="1200" b="0">
                <a:solidFill>
                  <a:srgbClr val="BED0E4"/>
                </a:solidFill>
                <a:latin typeface="Arial"/>
                <a:ea typeface="Arial"/>
                <a:cs typeface="Arial"/>
              </a:defRPr>
            </a:pPr>
            <a:r>
              <a:rPr sz="1200" b="0">
                <a:solidFill>
                  <a:srgbClr val="BED0E4"/>
                </a:solidFill>
                <a:latin typeface="Arial"/>
                <a:ea typeface="Arial"/>
                <a:cs typeface="Arial"/>
              </a:rPr>
              <a:t>Archived 300–330 s signal illustration only; all performance results use the current 3,109-epoch run.</a:t>
            </a:r>
          </a:p>
        </p:txBody>
      </p:sp>
    </p:spTree>
    <p:extLst>
      <p:ext uri="{BB962C8B-B14F-4D97-AF65-F5344CB8AC3E}">
        <ns4:creationId val="4252615662"/>
      </p:ext>
    </p:extLst>
  </p:cSld>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9" name="">
            <a:extLst>
              <a:ext uri="{FF2B5EF4-FFF2-40B4-BE49-F238E27FC236}">
                <ns2:creationId id="{6FA81C85-5F69-4708-A271-50706755743A}"/>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B226CFCB-D17A-46A1-85F3-FA25BFA2AD8C}"/>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Implemented system block diagram</a:t>
            </a:r>
          </a:p>
        </p:txBody>
      </p:sp>
      <p:sp>
        <p:nvSpPr>
          <p:cNvPr id="3" name="">
            <a:extLst>
              <a:ext uri="{FF2B5EF4-FFF2-40B4-BE49-F238E27FC236}">
                <ns2:creationId id="{58BA2114-7B6F-44C9-ACE0-240705ABFD5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2915E78A-8EFB-4244-8B0C-792E397EBE67}"/>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2C6AB10-967A-47D0-830E-8201103611B4}"/>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08 / 15</a:t>
            </a:r>
          </a:p>
        </p:txBody>
      </p:sp>
      <p:sp>
        <p:nvSpPr>
          <p:cNvPr id="6" name="">
            <a:extLst>
              <a:ext uri="{FF2B5EF4-FFF2-40B4-BE49-F238E27FC236}">
                <ns2:creationId id="{11E80C58-BEBC-4A80-8D24-656149C90976}"/>
              </a:ext>
            </a:extLst>
          </p:cNvPr>
          <p:cNvSpPr>
            <a:spLocks noGrp="1"/>
          </p:cNvSpPr>
          <p:nvPr/>
        </p:nvSpPr>
        <p:spPr>
          <a:xfrm>
            <a:off x="609600" y="1552575"/>
            <a:ext cx="10858500" cy="3810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Main implementation: Biomarker_N1_N2_Refinement.ipynb</a:t>
            </a:r>
          </a:p>
        </p:txBody>
      </p:sp>
      <p:sp>
        <p:nvSpPr>
          <p:cNvPr id="7" name="">
            <a:extLst>
              <a:ext uri="{FF2B5EF4-FFF2-40B4-BE49-F238E27FC236}">
                <ns2:creationId id="{E1451DA4-94E9-4DF9-A5A0-70DCD4217AC5}"/>
              </a:ext>
            </a:extLst>
          </p:cNvPr>
          <p:cNvSpPr>
            <a:spLocks noGrp="1"/>
          </p:cNvSpPr>
          <p:nvPr/>
        </p:nvSpPr>
        <p:spPr>
          <a:xfrm>
            <a:off x="609600" y="227647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Stored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4 × 3,000</a:t>
            </a:r>
          </a:p>
        </p:txBody>
      </p:sp>
      <p:sp>
        <p:nvSpPr>
          <p:cNvPr id="8" name="">
            <a:extLst>
              <a:ext uri="{FF2B5EF4-FFF2-40B4-BE49-F238E27FC236}">
                <ns2:creationId id="{D9DF9704-658B-469B-AB56-8BE81818ADCD}"/>
              </a:ext>
            </a:extLst>
          </p:cNvPr>
          <p:cNvSpPr>
            <a:spLocks noGrp="1"/>
          </p:cNvSpPr>
          <p:nvPr/>
        </p:nvSpPr>
        <p:spPr>
          <a:xfrm>
            <a:off x="2695575" y="2609850"/>
            <a:ext cx="323850" cy="190500"/>
          </a:xfrm>
          <a:prstGeom prst="rightArrow">
            <a:avLst/>
          </a:prstGeom>
          <a:solidFill>
            <a:srgbClr val="75D5FF"/>
          </a:solidFill>
          <a:ln w="14288">
            <a:solidFill>
              <a:srgbClr val="75D5FF"/>
            </a:solidFill>
          </a:ln>
        </p:spPr>
      </p:sp>
      <p:sp>
        <p:nvSpPr>
          <p:cNvPr id="9" name="">
            <a:extLst>
              <a:ext uri="{FF2B5EF4-FFF2-40B4-BE49-F238E27FC236}">
                <ns2:creationId id="{66A46A2D-AAB2-4B15-B9D4-096F0377CC2A}"/>
              </a:ext>
            </a:extLst>
          </p:cNvPr>
          <p:cNvSpPr>
            <a:spLocks noGrp="1"/>
          </p:cNvSpPr>
          <p:nvPr/>
        </p:nvSpPr>
        <p:spPr>
          <a:xfrm>
            <a:off x="3114675" y="2276475"/>
            <a:ext cx="2476500"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Fast SCFormer-U</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5-stage output</a:t>
            </a:r>
          </a:p>
        </p:txBody>
      </p:sp>
      <p:sp>
        <p:nvSpPr>
          <p:cNvPr id="10" name="">
            <a:extLst>
              <a:ext uri="{FF2B5EF4-FFF2-40B4-BE49-F238E27FC236}">
                <ns2:creationId id="{9A28C14B-725A-4D1C-A206-6BFCF6F88A27}"/>
              </a:ext>
            </a:extLst>
          </p:cNvPr>
          <p:cNvSpPr>
            <a:spLocks noGrp="1"/>
          </p:cNvSpPr>
          <p:nvPr/>
        </p:nvSpPr>
        <p:spPr>
          <a:xfrm>
            <a:off x="5676900" y="2609850"/>
            <a:ext cx="323850" cy="190500"/>
          </a:xfrm>
          <a:prstGeom prst="rightArrow">
            <a:avLst/>
          </a:prstGeom>
          <a:solidFill>
            <a:srgbClr val="75D5FF"/>
          </a:solidFill>
          <a:ln w="14288">
            <a:solidFill>
              <a:srgbClr val="75D5FF"/>
            </a:solidFill>
          </a:ln>
        </p:spPr>
      </p:sp>
      <p:sp>
        <p:nvSpPr>
          <p:cNvPr id="11" name="">
            <a:extLst>
              <a:ext uri="{FF2B5EF4-FFF2-40B4-BE49-F238E27FC236}">
                <ns2:creationId id="{B5A81E8C-0120-48BC-AAAC-41D36F1E05FB}"/>
              </a:ext>
            </a:extLst>
          </p:cNvPr>
          <p:cNvSpPr>
            <a:spLocks noGrp="1"/>
          </p:cNvSpPr>
          <p:nvPr/>
        </p:nvSpPr>
        <p:spPr>
          <a:xfrm>
            <a:off x="6096000" y="227647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Predicted N1/N2?</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Spectral refiner</a:t>
            </a:r>
          </a:p>
        </p:txBody>
      </p:sp>
      <p:sp>
        <p:nvSpPr>
          <p:cNvPr id="12" name="">
            <a:extLst>
              <a:ext uri="{FF2B5EF4-FFF2-40B4-BE49-F238E27FC236}">
                <ns2:creationId id="{6F23CBFF-90B5-4A16-AA41-80E6CE5B9364}"/>
              </a:ext>
            </a:extLst>
          </p:cNvPr>
          <p:cNvSpPr>
            <a:spLocks noGrp="1"/>
          </p:cNvSpPr>
          <p:nvPr/>
        </p:nvSpPr>
        <p:spPr>
          <a:xfrm>
            <a:off x="8848725" y="2609850"/>
            <a:ext cx="323850" cy="190500"/>
          </a:xfrm>
          <a:prstGeom prst="rightArrow">
            <a:avLst/>
          </a:prstGeom>
          <a:solidFill>
            <a:srgbClr val="75D5FF"/>
          </a:solidFill>
          <a:ln w="14288">
            <a:solidFill>
              <a:srgbClr val="75D5FF"/>
            </a:solidFill>
          </a:ln>
        </p:spPr>
      </p:sp>
      <p:sp>
        <p:nvSpPr>
          <p:cNvPr id="13" name="">
            <a:extLst>
              <a:ext uri="{FF2B5EF4-FFF2-40B4-BE49-F238E27FC236}">
                <ns2:creationId id="{DB6FF941-0D1E-4F14-82DA-3B49BEA221F9}"/>
              </a:ext>
            </a:extLst>
          </p:cNvPr>
          <p:cNvSpPr>
            <a:spLocks noGrp="1"/>
          </p:cNvSpPr>
          <p:nvPr/>
        </p:nvSpPr>
        <p:spPr>
          <a:xfrm>
            <a:off x="9267825" y="2276475"/>
            <a:ext cx="2238375" cy="8572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Final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epoch</a:t>
            </a:r>
          </a:p>
        </p:txBody>
      </p:sp>
      <p:sp>
        <p:nvSpPr>
          <p:cNvPr id="14" name="">
            <a:extLst>
              <a:ext uri="{FF2B5EF4-FFF2-40B4-BE49-F238E27FC236}">
                <ns2:creationId id="{C971FD35-5B45-4C9B-81BF-7072C1C905E1}"/>
              </a:ext>
            </a:extLst>
          </p:cNvPr>
          <p:cNvSpPr>
            <a:spLocks noGrp="1"/>
          </p:cNvSpPr>
          <p:nvPr/>
        </p:nvSpPr>
        <p:spPr>
          <a:xfrm>
            <a:off x="1428750" y="3238500"/>
            <a:ext cx="238125" cy="685800"/>
          </a:xfrm>
          <a:prstGeom prst="downArrow">
            <a:avLst/>
          </a:prstGeom>
          <a:solidFill>
            <a:srgbClr val="75D5FF"/>
          </a:solidFill>
          <a:ln w="14288">
            <a:solidFill>
              <a:srgbClr val="75D5FF"/>
            </a:solidFill>
          </a:ln>
        </p:spPr>
      </p:sp>
      <p:sp>
        <p:nvSpPr>
          <p:cNvPr id="15" name="">
            <a:extLst>
              <a:ext uri="{FF2B5EF4-FFF2-40B4-BE49-F238E27FC236}">
                <ns2:creationId id="{C6F44493-C27F-4662-83AC-88EA96760E7E}"/>
              </a:ext>
            </a:extLst>
          </p:cNvPr>
          <p:cNvSpPr>
            <a:spLocks noGrp="1"/>
          </p:cNvSpPr>
          <p:nvPr/>
        </p:nvSpPr>
        <p:spPr>
          <a:xfrm>
            <a:off x="609600" y="4048125"/>
            <a:ext cx="200025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Welch spectral</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features</a:t>
            </a:r>
          </a:p>
        </p:txBody>
      </p:sp>
      <p:sp>
        <p:nvSpPr>
          <p:cNvPr id="16" name="">
            <a:extLst>
              <a:ext uri="{FF2B5EF4-FFF2-40B4-BE49-F238E27FC236}">
                <ns2:creationId id="{DB0DBDBB-6F72-4E5C-868D-ABD54DA6F0D3}"/>
              </a:ext>
            </a:extLst>
          </p:cNvPr>
          <p:cNvSpPr>
            <a:spLocks noGrp="1"/>
          </p:cNvSpPr>
          <p:nvPr/>
        </p:nvSpPr>
        <p:spPr>
          <a:xfrm>
            <a:off x="2695575" y="4391025"/>
            <a:ext cx="323850" cy="209550"/>
          </a:xfrm>
          <a:prstGeom prst="rightArrow">
            <a:avLst/>
          </a:prstGeom>
          <a:solidFill>
            <a:srgbClr val="75D5FF"/>
          </a:solidFill>
          <a:ln w="14288">
            <a:solidFill>
              <a:srgbClr val="75D5FF"/>
            </a:solidFill>
          </a:ln>
        </p:spPr>
      </p:sp>
      <p:sp>
        <p:nvSpPr>
          <p:cNvPr id="17" name="">
            <a:extLst>
              <a:ext uri="{FF2B5EF4-FFF2-40B4-BE49-F238E27FC236}">
                <ns2:creationId id="{61E2B147-999B-4E8A-B852-FC551F9CD9FD}"/>
              </a:ext>
            </a:extLst>
          </p:cNvPr>
          <p:cNvSpPr>
            <a:spLocks noGrp="1"/>
          </p:cNvSpPr>
          <p:nvPr/>
        </p:nvSpPr>
        <p:spPr>
          <a:xfrm>
            <a:off x="3114675" y="4048125"/>
            <a:ext cx="24765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Mean EEG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per recording</a:t>
            </a:r>
          </a:p>
        </p:txBody>
      </p:sp>
      <p:sp>
        <p:nvSpPr>
          <p:cNvPr id="18" name="">
            <a:extLst>
              <a:ext uri="{FF2B5EF4-FFF2-40B4-BE49-F238E27FC236}">
                <ns2:creationId id="{A8120AA1-F2FF-4B77-9205-1C012005E100}"/>
              </a:ext>
            </a:extLst>
          </p:cNvPr>
          <p:cNvSpPr>
            <a:spLocks noGrp="1"/>
          </p:cNvSpPr>
          <p:nvPr/>
        </p:nvSpPr>
        <p:spPr>
          <a:xfrm>
            <a:off x="10258425" y="3238500"/>
            <a:ext cx="238125" cy="685800"/>
          </a:xfrm>
          <a:prstGeom prst="downArrow">
            <a:avLst/>
          </a:prstGeom>
          <a:solidFill>
            <a:srgbClr val="75D5FF"/>
          </a:solidFill>
          <a:ln w="14288">
            <a:solidFill>
              <a:srgbClr val="75D5FF"/>
            </a:solidFill>
          </a:ln>
        </p:spPr>
      </p:sp>
      <p:sp>
        <p:nvSpPr>
          <p:cNvPr id="19" name="">
            <a:extLst>
              <a:ext uri="{FF2B5EF4-FFF2-40B4-BE49-F238E27FC236}">
                <ns2:creationId id="{14DB1E41-C4D8-4D42-B3E4-A8FAA97A1702}"/>
              </a:ext>
            </a:extLst>
          </p:cNvPr>
          <p:cNvSpPr>
            <a:spLocks noGrp="1"/>
          </p:cNvSpPr>
          <p:nvPr/>
        </p:nvSpPr>
        <p:spPr>
          <a:xfrm>
            <a:off x="9267825" y="4048125"/>
            <a:ext cx="2238375"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Hypnogram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sleep architecture</a:t>
            </a:r>
          </a:p>
        </p:txBody>
      </p:sp>
      <p:sp>
        <p:nvSpPr>
          <p:cNvPr id="20" name="">
            <a:extLst>
              <a:ext uri="{FF2B5EF4-FFF2-40B4-BE49-F238E27FC236}">
                <ns2:creationId id="{F79F3F0F-4E20-432B-B8F2-15EA5F77E196}"/>
              </a:ext>
            </a:extLst>
          </p:cNvPr>
          <p:cNvSpPr>
            <a:spLocks noGrp="1"/>
          </p:cNvSpPr>
          <p:nvPr/>
        </p:nvSpPr>
        <p:spPr>
          <a:xfrm>
            <a:off x="5676900" y="4391025"/>
            <a:ext cx="323850" cy="209550"/>
          </a:xfrm>
          <a:prstGeom prst="rightArrow">
            <a:avLst/>
          </a:prstGeom>
          <a:solidFill>
            <a:srgbClr val="75D5FF"/>
          </a:solidFill>
          <a:ln w="14288">
            <a:solidFill>
              <a:srgbClr val="75D5FF"/>
            </a:solidFill>
          </a:ln>
        </p:spPr>
      </p:sp>
      <p:sp>
        <p:nvSpPr>
          <p:cNvPr id="21" name="">
            <a:extLst>
              <a:ext uri="{FF2B5EF4-FFF2-40B4-BE49-F238E27FC236}">
                <ns2:creationId id="{F83498DA-9B6E-4565-86C4-8F2BD6055B18}"/>
              </a:ext>
            </a:extLst>
          </p:cNvPr>
          <p:cNvSpPr>
            <a:spLocks noGrp="1"/>
          </p:cNvSpPr>
          <p:nvPr/>
        </p:nvSpPr>
        <p:spPr>
          <a:xfrm>
            <a:off x="6096000" y="4048125"/>
            <a:ext cx="2667000" cy="85725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Recording profile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 reference comparison</a:t>
            </a:r>
          </a:p>
        </p:txBody>
      </p:sp>
      <p:sp>
        <p:nvSpPr>
          <p:cNvPr id="22" name="">
            <a:extLst>
              <a:ext uri="{FF2B5EF4-FFF2-40B4-BE49-F238E27FC236}">
                <ns2:creationId id="{B0AF55AA-D70B-4BD8-8F31-5589644391CF}"/>
              </a:ext>
            </a:extLst>
          </p:cNvPr>
          <p:cNvSpPr>
            <a:spLocks noGrp="1"/>
          </p:cNvSpPr>
          <p:nvPr/>
        </p:nvSpPr>
        <p:spPr>
          <a:xfrm>
            <a:off x="8848725" y="4391025"/>
            <a:ext cx="323850" cy="209550"/>
          </a:xfrm>
          <a:prstGeom prst="leftArrow">
            <a:avLst/>
          </a:prstGeom>
          <a:solidFill>
            <a:srgbClr val="75D5FF"/>
          </a:solidFill>
          <a:ln w="14288">
            <a:solidFill>
              <a:srgbClr val="75D5FF"/>
            </a:solidFill>
          </a:ln>
        </p:spPr>
      </p:sp>
      <p:sp>
        <p:nvSpPr>
          <p:cNvPr id="23" name="">
            <a:extLst>
              <a:ext uri="{FF2B5EF4-FFF2-40B4-BE49-F238E27FC236}">
                <ns2:creationId id="{9E83119E-D85F-47E4-B1B0-316E60B409C9}"/>
              </a:ext>
            </a:extLst>
          </p:cNvPr>
          <p:cNvSpPr>
            <a:spLocks noGrp="1"/>
          </p:cNvSpPr>
          <p:nvPr/>
        </p:nvSpPr>
        <p:spPr>
          <a:xfrm>
            <a:off x="2609850" y="4229100"/>
            <a:ext cx="200025" cy="0"/>
          </a:xfrm>
          <a:prstGeom prst="line">
            <a:avLst/>
          </a:prstGeom>
          <a:noFill/>
          <a:ln w="19050">
            <a:solidFill>
              <a:srgbClr val="75D5FF"/>
            </a:solidFill>
          </a:ln>
        </p:spPr>
      </p:sp>
      <p:sp>
        <p:nvSpPr>
          <p:cNvPr id="24" name="">
            <a:extLst>
              <a:ext uri="{FF2B5EF4-FFF2-40B4-BE49-F238E27FC236}">
                <ns2:creationId id="{AA4BC0AF-9C58-4A04-B4D7-84F4462EF4E7}"/>
              </a:ext>
            </a:extLst>
          </p:cNvPr>
          <p:cNvSpPr>
            <a:spLocks noGrp="1"/>
          </p:cNvSpPr>
          <p:nvPr/>
        </p:nvSpPr>
        <p:spPr>
          <a:xfrm>
            <a:off x="2809875" y="3505200"/>
            <a:ext cx="0" cy="723900"/>
          </a:xfrm>
          <a:prstGeom prst="line">
            <a:avLst/>
          </a:prstGeom>
          <a:noFill/>
          <a:ln w="19050">
            <a:solidFill>
              <a:srgbClr val="75D5FF"/>
            </a:solidFill>
          </a:ln>
        </p:spPr>
      </p:sp>
      <p:sp>
        <p:nvSpPr>
          <p:cNvPr id="25" name="">
            <a:extLst>
              <a:ext uri="{FF2B5EF4-FFF2-40B4-BE49-F238E27FC236}">
                <ns2:creationId id="{F54A5605-06AE-469D-BA65-7A7253D65113}"/>
              </a:ext>
            </a:extLst>
          </p:cNvPr>
          <p:cNvSpPr>
            <a:spLocks noGrp="1"/>
          </p:cNvSpPr>
          <p:nvPr/>
        </p:nvSpPr>
        <p:spPr>
          <a:xfrm>
            <a:off x="2809875" y="3505200"/>
            <a:ext cx="4610100" cy="0"/>
          </a:xfrm>
          <a:prstGeom prst="line">
            <a:avLst/>
          </a:prstGeom>
          <a:noFill/>
          <a:ln w="19050">
            <a:solidFill>
              <a:srgbClr val="75D5FF"/>
            </a:solidFill>
          </a:ln>
        </p:spPr>
      </p:sp>
      <p:sp>
        <p:nvSpPr>
          <p:cNvPr id="26" name="">
            <a:extLst>
              <a:ext uri="{FF2B5EF4-FFF2-40B4-BE49-F238E27FC236}">
                <ns2:creationId id="{C19036A2-C133-4E63-86E4-93BDB713CF61}"/>
              </a:ext>
            </a:extLst>
          </p:cNvPr>
          <p:cNvSpPr>
            <a:spLocks noGrp="1"/>
          </p:cNvSpPr>
          <p:nvPr/>
        </p:nvSpPr>
        <p:spPr>
          <a:xfrm>
            <a:off x="7305675" y="3248025"/>
            <a:ext cx="228600" cy="257175"/>
          </a:xfrm>
          <a:prstGeom prst="upArrow">
            <a:avLst/>
          </a:prstGeom>
          <a:solidFill>
            <a:srgbClr val="75D5FF"/>
          </a:solidFill>
          <a:ln w="14288">
            <a:solidFill>
              <a:srgbClr val="75D5FF"/>
            </a:solidFill>
          </a:ln>
        </p:spPr>
      </p:sp>
      <p:sp>
        <p:nvSpPr>
          <p:cNvPr id="27" name="">
            <a:extLst>
              <a:ext uri="{FF2B5EF4-FFF2-40B4-BE49-F238E27FC236}">
                <ns2:creationId id="{595D7BDE-8073-471D-9877-0911574B7477}"/>
              </a:ext>
            </a:extLst>
          </p:cNvPr>
          <p:cNvSpPr>
            <a:spLocks noGrp="1"/>
          </p:cNvSpPr>
          <p:nvPr/>
        </p:nvSpPr>
        <p:spPr>
          <a:xfrm>
            <a:off x="609600" y="5429250"/>
            <a:ext cx="10906125" cy="619125"/>
          </a:xfrm>
          <a:prstGeom prst="rect">
            <a:avLst/>
          </a:prstGeom>
          <a:noFill/>
          <a:ln w="0">
            <a:noFill/>
          </a:ln>
        </p:spPr>
        <p:txBody>
          <a:bodyPr lIns="0" tIns="0" rIns="0" bIns="0" anchor="t">
            <a:noAutofit/>
          </a:bodyPr>
          <a:lstStyle/>
          <a:p>
            <a:pPr algn="l">
              <a:buNone/>
              <a:defRPr sz="1800" b="1">
                <a:solidFill>
                  <a:srgbClr val="75D5FF"/>
                </a:solidFill>
                <a:latin typeface="Arial"/>
                <a:ea typeface="Arial"/>
                <a:cs typeface="Arial"/>
              </a:defRPr>
            </a:pPr>
            <a:r>
              <a:rPr sz="1800" b="1">
                <a:solidFill>
                  <a:srgbClr val="75D5FF"/>
                </a:solidFill>
                <a:latin typeface="Arial"/>
                <a:ea typeface="Arial"/>
                <a:cs typeface="Arial"/>
              </a:rPr>
              <a:t>Architecture + spectral features → z-scores / P10–P90 → four-domain profile → dashboard</a:t>
            </a:r>
          </a:p>
        </p:txBody>
      </p:sp>
      <p:sp>
        <p:nvSpPr>
          <p:cNvPr id="28" name="">
            <a:extLst>
              <a:ext uri="{FF2B5EF4-FFF2-40B4-BE49-F238E27FC236}">
                <ns2:creationId id="{07AD68EA-59F7-4308-8CD6-8AFE060A2BEB}"/>
              </a:ext>
            </a:extLst>
          </p:cNvPr>
          <p:cNvSpPr>
            <a:spLocks noGrp="1"/>
          </p:cNvSpPr>
          <p:nvPr/>
        </p:nvSpPr>
        <p:spPr>
          <a:xfrm>
            <a:off x="609600" y="6153150"/>
            <a:ext cx="10906125" cy="2571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The 16-recording training reference provides dataset-relative descriptions.</a:t>
            </a:r>
          </a:p>
        </p:txBody>
      </p:sp>
    </p:spTree>
    <p:extLst>
      <p:ext uri="{BB962C8B-B14F-4D97-AF65-F5344CB8AC3E}">
        <ns3:creationId val="200319062"/>
      </p:ext>
    </p:extLst>
  </p:cSld>
</p:sld>
</file>

<file path=ppt/slides/slide9.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9" name="">
            <a:extLst>
              <a:ext uri="{FF2B5EF4-FFF2-40B4-BE49-F238E27FC236}">
                <ns2:creationId id="{527E67C5-D83C-4DAB-811B-BCE503611C45}"/>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D7217AAB-85ED-4301-A463-7DC74502D44E}"/>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Existing model and training epochs</a:t>
            </a:r>
          </a:p>
        </p:txBody>
      </p:sp>
      <p:sp>
        <p:nvSpPr>
          <p:cNvPr id="3" name="">
            <a:extLst>
              <a:ext uri="{FF2B5EF4-FFF2-40B4-BE49-F238E27FC236}">
                <ns2:creationId id="{10F5232C-AAE3-4EAF-AE20-6489345AB513}"/>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5DFCF7C3-6EF0-4381-A117-D8019D9B8DF5}"/>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29F6381F-0270-446E-B817-D5741DAB99F3}"/>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09 / 15</a:t>
            </a:r>
          </a:p>
        </p:txBody>
      </p:sp>
      <p:sp>
        <p:nvSpPr>
          <p:cNvPr id="6" name="">
            <a:extLst>
              <a:ext uri="{FF2B5EF4-FFF2-40B4-BE49-F238E27FC236}">
                <ns2:creationId id="{83F0445D-DE2A-4437-B1FA-550DF3C4561B}"/>
              </a:ext>
            </a:extLst>
          </p:cNvPr>
          <p:cNvSpPr>
            <a:spLocks noGrp="1"/>
          </p:cNvSpPr>
          <p:nvPr/>
        </p:nvSpPr>
        <p:spPr>
          <a:xfrm>
            <a:off x="60960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Conv1D encoder</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 128 filters</a:t>
            </a:r>
          </a:p>
        </p:txBody>
      </p:sp>
      <p:sp>
        <p:nvSpPr>
          <p:cNvPr id="7" name="">
            <a:extLst>
              <a:ext uri="{FF2B5EF4-FFF2-40B4-BE49-F238E27FC236}">
                <ns2:creationId id="{ECDC660B-F225-4C2D-88A7-2DC9C71B9CA1}"/>
              </a:ext>
            </a:extLst>
          </p:cNvPr>
          <p:cNvSpPr>
            <a:spLocks noGrp="1"/>
          </p:cNvSpPr>
          <p:nvPr/>
        </p:nvSpPr>
        <p:spPr>
          <a:xfrm>
            <a:off x="3162300" y="2000250"/>
            <a:ext cx="228600" cy="190500"/>
          </a:xfrm>
          <a:prstGeom prst="rightArrow">
            <a:avLst/>
          </a:prstGeom>
          <a:solidFill>
            <a:srgbClr val="75D5FF"/>
          </a:solidFill>
          <a:ln w="14288">
            <a:solidFill>
              <a:srgbClr val="75D5FF"/>
            </a:solidFill>
          </a:ln>
        </p:spPr>
      </p:sp>
      <p:sp>
        <p:nvSpPr>
          <p:cNvPr id="8" name="">
            <a:extLst>
              <a:ext uri="{FF2B5EF4-FFF2-40B4-BE49-F238E27FC236}">
                <ns2:creationId id="{6197247A-ED8B-4D06-B100-72A74351D6CD}"/>
              </a:ext>
            </a:extLst>
          </p:cNvPr>
          <p:cNvSpPr>
            <a:spLocks noGrp="1"/>
          </p:cNvSpPr>
          <p:nvPr/>
        </p:nvSpPr>
        <p:spPr>
          <a:xfrm>
            <a:off x="3419475"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Self-attention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4 heads, key dim 16</a:t>
            </a:r>
          </a:p>
        </p:txBody>
      </p:sp>
      <p:sp>
        <p:nvSpPr>
          <p:cNvPr id="9" name="">
            <a:extLst>
              <a:ext uri="{FF2B5EF4-FFF2-40B4-BE49-F238E27FC236}">
                <ns2:creationId id="{A44E4BFB-781D-48DF-9CFC-B1249FB0E66C}"/>
              </a:ext>
            </a:extLst>
          </p:cNvPr>
          <p:cNvSpPr>
            <a:spLocks noGrp="1"/>
          </p:cNvSpPr>
          <p:nvPr/>
        </p:nvSpPr>
        <p:spPr>
          <a:xfrm>
            <a:off x="5972175" y="2000250"/>
            <a:ext cx="228600" cy="190500"/>
          </a:xfrm>
          <a:prstGeom prst="rightArrow">
            <a:avLst/>
          </a:prstGeom>
          <a:solidFill>
            <a:srgbClr val="75D5FF"/>
          </a:solidFill>
          <a:ln w="14288">
            <a:solidFill>
              <a:srgbClr val="75D5FF"/>
            </a:solidFill>
          </a:ln>
        </p:spPr>
      </p:sp>
      <p:sp>
        <p:nvSpPr>
          <p:cNvPr id="10" name="">
            <a:extLst>
              <a:ext uri="{FF2B5EF4-FFF2-40B4-BE49-F238E27FC236}">
                <ns2:creationId id="{5EF1F0F3-91C6-4159-BE82-612A8B6DEACF}"/>
              </a:ext>
            </a:extLst>
          </p:cNvPr>
          <p:cNvSpPr>
            <a:spLocks noGrp="1"/>
          </p:cNvSpPr>
          <p:nvPr/>
        </p:nvSpPr>
        <p:spPr>
          <a:xfrm>
            <a:off x="6229350" y="1657350"/>
            <a:ext cx="2476500" cy="8763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BiLSTM</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64 units / direction</a:t>
            </a:r>
          </a:p>
        </p:txBody>
      </p:sp>
      <p:sp>
        <p:nvSpPr>
          <p:cNvPr id="11" name="">
            <a:extLst>
              <a:ext uri="{FF2B5EF4-FFF2-40B4-BE49-F238E27FC236}">
                <ns2:creationId id="{4B76D814-3D58-4C07-9A19-2D20A7E475DE}"/>
              </a:ext>
            </a:extLst>
          </p:cNvPr>
          <p:cNvSpPr>
            <a:spLocks noGrp="1"/>
          </p:cNvSpPr>
          <p:nvPr/>
        </p:nvSpPr>
        <p:spPr>
          <a:xfrm>
            <a:off x="8782050" y="2000250"/>
            <a:ext cx="228600" cy="190500"/>
          </a:xfrm>
          <a:prstGeom prst="rightArrow">
            <a:avLst/>
          </a:prstGeom>
          <a:solidFill>
            <a:srgbClr val="75D5FF"/>
          </a:solidFill>
          <a:ln w="14288">
            <a:solidFill>
              <a:srgbClr val="75D5FF"/>
            </a:solidFill>
          </a:ln>
        </p:spPr>
      </p:sp>
      <p:sp>
        <p:nvSpPr>
          <p:cNvPr id="12" name="">
            <a:extLst>
              <a:ext uri="{FF2B5EF4-FFF2-40B4-BE49-F238E27FC236}">
                <ns2:creationId id="{A63DECA5-71FA-44C4-9CB3-4E4482109885}"/>
              </a:ext>
            </a:extLst>
          </p:cNvPr>
          <p:cNvSpPr>
            <a:spLocks noGrp="1"/>
          </p:cNvSpPr>
          <p:nvPr/>
        </p:nvSpPr>
        <p:spPr>
          <a:xfrm>
            <a:off x="9039225" y="1657350"/>
            <a:ext cx="2476500" cy="8763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Pooling + dense</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5 evidence outputs</a:t>
            </a:r>
          </a:p>
        </p:txBody>
      </p:sp>
      <p:sp>
        <p:nvSpPr>
          <p:cNvPr id="13" name="">
            <a:extLst>
              <a:ext uri="{FF2B5EF4-FFF2-40B4-BE49-F238E27FC236}">
                <ns2:creationId id="{224BEB6B-CFF6-4E62-8FBC-A99C3511C5CC}"/>
              </a:ext>
            </a:extLst>
          </p:cNvPr>
          <p:cNvSpPr>
            <a:spLocks noGrp="1"/>
          </p:cNvSpPr>
          <p:nvPr/>
        </p:nvSpPr>
        <p:spPr>
          <a:xfrm>
            <a:off x="609600" y="2781300"/>
            <a:ext cx="10858500" cy="381000"/>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226,309 parameters · Attention and BiLSTM operate within each 30-second EEG epoch</a:t>
            </a:r>
          </a:p>
        </p:txBody>
      </p:sp>
      <p:sp>
        <p:nvSpPr>
          <p:cNvPr id="14" name="">
            <a:extLst>
              <a:ext uri="{FF2B5EF4-FFF2-40B4-BE49-F238E27FC236}">
                <ns2:creationId id="{E6F1F37E-8BB4-4203-AB02-50F1942B09CE}"/>
              </a:ext>
            </a:extLst>
          </p:cNvPr>
          <p:cNvSpPr>
            <a:spLocks noGrp="1"/>
          </p:cNvSpPr>
          <p:nvPr/>
        </p:nvSpPr>
        <p:spPr>
          <a:xfrm>
            <a:off x="609600" y="3248025"/>
            <a:ext cx="6572250" cy="295275"/>
          </a:xfrm>
          <a:prstGeom prst="rect">
            <a:avLst/>
          </a:prstGeom>
          <a:noFill/>
          <a:ln w="0">
            <a:noFill/>
          </a:ln>
        </p:spPr>
        <p:txBody>
          <a:bodyPr lIns="0" tIns="0" rIns="0" bIns="0" anchor="t">
            <a:noAutofit/>
          </a:bodyPr>
          <a:lstStyle/>
          <a:p>
            <a:pPr algn="l">
              <a:buNone/>
              <a:defRPr sz="1650" b="1">
                <a:solidFill>
                  <a:srgbClr val="FFFFFF"/>
                </a:solidFill>
                <a:latin typeface="Arial"/>
                <a:ea typeface="Arial"/>
                <a:cs typeface="Arial"/>
              </a:defRPr>
            </a:pPr>
            <a:r>
              <a:rPr sz="1650" b="1">
                <a:solidFill>
                  <a:srgbClr val="FFFFFF"/>
                </a:solidFill>
                <a:latin typeface="Arial"/>
                <a:ea typeface="Arial"/>
                <a:cs typeface="Arial"/>
              </a:rPr>
              <a:t>Training / validation accuracy</a:t>
            </a:r>
          </a:p>
        </p:txBody>
      </p:sp>
      <p:graphicFrame>
        <p:nvGraphicFramePr>
          <p:cNvPr id="35" name="Chart"/>
          <p:cNvGraphicFramePr/>
          <p:nvPr/>
        </p:nvGraphicFramePr>
        <p:xfrm>
          <a:off x="609600" y="3609975"/>
          <a:ext cx="6572250" cy="2324100"/>
        </p:xfrm>
        <a:graphic>
          <a:graphicData uri="http://schemas.openxmlformats.org/drawingml/2006/chart">
            <c:chart ns4:id="R6d1d9ae71a08443b"/>
          </a:graphicData>
        </a:graphic>
      </p:graphicFrame>
      <p:sp>
        <p:nvSpPr>
          <p:cNvPr id="16" name="">
            <a:extLst>
              <a:ext uri="{FF2B5EF4-FFF2-40B4-BE49-F238E27FC236}">
                <ns2:creationId id="{C687648D-E196-4A3F-83C3-703CBB2690F0}"/>
              </a:ext>
            </a:extLst>
          </p:cNvPr>
          <p:cNvSpPr>
            <a:spLocks noGrp="1"/>
          </p:cNvSpPr>
          <p:nvPr/>
        </p:nvSpPr>
        <p:spPr>
          <a:xfrm>
            <a:off x="7591425" y="3343275"/>
            <a:ext cx="3905250" cy="666750"/>
          </a:xfrm>
          <a:prstGeom prst="rect">
            <a:avLst/>
          </a:prstGeom>
          <a:noFill/>
          <a:ln w="0">
            <a:noFill/>
          </a:ln>
        </p:spPr>
        <p:txBody>
          <a:bodyPr lIns="0" tIns="0" rIns="0" bIns="0" anchor="t">
            <a:noAutofit/>
          </a:bodyPr>
          <a:lstStyle/>
          <a:p>
            <a:pPr algn="l">
              <a:buNone/>
              <a:defRPr sz="1875" b="1">
                <a:solidFill>
                  <a:srgbClr val="FFFFFF"/>
                </a:solidFill>
                <a:latin typeface="Arial"/>
                <a:ea typeface="Arial"/>
                <a:cs typeface="Arial"/>
              </a:defRPr>
            </a:pPr>
            <a:r>
              <a:rPr sz="1875" b="1">
                <a:solidFill>
                  <a:srgbClr val="FFFFFF"/>
                </a:solidFill>
                <a:latin typeface="Arial"/>
                <a:ea typeface="Arial"/>
                <a:cs typeface="Arial"/>
              </a:rPr>
              <a:t>A training epoch = one full</a:t>
            </a:r>
          </a:p>
          <a:p>
            <a:pPr algn="l">
              <a:buNone/>
              <a:defRPr sz="1875" b="1">
                <a:solidFill>
                  <a:srgbClr val="FFFFFF"/>
                </a:solidFill>
                <a:latin typeface="Arial"/>
                <a:ea typeface="Arial"/>
                <a:cs typeface="Arial"/>
              </a:defRPr>
            </a:pPr>
            <a:r>
              <a:rPr sz="1875" b="1">
                <a:solidFill>
                  <a:srgbClr val="FFFFFF"/>
                </a:solidFill>
                <a:latin typeface="Arial"/>
                <a:ea typeface="Arial"/>
                <a:cs typeface="Arial"/>
              </a:rPr>
              <a:t>pass through training data</a:t>
            </a:r>
          </a:p>
        </p:txBody>
      </p:sp>
      <p:sp>
        <p:nvSpPr>
          <p:cNvPr id="17" name="">
            <a:extLst>
              <a:ext uri="{FF2B5EF4-FFF2-40B4-BE49-F238E27FC236}">
                <ns2:creationId id="{7128204F-0025-4889-8A51-8B079845FB2D}"/>
              </a:ext>
            </a:extLst>
          </p:cNvPr>
          <p:cNvSpPr>
            <a:spLocks noGrp="1"/>
          </p:cNvSpPr>
          <p:nvPr/>
        </p:nvSpPr>
        <p:spPr>
          <a:xfrm>
            <a:off x="7591425" y="4276725"/>
            <a:ext cx="3905250" cy="1200150"/>
          </a:xfrm>
          <a:prstGeom prst="rect">
            <a:avLst/>
          </a:prstGeom>
          <a:noFill/>
          <a:ln w="0">
            <a:noFill/>
          </a:ln>
        </p:spPr>
        <p:txBody>
          <a:bodyPr lIns="0" tIns="0" rIns="0" bIns="0" anchor="t">
            <a:noAutofit/>
          </a:bodyPr>
          <a:lstStyle/>
          <a:p>
            <a:pPr algn="l">
              <a:buNone/>
              <a:defRPr sz="1800" b="0">
                <a:solidFill>
                  <a:srgbClr val="FFFFFF"/>
                </a:solidFill>
                <a:latin typeface="Arial"/>
                <a:ea typeface="Arial"/>
                <a:cs typeface="Arial"/>
              </a:defRPr>
            </a:pPr>
            <a:r>
              <a:rPr sz="1800" b="0">
                <a:solidFill>
                  <a:srgbClr val="FFFFFF"/>
                </a:solidFill>
                <a:latin typeface="Arial"/>
                <a:ea typeface="Arial"/>
                <a:cs typeface="Arial"/>
              </a:rPr>
              <a:t>Adam · learning rate 0.0001</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Batch size: 128</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10 training epochs</a:t>
            </a:r>
          </a:p>
          <a:p>
            <a:pPr algn="l">
              <a:buNone/>
              <a:defRPr sz="1800" b="0">
                <a:solidFill>
                  <a:srgbClr val="FFFFFF"/>
                </a:solidFill>
                <a:latin typeface="Arial"/>
                <a:ea typeface="Arial"/>
                <a:cs typeface="Arial"/>
              </a:defRPr>
            </a:pPr>
            <a:r>
              <a:rPr sz="1800" b="0">
                <a:solidFill>
                  <a:srgbClr val="FFFFFF"/>
                </a:solidFill>
                <a:latin typeface="Arial"/>
                <a:ea typeface="Arial"/>
                <a:cs typeface="Arial"/>
              </a:rPr>
              <a:t>Selected checkpoint: epoch 9</a:t>
            </a:r>
          </a:p>
        </p:txBody>
      </p:sp>
      <p:sp>
        <p:nvSpPr>
          <p:cNvPr id="18" name="">
            <a:extLst>
              <a:ext uri="{FF2B5EF4-FFF2-40B4-BE49-F238E27FC236}">
                <ns2:creationId id="{F36CD6D1-342D-4BDA-883E-42B46AB75BF8}"/>
              </a:ext>
            </a:extLst>
          </p:cNvPr>
          <p:cNvSpPr>
            <a:spLocks noGrp="1"/>
          </p:cNvSpPr>
          <p:nvPr/>
        </p:nvSpPr>
        <p:spPr>
          <a:xfrm>
            <a:off x="609600" y="6124575"/>
            <a:ext cx="10858500" cy="295275"/>
          </a:xfrm>
          <a:prstGeom prst="rect">
            <a:avLst/>
          </a:prstGeom>
          <a:noFill/>
          <a:ln w="0">
            <a:noFill/>
          </a:ln>
        </p:spPr>
        <p:txBody>
          <a:bodyPr lIns="0" tIns="0" rIns="0" bIns="0" anchor="t">
            <a:noAutofit/>
          </a:bodyPr>
          <a:lstStyle/>
          <a:p>
            <a:pPr algn="l">
              <a:buNone/>
              <a:defRPr sz="1575" b="0">
                <a:solidFill>
                  <a:srgbClr val="BED0E4"/>
                </a:solidFill>
                <a:latin typeface="Arial"/>
                <a:ea typeface="Arial"/>
                <a:cs typeface="Arial"/>
              </a:defRPr>
            </a:pPr>
            <a:r>
              <a:rPr sz="1575" b="0">
                <a:solidFill>
                  <a:srgbClr val="BED0E4"/>
                </a:solidFill>
                <a:latin typeface="Arial"/>
                <a:ea typeface="Arial"/>
                <a:cs typeface="Arial"/>
              </a:rPr>
              <a:t>Current notebook loads this checkpoint; it trains the spectral refiner separately.</a:t>
            </a:r>
          </a:p>
        </p:txBody>
      </p:sp>
    </p:spTree>
    <p:extLst>
      <p:ext uri="{BB962C8B-B14F-4D97-AF65-F5344CB8AC3E}">
        <ns5:creationId val="1302933991"/>
      </p:ext>
    </p:extLst>
  </p:cSld>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21" name="">
            <a:extLst>
              <a:ext uri="{FF2B5EF4-FFF2-40B4-BE49-F238E27FC236}">
                <ns2:creationId id="{3054B9CA-A436-4029-9BF9-F95F45E64E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00ACDC4-4966-4FD6-BE61-B9959FC3DD5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N1/N2 refinement flowchart</a:t>
            </a:r>
          </a:p>
        </p:txBody>
      </p:sp>
      <p:sp>
        <p:nvSpPr>
          <p:cNvPr id="3" name="">
            <a:extLst>
              <a:ext uri="{FF2B5EF4-FFF2-40B4-BE49-F238E27FC236}">
                <ns2:creationId id="{9A7250F0-9E6A-4754-98A4-C235F4F5E14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4020F3A-7CF8-43FC-9E00-483FEECE9356}"/>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73445329-8793-4FEF-82C2-E3506849BF7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10 / 15</a:t>
            </a:r>
          </a:p>
        </p:txBody>
      </p:sp>
      <p:sp>
        <p:nvSpPr>
          <p:cNvPr id="6" name="">
            <a:extLst>
              <a:ext uri="{FF2B5EF4-FFF2-40B4-BE49-F238E27FC236}">
                <ns2:creationId id="{82815605-5A51-495F-BE1B-EDF792667072}"/>
              </a:ext>
            </a:extLst>
          </p:cNvPr>
          <p:cNvSpPr>
            <a:spLocks noGrp="1"/>
          </p:cNvSpPr>
          <p:nvPr/>
        </p:nvSpPr>
        <p:spPr>
          <a:xfrm>
            <a:off x="609600" y="1828800"/>
            <a:ext cx="2000250"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Initial stage</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prediction</a:t>
            </a:r>
          </a:p>
        </p:txBody>
      </p:sp>
      <p:sp>
        <p:nvSpPr>
          <p:cNvPr id="7" name="">
            <a:extLst>
              <a:ext uri="{FF2B5EF4-FFF2-40B4-BE49-F238E27FC236}">
                <ns2:creationId id="{C4A1C9E3-36E9-4248-ADBE-EA3B3C2013B7}"/>
              </a:ext>
            </a:extLst>
          </p:cNvPr>
          <p:cNvSpPr>
            <a:spLocks noGrp="1"/>
          </p:cNvSpPr>
          <p:nvPr/>
        </p:nvSpPr>
        <p:spPr>
          <a:xfrm>
            <a:off x="2724150" y="2124075"/>
            <a:ext cx="314325" cy="190500"/>
          </a:xfrm>
          <a:prstGeom prst="rightArrow">
            <a:avLst/>
          </a:prstGeom>
          <a:solidFill>
            <a:srgbClr val="75D5FF"/>
          </a:solidFill>
          <a:ln w="14288">
            <a:solidFill>
              <a:srgbClr val="75D5FF"/>
            </a:solidFill>
          </a:ln>
        </p:spPr>
      </p:sp>
      <p:sp>
        <p:nvSpPr>
          <p:cNvPr id="8" name="">
            <a:extLst>
              <a:ext uri="{FF2B5EF4-FFF2-40B4-BE49-F238E27FC236}">
                <ns2:creationId id="{965FFC8B-5581-40EC-837C-AE1DFF52B708}"/>
              </a:ext>
            </a:extLst>
          </p:cNvPr>
          <p:cNvSpPr>
            <a:spLocks noGrp="1"/>
          </p:cNvSpPr>
          <p:nvPr/>
        </p:nvSpPr>
        <p:spPr>
          <a:xfrm>
            <a:off x="3209925" y="1724025"/>
            <a:ext cx="2019300" cy="1000125"/>
          </a:xfrm>
          <a:prstGeom prst="diamond">
            <a:avLst/>
          </a:prstGeom>
          <a:solidFill>
            <a:srgbClr val="1D4770"/>
          </a:solidFill>
          <a:ln w="14288">
            <a:solidFill>
              <a:srgbClr val="75D5FF"/>
            </a:solidFill>
          </a:ln>
        </p:spPr>
        <p:txBody>
          <a:bodyPr lIns="95250" tIns="76200" rIns="95250" bIns="76200" anchor="ctr">
            <a:noAutofit/>
          </a:bodyPr>
          <a:lstStyle/>
          <a:p>
            <a:pPr algn="ctr">
              <a:buNone/>
              <a:defRPr sz="1800" b="1">
                <a:solidFill>
                  <a:srgbClr val="FFFFFF"/>
                </a:solidFill>
                <a:latin typeface="Arial"/>
                <a:ea typeface="Arial"/>
                <a:cs typeface="Arial"/>
              </a:defRPr>
            </a:pPr>
            <a:r>
              <a:rPr sz="1800" b="1">
                <a:solidFill>
                  <a:srgbClr val="FFFFFF"/>
                </a:solidFill>
                <a:latin typeface="Arial"/>
                <a:ea typeface="Arial"/>
                <a:cs typeface="Arial"/>
              </a:rPr>
              <a:t>N1 or N2?</a:t>
            </a:r>
          </a:p>
        </p:txBody>
      </p:sp>
      <p:sp>
        <p:nvSpPr>
          <p:cNvPr id="9" name="">
            <a:extLst>
              <a:ext uri="{FF2B5EF4-FFF2-40B4-BE49-F238E27FC236}">
                <ns2:creationId id="{53DADE3E-E40E-4298-BA6B-F4E82F4835A0}"/>
              </a:ext>
            </a:extLst>
          </p:cNvPr>
          <p:cNvSpPr>
            <a:spLocks noGrp="1"/>
          </p:cNvSpPr>
          <p:nvPr/>
        </p:nvSpPr>
        <p:spPr>
          <a:xfrm>
            <a:off x="5457825" y="1943100"/>
            <a:ext cx="571500" cy="28575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YES</a:t>
            </a:r>
          </a:p>
        </p:txBody>
      </p:sp>
      <p:sp>
        <p:nvSpPr>
          <p:cNvPr id="10" name="">
            <a:extLst>
              <a:ext uri="{FF2B5EF4-FFF2-40B4-BE49-F238E27FC236}">
                <ns2:creationId id="{9E51FFBD-D764-4B64-B34C-70C51454E3CF}"/>
              </a:ext>
            </a:extLst>
          </p:cNvPr>
          <p:cNvSpPr>
            <a:spLocks noGrp="1"/>
          </p:cNvSpPr>
          <p:nvPr/>
        </p:nvSpPr>
        <p:spPr>
          <a:xfrm>
            <a:off x="5372100" y="2314575"/>
            <a:ext cx="609600" cy="180975"/>
          </a:xfrm>
          <a:prstGeom prst="rightArrow">
            <a:avLst/>
          </a:prstGeom>
          <a:solidFill>
            <a:srgbClr val="75D5FF"/>
          </a:solidFill>
          <a:ln w="14288">
            <a:solidFill>
              <a:srgbClr val="75D5FF"/>
            </a:solidFill>
          </a:ln>
        </p:spPr>
      </p:sp>
      <p:sp>
        <p:nvSpPr>
          <p:cNvPr id="11" name="">
            <a:extLst>
              <a:ext uri="{FF2B5EF4-FFF2-40B4-BE49-F238E27FC236}">
                <ns2:creationId id="{B9AB376A-8483-4054-80FA-C4CD26C9AFB3}"/>
              </a:ext>
            </a:extLst>
          </p:cNvPr>
          <p:cNvSpPr>
            <a:spLocks noGrp="1"/>
          </p:cNvSpPr>
          <p:nvPr/>
        </p:nvSpPr>
        <p:spPr>
          <a:xfrm>
            <a:off x="6134100" y="1828800"/>
            <a:ext cx="2457450" cy="781050"/>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9 spectral features</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StandardScaler</a:t>
            </a:r>
          </a:p>
        </p:txBody>
      </p:sp>
      <p:sp>
        <p:nvSpPr>
          <p:cNvPr id="12" name="">
            <a:extLst>
              <a:ext uri="{FF2B5EF4-FFF2-40B4-BE49-F238E27FC236}">
                <ns2:creationId id="{0F018F61-EE3B-43CD-8B6F-7DD7C0B0657A}"/>
              </a:ext>
            </a:extLst>
          </p:cNvPr>
          <p:cNvSpPr>
            <a:spLocks noGrp="1"/>
          </p:cNvSpPr>
          <p:nvPr/>
        </p:nvSpPr>
        <p:spPr>
          <a:xfrm>
            <a:off x="8705850" y="2124075"/>
            <a:ext cx="304800" cy="190500"/>
          </a:xfrm>
          <a:prstGeom prst="rightArrow">
            <a:avLst/>
          </a:prstGeom>
          <a:solidFill>
            <a:srgbClr val="75D5FF"/>
          </a:solidFill>
          <a:ln w="14288">
            <a:solidFill>
              <a:srgbClr val="75D5FF"/>
            </a:solidFill>
          </a:ln>
        </p:spPr>
      </p:sp>
      <p:sp>
        <p:nvSpPr>
          <p:cNvPr id="13" name="">
            <a:extLst>
              <a:ext uri="{FF2B5EF4-FFF2-40B4-BE49-F238E27FC236}">
                <ns2:creationId id="{27421683-9B61-4122-BA27-27017EC766F4}"/>
              </a:ext>
            </a:extLst>
          </p:cNvPr>
          <p:cNvSpPr>
            <a:spLocks noGrp="1"/>
          </p:cNvSpPr>
          <p:nvPr/>
        </p:nvSpPr>
        <p:spPr>
          <a:xfrm>
            <a:off x="9153525" y="1828800"/>
            <a:ext cx="2352675" cy="78105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Balanced logistic</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regression → N1 / N2</a:t>
            </a:r>
          </a:p>
        </p:txBody>
      </p:sp>
      <p:sp>
        <p:nvSpPr>
          <p:cNvPr id="14" name="">
            <a:extLst>
              <a:ext uri="{FF2B5EF4-FFF2-40B4-BE49-F238E27FC236}">
                <ns2:creationId id="{B8986655-6457-43EC-B2F0-228F0368B69C}"/>
              </a:ext>
            </a:extLst>
          </p:cNvPr>
          <p:cNvSpPr>
            <a:spLocks noGrp="1"/>
          </p:cNvSpPr>
          <p:nvPr/>
        </p:nvSpPr>
        <p:spPr>
          <a:xfrm>
            <a:off x="4105275" y="2867025"/>
            <a:ext cx="238125" cy="619125"/>
          </a:xfrm>
          <a:prstGeom prst="downArrow">
            <a:avLst/>
          </a:prstGeom>
          <a:solidFill>
            <a:srgbClr val="75D5FF"/>
          </a:solidFill>
          <a:ln w="14288">
            <a:solidFill>
              <a:srgbClr val="75D5FF"/>
            </a:solidFill>
          </a:ln>
        </p:spPr>
      </p:sp>
      <p:sp>
        <p:nvSpPr>
          <p:cNvPr id="15" name="">
            <a:extLst>
              <a:ext uri="{FF2B5EF4-FFF2-40B4-BE49-F238E27FC236}">
                <ns2:creationId id="{00F3B75D-FA93-4462-A4E4-C4D973C6BA91}"/>
              </a:ext>
            </a:extLst>
          </p:cNvPr>
          <p:cNvSpPr>
            <a:spLocks noGrp="1"/>
          </p:cNvSpPr>
          <p:nvPr/>
        </p:nvSpPr>
        <p:spPr>
          <a:xfrm>
            <a:off x="4505325" y="3048000"/>
            <a:ext cx="523875" cy="266700"/>
          </a:xfrm>
          <a:prstGeom prst="rect">
            <a:avLst/>
          </a:prstGeom>
          <a:noFill/>
          <a:ln w="0">
            <a:noFill/>
          </a:ln>
        </p:spPr>
        <p:txBody>
          <a:bodyPr lIns="0" tIns="0" rIns="0" bIns="0" anchor="t">
            <a:noAutofit/>
          </a:bodyPr>
          <a:lstStyle/>
          <a:p>
            <a:pPr algn="l">
              <a:buNone/>
              <a:defRPr sz="1350" b="1">
                <a:solidFill>
                  <a:srgbClr val="75D5FF"/>
                </a:solidFill>
                <a:latin typeface="Arial"/>
                <a:ea typeface="Arial"/>
                <a:cs typeface="Arial"/>
              </a:defRPr>
            </a:pPr>
            <a:r>
              <a:rPr sz="1350" b="1">
                <a:solidFill>
                  <a:srgbClr val="75D5FF"/>
                </a:solidFill>
                <a:latin typeface="Arial"/>
                <a:ea typeface="Arial"/>
                <a:cs typeface="Arial"/>
              </a:rPr>
              <a:t>NO</a:t>
            </a:r>
          </a:p>
        </p:txBody>
      </p:sp>
      <p:sp>
        <p:nvSpPr>
          <p:cNvPr id="16" name="">
            <a:extLst>
              <a:ext uri="{FF2B5EF4-FFF2-40B4-BE49-F238E27FC236}">
                <ns2:creationId id="{98307A59-AE4E-4514-83AC-436E39AAC48D}"/>
              </a:ext>
            </a:extLst>
          </p:cNvPr>
          <p:cNvSpPr>
            <a:spLocks noGrp="1"/>
          </p:cNvSpPr>
          <p:nvPr/>
        </p:nvSpPr>
        <p:spPr>
          <a:xfrm>
            <a:off x="2647950" y="3638550"/>
            <a:ext cx="4524375" cy="56197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Retain original Wake / N3 / REM prediction</a:t>
            </a:r>
          </a:p>
        </p:txBody>
      </p:sp>
      <p:graphicFrame>
        <p:nvGraphicFramePr>
          <p:cNvPr id="39" name=""/>
          <p:cNvGraphicFramePr/>
          <p:nvPr/>
        </p:nvGraphicFramePr>
        <p:xfrm>
          <a:off x="609600" y="4629150"/>
          <a:ext cx="6743700" cy="1362075"/>
        </p:xfrm>
        <a:graphic>
          <a:graphicData uri="http://schemas.openxmlformats.org/drawingml/2006/table">
            <a:tbl>
              <a:tblPr/>
              <a:tblGrid>
                <a:gridCol w="2333625"/>
                <a:gridCol w="4410075"/>
              </a:tblGrid>
              <a:tr h="454025">
                <a:tc>
                  <a:txBody>
                    <a:bodyPr>
                      <a:noAutofit/>
                    </a:bodyPr>
                    <a:lstStyle/>
                    <a:p>
                      <a:r>
                        <a:rPr sz="1650" b="1">
                          <a:solidFill>
                            <a:srgbClr val="FFFFFF"/>
                          </a:solidFill>
                          <a:latin typeface="Arial"/>
                          <a:ea typeface="Arial"/>
                          <a:cs typeface="Arial"/>
                        </a:rPr>
                        <a:t>Feature group</a:t>
                      </a:r>
                    </a:p>
                  </a:txBody>
                  <a:tcPr marL="91440" marR="91440" marT="45720" marB="45720">
                    <a:solidFill>
                      <a:srgbClr val="18558A"/>
                    </a:solidFill>
                  </a:tcPr>
                </a:tc>
                <a:tc>
                  <a:txBody>
                    <a:bodyPr>
                      <a:noAutofit/>
                    </a:bodyPr>
                    <a:lstStyle/>
                    <a:p>
                      <a:r>
                        <a:rPr sz="1650" b="1">
                          <a:solidFill>
                            <a:srgbClr val="FFFFFF"/>
                          </a:solidFill>
                          <a:latin typeface="Arial"/>
                          <a:ea typeface="Arial"/>
                          <a:cs typeface="Arial"/>
                        </a:rPr>
                        <a:t>Input to the refiner</a:t>
                      </a:r>
                    </a:p>
                  </a:txBody>
                  <a:tcPr marL="91440" marR="91440" marT="45720" marB="45720">
                    <a:solidFill>
                      <a:srgbClr val="18558A"/>
                    </a:solidFill>
                  </a:tcPr>
                </a:tc>
              </a:tr>
              <a:tr h="454025">
                <a:tc>
                  <a:txBody>
                    <a:bodyPr>
                      <a:noAutofit/>
                    </a:bodyPr>
                    <a:lstStyle/>
                    <a:p>
                      <a:r>
                        <a:rPr sz="1650" b="0">
                          <a:solidFill>
                            <a:srgbClr val="FFFFFF"/>
                          </a:solidFill>
                          <a:latin typeface="Arial"/>
                          <a:ea typeface="Arial"/>
                          <a:cs typeface="Arial"/>
                        </a:rPr>
                        <a:t>Relative powers</a:t>
                      </a:r>
                    </a:p>
                  </a:txBody>
                  <a:tcPr marL="91440" marR="91440" marT="45720" marB="45720">
                    <a:solidFill>
                      <a:srgbClr val="123658"/>
                    </a:solidFill>
                  </a:tcPr>
                </a:tc>
                <a:tc>
                  <a:txBody>
                    <a:bodyPr>
                      <a:noAutofit/>
                    </a:bodyPr>
                    <a:lstStyle/>
                    <a:p>
                      <a:r>
                        <a:rPr sz="1650" b="0">
                          <a:solidFill>
                            <a:srgbClr val="FFFFFF"/>
                          </a:solidFill>
                          <a:latin typeface="Arial"/>
                          <a:ea typeface="Arial"/>
                          <a:cs typeface="Arial"/>
                        </a:rPr>
                        <a:t>Delta, Theta, Alpha, Sigma, Beta</a:t>
                      </a:r>
                    </a:p>
                  </a:txBody>
                  <a:tcPr marL="91440" marR="91440" marT="45720" marB="45720">
                    <a:solidFill>
                      <a:srgbClr val="123658"/>
                    </a:solidFill>
                  </a:tcPr>
                </a:tc>
              </a:tr>
              <a:tr h="454025">
                <a:tc>
                  <a:txBody>
                    <a:bodyPr>
                      <a:noAutofit/>
                    </a:bodyPr>
                    <a:lstStyle/>
                    <a:p>
                      <a:r>
                        <a:rPr sz="1650" b="0">
                          <a:solidFill>
                            <a:srgbClr val="FFFFFF"/>
                          </a:solidFill>
                          <a:latin typeface="Arial"/>
                          <a:ea typeface="Arial"/>
                          <a:cs typeface="Arial"/>
                        </a:rPr>
                        <a:t>Band / Delta ratios</a:t>
                      </a:r>
                    </a:p>
                  </a:txBody>
                  <a:tcPr marL="91440" marR="91440" marT="45720" marB="45720">
                    <a:solidFill>
                      <a:srgbClr val="1D4770"/>
                    </a:solidFill>
                  </a:tcPr>
                </a:tc>
                <a:tc>
                  <a:txBody>
                    <a:bodyPr>
                      <a:noAutofit/>
                    </a:bodyPr>
                    <a:lstStyle/>
                    <a:p>
                      <a:r>
                        <a:rPr sz="1650" b="0">
                          <a:solidFill>
                            <a:srgbClr val="FFFFFF"/>
                          </a:solidFill>
                          <a:latin typeface="Arial"/>
                          <a:ea typeface="Arial"/>
                          <a:cs typeface="Arial"/>
                        </a:rPr>
                        <a:t>Theta, Alpha, Sigma, Beta</a:t>
                      </a:r>
                    </a:p>
                  </a:txBody>
                  <a:tcPr marL="91440" marR="91440" marT="45720" marB="45720">
                    <a:solidFill>
                      <a:srgbClr val="1D4770"/>
                    </a:solidFill>
                  </a:tcPr>
                </a:tc>
              </a:tr>
            </a:tbl>
          </a:graphicData>
        </a:graphic>
      </p:graphicFrame>
      <p:sp>
        <p:nvSpPr>
          <p:cNvPr id="18" name="">
            <a:extLst>
              <a:ext uri="{FF2B5EF4-FFF2-40B4-BE49-F238E27FC236}">
                <ns2:creationId id="{991B7394-94E7-47CD-9089-081158AAC0A3}"/>
              </a:ext>
            </a:extLst>
          </p:cNvPr>
          <p:cNvSpPr>
            <a:spLocks noGrp="1"/>
          </p:cNvSpPr>
          <p:nvPr/>
        </p:nvSpPr>
        <p:spPr>
          <a:xfrm>
            <a:off x="7791450" y="4467225"/>
            <a:ext cx="3714750" cy="3524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Fit on training data only</a:t>
            </a:r>
          </a:p>
        </p:txBody>
      </p:sp>
      <p:sp>
        <p:nvSpPr>
          <p:cNvPr id="19" name="">
            <a:extLst>
              <a:ext uri="{FF2B5EF4-FFF2-40B4-BE49-F238E27FC236}">
                <ns2:creationId id="{537DAAC0-F5DC-49F8-A785-0463BCF1F309}"/>
              </a:ext>
            </a:extLst>
          </p:cNvPr>
          <p:cNvSpPr>
            <a:spLocks noGrp="1"/>
          </p:cNvSpPr>
          <p:nvPr/>
        </p:nvSpPr>
        <p:spPr>
          <a:xfrm>
            <a:off x="7791450" y="4953000"/>
            <a:ext cx="3714750" cy="1000125"/>
          </a:xfrm>
          <a:prstGeom prst="rect">
            <a:avLst/>
          </a:prstGeom>
          <a:noFill/>
          <a:ln w="0">
            <a:noFill/>
          </a:ln>
        </p:spPr>
        <p:txBody>
          <a:bodyPr lIns="0" tIns="0" rIns="0" bIns="0" anchor="t">
            <a:noAutofit/>
          </a:bodyPr>
          <a:lstStyle/>
          <a:p>
            <a:pPr algn="l">
              <a:buNone/>
              <a:defRPr sz="1650" b="0">
                <a:solidFill>
                  <a:srgbClr val="FFFFFF"/>
                </a:solidFill>
                <a:latin typeface="Arial"/>
                <a:ea typeface="Arial"/>
                <a:cs typeface="Arial"/>
              </a:defRPr>
            </a:pPr>
            <a:r>
              <a:rPr sz="1650" b="0">
                <a:solidFill>
                  <a:srgbClr val="FFFFFF"/>
                </a:solidFill>
                <a:latin typeface="Arial"/>
                <a:ea typeface="Arial"/>
                <a:cs typeface="Arial"/>
              </a:rPr>
              <a:t>True AND predicted N1/N2:</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1,278 N1 + 4,588 N2 epochs</a:t>
            </a:r>
          </a:p>
          <a:p>
            <a:pPr algn="l">
              <a:buNone/>
              <a:defRPr sz="1650" b="0">
                <a:solidFill>
                  <a:srgbClr val="FFFFFF"/>
                </a:solidFill>
                <a:latin typeface="Arial"/>
                <a:ea typeface="Arial"/>
                <a:cs typeface="Arial"/>
              </a:defRPr>
            </a:pPr>
            <a:r>
              <a:rPr sz="1650" b="0">
                <a:solidFill>
                  <a:srgbClr val="FFFFFF"/>
                </a:solidFill>
                <a:latin typeface="Arial"/>
                <a:ea typeface="Arial"/>
                <a:cs typeface="Arial"/>
              </a:rPr>
              <a:t>Test gate uses predictions only.</a:t>
            </a:r>
          </a:p>
        </p:txBody>
      </p:sp>
      <p:sp>
        <p:nvSpPr>
          <p:cNvPr id="20" name="">
            <a:extLst>
              <a:ext uri="{FF2B5EF4-FFF2-40B4-BE49-F238E27FC236}">
                <ns2:creationId id="{496FD3AD-35F9-479F-B44F-3365065E2E26}"/>
              </a:ext>
            </a:extLst>
          </p:cNvPr>
          <p:cNvSpPr>
            <a:spLocks noGrp="1"/>
          </p:cNvSpPr>
          <p:nvPr/>
        </p:nvSpPr>
        <p:spPr>
          <a:xfrm>
            <a:off x="609600" y="6181725"/>
            <a:ext cx="10906125" cy="257175"/>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Welch: 4 s windows, 2 s overlap; average channel powers before computing ratios.</a:t>
            </a:r>
          </a:p>
        </p:txBody>
      </p:sp>
    </p:spTree>
    <p:extLst>
      <p:ext uri="{BB962C8B-B14F-4D97-AF65-F5344CB8AC3E}">
        <ns3:creationId val="1069679893"/>
      </p:ext>
    </p:extLst>
  </p:cSld>
</p:sld>
</file>

<file path=ppt/slides/slide11.xml><?xml version="1.0" encoding="utf-8"?>
<p:sld xmlns:a="http://schemas.openxmlformats.org/drawingml/2006/main" xmlns:c="http://schemas.openxmlformats.org/drawingml/2006/chart" xmlns:ns2="http://schemas.microsoft.com/office/drawing/2014/main" xmlns:ns4="http://schemas.openxmlformats.org/officeDocument/2006/relationships" xmlns:ns5="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E1F9FC30-5734-4F4E-9F0A-E40BE66D12AF}"/>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AD026E77-FC07-4333-B572-88FCC6757B3B}"/>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Results and measured gains</a:t>
            </a:r>
          </a:p>
        </p:txBody>
      </p:sp>
      <p:sp>
        <p:nvSpPr>
          <p:cNvPr id="3" name="">
            <a:extLst>
              <a:ext uri="{FF2B5EF4-FFF2-40B4-BE49-F238E27FC236}">
                <ns2:creationId id="{976C3F30-1E38-480B-8902-D59095D795F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E91C006F-75E5-4D5A-B2D9-5F523E59283B}"/>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5B4988DB-40DA-4952-A70E-061404D0788A}"/>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11 / 15</a:t>
            </a:r>
          </a:p>
        </p:txBody>
      </p:sp>
      <p:graphicFrame>
        <p:nvGraphicFramePr>
          <p:cNvPr id="20" name="Chart"/>
          <p:cNvGraphicFramePr/>
          <p:nvPr/>
        </p:nvGraphicFramePr>
        <p:xfrm>
          <a:off x="609600" y="1704975"/>
          <a:ext cx="7477125" cy="3705225"/>
        </p:xfrm>
        <a:graphic>
          <a:graphicData uri="http://schemas.openxmlformats.org/drawingml/2006/chart">
            <c:chart ns4:id="R2bee1d0add414f24"/>
          </a:graphicData>
        </a:graphic>
      </p:graphicFrame>
      <p:sp>
        <p:nvSpPr>
          <p:cNvPr id="7" name="">
            <a:extLst>
              <a:ext uri="{FF2B5EF4-FFF2-40B4-BE49-F238E27FC236}">
                <ns2:creationId id="{3004B653-3887-4357-9FDB-20EC8B4A95C0}"/>
              </a:ext>
            </a:extLst>
          </p:cNvPr>
          <p:cNvSpPr>
            <a:spLocks noGrp="1"/>
          </p:cNvSpPr>
          <p:nvPr/>
        </p:nvSpPr>
        <p:spPr>
          <a:xfrm>
            <a:off x="8601075" y="197167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+3.89 pp</a:t>
            </a:r>
          </a:p>
        </p:txBody>
      </p:sp>
      <p:sp>
        <p:nvSpPr>
          <p:cNvPr id="8" name="">
            <a:extLst>
              <a:ext uri="{FF2B5EF4-FFF2-40B4-BE49-F238E27FC236}">
                <ns2:creationId id="{29F92C9F-40B2-4148-AB87-6A43C1A0FE0D}"/>
              </a:ext>
            </a:extLst>
          </p:cNvPr>
          <p:cNvSpPr>
            <a:spLocks noGrp="1"/>
          </p:cNvSpPr>
          <p:nvPr/>
        </p:nvSpPr>
        <p:spPr>
          <a:xfrm>
            <a:off x="8601075" y="2667000"/>
            <a:ext cx="2905125" cy="70485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Accuracy: 55.45% → 59.34%</a:t>
            </a:r>
          </a:p>
        </p:txBody>
      </p:sp>
      <p:sp>
        <p:nvSpPr>
          <p:cNvPr id="9" name="">
            <a:extLst>
              <a:ext uri="{FF2B5EF4-FFF2-40B4-BE49-F238E27FC236}">
                <ns2:creationId id="{82B687C0-242B-4084-802C-DD328EB83539}"/>
              </a:ext>
            </a:extLst>
          </p:cNvPr>
          <p:cNvSpPr>
            <a:spLocks noGrp="1"/>
          </p:cNvSpPr>
          <p:nvPr/>
        </p:nvSpPr>
        <p:spPr>
          <a:xfrm>
            <a:off x="8601075" y="3705225"/>
            <a:ext cx="2924175" cy="638175"/>
          </a:xfrm>
          <a:prstGeom prst="rect">
            <a:avLst/>
          </a:prstGeom>
          <a:noFill/>
          <a:ln w="0">
            <a:noFill/>
          </a:ln>
        </p:spPr>
        <p:txBody>
          <a:bodyPr lIns="0" tIns="0" rIns="0" bIns="0" anchor="t">
            <a:noAutofit/>
          </a:bodyPr>
          <a:lstStyle/>
          <a:p>
            <a:pPr algn="l">
              <a:buNone/>
              <a:defRPr sz="3225" b="1">
                <a:solidFill>
                  <a:srgbClr val="75D5FF"/>
                </a:solidFill>
                <a:latin typeface="Arial"/>
                <a:ea typeface="Arial"/>
                <a:cs typeface="Arial"/>
              </a:defRPr>
            </a:pPr>
            <a:r>
              <a:rPr sz="3225" b="1">
                <a:solidFill>
                  <a:srgbClr val="75D5FF"/>
                </a:solidFill>
                <a:latin typeface="Arial"/>
                <a:ea typeface="Arial"/>
                <a:cs typeface="Arial"/>
              </a:rPr>
              <a:t>+2.10 pp</a:t>
            </a:r>
          </a:p>
        </p:txBody>
      </p:sp>
      <p:sp>
        <p:nvSpPr>
          <p:cNvPr id="10" name="">
            <a:extLst>
              <a:ext uri="{FF2B5EF4-FFF2-40B4-BE49-F238E27FC236}">
                <ns2:creationId id="{2CF1146E-A588-432C-9DB6-2212CD61EF26}"/>
              </a:ext>
            </a:extLst>
          </p:cNvPr>
          <p:cNvSpPr>
            <a:spLocks noGrp="1"/>
          </p:cNvSpPr>
          <p:nvPr/>
        </p:nvSpPr>
        <p:spPr>
          <a:xfrm>
            <a:off x="8601075" y="4400550"/>
            <a:ext cx="2905125" cy="7239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Macro F1:</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57.42% → 59.51%</a:t>
            </a:r>
          </a:p>
        </p:txBody>
      </p:sp>
      <p:sp>
        <p:nvSpPr>
          <p:cNvPr id="11" name="">
            <a:extLst>
              <a:ext uri="{FF2B5EF4-FFF2-40B4-BE49-F238E27FC236}">
                <ns2:creationId id="{053456BD-04A1-45A6-A334-17B9D0A0D1DD}"/>
              </a:ext>
            </a:extLst>
          </p:cNvPr>
          <p:cNvSpPr>
            <a:spLocks noGrp="1"/>
          </p:cNvSpPr>
          <p:nvPr/>
        </p:nvSpPr>
        <p:spPr>
          <a:xfrm>
            <a:off x="609600" y="5743575"/>
            <a:ext cx="10858500" cy="352425"/>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154 corrected − 33 degraded = 121 net additional correct epochs</a:t>
            </a:r>
          </a:p>
        </p:txBody>
      </p:sp>
      <p:sp>
        <p:nvSpPr>
          <p:cNvPr id="12" name="">
            <a:extLst>
              <a:ext uri="{FF2B5EF4-FFF2-40B4-BE49-F238E27FC236}">
                <ns2:creationId id="{1A16650C-0958-4EC0-889B-A993D215F12C}"/>
              </a:ext>
            </a:extLst>
          </p:cNvPr>
          <p:cNvSpPr>
            <a:spLocks noGrp="1"/>
          </p:cNvSpPr>
          <p:nvPr/>
        </p:nvSpPr>
        <p:spPr>
          <a:xfrm>
            <a:off x="609600" y="6172200"/>
            <a:ext cx="10858500" cy="295275"/>
          </a:xfrm>
          <a:prstGeom prst="rect">
            <a:avLst/>
          </a:prstGeom>
          <a:noFill/>
          <a:ln w="0">
            <a:noFill/>
          </a:ln>
        </p:spPr>
        <p:txBody>
          <a:bodyPr lIns="0" tIns="0" rIns="0" bIns="0" anchor="t">
            <a:noAutofit/>
          </a:bodyPr>
          <a:lstStyle/>
          <a:p>
            <a:pPr algn="l">
              <a:buNone/>
              <a:defRPr sz="1425" b="0">
                <a:solidFill>
                  <a:srgbClr val="BED0E4"/>
                </a:solidFill>
                <a:latin typeface="Arial"/>
                <a:ea typeface="Arial"/>
                <a:cs typeface="Arial"/>
              </a:defRPr>
            </a:pPr>
            <a:r>
              <a:rPr sz="1425" b="0">
                <a:solidFill>
                  <a:srgbClr val="BED0E4"/>
                </a:solidFill>
                <a:latin typeface="Arial"/>
                <a:ea typeface="Arial"/>
                <a:cs typeface="Arial"/>
              </a:rPr>
              <a:t>Same 3,109 test epochs across 4 recordings · 238 labels changed · pp = percentage points</a:t>
            </a:r>
          </a:p>
        </p:txBody>
      </p:sp>
    </p:spTree>
    <p:extLst>
      <p:ext uri="{BB962C8B-B14F-4D97-AF65-F5344CB8AC3E}">
        <ns5:creationId val="434895987"/>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3" name="">
            <a:extLst>
              <a:ext uri="{FF2B5EF4-FFF2-40B4-BE49-F238E27FC236}">
                <ns2:creationId id="{5609B8A6-9AB2-4335-BC1E-6C4E4E398671}"/>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E31EACD-E31E-44CD-A39C-FF4384F88E60}"/>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Project outputs: hypnogram and sleep profile</a:t>
            </a:r>
          </a:p>
        </p:txBody>
      </p:sp>
      <p:sp>
        <p:nvSpPr>
          <p:cNvPr id="3" name="">
            <a:extLst>
              <a:ext uri="{FF2B5EF4-FFF2-40B4-BE49-F238E27FC236}">
                <ns2:creationId id="{16937A5D-8EA5-4052-9795-070D51D98C0C}"/>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98F18EEB-8CD2-4400-B8B3-951EB6178C7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EFDBB1DC-54D3-4EFA-BA98-8C47F14FFABD}"/>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12 / 15</a:t>
            </a:r>
          </a:p>
        </p:txBody>
      </p:sp>
      <p:sp>
        <p:nvSpPr>
          <p:cNvPr id="6" name="">
            <a:extLst>
              <a:ext uri="{FF2B5EF4-FFF2-40B4-BE49-F238E27FC236}">
                <ns2:creationId id="{5F5886AB-A5EB-4215-B556-021340329524}"/>
              </a:ext>
            </a:extLst>
          </p:cNvPr>
          <p:cNvSpPr>
            <a:spLocks noGrp="1"/>
          </p:cNvSpPr>
          <p:nvPr/>
        </p:nvSpPr>
        <p:spPr>
          <a:xfrm>
            <a:off x="609600" y="1543050"/>
            <a:ext cx="68580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SN009 · verified stage sequence</a:t>
            </a:r>
          </a:p>
        </p:txBody>
      </p:sp>
      <p:pic>
        <p:nvPicPr>
          <p:cNvPr id="22" name=""/>
          <p:cNvPicPr>
            <a:picLocks noChangeAspect="1"/>
          </p:cNvPicPr>
          <p:nvPr/>
        </p:nvPicPr>
        <p:blipFill>
          <a:blip ns3:embed="R705a2807782b4f18"/>
          <a:stretch/>
        </p:blipFill>
        <p:spPr>
          <a:xfrm>
            <a:off x="609600" y="2222224"/>
            <a:ext cx="6858000" cy="2832652"/>
          </a:xfrm>
          <a:prstGeom prst="rect">
            <a:avLst/>
          </a:prstGeom>
        </p:spPr>
      </p:pic>
      <p:sp>
        <p:nvSpPr>
          <p:cNvPr id="8" name="">
            <a:extLst>
              <a:ext uri="{FF2B5EF4-FFF2-40B4-BE49-F238E27FC236}">
                <ns2:creationId id="{98556298-EFC5-4B31-B74C-9303D0573947}"/>
              </a:ext>
            </a:extLst>
          </p:cNvPr>
          <p:cNvSpPr>
            <a:spLocks noGrp="1"/>
          </p:cNvSpPr>
          <p:nvPr/>
        </p:nvSpPr>
        <p:spPr>
          <a:xfrm>
            <a:off x="7829550" y="1543050"/>
            <a:ext cx="3695700" cy="342900"/>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Sleep Studio · current GUI</a:t>
            </a:r>
          </a:p>
        </p:txBody>
      </p:sp>
      <p:pic>
        <p:nvPicPr>
          <p:cNvPr id="24" name=""/>
          <p:cNvPicPr>
            <a:picLocks noChangeAspect="1"/>
          </p:cNvPicPr>
          <p:nvPr/>
        </p:nvPicPr>
        <p:blipFill>
          <a:blip ns3:embed="Ra6bf989d56354401"/>
          <a:stretch/>
        </p:blipFill>
        <p:spPr>
          <a:xfrm>
            <a:off x="7829550" y="2011320"/>
            <a:ext cx="3695700" cy="2397211"/>
          </a:xfrm>
          <a:prstGeom prst="rect">
            <a:avLst/>
          </a:prstGeom>
        </p:spPr>
      </p:pic>
      <p:sp>
        <p:nvSpPr>
          <p:cNvPr id="10" name="">
            <a:extLst>
              <a:ext uri="{FF2B5EF4-FFF2-40B4-BE49-F238E27FC236}">
                <ns2:creationId id="{30BFA6A2-75A9-42F0-970D-7EB5A35C2060}"/>
              </a:ext>
            </a:extLst>
          </p:cNvPr>
          <p:cNvSpPr>
            <a:spLocks noGrp="1"/>
          </p:cNvSpPr>
          <p:nvPr/>
        </p:nvSpPr>
        <p:spPr>
          <a:xfrm>
            <a:off x="7829550" y="4705350"/>
            <a:ext cx="3695700" cy="6096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Architecture, spectral features,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reference deviations and exports</a:t>
            </a:r>
          </a:p>
        </p:txBody>
      </p:sp>
      <p:sp>
        <p:nvSpPr>
          <p:cNvPr id="11" name="">
            <a:extLst>
              <a:ext uri="{FF2B5EF4-FFF2-40B4-BE49-F238E27FC236}">
                <ns2:creationId id="{B311A6B7-8020-4E23-8C29-C9A19B7A84C5}"/>
              </a:ext>
            </a:extLst>
          </p:cNvPr>
          <p:cNvSpPr>
            <a:spLocks noGrp="1"/>
          </p:cNvSpPr>
          <p:nvPr/>
        </p:nvSpPr>
        <p:spPr>
          <a:xfrm>
            <a:off x="609600" y="5619750"/>
            <a:ext cx="10858500" cy="619125"/>
          </a:xfrm>
          <a:prstGeom prst="rect">
            <a:avLst/>
          </a:prstGeom>
          <a:noFill/>
          <a:ln w="0">
            <a:noFill/>
          </a:ln>
        </p:spPr>
        <p:txBody>
          <a:bodyPr lIns="0" tIns="0" rIns="0" bIns="0" anchor="t">
            <a:noAutofit/>
          </a:bodyPr>
          <a:lstStyle/>
          <a:p>
            <a:pPr algn="l">
              <a:buNone/>
              <a:defRPr sz="1875" b="1">
                <a:solidFill>
                  <a:srgbClr val="75D5FF"/>
                </a:solidFill>
                <a:latin typeface="Arial"/>
                <a:ea typeface="Arial"/>
                <a:cs typeface="Arial"/>
              </a:defRPr>
            </a:pPr>
            <a:r>
              <a:rPr sz="1875" b="1">
                <a:solidFill>
                  <a:srgbClr val="75D5FF"/>
                </a:solidFill>
                <a:latin typeface="Arial"/>
                <a:ea typeface="Arial"/>
                <a:cs typeface="Arial"/>
              </a:rPr>
              <a:t>Stage labels → architecture metrics → training-reference comparison → four-domain profile</a:t>
            </a:r>
          </a:p>
        </p:txBody>
      </p:sp>
      <p:sp>
        <p:nvSpPr>
          <p:cNvPr id="12" name="">
            <a:extLst>
              <a:ext uri="{FF2B5EF4-FFF2-40B4-BE49-F238E27FC236}">
                <ns2:creationId id="{159C74E0-3EB2-45CF-8B4F-164CC0AEEBCC}"/>
              </a:ext>
            </a:extLst>
          </p:cNvPr>
          <p:cNvSpPr>
            <a:spLocks noGrp="1"/>
          </p:cNvSpPr>
          <p:nvPr/>
        </p:nvSpPr>
        <p:spPr>
          <a:xfrm>
            <a:off x="609600" y="6200775"/>
            <a:ext cx="10858500" cy="266700"/>
          </a:xfrm>
          <a:prstGeom prst="rect">
            <a:avLst/>
          </a:prstGeom>
          <a:noFill/>
          <a:ln w="0">
            <a:noFill/>
          </a:ln>
        </p:spPr>
        <p:txBody>
          <a:bodyPr lIns="0" tIns="0" rIns="0" bIns="0" anchor="t">
            <a:noAutofit/>
          </a:bodyPr>
          <a:lstStyle/>
          <a:p>
            <a:pPr algn="l">
              <a:buNone/>
              <a:defRPr sz="1350" b="0">
                <a:solidFill>
                  <a:srgbClr val="BED0E4"/>
                </a:solidFill>
                <a:latin typeface="Arial"/>
                <a:ea typeface="Arial"/>
                <a:cs typeface="Arial"/>
              </a:defRPr>
            </a:pPr>
            <a:r>
              <a:rPr sz="1350" b="0">
                <a:solidFill>
                  <a:srgbClr val="BED0E4"/>
                </a:solidFill>
                <a:latin typeface="Arial"/>
                <a:ea typeface="Arial"/>
                <a:cs typeface="Arial"/>
              </a:rPr>
              <a:t>Duration · Continuity · Initiation · Architecture | Descriptive research profiles, not diagnoses</a:t>
            </a:r>
          </a:p>
        </p:txBody>
      </p:sp>
    </p:spTree>
    <p:extLst>
      <p:ext uri="{BB962C8B-B14F-4D97-AF65-F5344CB8AC3E}">
        <ns4:creationId val="192251261"/>
      </p:ext>
    </p:extLst>
  </p:cSld>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30" name="">
            <a:extLst>
              <a:ext uri="{FF2B5EF4-FFF2-40B4-BE49-F238E27FC236}">
                <ns2:creationId id="{9C1CBA15-DD68-4F89-9241-A35EC84267BE}"/>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0EB2A9CB-6924-4609-AC5B-86F76A42A525}"/>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Future plan: multistage, multimodel architecture</a:t>
            </a:r>
          </a:p>
        </p:txBody>
      </p:sp>
      <p:sp>
        <p:nvSpPr>
          <p:cNvPr id="3" name="">
            <a:extLst>
              <a:ext uri="{FF2B5EF4-FFF2-40B4-BE49-F238E27FC236}">
                <ns2:creationId id="{8A3054E8-C7E7-4ADD-950B-FBF4CB29B6CD}"/>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606568E5-FBA4-4DC7-880D-26F27D47C80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Proposed research design; inspired by SeqSleepNet, RobustSleepNet and SLEEPYLAND</a:t>
            </a:r>
          </a:p>
        </p:txBody>
      </p:sp>
      <p:sp>
        <p:nvSpPr>
          <p:cNvPr id="5" name="">
            <a:extLst>
              <a:ext uri="{FF2B5EF4-FFF2-40B4-BE49-F238E27FC236}">
                <ns2:creationId id="{DDD26CD4-98E1-4843-A87E-184A658ADAB9}"/>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13 / 15</a:t>
            </a:r>
          </a:p>
        </p:txBody>
      </p:sp>
      <p:sp>
        <p:nvSpPr>
          <p:cNvPr id="6" name="">
            <a:extLst>
              <a:ext uri="{FF2B5EF4-FFF2-40B4-BE49-F238E27FC236}">
                <ns2:creationId id="{9C18BF36-D3DB-4F64-83AB-5FFCFF27C9EC}"/>
              </a:ext>
            </a:extLst>
          </p:cNvPr>
          <p:cNvSpPr>
            <a:spLocks noGrp="1"/>
          </p:cNvSpPr>
          <p:nvPr/>
        </p:nvSpPr>
        <p:spPr>
          <a:xfrm>
            <a:off x="609600" y="1533525"/>
            <a:ext cx="10858500" cy="314325"/>
          </a:xfrm>
          <a:prstGeom prst="rect">
            <a:avLst/>
          </a:prstGeom>
          <a:noFill/>
          <a:ln w="0">
            <a:noFill/>
          </a:ln>
        </p:spPr>
        <p:txBody>
          <a:bodyPr lIns="0" tIns="0" rIns="0" bIns="0" anchor="t">
            <a:noAutofit/>
          </a:bodyPr>
          <a:lstStyle/>
          <a:p>
            <a:pPr algn="l">
              <a:buNone/>
              <a:defRPr sz="1725" b="1">
                <a:solidFill>
                  <a:srgbClr val="75D5FF"/>
                </a:solidFill>
                <a:latin typeface="Arial"/>
                <a:ea typeface="Arial"/>
                <a:cs typeface="Arial"/>
              </a:defRPr>
            </a:pPr>
            <a:r>
              <a:rPr sz="1725" b="1">
                <a:solidFill>
                  <a:srgbClr val="75D5FF"/>
                </a:solidFill>
                <a:latin typeface="Arial"/>
                <a:ea typeface="Arial"/>
                <a:cs typeface="Arial"/>
              </a:rPr>
              <a:t>Proposed • not yet implemented or evaluated</a:t>
            </a:r>
          </a:p>
        </p:txBody>
      </p:sp>
      <p:sp>
        <p:nvSpPr>
          <p:cNvPr id="7" name="">
            <a:extLst>
              <a:ext uri="{FF2B5EF4-FFF2-40B4-BE49-F238E27FC236}">
                <ns2:creationId id="{95DC8C84-371E-4D08-833A-EC72189BEB5B}"/>
              </a:ext>
            </a:extLst>
          </p:cNvPr>
          <p:cNvSpPr>
            <a:spLocks noGrp="1"/>
          </p:cNvSpPr>
          <p:nvPr/>
        </p:nvSpPr>
        <p:spPr>
          <a:xfrm>
            <a:off x="609600" y="2352675"/>
            <a:ext cx="1781175" cy="809625"/>
          </a:xfrm>
          <a:prstGeom prst="rect">
            <a:avLst/>
          </a:prstGeom>
          <a:solidFill>
            <a:srgbClr val="1D4770"/>
          </a:solidFill>
          <a:ln w="14288">
            <a:solidFill>
              <a:srgbClr val="75D5FF"/>
            </a:solidFill>
          </a:ln>
        </p:spPr>
        <p:txBody>
          <a:bodyPr lIns="95250" tIns="76200" rIns="95250" bIns="76200" anchor="ctr">
            <a:noAutofit/>
          </a:bodyPr>
          <a:lstStyle/>
          <a:p>
            <a:pPr algn="ctr">
              <a:buNone/>
              <a:defRPr sz="1725" b="1">
                <a:solidFill>
                  <a:srgbClr val="FFFFFF"/>
                </a:solidFill>
                <a:latin typeface="Arial"/>
                <a:ea typeface="Arial"/>
                <a:cs typeface="Arial"/>
              </a:defRPr>
            </a:pPr>
            <a:r>
              <a:rPr sz="1725" b="1">
                <a:solidFill>
                  <a:srgbClr val="FFFFFF"/>
                </a:solidFill>
                <a:latin typeface="Arial"/>
                <a:ea typeface="Arial"/>
                <a:cs typeface="Arial"/>
              </a:rPr>
              <a:t>Aligned EEG</a:t>
            </a:r>
          </a:p>
          <a:p>
            <a:pPr algn="ctr">
              <a:buNone/>
              <a:defRPr sz="1725" b="1">
                <a:solidFill>
                  <a:srgbClr val="FFFFFF"/>
                </a:solidFill>
                <a:latin typeface="Arial"/>
                <a:ea typeface="Arial"/>
                <a:cs typeface="Arial"/>
              </a:defRPr>
            </a:pPr>
            <a:r>
              <a:rPr sz="1725" b="1">
                <a:solidFill>
                  <a:srgbClr val="FFFFFF"/>
                </a:solidFill>
                <a:latin typeface="Arial"/>
                <a:ea typeface="Arial"/>
                <a:cs typeface="Arial"/>
              </a:rPr>
              <a:t>+ quality checks</a:t>
            </a:r>
          </a:p>
        </p:txBody>
      </p:sp>
      <p:sp>
        <p:nvSpPr>
          <p:cNvPr id="8" name="">
            <a:extLst>
              <a:ext uri="{FF2B5EF4-FFF2-40B4-BE49-F238E27FC236}">
                <ns2:creationId id="{3A1BB145-970D-47D8-B8E5-440F6BFD53A8}"/>
              </a:ext>
            </a:extLst>
          </p:cNvPr>
          <p:cNvSpPr>
            <a:spLocks noGrp="1"/>
          </p:cNvSpPr>
          <p:nvPr/>
        </p:nvSpPr>
        <p:spPr>
          <a:xfrm>
            <a:off x="2895600" y="2057400"/>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A: coarse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Wake / REM / NREM</a:t>
            </a:r>
          </a:p>
        </p:txBody>
      </p:sp>
      <p:sp>
        <p:nvSpPr>
          <p:cNvPr id="9" name="">
            <a:extLst>
              <a:ext uri="{FF2B5EF4-FFF2-40B4-BE49-F238E27FC236}">
                <ns2:creationId id="{27B7F729-9B12-45EE-8F42-08D9603CF52E}"/>
              </a:ext>
            </a:extLst>
          </p:cNvPr>
          <p:cNvSpPr>
            <a:spLocks noGrp="1"/>
          </p:cNvSpPr>
          <p:nvPr/>
        </p:nvSpPr>
        <p:spPr>
          <a:xfrm>
            <a:off x="2895600" y="3324225"/>
            <a:ext cx="2924175" cy="809625"/>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B: NREM expert</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N1 / N2 / N3</a:t>
            </a:r>
          </a:p>
        </p:txBody>
      </p:sp>
      <p:sp>
        <p:nvSpPr>
          <p:cNvPr id="10" name="">
            <a:extLst>
              <a:ext uri="{FF2B5EF4-FFF2-40B4-BE49-F238E27FC236}">
                <ns2:creationId id="{EC26E0CD-B956-41EB-BF19-8237F2FE2DB2}"/>
              </a:ext>
            </a:extLst>
          </p:cNvPr>
          <p:cNvSpPr>
            <a:spLocks noGrp="1"/>
          </p:cNvSpPr>
          <p:nvPr/>
        </p:nvSpPr>
        <p:spPr>
          <a:xfrm>
            <a:off x="2514600" y="2752725"/>
            <a:ext cx="200025" cy="0"/>
          </a:xfrm>
          <a:prstGeom prst="line">
            <a:avLst/>
          </a:prstGeom>
          <a:noFill/>
          <a:ln w="19050">
            <a:solidFill>
              <a:srgbClr val="75D5FF"/>
            </a:solidFill>
          </a:ln>
        </p:spPr>
      </p:sp>
      <p:sp>
        <p:nvSpPr>
          <p:cNvPr id="11" name="">
            <a:extLst>
              <a:ext uri="{FF2B5EF4-FFF2-40B4-BE49-F238E27FC236}">
                <ns2:creationId id="{53818038-B9AE-4BD9-A5B2-91EECC4E0099}"/>
              </a:ext>
            </a:extLst>
          </p:cNvPr>
          <p:cNvSpPr>
            <a:spLocks noGrp="1"/>
          </p:cNvSpPr>
          <p:nvPr/>
        </p:nvSpPr>
        <p:spPr>
          <a:xfrm>
            <a:off x="2714625" y="2457450"/>
            <a:ext cx="0" cy="1266825"/>
          </a:xfrm>
          <a:prstGeom prst="line">
            <a:avLst/>
          </a:prstGeom>
          <a:noFill/>
          <a:ln w="19050">
            <a:solidFill>
              <a:srgbClr val="75D5FF"/>
            </a:solidFill>
          </a:ln>
        </p:spPr>
      </p:sp>
      <p:sp>
        <p:nvSpPr>
          <p:cNvPr id="12" name="">
            <a:extLst>
              <a:ext uri="{FF2B5EF4-FFF2-40B4-BE49-F238E27FC236}">
                <ns2:creationId id="{1B8ECF43-5244-4C3D-9964-B380D78EAB37}"/>
              </a:ext>
            </a:extLst>
          </p:cNvPr>
          <p:cNvSpPr>
            <a:spLocks noGrp="1"/>
          </p:cNvSpPr>
          <p:nvPr/>
        </p:nvSpPr>
        <p:spPr>
          <a:xfrm>
            <a:off x="2714625" y="2400300"/>
            <a:ext cx="180975" cy="123825"/>
          </a:xfrm>
          <a:prstGeom prst="rightArrow">
            <a:avLst/>
          </a:prstGeom>
          <a:solidFill>
            <a:srgbClr val="75D5FF"/>
          </a:solidFill>
          <a:ln w="14288">
            <a:solidFill>
              <a:srgbClr val="75D5FF"/>
            </a:solidFill>
          </a:ln>
        </p:spPr>
      </p:sp>
      <p:sp>
        <p:nvSpPr>
          <p:cNvPr id="13" name="">
            <a:extLst>
              <a:ext uri="{FF2B5EF4-FFF2-40B4-BE49-F238E27FC236}">
                <ns2:creationId id="{8E2E42AB-B672-4CB8-92E8-55BDF885058B}"/>
              </a:ext>
            </a:extLst>
          </p:cNvPr>
          <p:cNvSpPr>
            <a:spLocks noGrp="1"/>
          </p:cNvSpPr>
          <p:nvPr/>
        </p:nvSpPr>
        <p:spPr>
          <a:xfrm>
            <a:off x="2714625" y="3667125"/>
            <a:ext cx="180975" cy="123825"/>
          </a:xfrm>
          <a:prstGeom prst="rightArrow">
            <a:avLst/>
          </a:prstGeom>
          <a:solidFill>
            <a:srgbClr val="75D5FF"/>
          </a:solidFill>
          <a:ln w="14288">
            <a:solidFill>
              <a:srgbClr val="75D5FF"/>
            </a:solidFill>
          </a:ln>
        </p:spPr>
      </p:sp>
      <p:sp>
        <p:nvSpPr>
          <p:cNvPr id="14" name="">
            <a:extLst>
              <a:ext uri="{FF2B5EF4-FFF2-40B4-BE49-F238E27FC236}">
                <ns2:creationId id="{B25DBC2B-113F-4350-AB5B-E02BB8FADFE1}"/>
              </a:ext>
            </a:extLst>
          </p:cNvPr>
          <p:cNvSpPr>
            <a:spLocks noGrp="1"/>
          </p:cNvSpPr>
          <p:nvPr/>
        </p:nvSpPr>
        <p:spPr>
          <a:xfrm>
            <a:off x="6477000" y="2628900"/>
            <a:ext cx="2333625" cy="1104900"/>
          </a:xfrm>
          <a:prstGeom prst="rect">
            <a:avLst/>
          </a:prstGeom>
          <a:solidFill>
            <a:srgbClr val="1D4770"/>
          </a:solidFill>
          <a:ln w="14288">
            <a:solidFill>
              <a:srgbClr val="75D5FF"/>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Soft probability</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composition +</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optional baseline fusion</a:t>
            </a:r>
          </a:p>
        </p:txBody>
      </p:sp>
      <p:sp>
        <p:nvSpPr>
          <p:cNvPr id="15" name="">
            <a:extLst>
              <a:ext uri="{FF2B5EF4-FFF2-40B4-BE49-F238E27FC236}">
                <ns2:creationId id="{F595083E-FEA6-4828-8782-4983E0BA0F4C}"/>
              </a:ext>
            </a:extLst>
          </p:cNvPr>
          <p:cNvSpPr>
            <a:spLocks noGrp="1"/>
          </p:cNvSpPr>
          <p:nvPr/>
        </p:nvSpPr>
        <p:spPr>
          <a:xfrm>
            <a:off x="5915025" y="2457450"/>
            <a:ext cx="228600" cy="0"/>
          </a:xfrm>
          <a:prstGeom prst="line">
            <a:avLst/>
          </a:prstGeom>
          <a:noFill/>
          <a:ln w="19050">
            <a:solidFill>
              <a:srgbClr val="75D5FF"/>
            </a:solidFill>
          </a:ln>
        </p:spPr>
      </p:sp>
      <p:sp>
        <p:nvSpPr>
          <p:cNvPr id="16" name="">
            <a:extLst>
              <a:ext uri="{FF2B5EF4-FFF2-40B4-BE49-F238E27FC236}">
                <ns2:creationId id="{C3B5EB1E-4860-4FD9-9C1C-1F7FA4AA33B5}"/>
              </a:ext>
            </a:extLst>
          </p:cNvPr>
          <p:cNvSpPr>
            <a:spLocks noGrp="1"/>
          </p:cNvSpPr>
          <p:nvPr/>
        </p:nvSpPr>
        <p:spPr>
          <a:xfrm>
            <a:off x="6143625" y="2457450"/>
            <a:ext cx="0" cy="609600"/>
          </a:xfrm>
          <a:prstGeom prst="line">
            <a:avLst/>
          </a:prstGeom>
          <a:noFill/>
          <a:ln w="19050">
            <a:solidFill>
              <a:srgbClr val="75D5FF"/>
            </a:solidFill>
          </a:ln>
        </p:spPr>
      </p:sp>
      <p:sp>
        <p:nvSpPr>
          <p:cNvPr id="17" name="">
            <a:extLst>
              <a:ext uri="{FF2B5EF4-FFF2-40B4-BE49-F238E27FC236}">
                <ns2:creationId id="{6FE91125-9E11-4841-9934-9B0674187B92}"/>
              </a:ext>
            </a:extLst>
          </p:cNvPr>
          <p:cNvSpPr>
            <a:spLocks noGrp="1"/>
          </p:cNvSpPr>
          <p:nvPr/>
        </p:nvSpPr>
        <p:spPr>
          <a:xfrm>
            <a:off x="6143625" y="2990850"/>
            <a:ext cx="247650" cy="152400"/>
          </a:xfrm>
          <a:prstGeom prst="rightArrow">
            <a:avLst/>
          </a:prstGeom>
          <a:solidFill>
            <a:srgbClr val="75D5FF"/>
          </a:solidFill>
          <a:ln w="14288">
            <a:solidFill>
              <a:srgbClr val="75D5FF"/>
            </a:solidFill>
          </a:ln>
        </p:spPr>
      </p:sp>
      <p:sp>
        <p:nvSpPr>
          <p:cNvPr id="18" name="">
            <a:extLst>
              <a:ext uri="{FF2B5EF4-FFF2-40B4-BE49-F238E27FC236}">
                <ns2:creationId id="{E4CB3ADA-8F79-46A9-8A06-19CF23F1CBD5}"/>
              </a:ext>
            </a:extLst>
          </p:cNvPr>
          <p:cNvSpPr>
            <a:spLocks noGrp="1"/>
          </p:cNvSpPr>
          <p:nvPr/>
        </p:nvSpPr>
        <p:spPr>
          <a:xfrm>
            <a:off x="5915025" y="3724275"/>
            <a:ext cx="228600" cy="0"/>
          </a:xfrm>
          <a:prstGeom prst="line">
            <a:avLst/>
          </a:prstGeom>
          <a:noFill/>
          <a:ln w="19050">
            <a:solidFill>
              <a:srgbClr val="75D5FF"/>
            </a:solidFill>
          </a:ln>
        </p:spPr>
      </p:sp>
      <p:sp>
        <p:nvSpPr>
          <p:cNvPr id="19" name="">
            <a:extLst>
              <a:ext uri="{FF2B5EF4-FFF2-40B4-BE49-F238E27FC236}">
                <ns2:creationId id="{42A6562C-D78C-499E-A198-5B22AFCEA1C7}"/>
              </a:ext>
            </a:extLst>
          </p:cNvPr>
          <p:cNvSpPr>
            <a:spLocks noGrp="1"/>
          </p:cNvSpPr>
          <p:nvPr/>
        </p:nvSpPr>
        <p:spPr>
          <a:xfrm>
            <a:off x="6143625" y="3333750"/>
            <a:ext cx="0" cy="390525"/>
          </a:xfrm>
          <a:prstGeom prst="line">
            <a:avLst/>
          </a:prstGeom>
          <a:noFill/>
          <a:ln w="19050">
            <a:solidFill>
              <a:srgbClr val="75D5FF"/>
            </a:solidFill>
          </a:ln>
        </p:spPr>
      </p:sp>
      <p:sp>
        <p:nvSpPr>
          <p:cNvPr id="20" name="">
            <a:extLst>
              <a:ext uri="{FF2B5EF4-FFF2-40B4-BE49-F238E27FC236}">
                <ns2:creationId id="{7688241B-6854-4B0B-849C-694A1C759337}"/>
              </a:ext>
            </a:extLst>
          </p:cNvPr>
          <p:cNvSpPr>
            <a:spLocks noGrp="1"/>
          </p:cNvSpPr>
          <p:nvPr/>
        </p:nvSpPr>
        <p:spPr>
          <a:xfrm>
            <a:off x="6143625" y="3257550"/>
            <a:ext cx="247650" cy="152400"/>
          </a:xfrm>
          <a:prstGeom prst="rightArrow">
            <a:avLst/>
          </a:prstGeom>
          <a:solidFill>
            <a:srgbClr val="75D5FF"/>
          </a:solidFill>
          <a:ln w="14288">
            <a:solidFill>
              <a:srgbClr val="75D5FF"/>
            </a:solidFill>
          </a:ln>
        </p:spPr>
      </p:sp>
      <p:sp>
        <p:nvSpPr>
          <p:cNvPr id="21" name="">
            <a:extLst>
              <a:ext uri="{FF2B5EF4-FFF2-40B4-BE49-F238E27FC236}">
                <ns2:creationId id="{575C5536-C34D-42E2-A5C3-F74BE237CD06}"/>
              </a:ext>
            </a:extLst>
          </p:cNvPr>
          <p:cNvSpPr>
            <a:spLocks noGrp="1"/>
          </p:cNvSpPr>
          <p:nvPr/>
        </p:nvSpPr>
        <p:spPr>
          <a:xfrm>
            <a:off x="8943975" y="3076575"/>
            <a:ext cx="304800" cy="190500"/>
          </a:xfrm>
          <a:prstGeom prst="rightArrow">
            <a:avLst/>
          </a:prstGeom>
          <a:solidFill>
            <a:srgbClr val="75D5FF"/>
          </a:solidFill>
          <a:ln w="14288">
            <a:solidFill>
              <a:srgbClr val="75D5FF"/>
            </a:solidFill>
          </a:ln>
        </p:spPr>
      </p:sp>
      <p:sp>
        <p:nvSpPr>
          <p:cNvPr id="22" name="">
            <a:extLst>
              <a:ext uri="{FF2B5EF4-FFF2-40B4-BE49-F238E27FC236}">
                <ns2:creationId id="{9C88F09D-D2D6-41A0-83AD-26AEC262AD65}"/>
              </a:ext>
            </a:extLst>
          </p:cNvPr>
          <p:cNvSpPr>
            <a:spLocks noGrp="1"/>
          </p:cNvSpPr>
          <p:nvPr/>
        </p:nvSpPr>
        <p:spPr>
          <a:xfrm>
            <a:off x="9363075" y="2628900"/>
            <a:ext cx="2143125" cy="1104900"/>
          </a:xfrm>
          <a:prstGeom prst="rect">
            <a:avLst/>
          </a:prstGeom>
          <a:solidFill>
            <a:srgbClr val="18558A"/>
          </a:solidFill>
          <a:ln w="14288">
            <a:solidFill>
              <a:srgbClr val="18558A"/>
            </a:solidFill>
          </a:ln>
        </p:spPr>
        <p:txBody>
          <a:bodyPr lIns="95250" tIns="76200" rIns="95250" bIns="76200" anchor="ctr">
            <a:noAutofit/>
          </a:bodyPr>
          <a:lstStyle/>
          <a:p>
            <a:pPr algn="ctr">
              <a:buNone/>
              <a:defRPr sz="1650" b="1">
                <a:solidFill>
                  <a:srgbClr val="FFFFFF"/>
                </a:solidFill>
                <a:latin typeface="Arial"/>
                <a:ea typeface="Arial"/>
                <a:cs typeface="Arial"/>
              </a:defRPr>
            </a:pPr>
            <a:r>
              <a:rPr sz="1650" b="1">
                <a:solidFill>
                  <a:srgbClr val="FFFFFF"/>
                </a:solidFill>
                <a:latin typeface="Arial"/>
                <a:ea typeface="Arial"/>
                <a:cs typeface="Arial"/>
              </a:rPr>
              <a:t>Model C: TCN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Temporal CNN</a:t>
            </a:r>
          </a:p>
          <a:p>
            <a:pPr algn="ctr">
              <a:buNone/>
              <a:defRPr sz="1650" b="1">
                <a:solidFill>
                  <a:srgbClr val="FFFFFF"/>
                </a:solidFill>
                <a:latin typeface="Arial"/>
                <a:ea typeface="Arial"/>
                <a:cs typeface="Arial"/>
              </a:defRPr>
            </a:pPr>
            <a:r>
              <a:rPr sz="1650" b="1">
                <a:solidFill>
                  <a:srgbClr val="FFFFFF"/>
                </a:solidFill>
                <a:latin typeface="Arial"/>
                <a:ea typeface="Arial"/>
                <a:cs typeface="Arial"/>
              </a:rPr>
              <a:t>across epochs</a:t>
            </a:r>
          </a:p>
        </p:txBody>
      </p:sp>
      <p:sp>
        <p:nvSpPr>
          <p:cNvPr id="23" name="">
            <a:extLst>
              <a:ext uri="{FF2B5EF4-FFF2-40B4-BE49-F238E27FC236}">
                <ns2:creationId id="{317ADB2C-F32B-4D95-8C46-04A20D8E288E}"/>
              </a:ext>
            </a:extLst>
          </p:cNvPr>
          <p:cNvSpPr>
            <a:spLocks noGrp="1"/>
          </p:cNvSpPr>
          <p:nvPr/>
        </p:nvSpPr>
        <p:spPr>
          <a:xfrm>
            <a:off x="609600" y="4391025"/>
            <a:ext cx="10858500" cy="314325"/>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Conditional NREM probabilities preserve five-class normalization</a:t>
            </a:r>
          </a:p>
        </p:txBody>
      </p:sp>
      <p:sp>
        <p:nvSpPr>
          <p:cNvPr id="24" name="">
            <a:extLst>
              <a:ext uri="{FF2B5EF4-FFF2-40B4-BE49-F238E27FC236}">
                <ns2:creationId id="{DE1ACA95-E855-4A1F-B12B-6FF458E0823F}"/>
              </a:ext>
            </a:extLst>
          </p:cNvPr>
          <p:cNvSpPr>
            <a:spLocks noGrp="1"/>
          </p:cNvSpPr>
          <p:nvPr/>
        </p:nvSpPr>
        <p:spPr>
          <a:xfrm>
            <a:off x="60960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1  Experts</a:t>
            </a:r>
          </a:p>
        </p:txBody>
      </p:sp>
      <p:sp>
        <p:nvSpPr>
          <p:cNvPr id="25" name="">
            <a:extLst>
              <a:ext uri="{FF2B5EF4-FFF2-40B4-BE49-F238E27FC236}">
                <ns2:creationId id="{2774EDC2-F05B-496F-A873-72FF4D742737}"/>
              </a:ext>
            </a:extLst>
          </p:cNvPr>
          <p:cNvSpPr>
            <a:spLocks noGrp="1"/>
          </p:cNvSpPr>
          <p:nvPr/>
        </p:nvSpPr>
        <p:spPr>
          <a:xfrm>
            <a:off x="60960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Test coarse + NREM models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against the current baseline.</a:t>
            </a:r>
          </a:p>
        </p:txBody>
      </p:sp>
      <p:sp>
        <p:nvSpPr>
          <p:cNvPr id="26" name="">
            <a:extLst>
              <a:ext uri="{FF2B5EF4-FFF2-40B4-BE49-F238E27FC236}">
                <ns2:creationId id="{E6B03B76-6445-497E-9CDB-B53197A56DBB}"/>
              </a:ext>
            </a:extLst>
          </p:cNvPr>
          <p:cNvSpPr>
            <a:spLocks noGrp="1"/>
          </p:cNvSpPr>
          <p:nvPr/>
        </p:nvSpPr>
        <p:spPr>
          <a:xfrm>
            <a:off x="4333875"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2  Context + confidence</a:t>
            </a:r>
          </a:p>
        </p:txBody>
      </p:sp>
      <p:sp>
        <p:nvSpPr>
          <p:cNvPr id="27" name="">
            <a:extLst>
              <a:ext uri="{FF2B5EF4-FFF2-40B4-BE49-F238E27FC236}">
                <ns2:creationId id="{49C20E6E-B001-4C6E-9E8E-E929B16775EC}"/>
              </a:ext>
            </a:extLst>
          </p:cNvPr>
          <p:cNvSpPr>
            <a:spLocks noGrp="1"/>
          </p:cNvSpPr>
          <p:nvPr/>
        </p:nvSpPr>
        <p:spPr>
          <a:xfrm>
            <a:off x="4333875"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Train TCN on out-of-fold outputs.</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Calibrate final probabilities.</a:t>
            </a:r>
          </a:p>
        </p:txBody>
      </p:sp>
      <p:sp>
        <p:nvSpPr>
          <p:cNvPr id="28" name="">
            <a:extLst>
              <a:ext uri="{FF2B5EF4-FFF2-40B4-BE49-F238E27FC236}">
                <ns2:creationId id="{E8822F42-E185-4C89-ABAF-97E1DC39CA4E}"/>
              </a:ext>
            </a:extLst>
          </p:cNvPr>
          <p:cNvSpPr>
            <a:spLocks noGrp="1"/>
          </p:cNvSpPr>
          <p:nvPr/>
        </p:nvSpPr>
        <p:spPr>
          <a:xfrm>
            <a:off x="8096250" y="5010150"/>
            <a:ext cx="3333750" cy="381000"/>
          </a:xfrm>
          <a:prstGeom prst="rect">
            <a:avLst/>
          </a:prstGeom>
          <a:noFill/>
          <a:ln w="0">
            <a:noFill/>
          </a:ln>
        </p:spPr>
        <p:txBody>
          <a:bodyPr lIns="0" tIns="0" rIns="0" bIns="0" anchor="t">
            <a:noAutofit/>
          </a:bodyPr>
          <a:lstStyle/>
          <a:p>
            <a:pPr algn="l">
              <a:buNone/>
              <a:defRPr sz="1950" b="1">
                <a:solidFill>
                  <a:srgbClr val="FFFFFF"/>
                </a:solidFill>
                <a:latin typeface="Arial"/>
                <a:ea typeface="Arial"/>
                <a:cs typeface="Arial"/>
              </a:defRPr>
            </a:pPr>
            <a:r>
              <a:rPr sz="1950" b="1">
                <a:solidFill>
                  <a:srgbClr val="FFFFFF"/>
                </a:solidFill>
                <a:latin typeface="Arial"/>
                <a:ea typeface="Arial"/>
                <a:cs typeface="Arial"/>
              </a:rPr>
              <a:t>3  Broader validation</a:t>
            </a:r>
          </a:p>
        </p:txBody>
      </p:sp>
      <p:sp>
        <p:nvSpPr>
          <p:cNvPr id="29" name="">
            <a:extLst>
              <a:ext uri="{FF2B5EF4-FFF2-40B4-BE49-F238E27FC236}">
                <ns2:creationId id="{34DB2A65-C847-472B-B292-6A2C0467AE30}"/>
              </a:ext>
            </a:extLst>
          </p:cNvPr>
          <p:cNvSpPr>
            <a:spLocks noGrp="1"/>
          </p:cNvSpPr>
          <p:nvPr/>
        </p:nvSpPr>
        <p:spPr>
          <a:xfrm>
            <a:off x="8096250" y="5505450"/>
            <a:ext cx="3333750" cy="647700"/>
          </a:xfrm>
          <a:prstGeom prst="rect">
            <a:avLst/>
          </a:prstGeom>
          <a:noFill/>
          <a:ln w="0">
            <a:noFill/>
          </a:ln>
        </p:spPr>
        <p:txBody>
          <a:bodyPr lIns="0" tIns="0" rIns="0" bIns="0" anchor="t">
            <a:noAutofit/>
          </a:bodyPr>
          <a:lstStyle/>
          <a:p>
            <a:pPr algn="l">
              <a:buNone/>
              <a:defRPr sz="1725" b="0">
                <a:solidFill>
                  <a:srgbClr val="FFFFFF"/>
                </a:solidFill>
                <a:latin typeface="Arial"/>
                <a:ea typeface="Arial"/>
                <a:cs typeface="Arial"/>
              </a:defRPr>
            </a:pPr>
            <a:r>
              <a:rPr sz="1725" b="0">
                <a:solidFill>
                  <a:srgbClr val="FFFFFF"/>
                </a:solidFill>
                <a:latin typeface="Arial"/>
                <a:ea typeface="Arial"/>
                <a:cs typeface="Arial"/>
              </a:rPr>
              <a:t>New locked cohort, then external</a:t>
            </a:r>
          </a:p>
          <a:p>
            <a:pPr algn="l">
              <a:buNone/>
              <a:defRPr sz="1725" b="0">
                <a:solidFill>
                  <a:srgbClr val="FFFFFF"/>
                </a:solidFill>
                <a:latin typeface="Arial"/>
                <a:ea typeface="Arial"/>
                <a:cs typeface="Arial"/>
              </a:defRPr>
            </a:pPr>
            <a:r>
              <a:rPr sz="1725" b="0">
                <a:solidFill>
                  <a:srgbClr val="FFFFFF"/>
                </a:solidFill>
                <a:latin typeface="Arial"/>
                <a:ea typeface="Arial"/>
                <a:cs typeface="Arial"/>
              </a:rPr>
              <a:t>data and optional EOG / EMG.</a:t>
            </a:r>
          </a:p>
        </p:txBody>
      </p:sp>
    </p:spTree>
    <p:extLst>
      <p:ext uri="{BB962C8B-B14F-4D97-AF65-F5344CB8AC3E}">
        <ns3:creationId val="275512249"/>
      </p:ext>
    </p:extLst>
  </p:cSld>
</p:sld>
</file>

<file path=ppt/slides/slide1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5" name="">
            <a:extLst>
              <a:ext uri="{FF2B5EF4-FFF2-40B4-BE49-F238E27FC236}">
                <ns2:creationId id="{57889F58-0FD7-40A1-B98C-B60CA001EA14}"/>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13D66711-83FB-44E7-8D99-D15604A414DD}"/>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buNone/>
              <a:defRPr sz="2700" b="1">
                <a:solidFill>
                  <a:srgbClr val="FFFFFF"/>
                </a:solidFill>
                <a:latin typeface="Arial"/>
                <a:ea typeface="Arial"/>
                <a:cs typeface="Arial"/>
              </a:defRPr>
            </a:pPr>
            <a:r>
              <a:rPr sz="2700" b="1">
                <a:solidFill>
                  <a:srgbClr val="FFFFFF"/>
                </a:solidFill>
                <a:latin typeface="Arial"/>
                <a:ea typeface="Arial"/>
                <a:cs typeface="Arial"/>
              </a:rPr>
              <a:t>Conclusion and next milestones</a:t>
            </a:r>
          </a:p>
        </p:txBody>
      </p:sp>
      <p:sp>
        <p:nvSpPr>
          <p:cNvPr id="3" name="">
            <a:extLst>
              <a:ext uri="{FF2B5EF4-FFF2-40B4-BE49-F238E27FC236}">
                <ns2:creationId id="{BA17DEB7-E593-44AB-8D22-C6356583F0C8}"/>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341FE588-7C3F-4116-A328-416E8D85FE49}"/>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Notebook + verified run HMC-N1N2-20261007</a:t>
            </a:r>
          </a:p>
        </p:txBody>
      </p:sp>
      <p:sp>
        <p:nvSpPr>
          <p:cNvPr id="5" name="">
            <a:extLst>
              <a:ext uri="{FF2B5EF4-FFF2-40B4-BE49-F238E27FC236}">
                <ns2:creationId id="{96B13D83-29CF-4B51-8CC5-266BFA87417C}"/>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buNone/>
              <a:defRPr sz="900" b="0">
                <a:solidFill>
                  <a:srgbClr val="BED0E4"/>
                </a:solidFill>
                <a:latin typeface="Arial"/>
                <a:ea typeface="Arial"/>
                <a:cs typeface="Arial"/>
              </a:defRPr>
            </a:pPr>
            <a:r>
              <a:rPr sz="900" b="0">
                <a:solidFill>
                  <a:srgbClr val="BED0E4"/>
                </a:solidFill>
                <a:latin typeface="Arial"/>
                <a:ea typeface="Arial"/>
                <a:cs typeface="Arial"/>
              </a:rPr>
              <a:t>14 / 15</a:t>
            </a:r>
          </a:p>
        </p:txBody>
      </p:sp>
      <p:sp>
        <p:nvSpPr>
          <p:cNvPr id="6" name="">
            <a:extLst>
              <a:ext uri="{FF2B5EF4-FFF2-40B4-BE49-F238E27FC236}">
                <ns2:creationId id="{6DC7C425-965E-4A4C-AB2A-6095653403AA}"/>
              </a:ext>
            </a:extLst>
          </p:cNvPr>
          <p:cNvSpPr>
            <a:spLocks noGrp="1"/>
          </p:cNvSpPr>
          <p:nvPr/>
        </p:nvSpPr>
        <p:spPr>
          <a:xfrm>
            <a:off x="609600" y="1695450"/>
            <a:ext cx="49530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What is demonstrated</a:t>
            </a:r>
          </a:p>
        </p:txBody>
      </p:sp>
      <p:sp>
        <p:nvSpPr>
          <p:cNvPr id="7" name="">
            <a:extLst>
              <a:ext uri="{FF2B5EF4-FFF2-40B4-BE49-F238E27FC236}">
                <ns2:creationId id="{8F175AD2-5F1A-4A6B-9994-8152C7727C03}"/>
              </a:ext>
            </a:extLst>
          </p:cNvPr>
          <p:cNvSpPr>
            <a:spLocks noGrp="1"/>
          </p:cNvSpPr>
          <p:nvPr/>
        </p:nvSpPr>
        <p:spPr>
          <a:xfrm>
            <a:off x="609600" y="2390775"/>
            <a:ext cx="5076825" cy="1104900"/>
          </a:xfrm>
          <a:prstGeom prst="rect">
            <a:avLst/>
          </a:prstGeom>
          <a:noFill/>
          <a:ln w="0">
            <a:noFill/>
          </a:ln>
        </p:spPr>
        <p:txBody>
          <a:bodyPr lIns="0" tIns="0" rIns="0" bIns="0" anchor="t">
            <a:noAutofit/>
          </a:bodyPr>
          <a:lstStyle/>
          <a:p>
            <a:pPr algn="l">
              <a:buNone/>
              <a:defRPr sz="2175" b="1">
                <a:solidFill>
                  <a:srgbClr val="FFFFFF"/>
                </a:solidFill>
                <a:latin typeface="Arial"/>
                <a:ea typeface="Arial"/>
                <a:cs typeface="Arial"/>
              </a:defRPr>
            </a:pPr>
            <a:r>
              <a:rPr sz="2175" b="1">
                <a:solidFill>
                  <a:srgbClr val="FFFFFF"/>
                </a:solidFill>
                <a:latin typeface="Arial"/>
                <a:ea typeface="Arial"/>
                <a:cs typeface="Arial"/>
              </a:rPr>
              <a:t>Spectral features improve</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N1/N2 discrimination</a:t>
            </a:r>
          </a:p>
          <a:p>
            <a:pPr algn="l">
              <a:buNone/>
              <a:defRPr sz="2175" b="1">
                <a:solidFill>
                  <a:srgbClr val="FFFFFF"/>
                </a:solidFill>
                <a:latin typeface="Arial"/>
                <a:ea typeface="Arial"/>
                <a:cs typeface="Arial"/>
              </a:defRPr>
            </a:pPr>
            <a:r>
              <a:rPr sz="2175" b="1">
                <a:solidFill>
                  <a:srgbClr val="FFFFFF"/>
                </a:solidFill>
                <a:latin typeface="Arial"/>
                <a:ea typeface="Arial"/>
                <a:cs typeface="Arial"/>
              </a:rPr>
              <a:t>in the current experiment.</a:t>
            </a:r>
          </a:p>
        </p:txBody>
      </p:sp>
      <p:sp>
        <p:nvSpPr>
          <p:cNvPr id="8" name="">
            <a:extLst>
              <a:ext uri="{FF2B5EF4-FFF2-40B4-BE49-F238E27FC236}">
                <ns2:creationId id="{E194DBFF-4AF2-4739-88D0-7CD5336B4A81}"/>
              </a:ext>
            </a:extLst>
          </p:cNvPr>
          <p:cNvSpPr>
            <a:spLocks noGrp="1"/>
          </p:cNvSpPr>
          <p:nvPr/>
        </p:nvSpPr>
        <p:spPr>
          <a:xfrm>
            <a:off x="609600" y="3629025"/>
            <a:ext cx="5076825" cy="113347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59.34% test accuracy; 59.51% macro F1.</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A complete notebook-to-GUI pipeline</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produces stage labels and profiles.</a:t>
            </a:r>
          </a:p>
        </p:txBody>
      </p:sp>
      <p:sp>
        <p:nvSpPr>
          <p:cNvPr id="9" name="">
            <a:extLst>
              <a:ext uri="{FF2B5EF4-FFF2-40B4-BE49-F238E27FC236}">
                <ns2:creationId id="{702BBC20-D3E8-40BD-AB6A-EE0E9468F408}"/>
              </a:ext>
            </a:extLst>
          </p:cNvPr>
          <p:cNvSpPr>
            <a:spLocks noGrp="1"/>
          </p:cNvSpPr>
          <p:nvPr/>
        </p:nvSpPr>
        <p:spPr>
          <a:xfrm>
            <a:off x="609600" y="5305425"/>
            <a:ext cx="5076825" cy="723900"/>
          </a:xfrm>
          <a:prstGeom prst="rect">
            <a:avLst/>
          </a:prstGeom>
          <a:noFill/>
          <a:ln w="0">
            <a:noFill/>
          </a:ln>
        </p:spPr>
        <p:txBody>
          <a:bodyPr lIns="0" tIns="0" rIns="0" bIns="0" anchor="t">
            <a:noAutofit/>
          </a:bodyPr>
          <a:lstStyle/>
          <a:p>
            <a:pPr algn="l">
              <a:buNone/>
              <a:defRPr sz="1725" b="0">
                <a:solidFill>
                  <a:srgbClr val="BED0E4"/>
                </a:solidFill>
                <a:latin typeface="Arial"/>
                <a:ea typeface="Arial"/>
                <a:cs typeface="Arial"/>
              </a:defRPr>
            </a:pPr>
            <a:r>
              <a:rPr sz="1725" b="0">
                <a:solidFill>
                  <a:srgbClr val="BED0E4"/>
                </a:solidFill>
                <a:latin typeface="Arial"/>
                <a:ea typeface="Arial"/>
                <a:cs typeface="Arial"/>
              </a:rPr>
              <a:t>Limits: 4 test recordings, partial SN001,</a:t>
            </a:r>
          </a:p>
          <a:p>
            <a:pPr algn="l">
              <a:buNone/>
              <a:defRPr sz="1725" b="0">
                <a:solidFill>
                  <a:srgbClr val="BED0E4"/>
                </a:solidFill>
                <a:latin typeface="Arial"/>
                <a:ea typeface="Arial"/>
                <a:cs typeface="Arial"/>
              </a:defRPr>
            </a:pPr>
            <a:r>
              <a:rPr sz="1725" b="0">
                <a:solidFill>
                  <a:srgbClr val="BED0E4"/>
                </a:solidFill>
                <a:latin typeface="Arial"/>
                <a:ea typeface="Arial"/>
                <a:cs typeface="Arial"/>
              </a:rPr>
              <a:t>N1 F1 40.63%, no clinical validation.</a:t>
            </a:r>
          </a:p>
        </p:txBody>
      </p:sp>
      <p:sp>
        <p:nvSpPr>
          <p:cNvPr id="10" name="">
            <a:extLst>
              <a:ext uri="{FF2B5EF4-FFF2-40B4-BE49-F238E27FC236}">
                <ns2:creationId id="{372E7CAD-E952-48BB-BA74-B81162AF8FEF}"/>
              </a:ext>
            </a:extLst>
          </p:cNvPr>
          <p:cNvSpPr>
            <a:spLocks noGrp="1"/>
          </p:cNvSpPr>
          <p:nvPr/>
        </p:nvSpPr>
        <p:spPr>
          <a:xfrm>
            <a:off x="6591300" y="1695450"/>
            <a:ext cx="4914900" cy="419100"/>
          </a:xfrm>
          <a:prstGeom prst="rect">
            <a:avLst/>
          </a:prstGeom>
          <a:noFill/>
          <a:ln w="0">
            <a:noFill/>
          </a:ln>
        </p:spPr>
        <p:txBody>
          <a:bodyPr lIns="0" tIns="0" rIns="0" bIns="0" anchor="t">
            <a:noAutofit/>
          </a:bodyPr>
          <a:lstStyle/>
          <a:p>
            <a:pPr algn="l">
              <a:buNone/>
              <a:defRPr sz="2175" b="1">
                <a:solidFill>
                  <a:srgbClr val="75D5FF"/>
                </a:solidFill>
                <a:latin typeface="Arial"/>
                <a:ea typeface="Arial"/>
                <a:cs typeface="Arial"/>
              </a:defRPr>
            </a:pPr>
            <a:r>
              <a:rPr sz="2175" b="1">
                <a:solidFill>
                  <a:srgbClr val="75D5FF"/>
                </a:solidFill>
                <a:latin typeface="Arial"/>
                <a:ea typeface="Arial"/>
                <a:cs typeface="Arial"/>
              </a:rPr>
              <a:t>Next milestones</a:t>
            </a:r>
          </a:p>
        </p:txBody>
      </p:sp>
      <p:sp>
        <p:nvSpPr>
          <p:cNvPr id="11" name="">
            <a:extLst>
              <a:ext uri="{FF2B5EF4-FFF2-40B4-BE49-F238E27FC236}">
                <ns2:creationId id="{B6BFFA03-1C20-4089-B268-BAC86216926B}"/>
              </a:ext>
            </a:extLst>
          </p:cNvPr>
          <p:cNvSpPr>
            <a:spLocks noGrp="1"/>
          </p:cNvSpPr>
          <p:nvPr/>
        </p:nvSpPr>
        <p:spPr>
          <a:xfrm>
            <a:off x="6591300" y="239077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01  Audit full EDF alignment and quality;</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reserve a new locked test cohort.</a:t>
            </a:r>
          </a:p>
        </p:txBody>
      </p:sp>
      <p:sp>
        <p:nvSpPr>
          <p:cNvPr id="12" name="">
            <a:extLst>
              <a:ext uri="{FF2B5EF4-FFF2-40B4-BE49-F238E27FC236}">
                <ns2:creationId id="{0F86E9A1-8DF3-4D3A-9992-A84A74178445}"/>
              </a:ext>
            </a:extLst>
          </p:cNvPr>
          <p:cNvSpPr>
            <a:spLocks noGrp="1"/>
          </p:cNvSpPr>
          <p:nvPr/>
        </p:nvSpPr>
        <p:spPr>
          <a:xfrm>
            <a:off x="6591300" y="3409950"/>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02  Compare experts, soft fusion and TCN</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through controlled ablations.</a:t>
            </a:r>
          </a:p>
        </p:txBody>
      </p:sp>
      <p:sp>
        <p:nvSpPr>
          <p:cNvPr id="13" name="">
            <a:extLst>
              <a:ext uri="{FF2B5EF4-FFF2-40B4-BE49-F238E27FC236}">
                <ns2:creationId id="{ED48A36B-27E7-4C31-A251-73D9F96568C0}"/>
              </a:ext>
            </a:extLst>
          </p:cNvPr>
          <p:cNvSpPr>
            <a:spLocks noGrp="1"/>
          </p:cNvSpPr>
          <p:nvPr/>
        </p:nvSpPr>
        <p:spPr>
          <a:xfrm>
            <a:off x="6591300" y="4429125"/>
            <a:ext cx="4914900" cy="733425"/>
          </a:xfrm>
          <a:prstGeom prst="rect">
            <a:avLst/>
          </a:prstGeom>
          <a:noFill/>
          <a:ln w="0">
            <a:noFill/>
          </a:ln>
        </p:spPr>
        <p:txBody>
          <a:bodyPr lIns="0" tIns="0" rIns="0" bIns="0" anchor="t">
            <a:noAutofit/>
          </a:bodyPr>
          <a:lstStyle/>
          <a:p>
            <a:pPr algn="l">
              <a:buNone/>
              <a:defRPr sz="1875" b="0">
                <a:solidFill>
                  <a:srgbClr val="FFFFFF"/>
                </a:solidFill>
                <a:latin typeface="Arial"/>
                <a:ea typeface="Arial"/>
                <a:cs typeface="Arial"/>
              </a:defRPr>
            </a:pPr>
            <a:r>
              <a:rPr sz="1875" b="0">
                <a:solidFill>
                  <a:srgbClr val="FFFFFF"/>
                </a:solidFill>
                <a:latin typeface="Arial"/>
                <a:ea typeface="Arial"/>
                <a:cs typeface="Arial"/>
              </a:rPr>
              <a:t>03  Evaluate calibration, external data</a:t>
            </a:r>
          </a:p>
          <a:p>
            <a:pPr algn="l">
              <a:buNone/>
              <a:defRPr sz="1875" b="0">
                <a:solidFill>
                  <a:srgbClr val="FFFFFF"/>
                </a:solidFill>
                <a:latin typeface="Arial"/>
                <a:ea typeface="Arial"/>
                <a:cs typeface="Arial"/>
              </a:defRPr>
            </a:pPr>
            <a:r>
              <a:rPr sz="1875" b="0">
                <a:solidFill>
                  <a:srgbClr val="FFFFFF"/>
                </a:solidFill>
                <a:latin typeface="Arial"/>
                <a:ea typeface="Arial"/>
                <a:cs typeface="Arial"/>
              </a:rPr>
              <a:t>       and biomarker errors; add modalities.</a:t>
            </a:r>
          </a:p>
        </p:txBody>
      </p:sp>
      <p:sp>
        <p:nvSpPr>
          <p:cNvPr id="14" name="">
            <a:extLst>
              <a:ext uri="{FF2B5EF4-FFF2-40B4-BE49-F238E27FC236}">
                <ns2:creationId id="{B1063E6F-0A85-4CB7-96CE-897D3FC1E218}"/>
              </a:ext>
            </a:extLst>
          </p:cNvPr>
          <p:cNvSpPr>
            <a:spLocks noGrp="1"/>
          </p:cNvSpPr>
          <p:nvPr/>
        </p:nvSpPr>
        <p:spPr>
          <a:xfrm>
            <a:off x="6591300" y="5534025"/>
            <a:ext cx="4914900" cy="647700"/>
          </a:xfrm>
          <a:prstGeom prst="rect">
            <a:avLst/>
          </a:prstGeom>
          <a:noFill/>
          <a:ln w="0">
            <a:noFill/>
          </a:ln>
        </p:spPr>
        <p:txBody>
          <a:bodyPr lIns="0" tIns="0" rIns="0" bIns="0" anchor="t">
            <a:noAutofit/>
          </a:bodyPr>
          <a:lstStyle/>
          <a:p>
            <a:pPr algn="l">
              <a:buNone/>
              <a:defRPr sz="1650" b="1">
                <a:solidFill>
                  <a:srgbClr val="75D5FF"/>
                </a:solidFill>
                <a:latin typeface="Arial"/>
                <a:ea typeface="Arial"/>
                <a:cs typeface="Arial"/>
              </a:defRPr>
            </a:pPr>
            <a:r>
              <a:rPr sz="1650" b="1">
                <a:solidFill>
                  <a:srgbClr val="75D5FF"/>
                </a:solidFill>
                <a:latin typeface="Arial"/>
                <a:ea typeface="Arial"/>
                <a:cs typeface="Arial"/>
              </a:rPr>
              <a:t>Evaluate macro F1, N1/N2 F1, calibration,</a:t>
            </a:r>
          </a:p>
          <a:p>
            <a:pPr algn="l">
              <a:buNone/>
              <a:defRPr sz="1650" b="1">
                <a:solidFill>
                  <a:srgbClr val="75D5FF"/>
                </a:solidFill>
                <a:latin typeface="Arial"/>
                <a:ea typeface="Arial"/>
                <a:cs typeface="Arial"/>
              </a:defRPr>
            </a:pPr>
            <a:r>
              <a:rPr sz="1650" b="1">
                <a:solidFill>
                  <a:srgbClr val="75D5FF"/>
                </a:solidFill>
                <a:latin typeface="Arial"/>
                <a:ea typeface="Arial"/>
                <a:cs typeface="Arial"/>
              </a:rPr>
              <a:t>latency and errors in sleep biomarkers.</a:t>
            </a:r>
          </a:p>
        </p:txBody>
      </p:sp>
    </p:spTree>
    <p:extLst>
      <p:ext uri="{BB962C8B-B14F-4D97-AF65-F5344CB8AC3E}">
        <ns3:creationId val="183011997"/>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E2C50"/>
        </a:solidFill>
      </p:bgPr>
    </p:bg>
    <p:spTree>
      <p:nvGrpSpPr>
        <p:cNvPr id="1" name=""/>
        <p:cNvGrpSpPr/>
        <p:nvPr/>
      </p:nvGrpSpPr>
      <p:grpSpPr>
        <a:xfrm/>
      </p:grpSpPr>
      <p:sp>
        <p:nvSpPr>
          <p:cNvPr id="18" name="">
            <a:extLst>
              <a:ext uri="{FF2B5EF4-FFF2-40B4-BE49-F238E27FC236}">
                <ns2:creationId id="{E90A15CB-4765-40D1-80EE-FAEB2824CF2F}"/>
              </a:ext>
            </a:extLst>
          </p:cNvPr>
          <p:cNvSpPr>
            <a:spLocks noGrp="1"/>
          </p:cNvSpPr>
          <p:nvPr/>
        </p:nvSpPr>
        <p:spPr>
          <a:xfrm>
            <a:off x="0" y="0"/>
            <a:ext cx="114300" cy="6858000"/>
          </a:xfrm>
          <a:prstGeom prst="rect">
            <a:avLst/>
          </a:prstGeom>
          <a:solidFill>
            <a:srgbClr val="75D5FF"/>
          </a:solidFill>
          <a:ln w="14288">
            <a:solidFill>
              <a:srgbClr val="75D5FF"/>
            </a:solidFill>
          </a:ln>
        </p:spPr>
      </p:sp>
      <p:sp>
        <p:nvSpPr>
          <p:cNvPr id="2" name="">
            <a:extLst>
              <a:ext uri="{FF2B5EF4-FFF2-40B4-BE49-F238E27FC236}">
                <ns2:creationId id="{EAF49DB9-8CB5-412A-987E-6FC59CA8DD0A}"/>
              </a:ext>
            </a:extLst>
          </p:cNvPr>
          <p:cNvSpPr>
            <a:spLocks noGrp="1"/>
          </p:cNvSpPr>
          <p:nvPr/>
        </p:nvSpPr>
        <p:spPr>
          <a:xfrm>
            <a:off x="609600" y="342900"/>
            <a:ext cx="10953750" cy="762000"/>
          </a:xfrm>
          <a:prstGeom prst="rect">
            <a:avLst/>
          </a:prstGeom>
          <a:noFill/>
          <a:ln w="0">
            <a:noFill/>
          </a:ln>
        </p:spPr>
        <p:txBody>
          <a:bodyPr lIns="0" tIns="0" rIns="0" bIns="0" anchor="t">
            <a:no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Team members and project mentor</a:t>
            </a:r>
          </a:p>
        </p:txBody>
      </p:sp>
      <p:sp>
        <p:nvSpPr>
          <p:cNvPr id="3" name="">
            <a:extLst>
              <a:ext uri="{FF2B5EF4-FFF2-40B4-BE49-F238E27FC236}">
                <ns2:creationId id="{358D1B65-9490-4C35-BD98-710BCD62F165}"/>
              </a:ext>
            </a:extLst>
          </p:cNvPr>
          <p:cNvSpPr>
            <a:spLocks noGrp="1"/>
          </p:cNvSpPr>
          <p:nvPr/>
        </p:nvSpPr>
        <p:spPr>
          <a:xfrm>
            <a:off x="609600" y="1238250"/>
            <a:ext cx="10934700" cy="0"/>
          </a:xfrm>
          <a:prstGeom prst="line">
            <a:avLst/>
          </a:prstGeom>
          <a:noFill/>
          <a:ln w="19050">
            <a:solidFill>
              <a:srgbClr val="75D5FF"/>
            </a:solidFill>
          </a:ln>
        </p:spPr>
      </p:sp>
      <p:sp>
        <p:nvSpPr>
          <p:cNvPr id="4" name="">
            <a:extLst>
              <a:ext uri="{FF2B5EF4-FFF2-40B4-BE49-F238E27FC236}">
                <ns2:creationId id="{CE498C5B-E14B-4517-B6FC-35FD197435A2}"/>
              </a:ext>
            </a:extLst>
          </p:cNvPr>
          <p:cNvSpPr>
            <a:spLocks noGrp="1"/>
          </p:cNvSpPr>
          <p:nvPr/>
        </p:nvSpPr>
        <p:spPr>
          <a:xfrm>
            <a:off x="609600" y="6515100"/>
            <a:ext cx="1019175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Information and Communication Technology · Pandit Deendayal Energy University</a:t>
            </a:r>
          </a:p>
        </p:txBody>
      </p:sp>
      <p:sp>
        <p:nvSpPr>
          <p:cNvPr id="5" name="">
            <a:extLst>
              <a:ext uri="{FF2B5EF4-FFF2-40B4-BE49-F238E27FC236}">
                <ns2:creationId id="{259101EA-1538-4F2E-B56D-9CA4046F0DFD}"/>
              </a:ext>
            </a:extLst>
          </p:cNvPr>
          <p:cNvSpPr>
            <a:spLocks noGrp="1"/>
          </p:cNvSpPr>
          <p:nvPr/>
        </p:nvSpPr>
        <p:spPr>
          <a:xfrm>
            <a:off x="60960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3" name=""/>
          <p:cNvPicPr>
            <a:picLocks noChangeAspect="1"/>
          </p:cNvPicPr>
          <p:nvPr/>
        </p:nvPicPr>
        <p:blipFill>
          <a:blip ns3:embed="R7f98b3d123064671"/>
          <a:stretch/>
        </p:blipFill>
        <p:spPr>
          <a:xfrm>
            <a:off x="1240838" y="2162175"/>
            <a:ext cx="2223674" cy="2981325"/>
          </a:xfrm>
          <a:prstGeom prst="rect">
            <a:avLst/>
          </a:prstGeom>
        </p:spPr>
      </p:pic>
      <p:sp>
        <p:nvSpPr>
          <p:cNvPr id="7" name="">
            <a:extLst>
              <a:ext uri="{FF2B5EF4-FFF2-40B4-BE49-F238E27FC236}">
                <ns2:creationId id="{81485925-DCE3-4BB2-B2AB-053A46CBDBDA}"/>
              </a:ext>
            </a:extLst>
          </p:cNvPr>
          <p:cNvSpPr>
            <a:spLocks noGrp="1"/>
          </p:cNvSpPr>
          <p:nvPr/>
        </p:nvSpPr>
        <p:spPr>
          <a:xfrm>
            <a:off x="60960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Om Ahuja</a:t>
            </a:r>
          </a:p>
        </p:txBody>
      </p:sp>
      <p:sp>
        <p:nvSpPr>
          <p:cNvPr id="8" name="">
            <a:extLst>
              <a:ext uri="{FF2B5EF4-FFF2-40B4-BE49-F238E27FC236}">
                <ns2:creationId id="{B5B9FFC0-27AB-40D7-9DB3-C6651E86C097}"/>
              </a:ext>
            </a:extLst>
          </p:cNvPr>
          <p:cNvSpPr>
            <a:spLocks noGrp="1"/>
          </p:cNvSpPr>
          <p:nvPr/>
        </p:nvSpPr>
        <p:spPr>
          <a:xfrm>
            <a:off x="60960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23BIT014</a:t>
            </a:r>
          </a:p>
        </p:txBody>
      </p:sp>
      <p:sp>
        <p:nvSpPr>
          <p:cNvPr id="9" name="">
            <a:extLst>
              <a:ext uri="{FF2B5EF4-FFF2-40B4-BE49-F238E27FC236}">
                <ns2:creationId id="{DAAA2A4F-43C0-4CFD-BC24-346428A2F2AC}"/>
              </a:ext>
            </a:extLst>
          </p:cNvPr>
          <p:cNvSpPr>
            <a:spLocks noGrp="1"/>
          </p:cNvSpPr>
          <p:nvPr/>
        </p:nvSpPr>
        <p:spPr>
          <a:xfrm>
            <a:off x="4333875"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TEAM MEMBER</a:t>
            </a:r>
          </a:p>
        </p:txBody>
      </p:sp>
      <p:pic>
        <p:nvPicPr>
          <p:cNvPr id="27" name=""/>
          <p:cNvPicPr>
            <a:picLocks noChangeAspect="1"/>
          </p:cNvPicPr>
          <p:nvPr/>
        </p:nvPicPr>
        <p:blipFill>
          <a:blip ns3:embed="Ra087751d176a461d"/>
          <a:stretch/>
        </p:blipFill>
        <p:spPr>
          <a:xfrm>
            <a:off x="4648200" y="2224088"/>
            <a:ext cx="2857500" cy="2857500"/>
          </a:xfrm>
          <a:prstGeom prst="rect">
            <a:avLst/>
          </a:prstGeom>
        </p:spPr>
      </p:pic>
      <p:sp>
        <p:nvSpPr>
          <p:cNvPr id="11" name="">
            <a:extLst>
              <a:ext uri="{FF2B5EF4-FFF2-40B4-BE49-F238E27FC236}">
                <ns2:creationId id="{BC92DA8C-3F5D-4512-8F62-4153157CEC3B}"/>
              </a:ext>
            </a:extLst>
          </p:cNvPr>
          <p:cNvSpPr>
            <a:spLocks noGrp="1"/>
          </p:cNvSpPr>
          <p:nvPr/>
        </p:nvSpPr>
        <p:spPr>
          <a:xfrm>
            <a:off x="4333875"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Rikin Parekh</a:t>
            </a:r>
          </a:p>
        </p:txBody>
      </p:sp>
      <p:sp>
        <p:nvSpPr>
          <p:cNvPr id="12" name="">
            <a:extLst>
              <a:ext uri="{FF2B5EF4-FFF2-40B4-BE49-F238E27FC236}">
                <ns2:creationId id="{043E7075-7000-4D31-82CE-C6926D75C5BE}"/>
              </a:ext>
            </a:extLst>
          </p:cNvPr>
          <p:cNvSpPr>
            <a:spLocks noGrp="1"/>
          </p:cNvSpPr>
          <p:nvPr/>
        </p:nvSpPr>
        <p:spPr>
          <a:xfrm>
            <a:off x="4333875"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23BIT044</a:t>
            </a:r>
          </a:p>
        </p:txBody>
      </p:sp>
      <p:sp>
        <p:nvSpPr>
          <p:cNvPr id="13" name="">
            <a:extLst>
              <a:ext uri="{FF2B5EF4-FFF2-40B4-BE49-F238E27FC236}">
                <ns2:creationId id="{ACB62E17-3059-41A7-B9AA-1B6EC8DEF83B}"/>
              </a:ext>
            </a:extLst>
          </p:cNvPr>
          <p:cNvSpPr>
            <a:spLocks noGrp="1"/>
          </p:cNvSpPr>
          <p:nvPr/>
        </p:nvSpPr>
        <p:spPr>
          <a:xfrm>
            <a:off x="8058150" y="1657350"/>
            <a:ext cx="3486150" cy="304800"/>
          </a:xfrm>
          <a:prstGeom prst="rect">
            <a:avLst/>
          </a:prstGeom>
          <a:noFill/>
          <a:ln w="0">
            <a:noFill/>
          </a:ln>
        </p:spPr>
        <p:txBody>
          <a:bodyPr lIns="0" tIns="0" rIns="0" bIns="0" anchor="t">
            <a:noAutofit/>
          </a:bodyPr>
          <a:lstStyle/>
          <a:p>
            <a:pPr algn="ctr">
              <a:defRPr sz="1500" b="1">
                <a:solidFill>
                  <a:srgbClr val="75D5FF"/>
                </a:solidFill>
                <a:latin typeface="Arial"/>
                <a:ea typeface="Arial"/>
                <a:cs typeface="Arial"/>
              </a:defRPr>
            </a:pPr>
            <a:r>
              <a:rPr sz="1500" b="1">
                <a:solidFill>
                  <a:srgbClr val="75D5FF"/>
                </a:solidFill>
                <a:latin typeface="Arial"/>
                <a:ea typeface="Arial"/>
                <a:cs typeface="Arial"/>
              </a:rPr>
              <a:t>PROJECT MENTOR</a:t>
            </a:r>
          </a:p>
        </p:txBody>
      </p:sp>
      <p:pic>
        <p:nvPicPr>
          <p:cNvPr id="31" name=""/>
          <p:cNvPicPr>
            <a:picLocks noChangeAspect="1"/>
          </p:cNvPicPr>
          <p:nvPr/>
        </p:nvPicPr>
        <p:blipFill>
          <a:blip ns3:embed="R1e8ffa748ad2477b"/>
          <a:stretch/>
        </p:blipFill>
        <p:spPr>
          <a:xfrm>
            <a:off x="8372475" y="2329352"/>
            <a:ext cx="2857500" cy="2646970"/>
          </a:xfrm>
          <a:prstGeom prst="rect">
            <a:avLst/>
          </a:prstGeom>
        </p:spPr>
      </p:pic>
      <p:sp>
        <p:nvSpPr>
          <p:cNvPr id="15" name="">
            <a:extLst>
              <a:ext uri="{FF2B5EF4-FFF2-40B4-BE49-F238E27FC236}">
                <ns2:creationId id="{A5828DEB-42C2-4283-BE85-D1CBA535F36A}"/>
              </a:ext>
            </a:extLst>
          </p:cNvPr>
          <p:cNvSpPr>
            <a:spLocks noGrp="1"/>
          </p:cNvSpPr>
          <p:nvPr/>
        </p:nvSpPr>
        <p:spPr>
          <a:xfrm>
            <a:off x="8058150" y="5381625"/>
            <a:ext cx="3486150" cy="428625"/>
          </a:xfrm>
          <a:prstGeom prst="rect">
            <a:avLst/>
          </a:prstGeom>
          <a:noFill/>
          <a:ln w="0">
            <a:noFill/>
          </a:ln>
        </p:spPr>
        <p:txBody>
          <a:bodyPr lIns="0" tIns="0" rIns="0" bIns="0" anchor="t">
            <a:no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Dr. Santosh Sathpathy</a:t>
            </a:r>
          </a:p>
        </p:txBody>
      </p:sp>
      <p:sp>
        <p:nvSpPr>
          <p:cNvPr id="16" name="">
            <a:extLst>
              <a:ext uri="{FF2B5EF4-FFF2-40B4-BE49-F238E27FC236}">
                <ns2:creationId id="{831D4DE2-DE5D-4FB9-A585-79E4F7A8FC27}"/>
              </a:ext>
            </a:extLst>
          </p:cNvPr>
          <p:cNvSpPr>
            <a:spLocks noGrp="1"/>
          </p:cNvSpPr>
          <p:nvPr/>
        </p:nvSpPr>
        <p:spPr>
          <a:xfrm>
            <a:off x="8058150" y="5857875"/>
            <a:ext cx="3486150" cy="333375"/>
          </a:xfrm>
          <a:prstGeom prst="rect">
            <a:avLst/>
          </a:prstGeom>
          <a:noFill/>
          <a:ln w="0">
            <a:noFill/>
          </a:ln>
        </p:spPr>
        <p:txBody>
          <a:bodyPr lIns="0" tIns="0" rIns="0" bIns="0" anchor="t">
            <a:noAutofit/>
          </a:bodyPr>
          <a:lstStyle/>
          <a:p>
            <a:pPr algn="ctr">
              <a:defRPr sz="1725" b="0">
                <a:solidFill>
                  <a:srgbClr val="BED0E4"/>
                </a:solidFill>
                <a:latin typeface="Arial"/>
                <a:ea typeface="Arial"/>
                <a:cs typeface="Arial"/>
              </a:defRPr>
            </a:pPr>
            <a:r>
              <a:rPr sz="1725" b="0">
                <a:solidFill>
                  <a:srgbClr val="BED0E4"/>
                </a:solidFill>
                <a:latin typeface="Arial"/>
                <a:ea typeface="Arial"/>
                <a:cs typeface="Arial"/>
              </a:rPr>
              <a:t>Project guide</a:t>
            </a:r>
          </a:p>
        </p:txBody>
      </p:sp>
      <p:sp>
        <p:nvSpPr>
          <p:cNvPr id="17" name="">
            <a:extLst>
              <a:ext uri="{FF2B5EF4-FFF2-40B4-BE49-F238E27FC236}">
                <ns2:creationId id="{607F3CB0-3A52-49E6-AE3F-395ABBC56484}"/>
              </a:ext>
            </a:extLst>
          </p:cNvPr>
          <p:cNvSpPr>
            <a:spLocks noGrp="1"/>
          </p:cNvSpPr>
          <p:nvPr/>
        </p:nvSpPr>
        <p:spPr>
          <a:xfrm>
            <a:off x="11220450" y="6515100"/>
            <a:ext cx="685800" cy="209550"/>
          </a:xfrm>
          <a:prstGeom prst="rect">
            <a:avLst/>
          </a:prstGeom>
          <a:noFill/>
          <a:ln w="0">
            <a:noFill/>
          </a:ln>
        </p:spPr>
        <p:txBody>
          <a:bodyPr lIns="0" tIns="0" rIns="0" bIns="0" anchor="t">
            <a:noAutofit/>
          </a:bodyPr>
          <a:lstStyle/>
          <a:p>
            <a:pPr algn="l">
              <a:defRPr sz="900" b="0">
                <a:solidFill>
                  <a:srgbClr val="BED0E4"/>
                </a:solidFill>
                <a:latin typeface="Arial"/>
                <a:ea typeface="Arial"/>
                <a:cs typeface="Arial"/>
              </a:defRPr>
            </a:pPr>
            <a:r>
              <a:rPr sz="900" b="0">
                <a:solidFill>
                  <a:srgbClr val="BED0E4"/>
                </a:solidFill>
                <a:latin typeface="Arial"/>
                <a:ea typeface="Arial"/>
                <a:cs typeface="Arial"/>
              </a:rPr>
              <a:t>15 / 15</a:t>
            </a:r>
          </a:p>
        </p:txBody>
      </p:sp>
    </p:spTree>
    <p:extLst>
      <p:ext uri="{BB962C8B-B14F-4D97-AF65-F5344CB8AC3E}">
        <ns4:creationId val="120200175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2026-10-08T12:22:54.1620000Z</dcterms:created>
  <dcterms:modified xsi:type="dcterms:W3CDTF">2026-10-08T12:22:54.1620000Z</dcterms:modified>
</coreProperties>
</file>