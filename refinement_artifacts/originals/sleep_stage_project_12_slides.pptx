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258" r:id="rId3"/>
    <p:sldId id="259" r:id="rId4"/>
    <p:sldId id="297" r:id="rId42"/>
    <p:sldId id="260" r:id="rId5"/>
    <p:sldId id="263" r:id="rId8"/>
    <p:sldId id="267" r:id="rId12"/>
    <p:sldId id="268" r:id="rId13"/>
    <p:sldId id="273" r:id="rId18"/>
    <p:sldId id="277" r:id="rId22"/>
    <p:sldId id="281" r:id="rId26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8" Type="http://schemas.openxmlformats.org/officeDocument/2006/relationships/slide" Target="slides/slide7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2" Type="http://schemas.openxmlformats.org/officeDocument/2006/relationships/slide" Target="slides/slide21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49574-D4BD-4545-AE6D-70E0DD794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6CF03-D024-4D99-ABA8-BE7E567C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99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Authors, enrollment numbers, guide and institution are supplied by the project owner. Full project title retained across title and subtitle. HMC-PPT-20261007-01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Introduction and Motivation</a:t>
            </a:r>
          </a:p>
          <a:p>
            <a:r>
              <a:t>Run: HMC-PPT-20261007-01</a:t>
            </a:r>
          </a:p>
          <a:p>
            <a:r>
              <a:t>Sources: project scope, final_results.json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Objectives</a:t>
            </a:r>
          </a:p>
          <a:p>
            <a:r>
              <a:t>Run: HMC-PPT-20261007-01</a:t>
            </a:r>
          </a:p>
          <a:p>
            <a:r>
              <a:t>Sources: checkpoint_config.json, transition_config.json, biomarker_validation.csv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and Experimental Split</a:t>
            </a:r>
          </a:p>
          <a:p>
            <a:r>
              <a:t>Run: HMC-PPT-20261007-01</a:t>
            </a:r>
          </a:p>
          <a:p>
            <a:r>
              <a:t>Sources: split_summary.json, split_subjects.csv, input_repairs.json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Full split: {"train": ["SN017", "SN006", "SN020", "SN025", "SN015", "SN011", "SN019", "SN012", "SN016", "SN018", "SN002", "SN013", "SN023", "SN007", "SN010", "SN003"], "val": ["SN024", "SN005", "SN021", "SN008"], "test": ["SN009", "SN001", "SN004", "SN022"]}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 SCFormer-U Architecture</a:t>
            </a:r>
          </a:p>
          <a:p>
            <a:r>
              <a:t>Run: HMC-PPT-20261007-01</a:t>
            </a:r>
          </a:p>
          <a:p>
            <a:r>
              <a:t>Sources: checkpoint_config.json, model_layers.csv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Obtained — Raw vs Soft-Viterbi</a:t>
            </a:r>
          </a:p>
          <a:p>
            <a:r>
              <a:t>Run: HMC-PPT-20261007-01</a:t>
            </a:r>
          </a:p>
          <a:p>
            <a:r>
              <a:t>Sources: raw_vs_smoothed_metrics.csv, final_results.json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— Stage Errors and Uncertainty</a:t>
            </a:r>
          </a:p>
          <a:p>
            <a:r>
              <a:t>Run: HMC-PPT-20261007-01</a:t>
            </a:r>
          </a:p>
          <a:p>
            <a:r>
              <a:t>Sources: classification_report.csv, calibration_metrics.json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Raw vs Smoothed Sequence — SN009</a:t>
            </a:r>
          </a:p>
          <a:p>
            <a:r>
              <a:t>Run: HMC-PPT-20261007-01</a:t>
            </a:r>
          </a:p>
          <a:p>
            <a:r>
              <a:t>Sources: test_epoch_predictions.csv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Decoder: weighted MAP Viterbi; emission log weight 0.9, training-only transitions, Laplace pseudocount 1, recording boundaries reset. All transitions possible.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 Subject Sleep Health Profiles</a:t>
            </a:r>
          </a:p>
          <a:p>
            <a:r>
              <a:t>Run: HMC-PPT-20261007-01</a:t>
            </a:r>
          </a:p>
          <a:p>
            <a:r>
              <a:t>Sources: subject_risk_profiles.csv, biomarker_validation.csv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Work — Multistage, Multi-model Pipeline</a:t>
            </a:r>
          </a:p>
          <a:p>
            <a:r>
              <a:t>Run: HMC-PPT-20261007-01</a:t>
            </a:r>
          </a:p>
          <a:p>
            <a:r>
              <a:t>Sources: proposed design; not implemented, multistage_pipeline_proposal.md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Proposal details: multistage_pipeline_proposal.md. Calibrate the final temporal-model output separately; no uncertainty threshold is set. Use out-of-fold expert predictions to train the refiner; preserve grouped splits and use a genuinely new locked test cohort.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and Future Priorities</a:t>
            </a:r>
          </a:p>
          <a:p>
            <a:r>
              <a:t>Run: HMC-PPT-20261007-01</a:t>
            </a:r>
          </a:p>
          <a:p>
            <a:r>
              <a:t>Sources: final_results.json, multistage_pipeline_proposal.md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— Related Literature</a:t>
            </a:r>
          </a:p>
          <a:p>
            <a:r>
              <a:t>Run: HMC-PPT-20261007-01</a:t>
            </a:r>
          </a:p>
          <a:p>
            <a:r>
              <a:t>Sources: literature_comparison.csv, references.txt</a:t>
            </a:r>
          </a:p>
          <a:p>
            <a:r>
              <a:t>Test recordings: SN009, SN001, SN004, SN022.</a:t>
            </a:r>
          </a:p>
          <a:p>
            <a:r>
              <a:t>Checkpoint: /content/drive/MyDrive/Sleep_Health_Profiling/models/HMC_CHECKPOINTS/best_objective1_model.keras</a:t>
            </a:r>
          </a:p>
          <a:p>
            <a:r>
              <a:t>Checkpoint SHA256: 3bf1423246d5672ce7473562079cb4e8d9aa1a578e18c1cb65e6b43e4156b226</a:t>
            </a:r>
          </a:p>
          <a:p>
            <a:r>
              <a:t>All classification results use identical corrected test epochs.</a:t>
            </a:r>
          </a:p>
          <a:p>
            <a:r>
              <a:t>Only four test recordings; no external validation.</a:t>
            </a:r>
          </a:p>
          <a:p>
            <a:r>
              <a:t>Final training hardware and global training RNG state not preserved.</a:t>
            </a:r>
          </a:p>
          <a:p>
            <a:r>
              <a:t>Notebook execution counts were cleared; saved outputs are historical evidence rather than complete execution provenance.</a:t>
            </a:r>
          </a:p>
          <a:p>
            <a:r>
              <a:t>Test records were evaluated repeatedly in notebook development; not a newly blinded clinical test.</a:t>
            </a:r>
          </a:p>
          <a:p>
            <a:r>
              <a:t>Rule thresholds have no clinical validation in this project.</a:t>
            </a:r>
          </a:p>
          <a:p>
            <a:r>
              <a:t>Evidential probabilities are not a separately fitted self-calibrated condition.</a:t>
            </a:r>
          </a:p>
          <a:p>
            <a:r>
              <a:t>SN identifiers denote recordings; repository assumes one subject per ID and has no independent person-identity mapping.</a:t>
            </a:r>
          </a:p>
          <a:p>
            <a:r>
              <a:t>Condensed 12-slide deck; future architecture is a proposal, not a reported experiment. Evidence run HMC-PPT-20261007-01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23882" y="552450"/>
            <a:ext cx="26445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REPORT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23882" y="99060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Transformer-Based Sleep Stage Classification and Personalized Sleep Health Profiling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42931" y="2190750"/>
            <a:ext cx="9334267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26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Fast SCFormer-U, Evidential Learning and Soft-Viterbi Sequence Decoding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2931" y="3952875"/>
            <a:ext cx="10286743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FE3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2931" y="417195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Rikin Parekh, Om Ahuja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67273" y="417195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No.: 23BIT044, 23BIT014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2931" y="450721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 Dr. Santosh Sathpathy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67273" y="450721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Information and Communication Technology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2931" y="484247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Institute/University: Pandit Deendayal Energy University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67273" y="484247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evaluation: 7 October 2026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2931" y="6356350"/>
            <a:ext cx="2380094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engineering / AI project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5DACE8-0B37-43F8-80F6-B1FE048CAE1C}"/>
              </a:ext>
            </a:extLst>
          </p:cNvPr>
          <p:cNvSpPr/>
          <p:nvPr/>
        </p:nvSpPr>
        <p:spPr>
          <a:xfrm>
            <a:off x="6350000" y="3124200"/>
            <a:ext cx="63500" cy="101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1D4A61-0397-4C90-BAD0-ECC7D5FA4091}"/>
              </a:ext>
            </a:extLst>
          </p:cNvPr>
          <p:cNvSpPr/>
          <p:nvPr/>
        </p:nvSpPr>
        <p:spPr>
          <a:xfrm>
            <a:off x="6553200" y="3073400"/>
            <a:ext cx="63500" cy="2032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D17E7A-67F7-434F-ACE3-7D39FBF011E5}"/>
              </a:ext>
            </a:extLst>
          </p:cNvPr>
          <p:cNvSpPr/>
          <p:nvPr/>
        </p:nvSpPr>
        <p:spPr>
          <a:xfrm>
            <a:off x="6756400" y="2984500"/>
            <a:ext cx="63500" cy="3810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E023AC-810D-4D1D-87D6-E1AA99404AD6}"/>
              </a:ext>
            </a:extLst>
          </p:cNvPr>
          <p:cNvSpPr/>
          <p:nvPr/>
        </p:nvSpPr>
        <p:spPr>
          <a:xfrm>
            <a:off x="6959600" y="3098800"/>
            <a:ext cx="63500" cy="1524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C7383C-7EB4-4CB4-9AE1-2FD20BD3C64B}"/>
              </a:ext>
            </a:extLst>
          </p:cNvPr>
          <p:cNvSpPr/>
          <p:nvPr/>
        </p:nvSpPr>
        <p:spPr>
          <a:xfrm>
            <a:off x="7162800" y="2908300"/>
            <a:ext cx="63500" cy="5334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F1492C-FA5B-4C6E-BBEE-B845354FFA63}"/>
              </a:ext>
            </a:extLst>
          </p:cNvPr>
          <p:cNvSpPr/>
          <p:nvPr/>
        </p:nvSpPr>
        <p:spPr>
          <a:xfrm>
            <a:off x="7366000" y="3060700"/>
            <a:ext cx="63500" cy="228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16E8E7-FA6E-49C7-AA52-00F1E642C29F}"/>
              </a:ext>
            </a:extLst>
          </p:cNvPr>
          <p:cNvSpPr/>
          <p:nvPr/>
        </p:nvSpPr>
        <p:spPr>
          <a:xfrm>
            <a:off x="7569200" y="3117850"/>
            <a:ext cx="63500" cy="1143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E7C0E2-9F56-4D1C-8C40-BB436C6CEA79}"/>
              </a:ext>
            </a:extLst>
          </p:cNvPr>
          <p:cNvSpPr/>
          <p:nvPr/>
        </p:nvSpPr>
        <p:spPr>
          <a:xfrm>
            <a:off x="7772400" y="3016250"/>
            <a:ext cx="63500" cy="3175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EFDF81-DA4A-4639-AE8A-784808A1E631}"/>
              </a:ext>
            </a:extLst>
          </p:cNvPr>
          <p:cNvSpPr/>
          <p:nvPr/>
        </p:nvSpPr>
        <p:spPr>
          <a:xfrm>
            <a:off x="7975600" y="2870200"/>
            <a:ext cx="63500" cy="609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0AE25C-23FC-4B32-B6E8-E748F99BFCEC}"/>
              </a:ext>
            </a:extLst>
          </p:cNvPr>
          <p:cNvSpPr/>
          <p:nvPr/>
        </p:nvSpPr>
        <p:spPr>
          <a:xfrm>
            <a:off x="8178800" y="3073400"/>
            <a:ext cx="63500" cy="2032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E287D0-D1A5-4D4C-B351-3020030981C8}"/>
              </a:ext>
            </a:extLst>
          </p:cNvPr>
          <p:cNvSpPr/>
          <p:nvPr/>
        </p:nvSpPr>
        <p:spPr>
          <a:xfrm>
            <a:off x="8382000" y="3124200"/>
            <a:ext cx="63500" cy="101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A8C69D-8FE5-4ACD-9BCD-F831293A334A}"/>
              </a:ext>
            </a:extLst>
          </p:cNvPr>
          <p:cNvSpPr/>
          <p:nvPr/>
        </p:nvSpPr>
        <p:spPr>
          <a:xfrm>
            <a:off x="8585200" y="2990850"/>
            <a:ext cx="63500" cy="3683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0461BC-5E2D-4534-B85C-21DBDCB13A96}"/>
              </a:ext>
            </a:extLst>
          </p:cNvPr>
          <p:cNvSpPr/>
          <p:nvPr/>
        </p:nvSpPr>
        <p:spPr>
          <a:xfrm>
            <a:off x="8788400" y="3098800"/>
            <a:ext cx="63500" cy="1524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9E079D-667C-44E0-B4FC-D8D3EF3E9119}"/>
              </a:ext>
            </a:extLst>
          </p:cNvPr>
          <p:cNvSpPr/>
          <p:nvPr/>
        </p:nvSpPr>
        <p:spPr>
          <a:xfrm>
            <a:off x="8991600" y="2933700"/>
            <a:ext cx="63500" cy="482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BDE8EE-63CC-45F8-8E1B-2D25303DAEB4}"/>
              </a:ext>
            </a:extLst>
          </p:cNvPr>
          <p:cNvSpPr/>
          <p:nvPr/>
        </p:nvSpPr>
        <p:spPr>
          <a:xfrm>
            <a:off x="9194800" y="3079750"/>
            <a:ext cx="63500" cy="1905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3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Introduction and Motivation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project scope, final_results.json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45720" cy="132588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35607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The engineering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10616184" cy="832103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Score EEG into Wake, N1, N2, N3 and REM, then turn the sequence into an interpretable sleep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10927080" cy="14173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45720" cy="141732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89864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Why uncertainty and sequence context?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246120"/>
            <a:ext cx="10616184" cy="92354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Epoch predictions can fluctuate. Evidence exposes ambiguity; training-derived transitions support coherent decoding.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41732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45720" cy="141732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45312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Why personalized profiling?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800600"/>
            <a:ext cx="10616184" cy="92354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Recording-level indicators summarize sleep patterns beyond a single accuracy score; their research validity must be checked against labels.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Academic research system; sleep profiles are not a medical diagnosis.</a:t>
            </a:r>
          </a:p>
        </p:txBody>
      </p:sp>
    </p:spTree>
    <p:extLst>
      <p:ext uri="{BB962C8B-B14F-4D97-AF65-F5344CB8AC3E}">
        <p14:creationId xmlns:p14="http://schemas.microsoft.com/office/powerpoint/2010/main" val="120200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Project Objectives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checkpoint_config.json, transition_config.json, biomarker_validation.csv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45720" cy="132588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35607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1  Five-stage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10616184" cy="832103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Build a compact four-channel CNN–self-attention–BiLSTM classifier.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39"/>
            <a:ext cx="1092708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34639"/>
            <a:ext cx="45720" cy="132588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94436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2  Uncertainty and temporal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291839"/>
            <a:ext cx="10616184" cy="832103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Use evidential probabilities and uncertainty; decode each recording independently with training-only transitions.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45720" cy="132588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453128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3  Verified research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800600"/>
            <a:ext cx="10616184" cy="832103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Compute source-defined sleep indicators and compare predicted profiles with ground truth.</a:t>
            </a:r>
          </a:p>
        </p:txBody>
      </p:sp>
    </p:spTree>
    <p:extLst>
      <p:ext uri="{BB962C8B-B14F-4D97-AF65-F5344CB8AC3E}">
        <p14:creationId xmlns:p14="http://schemas.microsoft.com/office/powerpoint/2010/main" val="106918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Dataset and Preprocessing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split_summary.json, split_subjects.csv, input_repairs.json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2480310" cy="10972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645920"/>
            <a:ext cx="2370582" cy="82295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24 recordings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24 unique SN IDs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29534" y="190195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40430" y="1463040"/>
            <a:ext cx="2480310" cy="10972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5294" y="1645920"/>
            <a:ext cx="2370582" cy="82295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16 training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15,216 epochs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5604" y="190195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500" y="1463040"/>
            <a:ext cx="2480310" cy="10972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645920"/>
            <a:ext cx="2370582" cy="82295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4 validation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3,619 epochs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1674" y="190195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32570" y="1463040"/>
            <a:ext cx="2480310" cy="10972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7434" y="1645920"/>
            <a:ext cx="2370582" cy="82295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4 test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3,773 epochs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10607040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Selected EEG channels: F4–M1 · C4–M1 · O2–M1 · C3–M2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Test IDs: SN009, SN001, SN004, SN022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70632"/>
            <a:ext cx="10698480" cy="1024128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22,608 usable epochs • 30 s/epoch • 256→100 Hz</a:t>
            </a:r>
          </a:p>
          <a:p>
            <a:pPr algn="l">
              <a:spcAft>
                <a:spcPts val="900"/>
              </a:spcAft>
              <a:defRPr sz="2100" b="0">
                <a:solidFill>
                  <a:srgbClr val="19364D"/>
                </a:solidFill>
                <a:latin typeface="Arial"/>
              </a:defRPr>
            </a:pPr>
            <a:r>
              <a:t>50 Hz notch • 0.3–35 Hz bandpass • per-channel epoch standardization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10698480" cy="9144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Recording IDs are disjoint. SN001 test input was reconstructed from real EDF.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SN IDs are treated as subjects by the repository; person mapping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425261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Current Model and Pipeline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checkpoint_config.json, model_layers.csv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60020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EEG epoch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4 × 3000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29534" y="197053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40430" y="141732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5294" y="160020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Conv1D 64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k7, stride4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750 × 64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5604" y="197053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500" y="141732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60020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Conv1D 128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k5, stride4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188 × 128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1674" y="197053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32570" y="141732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7434" y="160020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Self-attention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4 heads, key16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188 × 128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3756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52044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Softplus 5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evidence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α = e + 1</a:t>
            </a:r>
          </a:p>
        </p:txBody>
      </p:sp>
      <p:sp>
        <p:nvSpPr>
          <p:cNvPr id="20" name="Right Arrow 19"/>
          <p:cNvSpPr/>
          <p:nvPr/>
        </p:nvSpPr>
        <p:spPr>
          <a:xfrm rot="10800000">
            <a:off x="3129534" y="389077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40430" y="333756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5294" y="352044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Average pool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Dense 128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Dropout .2/.1</a:t>
            </a:r>
          </a:p>
        </p:txBody>
      </p:sp>
      <p:sp>
        <p:nvSpPr>
          <p:cNvPr id="23" name="Right Arrow 22"/>
          <p:cNvSpPr/>
          <p:nvPr/>
        </p:nvSpPr>
        <p:spPr>
          <a:xfrm rot="10800000">
            <a:off x="5975604" y="389077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86500" y="333756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1364" y="352044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BiLSTM 64×2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188 × 128</a:t>
            </a:r>
          </a:p>
        </p:txBody>
      </p:sp>
      <p:sp>
        <p:nvSpPr>
          <p:cNvPr id="26" name="Right Arrow 25"/>
          <p:cNvSpPr/>
          <p:nvPr/>
        </p:nvSpPr>
        <p:spPr>
          <a:xfrm rot="10800000">
            <a:off x="8821674" y="3890772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32570" y="3337560"/>
            <a:ext cx="248031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7434" y="3520440"/>
            <a:ext cx="2370582" cy="10515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Residual + LN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FFN 128→128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GELU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0424160" y="2852928"/>
            <a:ext cx="320040" cy="365760"/>
          </a:xfrm>
          <a:prstGeom prst="down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Hybrid CNN–Transformer/self-attention–BiLSTM | 225,925 trainable parameters</a:t>
            </a:r>
          </a:p>
        </p:txBody>
      </p:sp>
    </p:spTree>
    <p:extLst>
      <p:ext uri="{BB962C8B-B14F-4D97-AF65-F5344CB8AC3E}">
        <p14:creationId xmlns:p14="http://schemas.microsoft.com/office/powerpoint/2010/main" val="200319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Results Obtained — Raw vs Soft-Viterbi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raw_vs_smoothed_metrics.csv, final_results.json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/>
                <a:gridCol w="3291840"/>
                <a:gridCol w="3291840"/>
              </a:tblGrid>
              <a:tr h="586740"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Raw model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Soft-Viterbi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53.75%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61.99%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Balanced accuracy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57.83%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64.26%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Macro F1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55.12%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61.76%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Weighted F1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54.92%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61.93%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Cohen’s kappa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0.4060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0.4999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212080"/>
            <a:ext cx="10698480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Same 3,773 test epochs from four held-out recording IDs.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Accuracy gain: +8.24 percentage points; every listed aggregate metric improved.</a:t>
            </a:r>
          </a:p>
        </p:txBody>
      </p:sp>
    </p:spTree>
    <p:extLst>
      <p:ext uri="{BB962C8B-B14F-4D97-AF65-F5344CB8AC3E}">
        <p14:creationId xmlns:p14="http://schemas.microsoft.com/office/powerpoint/2010/main" val="1302933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Results — Stage Errors and Uncertainty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classification_report.csv, calibration_metrics.json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71016"/>
            <a:ext cx="6400800" cy="4864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508760"/>
            <a:ext cx="4389120" cy="47548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Raw five-stage evaluation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Lowest F1: N1 = 0.366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Lowest recall: N2 = 44.00%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Error-detection AUROC: 0.580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ECE (10 bins): 0.0705</a:t>
            </a: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</a:p>
          <a:p>
            <a:pPr algn="l">
              <a:spcAft>
                <a:spcPts val="900"/>
              </a:spcAft>
              <a:defRPr sz="2200" b="0">
                <a:solidFill>
                  <a:srgbClr val="19364D"/>
                </a:solidFill>
                <a:latin typeface="Arial"/>
              </a:defRPr>
            </a:pPr>
            <a:r>
              <a:t>Uncertainty separates errors weakly; reliable referral is future work.</a:t>
            </a:r>
          </a:p>
        </p:txBody>
      </p:sp>
    </p:spTree>
    <p:extLst>
      <p:ext uri="{BB962C8B-B14F-4D97-AF65-F5344CB8AC3E}">
        <p14:creationId xmlns:p14="http://schemas.microsoft.com/office/powerpoint/2010/main" val="1069679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Sequence Refinement — Real Test Recording SN009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test_epoch_predictions.csv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7" name="Picture 6" descr="hypnogram_subjec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5875"/>
            <a:ext cx="11155680" cy="48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95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Personalized Research Profiles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subject_risk_profiles.csv, biomarker_validation.csv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972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783080"/>
                <a:gridCol w="1828800"/>
                <a:gridCol w="1691640"/>
                <a:gridCol w="1508760"/>
                <a:gridCol w="2743200"/>
              </a:tblGrid>
              <a:tr h="6492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Recording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 proxy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WASO (min)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N3 / all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SFI (/h)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SN009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90.01%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14.0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23.97%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1.18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Healthy</a:t>
                      </a:r>
                    </a:p>
                  </a:txBody>
                  <a:tcPr marL="82296" marR="73152" marT="82296" marB="54864" anchor="ctr">
                    <a:solidFill>
                      <a:srgbClr val="DBF1E9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SN001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91.45%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31.5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24.71%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1.84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Healthy</a:t>
                      </a:r>
                    </a:p>
                  </a:txBody>
                  <a:tcPr marL="82296" marR="73152" marT="82296" marB="54864" anchor="ctr">
                    <a:solidFill>
                      <a:srgbClr val="DBF1E9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SN004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88.48%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34.5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7.19%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2.27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Mild Risk</a:t>
                      </a:r>
                    </a:p>
                  </a:txBody>
                  <a:tcPr marL="82296" marR="73152" marT="82296" marB="54864" anchor="ctr">
                    <a:solidFill>
                      <a:srgbClr val="FFF0C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SN022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84.03%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74.0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9.08%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2.00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Mild Risk</a:t>
                      </a:r>
                    </a:p>
                  </a:txBody>
                  <a:tcPr marL="82296" marR="73152" marT="82296" marB="54864" anchor="ctr">
                    <a:solidFill>
                      <a:srgbClr val="FFF0C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257800"/>
            <a:ext cx="10789920" cy="77724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Source: Soft-Viterbi labels only. Ground-truth profiles are stored separately.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Research category agreement with ground truth: 2/4 recordings.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035040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SFI is a stage-transition proxy. Time in bed was not directly verified.</a:t>
            </a:r>
          </a:p>
        </p:txBody>
      </p:sp>
    </p:spTree>
    <p:extLst>
      <p:ext uri="{BB962C8B-B14F-4D97-AF65-F5344CB8AC3E}">
        <p14:creationId xmlns:p14="http://schemas.microsoft.com/office/powerpoint/2010/main" val="192251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Future Work — Multistage, Multi-model Pipeline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proposed design; not implemented, multistage_pipeline_proposal.md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29000" cy="105156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08760"/>
            <a:ext cx="3319272" cy="77723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Signal quality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checks + flags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78224" y="174193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05156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508760"/>
            <a:ext cx="3319272" cy="77723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Model A: CNN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Wake / REM / NREM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72984" y="1741931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80" y="1325880"/>
            <a:ext cx="3429000" cy="105156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508760"/>
            <a:ext cx="3319272" cy="77723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Model B: CNN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N1 / N2 / N3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06040"/>
            <a:ext cx="10698480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Soft composition: P(Nk) = P(NREM) × P(Nk | NREM), k = 1,2,3.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Retain Wake and REM probabilities; avoid irreversible hard routing.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85032"/>
            <a:ext cx="3429000" cy="105156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867912"/>
            <a:ext cx="3319272" cy="77723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Research profile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+ review flag</a:t>
            </a:r>
          </a:p>
        </p:txBody>
      </p:sp>
      <p:sp>
        <p:nvSpPr>
          <p:cNvPr id="18" name="Right Arrow 17"/>
          <p:cNvSpPr/>
          <p:nvPr/>
        </p:nvSpPr>
        <p:spPr>
          <a:xfrm rot="10800000">
            <a:off x="4078224" y="4101084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3685032"/>
            <a:ext cx="3429000" cy="105156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4" y="3867912"/>
            <a:ext cx="3319272" cy="77723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Model C: TCN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sequence refinement</a:t>
            </a:r>
          </a:p>
        </p:txBody>
      </p:sp>
      <p:sp>
        <p:nvSpPr>
          <p:cNvPr id="21" name="Right Arrow 20"/>
          <p:cNvSpPr/>
          <p:nvPr/>
        </p:nvSpPr>
        <p:spPr>
          <a:xfrm rot="10800000">
            <a:off x="7872984" y="4101084"/>
            <a:ext cx="265176" cy="219456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3685032"/>
            <a:ext cx="3429000" cy="105156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3867912"/>
            <a:ext cx="3319272" cy="777239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Validation-fitted</a:t>
            </a:r>
          </a:p>
          <a:p>
            <a:pPr algn="ctr">
              <a:spcAft>
                <a:spcPts val="900"/>
              </a:spcAft>
              <a:defRPr sz="1800" b="1">
                <a:solidFill>
                  <a:srgbClr val="0B2E4F"/>
                </a:solidFill>
                <a:latin typeface="Arial"/>
              </a:defRPr>
            </a:pPr>
            <a:r>
              <a:t>fusion + calibration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784080" y="3291840"/>
            <a:ext cx="320040" cy="320040"/>
          </a:xfrm>
          <a:prstGeom prst="down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38928"/>
            <a:ext cx="10698480" cy="86868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Fuse hierarchical scores with the current five-stage model as a parallel baseline.</a:t>
            </a:r>
          </a:p>
          <a:p>
            <a:pPr algn="l">
              <a:spcAft>
                <a:spcPts val="900"/>
              </a:spcAft>
              <a:defRPr sz="2000" b="0">
                <a:solidFill>
                  <a:srgbClr val="19364D"/>
                </a:solidFill>
                <a:latin typeface="Arial"/>
              </a:defRPr>
            </a:pPr>
            <a:r>
              <a:t>Add the sequence model only after measuring whether the experts help.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080760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Evaluate stage recall, macro F1, calibration and cost; no future performance is claimed.</a:t>
            </a:r>
          </a:p>
        </p:txBody>
      </p:sp>
    </p:spTree>
    <p:extLst>
      <p:ext uri="{BB962C8B-B14F-4D97-AF65-F5344CB8AC3E}">
        <p14:creationId xmlns:p14="http://schemas.microsoft.com/office/powerpoint/2010/main" val="275512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Conclusion and Future Priorities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final_results.json, multistage_pipeline_proposal.md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132588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45720" cy="132588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35607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What was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10616184" cy="832103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One verified hybrid model and training-derived decoding: 53.75% raw → 61.99% decoded accuracy on 3,773 test epochs.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16352"/>
            <a:ext cx="1092708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16352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926080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Next engineering milestone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273552"/>
            <a:ext cx="1061618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Train coarse-stage and NREM experts; validate soft fusion against the current model. Then test a learned temporal refiner as an ablation.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70832"/>
            <a:ext cx="10927080" cy="1371600"/>
          </a:xfrm>
          <a:prstGeom prst="round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70832"/>
            <a:ext cx="45720" cy="1371600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480560"/>
            <a:ext cx="10616184" cy="36576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0B2E4F"/>
                </a:solidFill>
                <a:latin typeface="Arial"/>
              </a:defRPr>
            </a:pPr>
            <a:r>
              <a:t>What is required before stronger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828032"/>
            <a:ext cx="10616184" cy="877824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Use grouped validation and a new locked test cohort; seek external validation and expert review of biomarker definitions and risk thresholds.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70448"/>
            <a:ext cx="10927080" cy="429768"/>
          </a:xfrm>
          <a:prstGeom prst="rect">
            <a:avLst/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36576"/>
          <a:lstStyle/>
          <a:p>
            <a:pPr algn="l">
              <a:spcAft>
                <a:spcPts val="0"/>
              </a:spcAft>
              <a:defRPr sz="1600" b="0">
                <a:solidFill>
                  <a:srgbClr val="19364D"/>
                </a:solidFill>
                <a:latin typeface="Arial"/>
              </a:defRPr>
            </a:pPr>
            <a:r>
              <a:t>Current limits: four test recordings, historical test reuse, no clinical or external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83011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2800" b="1">
                <a:solidFill>
                  <a:srgbClr val="0B2E4F"/>
                </a:solidFill>
                <a:latin typeface="Arial"/>
              </a:defRPr>
            </a:pPr>
            <a:r>
              <a:t>Literature Study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594360" y="1033271"/>
            <a:ext cx="11018520" cy="32004"/>
          </a:xfrm>
          <a:prstGeom prst="rect">
            <a:avLst/>
          </a:prstGeom>
          <a:solidFill>
            <a:srgbClr val="1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446520"/>
            <a:ext cx="10789920" cy="2286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60788A"/>
                </a:solidFill>
                <a:latin typeface="Arial"/>
              </a:defRPr>
            </a:pPr>
            <a:r>
              <a:t>Source: HMC-PPT-20261007-01 | literature_comparison.csv, references.txt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19088"/>
            <a:ext cx="365760" cy="256032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60788A"/>
                </a:solidFill>
                <a:latin typeface="Arial"/>
              </a:defRPr>
            </a:pPr>
            <a: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71600"/>
          <a:ext cx="11018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011680"/>
                <a:gridCol w="2148840"/>
                <a:gridCol w="2468880"/>
                <a:gridCol w="2057400"/>
              </a:tblGrid>
              <a:tr h="6629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Study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Modality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Protocol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Accuracy / macro F1</a:t>
                      </a:r>
                    </a:p>
                  </a:txBody>
                  <a:tcPr marL="82296" marR="73152" marT="82296" marB="54864" anchor="ctr">
                    <a:solidFill>
                      <a:srgbClr val="0B2E4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SeqSleepNet [1]</a:t>
                      </a:r>
                    </a:p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2019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MASS; 200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EEG+EOG+EMG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20-fold subject CV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87.10% / 83.30%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DeepSleepNet [2]</a:t>
                      </a:r>
                    </a:p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2017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Sleep-EDF; 20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EEG Fpz–Cz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20-fold subject CV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82.00% / 76.90%</a:t>
                      </a:r>
                    </a:p>
                  </a:txBody>
                  <a:tcPr marL="82296" marR="73152" marT="82296" marB="54864" anchor="ctr">
                    <a:solidFill>
                      <a:srgbClr val="F1F6F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Current raw model</a:t>
                      </a:r>
                    </a:p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2026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HMC subset; 24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Four-channel EEG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Fixed 16/4/4 split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364D"/>
                          </a:solidFill>
                          <a:latin typeface="Arial"/>
                        </a:defRPr>
                      </a:pPr>
                      <a:r>
                        <a:t>53.75% / 55.12%</a:t>
                      </a:r>
                    </a:p>
                  </a:txBody>
                  <a:tcPr marL="82296" marR="73152" marT="82296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434840"/>
            <a:ext cx="10698480" cy="1600200"/>
          </a:xfrm>
          <a:prstGeom prst="rect">
            <a:avLst/>
          </a:prstGeom>
          <a:noFill/>
        </p:spPr>
        <p:txBody>
          <a:bodyPr wrap="square" lIns="18288" rIns="18288" bIns="36576" anchor="t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Context only: different datasets, modalities and split protocols prevent direct ranking.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[1] DOI: 10.1109/TNSRE.2019.2896659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[2] DOI: 10.1109/TNSRE.2017.2721116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19364D"/>
                </a:solidFill>
                <a:latin typeface="Arial"/>
              </a:defRPr>
            </a:pPr>
            <a:r>
              <a:t>HMC dataset: DOI 10.13026/t79q-fr32. Full sources and protocols in references.txt.</a:t>
            </a:r>
          </a:p>
        </p:txBody>
      </p:sp>
    </p:spTree>
    <p:extLst>
      <p:ext uri="{BB962C8B-B14F-4D97-AF65-F5344CB8AC3E}">
        <p14:creationId xmlns:p14="http://schemas.microsoft.com/office/powerpoint/2010/main" val="3355814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A8D70E-88D2-49B7-A821-30108B4650D3}">
  <we:reference id="wa200010215" version="2.0.0.1" store="en-US" storeType="OMEX"/>
  <we:alternateReferences>
    <we:reference id="wa200010215" version="2.0.0.1" store="wa200010215" storeType="OMEX"/>
  </we:alternateReferences>
  <we:properties>
    <we:property name="bps.codex_control.document_id" value="&quot;1c90a05f-de37-42be-acfa-9e09005c8d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2415</Words>
  <Application>Microsoft Office PowerPoint</Application>
  <PresentationFormat>Widescreen</PresentationFormat>
  <Paragraphs>567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Rikin Parekh</dc:creator>
  <cp:lastModifiedBy>Rikin Parekh</cp:lastModifiedBy>
  <cp:revision>2</cp:revision>
  <dcterms:created xsi:type="dcterms:W3CDTF">2026-10-06T10:13:05Z</dcterms:created>
  <dcterms:modified xsi:type="dcterms:W3CDTF">2026-10-07T06:47:18Z</dcterms:modified>
</cp:coreProperties>
</file>