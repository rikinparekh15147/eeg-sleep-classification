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2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49574-D4BD-4545-AE6D-70E0DD794FD7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6CF03-D024-4D99-ABA8-BE7E567C4F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995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13A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23882" y="552450"/>
            <a:ext cx="26445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58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PROGRESS REPORT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23882" y="990600"/>
            <a:ext cx="10096248" cy="987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Transformer-Based Sleep Stage Classification and Personalized Sleep Health Profiling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42931" y="2190750"/>
            <a:ext cx="9334267" cy="30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4265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Fast SCFormer-U, Evidential Learning and Soft-Viterbi Sequence Decoding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2931" y="3952875"/>
            <a:ext cx="10286743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CF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2931" y="4171950"/>
            <a:ext cx="49624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Rikin Parekh, Om Ahuja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067273" y="4171950"/>
            <a:ext cx="49624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No.: 23BIT044, 23BIT014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2931" y="4507210"/>
            <a:ext cx="49624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Guide: Dr. Santosh Sathpathy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67273" y="4507210"/>
            <a:ext cx="49624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Department: Information and Communication Technology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2931" y="4842470"/>
            <a:ext cx="49624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Institute/University: Pandit Deendayal Energy University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67273" y="4842470"/>
            <a:ext cx="4962401" cy="24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Project Progress Report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2931" y="6356350"/>
            <a:ext cx="227036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C71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engineering / AI project</a:t>
            </a:r>
            <a:endParaRPr lang="en-US" sz="1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5DACE8-0B37-43F8-80F6-B1FE048CAE1C}"/>
              </a:ext>
            </a:extLst>
          </p:cNvPr>
          <p:cNvSpPr/>
          <p:nvPr/>
        </p:nvSpPr>
        <p:spPr>
          <a:xfrm>
            <a:off x="6350000" y="3124200"/>
            <a:ext cx="63500" cy="1016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E1D4A61-0397-4C90-BAD0-ECC7D5FA4091}"/>
              </a:ext>
            </a:extLst>
          </p:cNvPr>
          <p:cNvSpPr/>
          <p:nvPr/>
        </p:nvSpPr>
        <p:spPr>
          <a:xfrm>
            <a:off x="6553200" y="3073400"/>
            <a:ext cx="63500" cy="2032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D17E7A-67F7-434F-ACE3-7D39FBF011E5}"/>
              </a:ext>
            </a:extLst>
          </p:cNvPr>
          <p:cNvSpPr/>
          <p:nvPr/>
        </p:nvSpPr>
        <p:spPr>
          <a:xfrm>
            <a:off x="6756400" y="2984500"/>
            <a:ext cx="63500" cy="3810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E023AC-810D-4D1D-87D6-E1AA99404AD6}"/>
              </a:ext>
            </a:extLst>
          </p:cNvPr>
          <p:cNvSpPr/>
          <p:nvPr/>
        </p:nvSpPr>
        <p:spPr>
          <a:xfrm>
            <a:off x="6959600" y="3098800"/>
            <a:ext cx="63500" cy="1524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C7383C-7EB4-4CB4-9AE1-2FD20BD3C64B}"/>
              </a:ext>
            </a:extLst>
          </p:cNvPr>
          <p:cNvSpPr/>
          <p:nvPr/>
        </p:nvSpPr>
        <p:spPr>
          <a:xfrm>
            <a:off x="7162800" y="2908300"/>
            <a:ext cx="63500" cy="5334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F1492C-FA5B-4C6E-BBEE-B845354FFA63}"/>
              </a:ext>
            </a:extLst>
          </p:cNvPr>
          <p:cNvSpPr/>
          <p:nvPr/>
        </p:nvSpPr>
        <p:spPr>
          <a:xfrm>
            <a:off x="7366000" y="3060700"/>
            <a:ext cx="63500" cy="2286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F16E8E7-FA6E-49C7-AA52-00F1E642C29F}"/>
              </a:ext>
            </a:extLst>
          </p:cNvPr>
          <p:cNvSpPr/>
          <p:nvPr/>
        </p:nvSpPr>
        <p:spPr>
          <a:xfrm>
            <a:off x="7569200" y="3117850"/>
            <a:ext cx="63500" cy="1143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E7C0E2-9F56-4D1C-8C40-BB436C6CEA79}"/>
              </a:ext>
            </a:extLst>
          </p:cNvPr>
          <p:cNvSpPr/>
          <p:nvPr/>
        </p:nvSpPr>
        <p:spPr>
          <a:xfrm>
            <a:off x="7772400" y="3016250"/>
            <a:ext cx="63500" cy="3175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EFDF81-DA4A-4639-AE8A-784808A1E631}"/>
              </a:ext>
            </a:extLst>
          </p:cNvPr>
          <p:cNvSpPr/>
          <p:nvPr/>
        </p:nvSpPr>
        <p:spPr>
          <a:xfrm>
            <a:off x="7975600" y="2870200"/>
            <a:ext cx="63500" cy="6096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0AE25C-23FC-4B32-B6E8-E748F99BFCEC}"/>
              </a:ext>
            </a:extLst>
          </p:cNvPr>
          <p:cNvSpPr/>
          <p:nvPr/>
        </p:nvSpPr>
        <p:spPr>
          <a:xfrm>
            <a:off x="8178800" y="3073400"/>
            <a:ext cx="63500" cy="2032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E287D0-D1A5-4D4C-B351-3020030981C8}"/>
              </a:ext>
            </a:extLst>
          </p:cNvPr>
          <p:cNvSpPr/>
          <p:nvPr/>
        </p:nvSpPr>
        <p:spPr>
          <a:xfrm>
            <a:off x="8382000" y="3124200"/>
            <a:ext cx="63500" cy="1016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A8C69D-8FE5-4ACD-9BCD-F831293A334A}"/>
              </a:ext>
            </a:extLst>
          </p:cNvPr>
          <p:cNvSpPr/>
          <p:nvPr/>
        </p:nvSpPr>
        <p:spPr>
          <a:xfrm>
            <a:off x="8585200" y="2990850"/>
            <a:ext cx="63500" cy="3683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00461BC-5E2D-4534-B85C-21DBDCB13A96}"/>
              </a:ext>
            </a:extLst>
          </p:cNvPr>
          <p:cNvSpPr/>
          <p:nvPr/>
        </p:nvSpPr>
        <p:spPr>
          <a:xfrm>
            <a:off x="8788400" y="3098800"/>
            <a:ext cx="63500" cy="1524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9E079D-667C-44E0-B4FC-D8D3EF3E9119}"/>
              </a:ext>
            </a:extLst>
          </p:cNvPr>
          <p:cNvSpPr/>
          <p:nvPr/>
        </p:nvSpPr>
        <p:spPr>
          <a:xfrm>
            <a:off x="8991600" y="2933700"/>
            <a:ext cx="63500" cy="4826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BDE8EE-63CC-45F8-8E1B-2D25303DAEB4}"/>
              </a:ext>
            </a:extLst>
          </p:cNvPr>
          <p:cNvSpPr/>
          <p:nvPr/>
        </p:nvSpPr>
        <p:spPr>
          <a:xfrm>
            <a:off x="9194800" y="3079750"/>
            <a:ext cx="63500" cy="190500"/>
          </a:xfrm>
          <a:prstGeom prst="rect">
            <a:avLst/>
          </a:prstGeom>
          <a:solidFill>
            <a:srgbClr val="8FD3C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732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57200"/>
            <a:ext cx="347207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000125"/>
            <a:ext cx="10972526" cy="28575"/>
          </a:xfrm>
          <a:prstGeom prst="rect">
            <a:avLst/>
          </a:prstGeom>
          <a:solidFill>
            <a:srgbClr val="13A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28634" y="1257300"/>
            <a:ext cx="10572486" cy="911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Sleep-stage analysis classifies overnight physiological recordings into five stages: Wake, N1, N2, N3 and REM. Manual scoring is time-consuming and depends on trained sleep technicians. This project automates EEG-based scoring and extends the predictions into interpretable subject-level sleep-health indicators.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28634" y="3362325"/>
            <a:ext cx="1762081" cy="1123950"/>
          </a:xfrm>
          <a:prstGeom prst="rect">
            <a:avLst/>
          </a:prstGeom>
          <a:solidFill>
            <a:srgbClr val="ED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28634" y="3390900"/>
            <a:ext cx="1762081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6220" y="3833812"/>
            <a:ext cx="8469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EEG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503822" y="3749675"/>
            <a:ext cx="30479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921721" y="3362325"/>
            <a:ext cx="1762081" cy="1123950"/>
          </a:xfrm>
          <a:prstGeom prst="rect">
            <a:avLst/>
          </a:prstGeom>
          <a:solidFill>
            <a:srgbClr val="ED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921721" y="3390900"/>
            <a:ext cx="1762081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6968" y="3714750"/>
            <a:ext cx="157158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Stage Classification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96908" y="3749675"/>
            <a:ext cx="30479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214807" y="3362325"/>
            <a:ext cx="1762081" cy="1123950"/>
          </a:xfrm>
          <a:prstGeom prst="rect">
            <a:avLst/>
          </a:prstGeom>
          <a:solidFill>
            <a:srgbClr val="ED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214807" y="3390900"/>
            <a:ext cx="1762081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10055" y="3714750"/>
            <a:ext cx="157158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Smoothed Hypnogram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89995" y="3749675"/>
            <a:ext cx="30479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507894" y="3362325"/>
            <a:ext cx="1762081" cy="1123950"/>
          </a:xfrm>
          <a:prstGeom prst="rect">
            <a:avLst/>
          </a:prstGeom>
          <a:solidFill>
            <a:srgbClr val="ED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507894" y="3390900"/>
            <a:ext cx="1762081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3141" y="3714750"/>
            <a:ext cx="157158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Biomarkers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83081" y="3749675"/>
            <a:ext cx="30479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800980" y="3362325"/>
            <a:ext cx="1762081" cy="1123950"/>
          </a:xfrm>
          <a:prstGeom prst="rect">
            <a:avLst/>
          </a:prstGeom>
          <a:solidFill>
            <a:srgbClr val="ED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800980" y="3390900"/>
            <a:ext cx="1762081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96228" y="3714750"/>
            <a:ext cx="157158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Risk Profile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8634" y="5181600"/>
            <a:ext cx="10934427" cy="558800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57229" y="5353050"/>
            <a:ext cx="10477238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Five-class target: Wake · N1 · N2 · N3 · REM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8634" y="6438900"/>
            <a:ext cx="41357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automated research workflow; not a clinical diagnostic system.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202001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38150"/>
            <a:ext cx="332463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257300"/>
            <a:ext cx="3505112" cy="3714750"/>
          </a:xfrm>
          <a:prstGeom prst="rect">
            <a:avLst/>
          </a:prstGeom>
          <a:solidFill>
            <a:srgbClr val="FFFFFF"/>
          </a:solidFill>
          <a:ln w="6350">
            <a:solidFill>
              <a:srgbClr val="D9E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94020" y="1416050"/>
            <a:ext cx="204782" cy="266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D7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82628" y="1530350"/>
            <a:ext cx="2476438" cy="554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Sleep Stage Classification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82628" y="2085181"/>
            <a:ext cx="2959026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every 30-second EEG epoch into Wake, N1, N2, N3 or REM.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82628" y="2886174"/>
            <a:ext cx="186298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7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Epoch-level prediction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291" y="1257300"/>
            <a:ext cx="3505112" cy="3714750"/>
          </a:xfrm>
          <a:prstGeom prst="rect">
            <a:avLst/>
          </a:prstGeom>
          <a:solidFill>
            <a:srgbClr val="FFFFFF"/>
          </a:solidFill>
          <a:ln w="6350">
            <a:solidFill>
              <a:srgbClr val="D9E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427727" y="1416050"/>
            <a:ext cx="204782" cy="266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D7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616335" y="1530350"/>
            <a:ext cx="2476438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Transition-Aware Sequence Refinement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16335" y="2362597"/>
            <a:ext cx="2959026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Soft-Viterbi decoding to reduce unrealistic rapid transitions between sleep stages.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6335" y="3163590"/>
            <a:ext cx="18718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7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consistency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76998" y="1257300"/>
            <a:ext cx="3505112" cy="3714750"/>
          </a:xfrm>
          <a:prstGeom prst="rect">
            <a:avLst/>
          </a:prstGeom>
          <a:solidFill>
            <a:srgbClr val="FFFFFF"/>
          </a:solidFill>
          <a:ln w="6350">
            <a:solidFill>
              <a:srgbClr val="D9E8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161434" y="1416050"/>
            <a:ext cx="204782" cy="266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D7EE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50041" y="1530350"/>
            <a:ext cx="2476438" cy="554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Sleep Health Profiling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50041" y="2085181"/>
            <a:ext cx="2959026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interpretable sleep indicators and assign a rule-based sleep-health risk category.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50041" y="2886174"/>
            <a:ext cx="16767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7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Subject-level profile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585" y="5695950"/>
            <a:ext cx="10972526" cy="742950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76278" y="5946775"/>
            <a:ext cx="608205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Aim: EEG recording → automated sleep-health report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1069184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38150"/>
            <a:ext cx="558954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and Experimental Split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8634" y="981075"/>
            <a:ext cx="54332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587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HMC Sleep Dataset · subject-wise split used to avoid data leakage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914577" y="1562100"/>
            <a:ext cx="2285943" cy="742950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387144" y="1797050"/>
            <a:ext cx="134080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Subjects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048024" y="2305050"/>
            <a:ext cx="28574" cy="523875"/>
          </a:xfrm>
          <a:prstGeom prst="rect">
            <a:avLst/>
          </a:prstGeom>
          <a:solidFill>
            <a:srgbClr val="8DB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581110" y="2819400"/>
            <a:ext cx="4952876" cy="28575"/>
          </a:xfrm>
          <a:prstGeom prst="rect">
            <a:avLst/>
          </a:prstGeom>
          <a:solidFill>
            <a:srgbClr val="8DB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581110" y="2819400"/>
            <a:ext cx="28574" cy="495300"/>
          </a:xfrm>
          <a:prstGeom prst="rect">
            <a:avLst/>
          </a:prstGeom>
          <a:solidFill>
            <a:srgbClr val="8DB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057549" y="2819400"/>
            <a:ext cx="28574" cy="495300"/>
          </a:xfrm>
          <a:prstGeom prst="rect">
            <a:avLst/>
          </a:prstGeom>
          <a:solidFill>
            <a:srgbClr val="8DB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533987" y="2819400"/>
            <a:ext cx="28574" cy="495300"/>
          </a:xfrm>
          <a:prstGeom prst="rect">
            <a:avLst/>
          </a:prstGeom>
          <a:solidFill>
            <a:srgbClr val="8DB8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28634" y="3314700"/>
            <a:ext cx="1904952" cy="1047750"/>
          </a:xfrm>
          <a:prstGeom prst="rect">
            <a:avLst/>
          </a:prstGeom>
          <a:solidFill>
            <a:srgbClr val="E9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28634" y="3343275"/>
            <a:ext cx="1904952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650" y="3505200"/>
            <a:ext cx="1905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750" dirty="0"/>
          </a:p>
          <a:p>
            <a:pPr marL="0" indent="0" algn="ctr">
              <a:buNone/>
            </a:pPr>
            <a:r>
              <a:rPr lang="en-US" sz="17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3105072" y="3314700"/>
            <a:ext cx="1904952" cy="1047750"/>
          </a:xfrm>
          <a:prstGeom prst="rect">
            <a:avLst/>
          </a:prstGeom>
          <a:solidFill>
            <a:srgbClr val="E9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105072" y="3343275"/>
            <a:ext cx="1904952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05150" y="3505200"/>
            <a:ext cx="1905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50" dirty="0"/>
          </a:p>
          <a:p>
            <a:pPr marL="0" indent="0" algn="ctr">
              <a:buNone/>
            </a:pPr>
            <a:r>
              <a:rPr lang="en-US" sz="17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5581510" y="3314700"/>
            <a:ext cx="1904952" cy="1047750"/>
          </a:xfrm>
          <a:prstGeom prst="rect">
            <a:avLst/>
          </a:prstGeom>
          <a:solidFill>
            <a:srgbClr val="E9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581510" y="3343275"/>
            <a:ext cx="1904952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81650" y="3505200"/>
            <a:ext cx="1905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50" dirty="0"/>
          </a:p>
          <a:p>
            <a:pPr marL="0" indent="0" algn="ctr">
              <a:buNone/>
            </a:pPr>
            <a:r>
              <a:rPr lang="en-US" sz="17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248444" y="1504950"/>
            <a:ext cx="3333667" cy="354330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277018" y="1504950"/>
            <a:ext cx="0" cy="354330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2F6F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34187" y="1733550"/>
            <a:ext cx="281933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 pending verification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8534187" y="2241550"/>
            <a:ext cx="2819330" cy="265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recordings: [TO BE VERIFIED]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534187" y="2507258"/>
            <a:ext cx="2819330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usable epochs: [TO BE VERIFIED]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534187" y="3038674"/>
            <a:ext cx="2819330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sleep-stage distribution: [TO BE VERIFIED]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8534187" y="3570089"/>
            <a:ext cx="2819330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EEG channels: [INSERT FINAL 4 CHANNEL NAMES]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28634" y="5619750"/>
            <a:ext cx="10953476" cy="685800"/>
          </a:xfrm>
          <a:prstGeom prst="rect">
            <a:avLst/>
          </a:prstGeom>
          <a:solidFill>
            <a:srgbClr val="FFF3CD"/>
          </a:solidFill>
          <a:ln w="6350">
            <a:solidFill>
              <a:srgbClr val="EFD27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44529" y="5857875"/>
            <a:ext cx="522631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75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Important: No subject should appear in more than one split.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4252615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00050"/>
            <a:ext cx="35573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EEG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14337" y="1323975"/>
            <a:ext cx="993155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14337" y="1346200"/>
            <a:ext cx="993155" cy="0"/>
          </a:xfrm>
          <a:prstGeom prst="line">
            <a:avLst/>
          </a:prstGeom>
          <a:solidFill>
            <a:srgbClr val="FFFFFF">
              <a:alpha val="0"/>
            </a:srgbClr>
          </a:solidFill>
          <a:ln w="44450">
            <a:solidFill>
              <a:srgbClr val="13A6A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4317" y="1323975"/>
            <a:ext cx="0" cy="78105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4337" y="2101850"/>
            <a:ext cx="993155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7512" y="1323975"/>
            <a:ext cx="0" cy="78105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91" y="1642070"/>
            <a:ext cx="677548" cy="18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EEG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83690" y="1587500"/>
            <a:ext cx="2222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1882133" y="1323975"/>
            <a:ext cx="1098225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882133" y="1346200"/>
            <a:ext cx="1098225" cy="0"/>
          </a:xfrm>
          <a:prstGeom prst="line">
            <a:avLst/>
          </a:prstGeom>
          <a:solidFill>
            <a:srgbClr val="FFFFFF">
              <a:alpha val="0"/>
            </a:srgbClr>
          </a:solidFill>
          <a:ln w="44450">
            <a:solidFill>
              <a:srgbClr val="13A6A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7183" y="1323975"/>
            <a:ext cx="0" cy="78105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82133" y="2101850"/>
            <a:ext cx="1098225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85308" y="1323975"/>
            <a:ext cx="0" cy="78105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4681" y="1550690"/>
            <a:ext cx="933129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Selection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56556" y="1587500"/>
            <a:ext cx="2222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3354998" y="1323975"/>
            <a:ext cx="1133149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354998" y="1346200"/>
            <a:ext cx="1133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4450">
            <a:solidFill>
              <a:srgbClr val="13A6A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4972" y="1323975"/>
            <a:ext cx="0" cy="78105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4998" y="2101850"/>
            <a:ext cx="1133149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58173" y="1323975"/>
            <a:ext cx="0" cy="78105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37546" y="1550690"/>
            <a:ext cx="96805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Bandpass Filtering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64345" y="1587500"/>
            <a:ext cx="2222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4862788" y="1323975"/>
            <a:ext cx="1133149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62788" y="1346200"/>
            <a:ext cx="1133149" cy="0"/>
          </a:xfrm>
          <a:prstGeom prst="line">
            <a:avLst/>
          </a:prstGeom>
          <a:solidFill>
            <a:srgbClr val="FFFFFF">
              <a:alpha val="0"/>
            </a:srgbClr>
          </a:solidFill>
          <a:ln w="44450">
            <a:solidFill>
              <a:srgbClr val="13A6A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92762" y="1323975"/>
            <a:ext cx="0" cy="78105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62788" y="2101850"/>
            <a:ext cx="1133149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5963" y="1323975"/>
            <a:ext cx="0" cy="78105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45336" y="1550690"/>
            <a:ext cx="968053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Hz Notch Filtering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72135" y="1587500"/>
            <a:ext cx="2222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50" dirty="0"/>
          </a:p>
        </p:txBody>
      </p:sp>
      <p:sp>
        <p:nvSpPr>
          <p:cNvPr id="32" name="Shape 30"/>
          <p:cNvSpPr/>
          <p:nvPr/>
        </p:nvSpPr>
        <p:spPr>
          <a:xfrm>
            <a:off x="6370577" y="1323975"/>
            <a:ext cx="1150710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370577" y="1346200"/>
            <a:ext cx="1150710" cy="0"/>
          </a:xfrm>
          <a:prstGeom prst="line">
            <a:avLst/>
          </a:prstGeom>
          <a:solidFill>
            <a:srgbClr val="FFFFFF">
              <a:alpha val="0"/>
            </a:srgbClr>
          </a:solidFill>
          <a:ln w="44450">
            <a:solidFill>
              <a:srgbClr val="13A6A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18113" y="1323975"/>
            <a:ext cx="0" cy="78105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70577" y="2101850"/>
            <a:ext cx="1150710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73752" y="1323975"/>
            <a:ext cx="0" cy="78105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3126" y="1550690"/>
            <a:ext cx="985614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Resampling to 100 Hz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97486" y="1587500"/>
            <a:ext cx="2222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50" dirty="0"/>
          </a:p>
        </p:txBody>
      </p:sp>
      <p:sp>
        <p:nvSpPr>
          <p:cNvPr id="39" name="Shape 37"/>
          <p:cNvSpPr/>
          <p:nvPr/>
        </p:nvSpPr>
        <p:spPr>
          <a:xfrm>
            <a:off x="7895929" y="1323975"/>
            <a:ext cx="1063202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895929" y="1346200"/>
            <a:ext cx="1063202" cy="0"/>
          </a:xfrm>
          <a:prstGeom prst="line">
            <a:avLst/>
          </a:prstGeom>
          <a:solidFill>
            <a:srgbClr val="FFFFFF">
              <a:alpha val="0"/>
            </a:srgbClr>
          </a:solidFill>
          <a:ln w="44450">
            <a:solidFill>
              <a:srgbClr val="13A6A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955955" y="1323975"/>
            <a:ext cx="0" cy="78105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95929" y="2101850"/>
            <a:ext cx="106320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99104" y="1323975"/>
            <a:ext cx="0" cy="78105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78476" y="1550690"/>
            <a:ext cx="898106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30-second Epoching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035328" y="1587500"/>
            <a:ext cx="2222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50" dirty="0"/>
          </a:p>
        </p:txBody>
      </p:sp>
      <p:sp>
        <p:nvSpPr>
          <p:cNvPr id="46" name="Shape 44"/>
          <p:cNvSpPr/>
          <p:nvPr/>
        </p:nvSpPr>
        <p:spPr>
          <a:xfrm>
            <a:off x="9333771" y="1323975"/>
            <a:ext cx="993254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9333771" y="1346200"/>
            <a:ext cx="993254" cy="0"/>
          </a:xfrm>
          <a:prstGeom prst="line">
            <a:avLst/>
          </a:prstGeom>
          <a:solidFill>
            <a:srgbClr val="FFFFFF">
              <a:alpha val="0"/>
            </a:srgbClr>
          </a:solidFill>
          <a:ln w="44450">
            <a:solidFill>
              <a:srgbClr val="13A6A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323850" y="1323975"/>
            <a:ext cx="0" cy="78105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333771" y="2101850"/>
            <a:ext cx="993254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336946" y="1323975"/>
            <a:ext cx="0" cy="78105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16319" y="1550690"/>
            <a:ext cx="828158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403224" y="1587500"/>
            <a:ext cx="2222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50" dirty="0"/>
          </a:p>
        </p:txBody>
      </p:sp>
      <p:sp>
        <p:nvSpPr>
          <p:cNvPr id="53" name="Shape 51"/>
          <p:cNvSpPr/>
          <p:nvPr/>
        </p:nvSpPr>
        <p:spPr>
          <a:xfrm>
            <a:off x="10701665" y="1323975"/>
            <a:ext cx="975693" cy="781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10701665" y="1346200"/>
            <a:ext cx="975693" cy="0"/>
          </a:xfrm>
          <a:prstGeom prst="line">
            <a:avLst/>
          </a:prstGeom>
          <a:solidFill>
            <a:srgbClr val="FFFFFF">
              <a:alpha val="0"/>
            </a:srgbClr>
          </a:solidFill>
          <a:ln w="44450">
            <a:solidFill>
              <a:srgbClr val="13A6A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4183" y="1323975"/>
            <a:ext cx="0" cy="78105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701665" y="2101850"/>
            <a:ext cx="975693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704840" y="1323975"/>
            <a:ext cx="0" cy="78105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CFE0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784214" y="1550690"/>
            <a:ext cx="810597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Input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09585" y="2724150"/>
            <a:ext cx="5362441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92AE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1479414" y="3635375"/>
            <a:ext cx="362268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SAMPLE RAW EEG SIGNAL]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219670" y="2724150"/>
            <a:ext cx="5362441" cy="2057400"/>
          </a:xfrm>
          <a:prstGeom prst="rect">
            <a:avLst/>
          </a:prstGeom>
          <a:solidFill>
            <a:srgbClr val="FFFFFF"/>
          </a:solidFill>
          <a:ln w="25400">
            <a:solidFill>
              <a:srgbClr val="92AEB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357680" y="3635375"/>
            <a:ext cx="508632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FILTERED / PREPROCESSED EEG SIGNAL]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09585" y="5410200"/>
            <a:ext cx="10972526" cy="990600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1152000" y="5629077"/>
            <a:ext cx="1515330" cy="552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frequency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Hz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3752260" y="5629077"/>
            <a:ext cx="1297154" cy="552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 duration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6134344" y="5629077"/>
            <a:ext cx="2020440" cy="552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Approx. samples / channel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3000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9239714" y="5629077"/>
            <a:ext cx="1799882" cy="552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input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EEG channels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463557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28625"/>
            <a:ext cx="440321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Stage Distribution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6733" y="5419725"/>
            <a:ext cx="7238819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7892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258" y="1238250"/>
            <a:ext cx="0" cy="419100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7892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030" y="876300"/>
            <a:ext cx="3050504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 Class Distribution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104872" y="2914650"/>
            <a:ext cx="1000100" cy="2286000"/>
          </a:xfrm>
          <a:prstGeom prst="rect">
            <a:avLst/>
          </a:prstGeom>
          <a:solidFill>
            <a:srgbClr val="EDF8F7"/>
          </a:solidFill>
          <a:ln w="25400">
            <a:solidFill>
              <a:srgbClr val="13A6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56574" y="3959225"/>
            <a:ext cx="696697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7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[COUNT]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04872" y="5200650"/>
            <a:ext cx="10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474057" y="2914650"/>
            <a:ext cx="1000100" cy="2286000"/>
          </a:xfrm>
          <a:prstGeom prst="rect">
            <a:avLst/>
          </a:prstGeom>
          <a:solidFill>
            <a:srgbClr val="EDF8F7"/>
          </a:solidFill>
          <a:ln w="25400">
            <a:solidFill>
              <a:srgbClr val="13A6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625759" y="3959225"/>
            <a:ext cx="696697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7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[COUNT]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74057" y="5200650"/>
            <a:ext cx="10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3843241" y="2914650"/>
            <a:ext cx="1000100" cy="2286000"/>
          </a:xfrm>
          <a:prstGeom prst="rect">
            <a:avLst/>
          </a:prstGeom>
          <a:solidFill>
            <a:srgbClr val="EDF8F7"/>
          </a:solidFill>
          <a:ln w="25400">
            <a:solidFill>
              <a:srgbClr val="13A6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994943" y="3959225"/>
            <a:ext cx="696697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7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[COUNT]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3241" y="5200650"/>
            <a:ext cx="10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212426" y="2914650"/>
            <a:ext cx="1000100" cy="2286000"/>
          </a:xfrm>
          <a:prstGeom prst="rect">
            <a:avLst/>
          </a:prstGeom>
          <a:solidFill>
            <a:srgbClr val="EDF8F7"/>
          </a:solidFill>
          <a:ln w="25400">
            <a:solidFill>
              <a:srgbClr val="13A6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64128" y="3959225"/>
            <a:ext cx="696697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7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[COUNT]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426" y="5200650"/>
            <a:ext cx="10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581610" y="2914650"/>
            <a:ext cx="1000100" cy="2286000"/>
          </a:xfrm>
          <a:prstGeom prst="rect">
            <a:avLst/>
          </a:prstGeom>
          <a:solidFill>
            <a:srgbClr val="EDF8F7"/>
          </a:solidFill>
          <a:ln w="25400">
            <a:solidFill>
              <a:srgbClr val="13A6A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733313" y="3959225"/>
            <a:ext cx="696697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7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[COUNT]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1610" y="5200650"/>
            <a:ext cx="10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534187" y="1257300"/>
            <a:ext cx="3047924" cy="419100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562761" y="1257300"/>
            <a:ext cx="0" cy="419100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2F6F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38979" y="1504950"/>
            <a:ext cx="24954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counts required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838979" y="2038350"/>
            <a:ext cx="2495488" cy="266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Wake: [COUNT]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838979" y="2305348"/>
            <a:ext cx="2495488" cy="266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N1: [COUNT]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838979" y="2572345"/>
            <a:ext cx="2495488" cy="266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N2: [COUNT]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838979" y="2839343"/>
            <a:ext cx="2495488" cy="266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N3: [COUNT]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838979" y="3106341"/>
            <a:ext cx="2495488" cy="266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REM: [COUNT]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66733" y="5715000"/>
            <a:ext cx="10915377" cy="723900"/>
          </a:xfrm>
          <a:prstGeom prst="rect">
            <a:avLst/>
          </a:prstGeom>
          <a:solidFill>
            <a:srgbClr val="EA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76278" y="5867400"/>
            <a:ext cx="10496288" cy="231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 is expected in sleep datasets and can influence model training. Class weighting is therefore used during training.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547535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14337" y="323850"/>
            <a:ext cx="546919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SCFormer-U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0535" y="1207691"/>
            <a:ext cx="2330392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19110" y="1207691"/>
            <a:ext cx="0" cy="62865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0555" y="1422995"/>
            <a:ext cx="1641236" cy="19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4-Channel EEG Input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6175" y="1382316"/>
            <a:ext cx="45718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3568611" y="1207691"/>
            <a:ext cx="2330392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597185" y="1207691"/>
            <a:ext cx="0" cy="62865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8631" y="1323975"/>
            <a:ext cx="1987500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Conv1D Downsampling Block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94251" y="1382316"/>
            <a:ext cx="45718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6546687" y="1207691"/>
            <a:ext cx="2330392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575261" y="1207691"/>
            <a:ext cx="0" cy="62865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46707" y="1323975"/>
            <a:ext cx="1987500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Normalization + ReLU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0535" y="2289770"/>
            <a:ext cx="2330392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19110" y="2289770"/>
            <a:ext cx="0" cy="62865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555" y="2406055"/>
            <a:ext cx="1987500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Conv1D Downsampling Block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6175" y="2464396"/>
            <a:ext cx="45718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3568611" y="2289770"/>
            <a:ext cx="2330392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597185" y="2289770"/>
            <a:ext cx="0" cy="62865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68631" y="2505075"/>
            <a:ext cx="1971130" cy="19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Multi-Head Self-Attention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94251" y="2464396"/>
            <a:ext cx="45718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6546687" y="2289770"/>
            <a:ext cx="2330392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575261" y="2289770"/>
            <a:ext cx="0" cy="62865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6707" y="2406055"/>
            <a:ext cx="1987500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+ Layer Normalization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0535" y="3371751"/>
            <a:ext cx="2330392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19110" y="3371751"/>
            <a:ext cx="0" cy="62865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555" y="3488035"/>
            <a:ext cx="1987500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Feed-Forward Network with GELU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016175" y="3546376"/>
            <a:ext cx="45718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3568611" y="3371751"/>
            <a:ext cx="2330392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597185" y="3371751"/>
            <a:ext cx="0" cy="62865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68631" y="3488035"/>
            <a:ext cx="1987500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Connection + Layer Normalization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94251" y="3546376"/>
            <a:ext cx="45718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6546687" y="3371751"/>
            <a:ext cx="2330392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575261" y="3371751"/>
            <a:ext cx="0" cy="62865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46707" y="3587055"/>
            <a:ext cx="1494594" cy="19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LSTM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90535" y="4453830"/>
            <a:ext cx="2330392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19110" y="4453830"/>
            <a:ext cx="0" cy="62865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0555" y="4669135"/>
            <a:ext cx="1849292" cy="19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Average Pooling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016175" y="4628456"/>
            <a:ext cx="45718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3568611" y="4453830"/>
            <a:ext cx="2330392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3597185" y="4453830"/>
            <a:ext cx="0" cy="62865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68631" y="4669135"/>
            <a:ext cx="981646" cy="19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Layer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994251" y="4628456"/>
            <a:ext cx="457189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6546687" y="4453830"/>
            <a:ext cx="2330392" cy="628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575261" y="4453830"/>
            <a:ext cx="0" cy="62865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46707" y="4669135"/>
            <a:ext cx="1852368" cy="19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Evidential Output Layer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016175" y="5535811"/>
            <a:ext cx="3435264" cy="628650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3746307" y="5751116"/>
            <a:ext cx="1974900" cy="198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/ N1 / N2 / N3 / REM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9124722" y="1257300"/>
            <a:ext cx="2571686" cy="1470422"/>
          </a:xfrm>
          <a:prstGeom prst="rect">
            <a:avLst/>
          </a:prstGeom>
          <a:solidFill>
            <a:srgbClr val="E8F4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9124722" y="1285875"/>
            <a:ext cx="2571686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34267" y="1524000"/>
            <a:ext cx="2152596" cy="994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Type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CNN–Transformer–BiLSTM Architecture</a:t>
            </a:r>
            <a:endParaRPr lang="en-US" sz="1450" dirty="0"/>
          </a:p>
        </p:txBody>
      </p:sp>
      <p:sp>
        <p:nvSpPr>
          <p:cNvPr id="53" name="Shape 51"/>
          <p:cNvSpPr/>
          <p:nvPr/>
        </p:nvSpPr>
        <p:spPr>
          <a:xfrm>
            <a:off x="9124722" y="2956322"/>
            <a:ext cx="2571686" cy="1221879"/>
          </a:xfrm>
          <a:prstGeom prst="rect">
            <a:avLst/>
          </a:prstGeom>
          <a:solidFill>
            <a:srgbClr val="E8F4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9124722" y="2984897"/>
            <a:ext cx="2571686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34267" y="3223022"/>
            <a:ext cx="2152596" cy="7456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component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4-head Multi-Head Self-Attention</a:t>
            </a:r>
            <a:endParaRPr lang="en-US" sz="1450" dirty="0"/>
          </a:p>
        </p:txBody>
      </p:sp>
      <p:sp>
        <p:nvSpPr>
          <p:cNvPr id="56" name="Shape 54"/>
          <p:cNvSpPr/>
          <p:nvPr/>
        </p:nvSpPr>
        <p:spPr>
          <a:xfrm>
            <a:off x="9124722" y="4406801"/>
            <a:ext cx="2571686" cy="1024136"/>
          </a:xfrm>
          <a:prstGeom prst="rect">
            <a:avLst/>
          </a:prstGeom>
          <a:solidFill>
            <a:srgbClr val="FFF3CD"/>
          </a:solidFill>
          <a:ln w="6350">
            <a:solidFill>
              <a:srgbClr val="E4C6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9302518" y="4584601"/>
            <a:ext cx="2216095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F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describe this architecture as a pure Transformer model.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00319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57200"/>
            <a:ext cx="573609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of Each Model Component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28750"/>
            <a:ext cx="2600260" cy="3810000"/>
          </a:xfrm>
          <a:prstGeom prst="rect">
            <a:avLst/>
          </a:prstGeom>
          <a:solidFill>
            <a:srgbClr val="F4F8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9585" y="1460500"/>
            <a:ext cx="2600260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8179" y="1758950"/>
            <a:ext cx="609585" cy="6096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36602" y="1955800"/>
            <a:ext cx="41274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38179" y="2635250"/>
            <a:ext cx="214307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179" y="3126681"/>
            <a:ext cx="2143071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local waveform patterns and reduces EEG sequence length.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3400340" y="1428750"/>
            <a:ext cx="2600260" cy="3810000"/>
          </a:xfrm>
          <a:prstGeom prst="rect">
            <a:avLst/>
          </a:prstGeom>
          <a:solidFill>
            <a:srgbClr val="F4F8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400340" y="1460500"/>
            <a:ext cx="2600260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28934" y="1758950"/>
            <a:ext cx="609585" cy="6096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86778" y="1955800"/>
            <a:ext cx="49379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28934" y="2635250"/>
            <a:ext cx="214307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/ Self-Attention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628934" y="3389511"/>
            <a:ext cx="2143071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long-range relationships within the EEG epoch.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191095" y="1428750"/>
            <a:ext cx="2600260" cy="3810000"/>
          </a:xfrm>
          <a:prstGeom prst="rect">
            <a:avLst/>
          </a:prstGeom>
          <a:solidFill>
            <a:srgbClr val="F4F8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191095" y="1460500"/>
            <a:ext cx="2600260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690" y="1758950"/>
            <a:ext cx="609585" cy="6096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629234" y="1955800"/>
            <a:ext cx="19049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19690" y="2635250"/>
            <a:ext cx="214307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BiLSTM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19690" y="3126681"/>
            <a:ext cx="2143071" cy="1067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temporal dependencies in both forward and backward directions.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981850" y="1428750"/>
            <a:ext cx="2600260" cy="3810000"/>
          </a:xfrm>
          <a:prstGeom prst="rect">
            <a:avLst/>
          </a:prstGeom>
          <a:solidFill>
            <a:srgbClr val="F4F8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981850" y="1460500"/>
            <a:ext cx="2600260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10445" y="1758950"/>
            <a:ext cx="609585" cy="60960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372366" y="1955800"/>
            <a:ext cx="28574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UQ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10445" y="2635250"/>
            <a:ext cx="2143071" cy="262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Evidential Layer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10445" y="3126681"/>
            <a:ext cx="2143071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class predictions together with uncertainty estimates.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09585" y="6061075"/>
            <a:ext cx="1097252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CFE0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585" y="6223000"/>
            <a:ext cx="10972526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87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role: local features + within-epoch context + bidirectional temporal modeling + uncertainty awareness.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296572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38150"/>
            <a:ext cx="594255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Uncertainty-Aware Classification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8634" y="1028700"/>
            <a:ext cx="10572486" cy="5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conventional classifier outputs only a predicted class. The evidential model produces both a predicted sleep stage and an estimate of prediction uncertainty.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2428875"/>
            <a:ext cx="2930253" cy="2266950"/>
          </a:xfrm>
          <a:prstGeom prst="rect">
            <a:avLst/>
          </a:prstGeom>
          <a:solidFill>
            <a:srgbClr val="FFFFFF"/>
          </a:solidFill>
          <a:ln w="6350">
            <a:solidFill>
              <a:srgbClr val="D5E4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44529" y="2663825"/>
            <a:ext cx="246036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classifier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844529" y="3241675"/>
            <a:ext cx="2460365" cy="689570"/>
          </a:xfrm>
          <a:prstGeom prst="rect">
            <a:avLst/>
          </a:prstGeom>
          <a:solidFill>
            <a:srgbClr val="E9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35024" y="3432175"/>
            <a:ext cx="2079375" cy="30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844631" y="3327400"/>
            <a:ext cx="768827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087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918250" y="2428875"/>
            <a:ext cx="2930154" cy="2266950"/>
          </a:xfrm>
          <a:prstGeom prst="rect">
            <a:avLst/>
          </a:prstGeom>
          <a:solidFill>
            <a:srgbClr val="FFFFFF"/>
          </a:solidFill>
          <a:ln w="6350">
            <a:solidFill>
              <a:srgbClr val="D5E4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53194" y="2663825"/>
            <a:ext cx="246026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Evidential classifier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153194" y="3241675"/>
            <a:ext cx="2460266" cy="1306711"/>
          </a:xfrm>
          <a:prstGeom prst="rect">
            <a:avLst/>
          </a:prstGeom>
          <a:solidFill>
            <a:srgbClr val="E9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343689" y="3432175"/>
            <a:ext cx="2079275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7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B7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/ High Uncertainty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38939" y="2133600"/>
            <a:ext cx="3143171" cy="2857500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705632" y="2400300"/>
            <a:ext cx="26097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uncertainty helps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705632" y="2667000"/>
            <a:ext cx="2609785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Detect ambiguous epochs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705632" y="2915543"/>
            <a:ext cx="2609785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Identify less trustworthy predictions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705632" y="3412629"/>
            <a:ext cx="2609785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Improve interpretability of automated sleep scoring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09585" y="5553075"/>
            <a:ext cx="10972526" cy="876300"/>
          </a:xfrm>
          <a:prstGeom prst="rect">
            <a:avLst/>
          </a:prstGeom>
          <a:solidFill>
            <a:srgbClr val="FFFFFF"/>
          </a:solidFill>
          <a:ln w="25400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763571" y="5873750"/>
            <a:ext cx="46645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UNCERTAINTY DISTRIBUTION GRAPH]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21342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19100"/>
            <a:ext cx="444578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Training Progress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190625"/>
            <a:ext cx="3600360" cy="3810000"/>
          </a:xfrm>
          <a:prstGeom prst="rect">
            <a:avLst/>
          </a:prstGeom>
          <a:solidFill>
            <a:srgbClr val="F8FAFC"/>
          </a:solidFill>
          <a:ln w="25400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34984" y="2425700"/>
            <a:ext cx="3549561" cy="133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vs Validation Accuracy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TRAINING / VALIDATION ACCURACY CURVE]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38539" y="1190625"/>
            <a:ext cx="3600360" cy="3810000"/>
          </a:xfrm>
          <a:prstGeom prst="rect">
            <a:avLst/>
          </a:prstGeom>
          <a:solidFill>
            <a:srgbClr val="F8FAFC"/>
          </a:solidFill>
          <a:ln w="25400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463939" y="2425700"/>
            <a:ext cx="3549561" cy="1339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vs Validation Loss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TRAINING / VALIDATION LOSS CURVE]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77038" y="1190625"/>
            <a:ext cx="3105072" cy="3810000"/>
          </a:xfrm>
          <a:prstGeom prst="rect">
            <a:avLst/>
          </a:prstGeom>
          <a:solidFill>
            <a:srgbClr val="EEF5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8505612" y="1190625"/>
            <a:ext cx="0" cy="381000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2F6F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81830" y="1438275"/>
            <a:ext cx="2552636" cy="265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Optimizer: [INSERT]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781830" y="1703983"/>
            <a:ext cx="2552636" cy="265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rate: [INSERT]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781830" y="1969691"/>
            <a:ext cx="2552636" cy="265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size: [INSERT]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781830" y="2235398"/>
            <a:ext cx="2552636" cy="265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epochs: [INSERT]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781830" y="2501106"/>
            <a:ext cx="2552636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stopping: [YES/NO — VERIFY]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781830" y="3032522"/>
            <a:ext cx="2552636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 [INSERT COLAB GPU / HARDWARE]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9585" y="5600700"/>
            <a:ext cx="10972526" cy="781050"/>
          </a:xfrm>
          <a:prstGeom prst="rect">
            <a:avLst/>
          </a:prstGeom>
          <a:solidFill>
            <a:srgbClr val="FFF3CD"/>
          </a:solidFill>
          <a:ln w="6350">
            <a:solidFill>
              <a:srgbClr val="E4C65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5479" y="5778500"/>
            <a:ext cx="10540737" cy="231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F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curves and hyperparameters copied from a verified executed training run should replace these placeholders.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617524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38150"/>
            <a:ext cx="7178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Stage Classification Performance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857229" y="1476375"/>
          <a:ext cx="10477239" cy="2400300"/>
        </p:xfrm>
        <a:graphic>
          <a:graphicData uri="http://schemas.openxmlformats.org/drawingml/2006/table">
            <a:tbl>
              <a:tblPr/>
              <a:tblGrid>
                <a:gridCol w="3406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5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51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03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49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Notebook Evaluation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 F1-score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Cohen's Kappa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60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C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75.94%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C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73.50%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C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0.685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C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92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Safe self-calibrated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PROVISIONAL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C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76.01%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C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73.38%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C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0.686</a:t>
                      </a:r>
                      <a:endParaRPr lang="en-US" sz="16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C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57229" y="5351859"/>
            <a:ext cx="10477238" cy="934641"/>
          </a:xfrm>
          <a:prstGeom prst="rect">
            <a:avLst/>
          </a:prstGeom>
          <a:solidFill>
            <a:srgbClr val="FFF3CD"/>
          </a:solidFill>
          <a:ln w="19050">
            <a:solidFill>
              <a:srgbClr val="E0BD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1104872" y="5561409"/>
            <a:ext cx="998195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6C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These results are present in the notebook but must be verified against the final executed test-set output before being treated as final.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302933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19100"/>
            <a:ext cx="537702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Stage Confusion Matrix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6733" y="1238250"/>
            <a:ext cx="7238819" cy="4476750"/>
          </a:xfrm>
          <a:prstGeom prst="rect">
            <a:avLst/>
          </a:prstGeom>
          <a:solidFill>
            <a:srgbClr val="FFFFFF"/>
          </a:solidFill>
          <a:ln w="38100">
            <a:solidFill>
              <a:srgbClr val="8AA6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295467" y="3067050"/>
            <a:ext cx="5981352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FINAL NORMALIZED CONFUSION MATRIX]</a:t>
            </a:r>
            <a:endParaRPr lang="en-US" sz="1900" dirty="0"/>
          </a:p>
          <a:p>
            <a:pPr marL="0" indent="0" algn="ctr">
              <a:buNone/>
            </a:pP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| N1 | N2 | N3 | REM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047924" y="5905500"/>
            <a:ext cx="2054174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 Predicted Stage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4453" y="2739777"/>
            <a:ext cx="196845" cy="1384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Rows: True Stage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38939" y="1238250"/>
            <a:ext cx="3143171" cy="4476750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705632" y="1504950"/>
            <a:ext cx="26097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05632" y="1771650"/>
            <a:ext cx="2609785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classes: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BE VERIFIED]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705632" y="2342356"/>
            <a:ext cx="2609785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confused class: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BE VERIFIED]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705632" y="2913063"/>
            <a:ext cx="2609785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performance: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 BE VERIFIED]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1069679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28625"/>
            <a:ext cx="704763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Class-Wise Classification Performance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23882" y="5372100"/>
            <a:ext cx="7238819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7892A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3407" y="1285875"/>
            <a:ext cx="0" cy="40957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7892A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1546" y="2962275"/>
            <a:ext cx="1000100" cy="2190750"/>
          </a:xfrm>
          <a:prstGeom prst="rect">
            <a:avLst/>
          </a:prstGeom>
          <a:solidFill>
            <a:srgbClr val="EDF3FE"/>
          </a:solidFill>
          <a:ln w="254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502829" y="3952875"/>
            <a:ext cx="3374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[F1]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71546" y="5153025"/>
            <a:ext cx="10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2540730" y="2962275"/>
            <a:ext cx="1000100" cy="2190750"/>
          </a:xfrm>
          <a:prstGeom prst="rect">
            <a:avLst/>
          </a:prstGeom>
          <a:solidFill>
            <a:srgbClr val="EDF3FE"/>
          </a:solidFill>
          <a:ln w="254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872013" y="3952875"/>
            <a:ext cx="3374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[F1]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540730" y="5153025"/>
            <a:ext cx="10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909915" y="2962275"/>
            <a:ext cx="1000100" cy="2190750"/>
          </a:xfrm>
          <a:prstGeom prst="rect">
            <a:avLst/>
          </a:prstGeom>
          <a:solidFill>
            <a:srgbClr val="EDF3FE"/>
          </a:solidFill>
          <a:ln w="254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241198" y="3952875"/>
            <a:ext cx="3374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[F1]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909915" y="5153025"/>
            <a:ext cx="10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279099" y="2962275"/>
            <a:ext cx="1000100" cy="2190750"/>
          </a:xfrm>
          <a:prstGeom prst="rect">
            <a:avLst/>
          </a:prstGeom>
          <a:solidFill>
            <a:srgbClr val="EDF3FE"/>
          </a:solidFill>
          <a:ln w="254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610382" y="3952875"/>
            <a:ext cx="3374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[F1]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279099" y="5153025"/>
            <a:ext cx="10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48284" y="2962275"/>
            <a:ext cx="1000100" cy="2190750"/>
          </a:xfrm>
          <a:prstGeom prst="rect">
            <a:avLst/>
          </a:prstGeom>
          <a:solidFill>
            <a:srgbClr val="EDF3FE"/>
          </a:solidFill>
          <a:ln w="254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979567" y="3952875"/>
            <a:ext cx="33743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[F1]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648284" y="5153025"/>
            <a:ext cx="10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581810" y="1285875"/>
            <a:ext cx="3000300" cy="4095750"/>
          </a:xfrm>
          <a:prstGeom prst="rect">
            <a:avLst/>
          </a:prstGeom>
          <a:solidFill>
            <a:srgbClr val="EF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610385" y="1285875"/>
            <a:ext cx="0" cy="409575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77078" y="1524000"/>
            <a:ext cx="24669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Score by Sleep Stage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877078" y="1838325"/>
            <a:ext cx="24669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Wake: [F1]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877078" y="2152650"/>
            <a:ext cx="24669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N1: [F1]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877078" y="2466975"/>
            <a:ext cx="24669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N2: [F1]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877078" y="2781300"/>
            <a:ext cx="24669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N3: [F1]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877078" y="3095625"/>
            <a:ext cx="246691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REM: [F1]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23882" y="5864622"/>
            <a:ext cx="10858229" cy="555228"/>
          </a:xfrm>
          <a:prstGeom prst="rect">
            <a:avLst/>
          </a:prstGeom>
          <a:solidFill>
            <a:srgbClr val="FFF3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933427" y="6026547"/>
            <a:ext cx="10439139" cy="231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6F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is expected to be one of the most challenging classes, but the final conclusion must be based on verified test results.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212356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19100"/>
            <a:ext cx="497490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and Calibration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257300"/>
            <a:ext cx="5362441" cy="3333750"/>
          </a:xfrm>
          <a:prstGeom prst="rect">
            <a:avLst/>
          </a:prstGeom>
          <a:solidFill>
            <a:srgbClr val="FFFFFF"/>
          </a:solidFill>
          <a:ln w="25400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34984" y="2498725"/>
            <a:ext cx="5311642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UNCERTAINTY: CORRECT VS INCORRECT PREDICTIONS]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19670" y="1257300"/>
            <a:ext cx="5362441" cy="3333750"/>
          </a:xfrm>
          <a:prstGeom prst="rect">
            <a:avLst/>
          </a:prstGeom>
          <a:solidFill>
            <a:srgbClr val="FFFFFF"/>
          </a:solidFill>
          <a:ln w="25400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245069" y="2498725"/>
            <a:ext cx="5311642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CONFIDENCE VS ACCURACY / RELIABILITY PLOT]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585" y="4972050"/>
            <a:ext cx="10972526" cy="1428750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95328" y="5200650"/>
            <a:ext cx="3286043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good uncertainty model should assign higher uncertainty to incorrect predictions.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448064" y="5200650"/>
            <a:ext cx="3286043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should approximately reflect actual prediction accuracy.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00800" y="5200650"/>
            <a:ext cx="3286043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helps determine whether model confidence can be trusted.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246044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19100"/>
            <a:ext cx="649231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Soft-Viterbi Sleep Stage Refinement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28634" y="1028700"/>
            <a:ext cx="10667733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neural network predicts each 30-second epoch individually. Independent predictions can create rapid or physiologically unlikely transitions. Soft-Viterbi uses both model stage probabilities and learned stage-transition probabilities to estimate a more plausible sequence.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57229" y="3257550"/>
            <a:ext cx="2285943" cy="1200150"/>
          </a:xfrm>
          <a:prstGeom prst="rect">
            <a:avLst/>
          </a:prstGeom>
          <a:solidFill>
            <a:srgbClr val="EF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57229" y="3289300"/>
            <a:ext cx="2285943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674" y="3493195"/>
            <a:ext cx="1943051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Model Predictions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probabilities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1312" y="3638550"/>
            <a:ext cx="22254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481995" y="3257550"/>
            <a:ext cx="2285943" cy="1200150"/>
          </a:xfrm>
          <a:prstGeom prst="rect">
            <a:avLst/>
          </a:prstGeom>
          <a:solidFill>
            <a:srgbClr val="EF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481995" y="3289300"/>
            <a:ext cx="2285943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3441" y="3625255"/>
            <a:ext cx="1943051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Probability Matrix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26178" y="3638550"/>
            <a:ext cx="38099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6265309" y="3257550"/>
            <a:ext cx="2285943" cy="1200150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65309" y="3289300"/>
            <a:ext cx="2285943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2F6F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6755" y="3625255"/>
            <a:ext cx="1943051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Soft-Viterbi Decoder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09393" y="3638550"/>
            <a:ext cx="38099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048524" y="3257550"/>
            <a:ext cx="2285943" cy="1200150"/>
          </a:xfrm>
          <a:prstGeom prst="rect">
            <a:avLst/>
          </a:prstGeom>
          <a:solidFill>
            <a:srgbClr val="EF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9048524" y="3289300"/>
            <a:ext cx="2285943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19969" y="3625255"/>
            <a:ext cx="1943051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Smoothed Sleep Stage Sequence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7229" y="5870575"/>
            <a:ext cx="10477238" cy="463550"/>
          </a:xfrm>
          <a:prstGeom prst="rect">
            <a:avLst/>
          </a:prstGeom>
          <a:solidFill>
            <a:srgbClr val="F6F8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85803" y="5870575"/>
            <a:ext cx="0" cy="46355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2F6F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4872" y="6003925"/>
            <a:ext cx="10039099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detail is intentionally minimized here; the focus is the sequence-level interpretation.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557811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19100"/>
            <a:ext cx="58638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Stage Transition Modeling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33467" y="1333500"/>
            <a:ext cx="6572086" cy="4191000"/>
          </a:xfrm>
          <a:prstGeom prst="rect">
            <a:avLst/>
          </a:prstGeom>
          <a:solidFill>
            <a:srgbClr val="FFFFFF"/>
          </a:solidFill>
          <a:ln w="38100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685387" y="3292475"/>
            <a:ext cx="586814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5 × 5 TRANSITION PROBABILITY MATRIX]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67533" y="1524000"/>
            <a:ext cx="2666933" cy="2605683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934227" y="1790700"/>
            <a:ext cx="213354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and columns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34227" y="2136081"/>
            <a:ext cx="2133547" cy="1726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67533" y="4599384"/>
            <a:ext cx="2666933" cy="1353741"/>
          </a:xfrm>
          <a:prstGeom prst="rect">
            <a:avLst/>
          </a:prstGeom>
          <a:solidFill>
            <a:srgbClr val="FFF3CD"/>
          </a:solidFill>
          <a:ln w="6350">
            <a:solidFill>
              <a:srgbClr val="E0BD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864379" y="4796235"/>
            <a:ext cx="2273243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F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probabilities are learned only from training labels to avoid test-set leakage.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33845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342900"/>
            <a:ext cx="745282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vs Smoothed Sleep Stage Sequence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19110" y="1066800"/>
            <a:ext cx="1000100" cy="1445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50" dirty="0">
                <a:solidFill>
                  <a:srgbClr val="587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Vertical order</a:t>
            </a:r>
            <a:endParaRPr lang="en-US" sz="1150" dirty="0"/>
          </a:p>
          <a:p>
            <a:pPr marL="0" indent="0" algn="r">
              <a:buNone/>
            </a:pPr>
            <a:r>
              <a:rPr lang="en-US" sz="1150" dirty="0">
                <a:solidFill>
                  <a:srgbClr val="587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</a:t>
            </a:r>
            <a:endParaRPr lang="en-US" sz="1150" dirty="0"/>
          </a:p>
          <a:p>
            <a:pPr marL="0" indent="0" algn="r">
              <a:buNone/>
            </a:pPr>
            <a:r>
              <a:rPr lang="en-US" sz="1150" dirty="0">
                <a:solidFill>
                  <a:srgbClr val="587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</a:t>
            </a:r>
            <a:endParaRPr lang="en-US" sz="1150" dirty="0"/>
          </a:p>
          <a:p>
            <a:pPr marL="0" indent="0" algn="r">
              <a:buNone/>
            </a:pPr>
            <a:r>
              <a:rPr lang="en-US" sz="1150" dirty="0">
                <a:solidFill>
                  <a:srgbClr val="587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</a:t>
            </a:r>
            <a:endParaRPr lang="en-US" sz="1150" dirty="0"/>
          </a:p>
          <a:p>
            <a:pPr marL="0" indent="0" algn="r">
              <a:buNone/>
            </a:pPr>
            <a:r>
              <a:rPr lang="en-US" sz="1150" dirty="0">
                <a:solidFill>
                  <a:srgbClr val="587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N2</a:t>
            </a:r>
            <a:endParaRPr lang="en-US" sz="1150" dirty="0"/>
          </a:p>
          <a:p>
            <a:pPr marL="0" indent="0" algn="r">
              <a:buNone/>
            </a:pPr>
            <a:r>
              <a:rPr lang="en-US" sz="1150" dirty="0">
                <a:solidFill>
                  <a:srgbClr val="587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809705" y="1000125"/>
            <a:ext cx="9715257" cy="1381125"/>
          </a:xfrm>
          <a:prstGeom prst="rect">
            <a:avLst/>
          </a:prstGeom>
          <a:solidFill>
            <a:srgbClr val="F8FAFC"/>
          </a:solidFill>
          <a:ln w="25400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987500" y="1158875"/>
            <a:ext cx="105427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87500" y="1616075"/>
            <a:ext cx="9359666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TRUE TEST-SUBJECT HYPNOGRAM]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809705" y="2495550"/>
            <a:ext cx="9715257" cy="1381125"/>
          </a:xfrm>
          <a:prstGeom prst="rect">
            <a:avLst/>
          </a:prstGeom>
          <a:solidFill>
            <a:srgbClr val="F8FAFC"/>
          </a:solidFill>
          <a:ln w="25400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987500" y="2654300"/>
            <a:ext cx="1714755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Model Prediction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87500" y="3111500"/>
            <a:ext cx="9359666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RAW MODEL HYPNOGRAM]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809705" y="3990975"/>
            <a:ext cx="9715257" cy="1381125"/>
          </a:xfrm>
          <a:prstGeom prst="rect">
            <a:avLst/>
          </a:prstGeom>
          <a:solidFill>
            <a:srgbClr val="F8FAFC"/>
          </a:solidFill>
          <a:ln w="25400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987500" y="4149725"/>
            <a:ext cx="173916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Soft-Viterbi Prediction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987500" y="4606925"/>
            <a:ext cx="9359666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SMOOTHED HYPNOGRAM]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809705" y="5962650"/>
            <a:ext cx="9715257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6078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09705" y="6048375"/>
            <a:ext cx="97152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time axis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809705" y="6337300"/>
            <a:ext cx="9715257" cy="368300"/>
          </a:xfrm>
          <a:prstGeom prst="rect">
            <a:avLst/>
          </a:prstGeom>
          <a:solidFill>
            <a:srgbClr val="FDE2E2"/>
          </a:solidFill>
          <a:ln w="19050">
            <a:solidFill>
              <a:srgbClr val="D7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904952" y="6432550"/>
            <a:ext cx="952476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6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TEST-SUBJECT HYPNOGRAM REQUIRED — do not use the notebook's mock example.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34895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00050"/>
            <a:ext cx="569422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of Sequence Smoothing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742931" y="1257300"/>
          <a:ext cx="10705832" cy="2216150"/>
        </p:xfrm>
        <a:graphic>
          <a:graphicData uri="http://schemas.openxmlformats.org/drawingml/2006/table">
            <a:tbl>
              <a:tblPr/>
              <a:tblGrid>
                <a:gridCol w="3359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61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11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8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4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Model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Soft-Viterbi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7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[VERIFY]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[VERIFY]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[VERIFY]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 F1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[VERIFY]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[VERIFY]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[VERIFY]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Cohen's Kappa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[VERIFY]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[VERIFY]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[VERIFY]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2931" y="3638550"/>
            <a:ext cx="10705832" cy="913606"/>
          </a:xfrm>
          <a:prstGeom prst="rect">
            <a:avLst/>
          </a:prstGeom>
          <a:solidFill>
            <a:srgbClr val="E9F5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971526" y="3810000"/>
            <a:ext cx="10248644" cy="570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 notebook values:</a:t>
            </a:r>
            <a:endParaRPr lang="en-US" sz="1450" dirty="0"/>
          </a:p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Accuracy: 54.74% → 62.30%   |   Macro F1: 57.01% → 62.88%   |   Kappa: 0.4851 → 0.5367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42931" y="5501680"/>
            <a:ext cx="10705832" cy="861020"/>
          </a:xfrm>
          <a:prstGeom prst="rect">
            <a:avLst/>
          </a:prstGeom>
          <a:solidFill>
            <a:srgbClr val="FFF3CD"/>
          </a:solidFill>
          <a:ln w="19050">
            <a:solidFill>
              <a:srgbClr val="E0BD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990575" y="5692180"/>
            <a:ext cx="10210545" cy="48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F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values conflict with another classification evaluation in the notebook and therefore require experimental verification before final presentation. They are not definitive results.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567104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38150"/>
            <a:ext cx="666941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Sleep Health Indicators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381125"/>
            <a:ext cx="5381490" cy="1905000"/>
          </a:xfrm>
          <a:prstGeom prst="rect">
            <a:avLst/>
          </a:prstGeom>
          <a:solidFill>
            <a:srgbClr val="F2F7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7684" y="1381125"/>
            <a:ext cx="0" cy="19050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13A6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3427" y="1628775"/>
            <a:ext cx="481000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Efficiency (SE)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33427" y="1901825"/>
            <a:ext cx="4810005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of time spent asleep relative to recording or time in bed.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00620" y="1381125"/>
            <a:ext cx="5381490" cy="1905000"/>
          </a:xfrm>
          <a:prstGeom prst="rect">
            <a:avLst/>
          </a:prstGeom>
          <a:solidFill>
            <a:srgbClr val="F2F7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238719" y="1381125"/>
            <a:ext cx="0" cy="19050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13A6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4462" y="1628775"/>
            <a:ext cx="481000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24462" y="1901825"/>
            <a:ext cx="4810005" cy="266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After Sleep Onset.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09585" y="3495675"/>
            <a:ext cx="5381490" cy="1905000"/>
          </a:xfrm>
          <a:prstGeom prst="rect">
            <a:avLst/>
          </a:prstGeom>
          <a:solidFill>
            <a:srgbClr val="F2F7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47684" y="3495675"/>
            <a:ext cx="0" cy="19050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13A6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3427" y="3743325"/>
            <a:ext cx="481000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N3 %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33427" y="4016375"/>
            <a:ext cx="4810005" cy="266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 of deep sleep.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00620" y="3495675"/>
            <a:ext cx="5381490" cy="1905000"/>
          </a:xfrm>
          <a:prstGeom prst="rect">
            <a:avLst/>
          </a:prstGeom>
          <a:solidFill>
            <a:srgbClr val="F2F7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238719" y="3495675"/>
            <a:ext cx="0" cy="19050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13A6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4462" y="3743325"/>
            <a:ext cx="481000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Fragmentation Index (SFI)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24462" y="4016375"/>
            <a:ext cx="4810005" cy="266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of sleep interruptions or fragmentation.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09585" y="6089650"/>
            <a:ext cx="10972526" cy="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CFE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9585" y="6242050"/>
            <a:ext cx="10972526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87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research indicators support profiling; they do not independently establish a diagnosis.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97135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00050"/>
            <a:ext cx="783362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Sleep Health Risk Stratification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28714" y="1285875"/>
            <a:ext cx="2571686" cy="1009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428714" y="1314450"/>
            <a:ext cx="2571686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9350" y="1698625"/>
            <a:ext cx="177041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Biomarkers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38519" y="1603375"/>
            <a:ext cx="32384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4800480" y="1285875"/>
            <a:ext cx="2571686" cy="1009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800480" y="1314450"/>
            <a:ext cx="2571686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6067" y="1698625"/>
            <a:ext cx="234041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Thresholds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610285" y="1603375"/>
            <a:ext cx="32384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8172246" y="1285875"/>
            <a:ext cx="2571686" cy="1009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172246" y="1314450"/>
            <a:ext cx="2571686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53455" y="1698625"/>
            <a:ext cx="1409169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Category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428714" y="3143250"/>
            <a:ext cx="2952676" cy="1238250"/>
          </a:xfrm>
          <a:prstGeom prst="rect">
            <a:avLst/>
          </a:prstGeom>
          <a:solidFill>
            <a:srgbClr val="2F8F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469295" y="3489325"/>
            <a:ext cx="871417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4609985" y="3143250"/>
            <a:ext cx="2952676" cy="1238250"/>
          </a:xfrm>
          <a:prstGeom prst="rect">
            <a:avLst/>
          </a:prstGeom>
          <a:solidFill>
            <a:srgbClr val="D9821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556806" y="3489325"/>
            <a:ext cx="1058935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Mild Risk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791255" y="3143250"/>
            <a:ext cx="2952676" cy="1238250"/>
          </a:xfrm>
          <a:prstGeom prst="rect">
            <a:avLst/>
          </a:prstGeom>
          <a:solidFill>
            <a:srgbClr val="BD3B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711288" y="3489325"/>
            <a:ext cx="1112512" cy="546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1428714" y="4648200"/>
            <a:ext cx="9334267" cy="571500"/>
          </a:xfrm>
          <a:prstGeom prst="rect">
            <a:avLst/>
          </a:prstGeom>
          <a:solidFill>
            <a:srgbClr val="FFFFFF"/>
          </a:solidFill>
          <a:ln w="25400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8302" y="4829175"/>
            <a:ext cx="48750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FINAL VERIFIED RISK RULES / THRESHOLDS]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1428714" y="5975350"/>
            <a:ext cx="9334267" cy="482600"/>
          </a:xfrm>
          <a:prstGeom prst="rect">
            <a:avLst/>
          </a:prstGeom>
          <a:solidFill>
            <a:srgbClr val="FFF3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619210" y="6118225"/>
            <a:ext cx="8953276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F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rule-based research classification and should not be presented as a medical diagnosis.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0181744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00050"/>
            <a:ext cx="613295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Subject Sleep Health Profiles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000125"/>
            <a:ext cx="10972526" cy="444500"/>
          </a:xfrm>
          <a:prstGeom prst="rect">
            <a:avLst/>
          </a:prstGeom>
          <a:solidFill>
            <a:srgbClr val="FFF3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81030" y="1123950"/>
            <a:ext cx="10629634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F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VERIFIED SUBJECT-LEVEL VALUES ONLY]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09585" y="1714500"/>
          <a:ext cx="10972528" cy="2743200"/>
        </p:xfrm>
        <a:graphic>
          <a:graphicData uri="http://schemas.openxmlformats.org/drawingml/2006/table">
            <a:tbl>
              <a:tblPr/>
              <a:tblGrid>
                <a:gridCol w="1146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1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1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1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55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315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Sleep Efficiency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WASO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N3 %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SFI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6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 1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8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 2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8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 3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8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 4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09585" y="5813425"/>
            <a:ext cx="10972526" cy="520700"/>
          </a:xfrm>
          <a:prstGeom prst="rect">
            <a:avLst/>
          </a:prstGeom>
          <a:solidFill>
            <a:srgbClr val="EE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638159" y="5813425"/>
            <a:ext cx="0" cy="52070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7229" y="5975350"/>
            <a:ext cx="10534387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notebook subject-profile values require re-verification before final use.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922512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06AD306B-DE34-4014-870D-194A4D3884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B2D2218-EC29-42DD-9D07-0D7ADE5F6F6C}"/>
              </a:ext>
            </a:extLst>
          </p:cNvPr>
          <p:cNvSpPr txBox="1"/>
          <p:nvPr/>
        </p:nvSpPr>
        <p:spPr>
          <a:xfrm>
            <a:off x="609600" y="304800"/>
            <a:ext cx="8255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IN" sz="3000" b="1">
                <a:solidFill>
                  <a:srgbClr val="0B2E4F"/>
                </a:solidFill>
                <a:latin typeface="Arial"/>
                <a:cs typeface="Arial"/>
              </a:rPr>
              <a:t>Complete End-to-End Framework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7232A33-EB0C-4A6D-A882-355419A6F80E}"/>
              </a:ext>
            </a:extLst>
          </p:cNvPr>
          <p:cNvSpPr/>
          <p:nvPr/>
        </p:nvSpPr>
        <p:spPr>
          <a:xfrm>
            <a:off x="571500" y="1587500"/>
            <a:ext cx="1778000" cy="133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IN" sz="1250" b="1">
                <a:solidFill>
                  <a:srgbClr val="19364D"/>
                </a:solidFill>
                <a:latin typeface="Arial"/>
                <a:cs typeface="Arial"/>
              </a:rPr>
              <a:t>HMC EEG
Recording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34ED3687-0C8A-4EDD-A321-2E819BE42BB4}"/>
              </a:ext>
            </a:extLst>
          </p:cNvPr>
          <p:cNvSpPr/>
          <p:nvPr/>
        </p:nvSpPr>
        <p:spPr>
          <a:xfrm>
            <a:off x="571500" y="1587500"/>
            <a:ext cx="1778000" cy="63500"/>
          </a:xfrm>
          <a:prstGeom prst="rect">
            <a:avLst/>
          </a:prstGeom>
          <a:solidFill>
            <a:srgbClr val="13A6A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5BA6A8-0297-4DA2-B99D-F86CBCEBFC39}"/>
              </a:ext>
            </a:extLst>
          </p:cNvPr>
          <p:cNvSpPr txBox="1"/>
          <p:nvPr/>
        </p:nvSpPr>
        <p:spPr>
          <a:xfrm>
            <a:off x="2413000" y="2019300"/>
            <a:ext cx="254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2000" b="1">
                <a:solidFill>
                  <a:srgbClr val="2F6FED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2A6C69A-70A3-4750-9E93-CFA5E4BB7B3C}"/>
              </a:ext>
            </a:extLst>
          </p:cNvPr>
          <p:cNvSpPr/>
          <p:nvPr/>
        </p:nvSpPr>
        <p:spPr>
          <a:xfrm>
            <a:off x="2667000" y="1587500"/>
            <a:ext cx="1778000" cy="133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IN" sz="1250" b="1">
                <a:solidFill>
                  <a:srgbClr val="19364D"/>
                </a:solidFill>
                <a:latin typeface="Arial"/>
                <a:cs typeface="Arial"/>
              </a:rPr>
              <a:t>Signal
Preprocessing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FC5E941-8AAE-4DB7-84A1-32433704BD77}"/>
              </a:ext>
            </a:extLst>
          </p:cNvPr>
          <p:cNvSpPr/>
          <p:nvPr/>
        </p:nvSpPr>
        <p:spPr>
          <a:xfrm>
            <a:off x="2667000" y="1587500"/>
            <a:ext cx="1778000" cy="63500"/>
          </a:xfrm>
          <a:prstGeom prst="rect">
            <a:avLst/>
          </a:prstGeom>
          <a:solidFill>
            <a:srgbClr val="13A6A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969B71-90F7-40C0-BA3E-FD455143416D}"/>
              </a:ext>
            </a:extLst>
          </p:cNvPr>
          <p:cNvSpPr txBox="1"/>
          <p:nvPr/>
        </p:nvSpPr>
        <p:spPr>
          <a:xfrm>
            <a:off x="4508500" y="2019300"/>
            <a:ext cx="254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2000" b="1">
                <a:solidFill>
                  <a:srgbClr val="2F6FED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8411468-D36B-45F2-881A-C0B0933F6D0D}"/>
              </a:ext>
            </a:extLst>
          </p:cNvPr>
          <p:cNvSpPr/>
          <p:nvPr/>
        </p:nvSpPr>
        <p:spPr>
          <a:xfrm>
            <a:off x="4762500" y="1587500"/>
            <a:ext cx="1778000" cy="133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IN" sz="1250" b="1">
                <a:solidFill>
                  <a:srgbClr val="19364D"/>
                </a:solidFill>
                <a:latin typeface="Arial"/>
                <a:cs typeface="Arial"/>
              </a:rPr>
              <a:t>30-Second
EEG Epochs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E2EBF74-BE80-411D-99F2-03FE6A14A356}"/>
              </a:ext>
            </a:extLst>
          </p:cNvPr>
          <p:cNvSpPr/>
          <p:nvPr/>
        </p:nvSpPr>
        <p:spPr>
          <a:xfrm>
            <a:off x="4762500" y="1587500"/>
            <a:ext cx="1778000" cy="63500"/>
          </a:xfrm>
          <a:prstGeom prst="rect">
            <a:avLst/>
          </a:prstGeom>
          <a:solidFill>
            <a:srgbClr val="13A6A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90B33E-8169-4D30-B7F7-7CE0278DBC34}"/>
              </a:ext>
            </a:extLst>
          </p:cNvPr>
          <p:cNvSpPr txBox="1"/>
          <p:nvPr/>
        </p:nvSpPr>
        <p:spPr>
          <a:xfrm>
            <a:off x="6604000" y="2019300"/>
            <a:ext cx="254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2000" b="1">
                <a:solidFill>
                  <a:srgbClr val="2F6FED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4881C6B-F7A4-49CE-8814-E8794F829305}"/>
              </a:ext>
            </a:extLst>
          </p:cNvPr>
          <p:cNvSpPr/>
          <p:nvPr/>
        </p:nvSpPr>
        <p:spPr>
          <a:xfrm>
            <a:off x="6858000" y="1587500"/>
            <a:ext cx="1778000" cy="1333500"/>
          </a:xfrm>
          <a:prstGeom prst="rect">
            <a:avLst/>
          </a:prstGeom>
          <a:solidFill>
            <a:srgbClr val="0B2E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IN" sz="1250" b="1">
                <a:solidFill>
                  <a:srgbClr val="FFFFFF"/>
                </a:solidFill>
                <a:latin typeface="Arial"/>
                <a:cs typeface="Arial"/>
              </a:rPr>
              <a:t>Fast SCFormer-U
CNN + Transformer + BiLSTM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060D15-A25C-4FA2-836D-8259A36C10AE}"/>
              </a:ext>
            </a:extLst>
          </p:cNvPr>
          <p:cNvSpPr/>
          <p:nvPr/>
        </p:nvSpPr>
        <p:spPr>
          <a:xfrm>
            <a:off x="6858000" y="1587500"/>
            <a:ext cx="1778000" cy="63500"/>
          </a:xfrm>
          <a:prstGeom prst="rect">
            <a:avLst/>
          </a:prstGeom>
          <a:solidFill>
            <a:srgbClr val="2F6F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195665-6A63-43C9-BC7D-AAF442AD7153}"/>
              </a:ext>
            </a:extLst>
          </p:cNvPr>
          <p:cNvSpPr txBox="1"/>
          <p:nvPr/>
        </p:nvSpPr>
        <p:spPr>
          <a:xfrm>
            <a:off x="8699500" y="2019300"/>
            <a:ext cx="254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2000" b="1">
                <a:solidFill>
                  <a:srgbClr val="2F6FED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425E8F5-1AB7-4DCB-A577-DAF428A699F5}"/>
              </a:ext>
            </a:extLst>
          </p:cNvPr>
          <p:cNvSpPr/>
          <p:nvPr/>
        </p:nvSpPr>
        <p:spPr>
          <a:xfrm>
            <a:off x="8953500" y="1587500"/>
            <a:ext cx="1778000" cy="133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IN" sz="1250" b="1">
                <a:solidFill>
                  <a:srgbClr val="19364D"/>
                </a:solidFill>
                <a:latin typeface="Arial"/>
                <a:cs typeface="Arial"/>
              </a:rPr>
              <a:t>Sleep Stage Probabilities
+ Uncertainty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BFD924C-8E70-4815-AD09-F5644FA99C74}"/>
              </a:ext>
            </a:extLst>
          </p:cNvPr>
          <p:cNvSpPr/>
          <p:nvPr/>
        </p:nvSpPr>
        <p:spPr>
          <a:xfrm>
            <a:off x="8953500" y="1587500"/>
            <a:ext cx="1778000" cy="63500"/>
          </a:xfrm>
          <a:prstGeom prst="rect">
            <a:avLst/>
          </a:prstGeom>
          <a:solidFill>
            <a:srgbClr val="13A6A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DE7E9E6-33B0-40D1-8E96-CD78427F5E81}"/>
              </a:ext>
            </a:extLst>
          </p:cNvPr>
          <p:cNvSpPr txBox="1"/>
          <p:nvPr/>
        </p:nvSpPr>
        <p:spPr>
          <a:xfrm>
            <a:off x="9652000" y="3276600"/>
            <a:ext cx="3810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2400" b="1">
                <a:solidFill>
                  <a:srgbClr val="2F6FED"/>
                </a:solidFill>
                <a:latin typeface="Arial"/>
                <a:cs typeface="Arial"/>
              </a:rPr>
              <a:t>↓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A313C9-DCFA-4A0F-8612-91490B192297}"/>
              </a:ext>
            </a:extLst>
          </p:cNvPr>
          <p:cNvSpPr/>
          <p:nvPr/>
        </p:nvSpPr>
        <p:spPr>
          <a:xfrm>
            <a:off x="571500" y="4191000"/>
            <a:ext cx="1778000" cy="1333500"/>
          </a:xfrm>
          <a:prstGeom prst="rect">
            <a:avLst/>
          </a:prstGeom>
          <a:solidFill>
            <a:srgbClr val="E7F4F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IN" sz="1250" b="1">
                <a:solidFill>
                  <a:srgbClr val="19364D"/>
                </a:solidFill>
                <a:latin typeface="Arial"/>
                <a:cs typeface="Arial"/>
              </a:rPr>
              <a:t>Personalized Sleep
Health Report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ABD53C2-6CA7-45DB-A868-5C6A370269B3}"/>
              </a:ext>
            </a:extLst>
          </p:cNvPr>
          <p:cNvSpPr/>
          <p:nvPr/>
        </p:nvSpPr>
        <p:spPr>
          <a:xfrm>
            <a:off x="571500" y="4191000"/>
            <a:ext cx="1778000" cy="63500"/>
          </a:xfrm>
          <a:prstGeom prst="rect">
            <a:avLst/>
          </a:prstGeom>
          <a:solidFill>
            <a:srgbClr val="13A6A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39EE164-78B0-4A6C-AEC4-B47D807C896B}"/>
              </a:ext>
            </a:extLst>
          </p:cNvPr>
          <p:cNvSpPr txBox="1"/>
          <p:nvPr/>
        </p:nvSpPr>
        <p:spPr>
          <a:xfrm>
            <a:off x="2413000" y="4622800"/>
            <a:ext cx="254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2000" b="1">
                <a:solidFill>
                  <a:srgbClr val="2F6FED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A016F16-0BB8-4F0C-998B-BA9DAF25C6B0}"/>
              </a:ext>
            </a:extLst>
          </p:cNvPr>
          <p:cNvSpPr/>
          <p:nvPr/>
        </p:nvSpPr>
        <p:spPr>
          <a:xfrm>
            <a:off x="2667000" y="4191000"/>
            <a:ext cx="1778000" cy="133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IN" sz="1250" b="1">
                <a:solidFill>
                  <a:srgbClr val="19364D"/>
                </a:solidFill>
                <a:latin typeface="Arial"/>
                <a:cs typeface="Arial"/>
              </a:rPr>
              <a:t>Rule-Based Risk
Stratification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4C05E92-7ABA-4820-99FE-0B653536ED7C}"/>
              </a:ext>
            </a:extLst>
          </p:cNvPr>
          <p:cNvSpPr/>
          <p:nvPr/>
        </p:nvSpPr>
        <p:spPr>
          <a:xfrm>
            <a:off x="2667000" y="4191000"/>
            <a:ext cx="1778000" cy="63500"/>
          </a:xfrm>
          <a:prstGeom prst="rect">
            <a:avLst/>
          </a:prstGeom>
          <a:solidFill>
            <a:srgbClr val="13A6A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AB573A7-C663-4D10-8B97-01008F70B8DA}"/>
              </a:ext>
            </a:extLst>
          </p:cNvPr>
          <p:cNvSpPr txBox="1"/>
          <p:nvPr/>
        </p:nvSpPr>
        <p:spPr>
          <a:xfrm>
            <a:off x="4508500" y="4622800"/>
            <a:ext cx="254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2000" b="1">
                <a:solidFill>
                  <a:srgbClr val="2F6FED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8D56012-E7DE-4CE6-8794-6E66C2E44FBF}"/>
              </a:ext>
            </a:extLst>
          </p:cNvPr>
          <p:cNvSpPr/>
          <p:nvPr/>
        </p:nvSpPr>
        <p:spPr>
          <a:xfrm>
            <a:off x="4762500" y="4191000"/>
            <a:ext cx="1778000" cy="133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IN" sz="1250" b="1">
                <a:solidFill>
                  <a:srgbClr val="19364D"/>
                </a:solidFill>
                <a:latin typeface="Arial"/>
                <a:cs typeface="Arial"/>
              </a:rPr>
              <a:t>Sleep Biomarkers
SE | WASO | N3% | SFI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19B10D1-B730-4CAE-A11D-8AA244D5D3AF}"/>
              </a:ext>
            </a:extLst>
          </p:cNvPr>
          <p:cNvSpPr/>
          <p:nvPr/>
        </p:nvSpPr>
        <p:spPr>
          <a:xfrm>
            <a:off x="4762500" y="4191000"/>
            <a:ext cx="1778000" cy="63500"/>
          </a:xfrm>
          <a:prstGeom prst="rect">
            <a:avLst/>
          </a:prstGeom>
          <a:solidFill>
            <a:srgbClr val="13A6A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9C9792B-ABF5-4521-99B5-D1CF2DC8FB3F}"/>
              </a:ext>
            </a:extLst>
          </p:cNvPr>
          <p:cNvSpPr txBox="1"/>
          <p:nvPr/>
        </p:nvSpPr>
        <p:spPr>
          <a:xfrm>
            <a:off x="6604000" y="4622800"/>
            <a:ext cx="254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2000" b="1">
                <a:solidFill>
                  <a:srgbClr val="2F6FED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DA6E072D-11EF-4B17-9EEE-137B29ED0871}"/>
              </a:ext>
            </a:extLst>
          </p:cNvPr>
          <p:cNvSpPr/>
          <p:nvPr/>
        </p:nvSpPr>
        <p:spPr>
          <a:xfrm>
            <a:off x="6858000" y="4191000"/>
            <a:ext cx="1778000" cy="133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IN" sz="1250" b="1">
                <a:solidFill>
                  <a:srgbClr val="19364D"/>
                </a:solidFill>
                <a:latin typeface="Arial"/>
                <a:cs typeface="Arial"/>
              </a:rPr>
              <a:t>Final
Hypnogram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B164E00-D876-4F43-9A7D-99D1EAB8C6E0}"/>
              </a:ext>
            </a:extLst>
          </p:cNvPr>
          <p:cNvSpPr/>
          <p:nvPr/>
        </p:nvSpPr>
        <p:spPr>
          <a:xfrm>
            <a:off x="6858000" y="4191000"/>
            <a:ext cx="1778000" cy="63500"/>
          </a:xfrm>
          <a:prstGeom prst="rect">
            <a:avLst/>
          </a:prstGeom>
          <a:solidFill>
            <a:srgbClr val="13A6A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9155EAC-D3E6-488C-B983-C92B002BF0F7}"/>
              </a:ext>
            </a:extLst>
          </p:cNvPr>
          <p:cNvSpPr txBox="1"/>
          <p:nvPr/>
        </p:nvSpPr>
        <p:spPr>
          <a:xfrm>
            <a:off x="8699500" y="4622800"/>
            <a:ext cx="254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IN" sz="2000" b="1">
                <a:solidFill>
                  <a:srgbClr val="2F6FED"/>
                </a:solidFill>
                <a:latin typeface="Arial"/>
                <a:cs typeface="Arial"/>
              </a:rPr>
              <a:t>←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149FCFF-6E6C-492F-A9A3-2B91236611AA}"/>
              </a:ext>
            </a:extLst>
          </p:cNvPr>
          <p:cNvSpPr/>
          <p:nvPr/>
        </p:nvSpPr>
        <p:spPr>
          <a:xfrm>
            <a:off x="8953500" y="4191000"/>
            <a:ext cx="1778000" cy="133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IN" sz="1250" b="1">
                <a:solidFill>
                  <a:srgbClr val="19364D"/>
                </a:solidFill>
                <a:latin typeface="Arial"/>
                <a:cs typeface="Arial"/>
              </a:rPr>
              <a:t>Soft-Viterbi
Decoder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59579417-64A4-4EB6-890E-714B08812564}"/>
              </a:ext>
            </a:extLst>
          </p:cNvPr>
          <p:cNvSpPr/>
          <p:nvPr/>
        </p:nvSpPr>
        <p:spPr>
          <a:xfrm>
            <a:off x="8953500" y="4191000"/>
            <a:ext cx="1778000" cy="63500"/>
          </a:xfrm>
          <a:prstGeom prst="rect">
            <a:avLst/>
          </a:prstGeom>
          <a:solidFill>
            <a:srgbClr val="13A6A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2909DD3-5B15-42C9-90D0-915886346796}"/>
              </a:ext>
            </a:extLst>
          </p:cNvPr>
          <p:cNvSpPr txBox="1"/>
          <p:nvPr/>
        </p:nvSpPr>
        <p:spPr>
          <a:xfrm>
            <a:off x="609600" y="6350000"/>
            <a:ext cx="10972800" cy="254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sz="1050">
                <a:solidFill>
                  <a:srgbClr val="60788A"/>
                </a:solidFill>
                <a:latin typeface="Arial"/>
                <a:cs typeface="Arial"/>
              </a:rPr>
              <a:t>Research pipeline: stage prediction and profiling outputs remain subject to final experimental verification.</a:t>
            </a:r>
            <a:endParaRPr lang="en-IN" sz="1050">
              <a:solidFill>
                <a:srgbClr val="60788A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67043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00050"/>
            <a:ext cx="304931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Progress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190625"/>
            <a:ext cx="5352916" cy="4667250"/>
          </a:xfrm>
          <a:prstGeom prst="rect">
            <a:avLst/>
          </a:prstGeom>
          <a:solidFill>
            <a:srgbClr val="EDF7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9585" y="1222375"/>
            <a:ext cx="5352916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2F8F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229" y="1501775"/>
            <a:ext cx="485762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42971" y="1946275"/>
            <a:ext cx="4000500" cy="211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EEG preprocessing pipeline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2971" y="2328962"/>
            <a:ext cx="4000500" cy="211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Subject-wise train / validation / test split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2971" y="2711648"/>
            <a:ext cx="4000500" cy="211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30-second sleep epoch creation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2971" y="3094335"/>
            <a:ext cx="4000500" cy="211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CNN–Transformer–BiLSTM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2971" y="3477022"/>
            <a:ext cx="4000500" cy="211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Evidential uncertainty framework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2971" y="3859709"/>
            <a:ext cx="4000500" cy="211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Sleep-stage classifier training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2971" y="4242395"/>
            <a:ext cx="4000500" cy="211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Soft-Viterbi decoder implementation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2971" y="4625082"/>
            <a:ext cx="4000500" cy="211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biomarker formulas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2971" y="5007769"/>
            <a:ext cx="4000500" cy="211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Risk-stratification logic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29194" y="1190625"/>
            <a:ext cx="5352916" cy="4667250"/>
          </a:xfrm>
          <a:prstGeom prst="rect">
            <a:avLst/>
          </a:prstGeom>
          <a:solidFill>
            <a:srgbClr val="FFF6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229194" y="1222375"/>
            <a:ext cx="5352916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D9821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6838" y="1501775"/>
            <a:ext cx="485762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762581" y="1946275"/>
            <a:ext cx="4000500" cy="211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test-result verification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2581" y="2328962"/>
            <a:ext cx="4000500" cy="211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confusion-matrix validation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62581" y="2711648"/>
            <a:ext cx="4000500" cy="211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Soft-Viterbi hypnogram generation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2581" y="3094335"/>
            <a:ext cx="4000500" cy="211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Subject-level biomarker validation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2581" y="3477022"/>
            <a:ext cx="4000500" cy="211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result verification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9585" y="6419850"/>
            <a:ext cx="7620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report status: implementation and verification are shown separately.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773122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00050"/>
            <a:ext cx="351433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238250"/>
            <a:ext cx="3530512" cy="209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1334" y="1238250"/>
            <a:ext cx="0" cy="209550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1678" y="1466850"/>
            <a:ext cx="300982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01678" y="1708150"/>
            <a:ext cx="3009825" cy="46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N1 remains difficult to discriminate from neighbouring sleep stages.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0592" y="1238250"/>
            <a:ext cx="3530512" cy="209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362341" y="1238250"/>
            <a:ext cx="0" cy="209550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2685" y="1466850"/>
            <a:ext cx="300982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22685" y="1708150"/>
            <a:ext cx="3009825" cy="46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evaluation currently uses a limited number of test subjects.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51599" y="1238250"/>
            <a:ext cx="3530512" cy="209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083348" y="1238250"/>
            <a:ext cx="0" cy="209550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3691" y="1466850"/>
            <a:ext cx="300982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Modality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343691" y="1708150"/>
            <a:ext cx="3009825" cy="46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system mainly relies on EEG rather than full multimodal PSG.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9585" y="3524250"/>
            <a:ext cx="3530512" cy="209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41334" y="3524250"/>
            <a:ext cx="0" cy="209550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1678" y="3752850"/>
            <a:ext cx="300982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01678" y="3994150"/>
            <a:ext cx="3009825" cy="46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notebook outputs and dashboard values still require direct recomputation.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30592" y="3524250"/>
            <a:ext cx="3530512" cy="209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362341" y="3524250"/>
            <a:ext cx="0" cy="209550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2685" y="3752850"/>
            <a:ext cx="300982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Profiling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4622685" y="3994150"/>
            <a:ext cx="3009825" cy="46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stratification is rule-based and requires careful clinical interpretation.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51599" y="3524250"/>
            <a:ext cx="3530512" cy="209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8083348" y="3524250"/>
            <a:ext cx="0" cy="209550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43691" y="3752850"/>
            <a:ext cx="3009825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343691" y="3994150"/>
            <a:ext cx="3009825" cy="46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External-dataset validation has not yet been completed.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9585" y="6042025"/>
            <a:ext cx="10972526" cy="482600"/>
          </a:xfrm>
          <a:prstGeom prst="rect">
            <a:avLst/>
          </a:prstGeom>
          <a:solidFill>
            <a:srgbClr val="EAF4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00080" y="6184900"/>
            <a:ext cx="10591535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research limitations and next-step priorities—not evidence of project failure.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140904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381000"/>
            <a:ext cx="357109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Phase of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2931" y="1952625"/>
            <a:ext cx="1355691" cy="2857500"/>
          </a:xfrm>
          <a:prstGeom prst="rect">
            <a:avLst/>
          </a:prstGeom>
          <a:solidFill>
            <a:srgbClr val="F2F7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2931" y="1984375"/>
            <a:ext cx="1355691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5328" y="2225675"/>
            <a:ext cx="105089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5328" y="2438995"/>
            <a:ext cx="1050899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Results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95328" y="2880916"/>
            <a:ext cx="105089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every reported model metric.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31969" y="3241675"/>
            <a:ext cx="24764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2612960" y="1952625"/>
            <a:ext cx="1355691" cy="2857500"/>
          </a:xfrm>
          <a:prstGeom prst="rect">
            <a:avLst/>
          </a:prstGeom>
          <a:solidFill>
            <a:srgbClr val="F2F7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612960" y="1984375"/>
            <a:ext cx="1355691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65356" y="2225675"/>
            <a:ext cx="105089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65356" y="2438995"/>
            <a:ext cx="1050899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Model Evaluation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765356" y="2880916"/>
            <a:ext cx="1050899" cy="1066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final confusion matrix and class-wise metrics.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01998" y="3241675"/>
            <a:ext cx="24764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4482988" y="1952625"/>
            <a:ext cx="1355691" cy="2857500"/>
          </a:xfrm>
          <a:prstGeom prst="rect">
            <a:avLst/>
          </a:prstGeom>
          <a:solidFill>
            <a:srgbClr val="F2F7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482988" y="1984375"/>
            <a:ext cx="1355691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5384" y="2225675"/>
            <a:ext cx="105089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5384" y="2438995"/>
            <a:ext cx="1050899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Validation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635384" y="2880916"/>
            <a:ext cx="1050899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genuine raw vs Soft-Viterbi hypnograms.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72026" y="3241675"/>
            <a:ext cx="24764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6353016" y="1952625"/>
            <a:ext cx="1355691" cy="2857500"/>
          </a:xfrm>
          <a:prstGeom prst="rect">
            <a:avLst/>
          </a:prstGeom>
          <a:solidFill>
            <a:srgbClr val="F2F7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353016" y="1984375"/>
            <a:ext cx="1355691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5412" y="2225675"/>
            <a:ext cx="105089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05412" y="2438995"/>
            <a:ext cx="1050899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Biomarker Validation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05412" y="2880916"/>
            <a:ext cx="1050899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Recompute subject-level SE, WASO, N3% and SFI from real predictions.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42054" y="3241675"/>
            <a:ext cx="24764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8223045" y="1952625"/>
            <a:ext cx="1355691" cy="2857500"/>
          </a:xfrm>
          <a:prstGeom prst="rect">
            <a:avLst/>
          </a:prstGeom>
          <a:solidFill>
            <a:srgbClr val="F2F7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223045" y="1984375"/>
            <a:ext cx="1355691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75441" y="2225675"/>
            <a:ext cx="105089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75441" y="2438995"/>
            <a:ext cx="1050899" cy="44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Profiling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8375441" y="2880916"/>
            <a:ext cx="1050899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Healthy / Mild / High Risk labels.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712082" y="3241675"/>
            <a:ext cx="24764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5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093073" y="1952625"/>
            <a:ext cx="1355691" cy="2857500"/>
          </a:xfrm>
          <a:prstGeom prst="rect">
            <a:avLst/>
          </a:prstGeom>
          <a:solidFill>
            <a:srgbClr val="F2F7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10093073" y="1984375"/>
            <a:ext cx="1355691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5470" y="2225675"/>
            <a:ext cx="105089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245470" y="2438995"/>
            <a:ext cx="1050899" cy="66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Dashboard and Report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0245470" y="3101876"/>
            <a:ext cx="1050899" cy="853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all mock or provisional results.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42931" y="5794375"/>
            <a:ext cx="10705832" cy="539750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952476" y="5965825"/>
            <a:ext cx="10286743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done: every numerical result and plot is traceable to a verified executed experiment.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75512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00050"/>
            <a:ext cx="450937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System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381125"/>
            <a:ext cx="2476438" cy="4095750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95328" y="1666875"/>
            <a:ext cx="190495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95328" y="1939925"/>
            <a:ext cx="190495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Overnight EEG recording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5328" y="2492375"/>
            <a:ext cx="190495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VERIFIED INPUT EXAMPLE]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14617" y="3143250"/>
            <a:ext cx="49528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900" dirty="0">
                <a:solidFill>
                  <a:srgbClr val="2F6F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900" dirty="0"/>
          </a:p>
        </p:txBody>
      </p:sp>
      <p:sp>
        <p:nvSpPr>
          <p:cNvPr id="9" name="Shape 7"/>
          <p:cNvSpPr/>
          <p:nvPr/>
        </p:nvSpPr>
        <p:spPr>
          <a:xfrm>
            <a:off x="4095648" y="1381125"/>
            <a:ext cx="7486463" cy="4095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095648" y="1412875"/>
            <a:ext cx="7486463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0">
            <a:solidFill>
              <a:srgbClr val="13A6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2341" y="1711325"/>
            <a:ext cx="695307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362341" y="2251075"/>
            <a:ext cx="3390815" cy="552450"/>
          </a:xfrm>
          <a:prstGeom prst="rect">
            <a:avLst/>
          </a:prstGeom>
          <a:solidFill>
            <a:srgbClr val="ED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14737" y="2428875"/>
            <a:ext cx="2752855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Full-night sleep-stage hypnogram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924602" y="2251075"/>
            <a:ext cx="3390815" cy="552450"/>
          </a:xfrm>
          <a:prstGeom prst="rect">
            <a:avLst/>
          </a:prstGeom>
          <a:solidFill>
            <a:srgbClr val="ED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076998" y="2428875"/>
            <a:ext cx="177240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Sleep-stage summary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62341" y="2974975"/>
            <a:ext cx="3390815" cy="552450"/>
          </a:xfrm>
          <a:prstGeom prst="rect">
            <a:avLst/>
          </a:prstGeom>
          <a:solidFill>
            <a:srgbClr val="ED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14737" y="3152775"/>
            <a:ext cx="146701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uncertainty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924602" y="2974975"/>
            <a:ext cx="3390815" cy="552450"/>
          </a:xfrm>
          <a:prstGeom prst="rect">
            <a:avLst/>
          </a:prstGeom>
          <a:solidFill>
            <a:srgbClr val="ED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076998" y="3152775"/>
            <a:ext cx="131501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Efficiency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362341" y="3698875"/>
            <a:ext cx="3390815" cy="552450"/>
          </a:xfrm>
          <a:prstGeom prst="rect">
            <a:avLst/>
          </a:prstGeom>
          <a:solidFill>
            <a:srgbClr val="ED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14737" y="3876675"/>
            <a:ext cx="523961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924602" y="3698875"/>
            <a:ext cx="3390815" cy="552450"/>
          </a:xfrm>
          <a:prstGeom prst="rect">
            <a:avLst/>
          </a:prstGeom>
          <a:solidFill>
            <a:srgbClr val="ED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076998" y="3876675"/>
            <a:ext cx="419288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N3 %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362341" y="4422775"/>
            <a:ext cx="3390815" cy="552450"/>
          </a:xfrm>
          <a:prstGeom prst="rect">
            <a:avLst/>
          </a:prstGeom>
          <a:solidFill>
            <a:srgbClr val="ED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14737" y="4600575"/>
            <a:ext cx="266793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SFI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924602" y="4422775"/>
            <a:ext cx="3390815" cy="552450"/>
          </a:xfrm>
          <a:prstGeom prst="rect">
            <a:avLst/>
          </a:prstGeom>
          <a:solidFill>
            <a:srgbClr val="ED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076998" y="4600575"/>
            <a:ext cx="213444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Sleep-health risk category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09585" y="5975350"/>
            <a:ext cx="10972526" cy="482600"/>
          </a:xfrm>
          <a:prstGeom prst="rect">
            <a:avLst/>
          </a:prstGeom>
          <a:solidFill>
            <a:srgbClr val="FFF3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00080" y="6118225"/>
            <a:ext cx="10591535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F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Patient-specific numerical values: [DATA REQUIRED] — use verified test outputs only.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0652662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38150"/>
            <a:ext cx="406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38179" y="1333500"/>
            <a:ext cx="438139" cy="438150"/>
          </a:xfrm>
          <a:prstGeom prst="rect">
            <a:avLst/>
          </a:prstGeom>
          <a:solidFill>
            <a:srgbClr val="13A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466813" y="1333500"/>
            <a:ext cx="812194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pipeline for automated EEG-based sleep-stage classification has been implemented.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38179" y="2038350"/>
            <a:ext cx="438139" cy="438150"/>
          </a:xfrm>
          <a:prstGeom prst="rect">
            <a:avLst/>
          </a:prstGeom>
          <a:solidFill>
            <a:srgbClr val="13A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466813" y="2038350"/>
            <a:ext cx="984860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current model combines CNN feature extraction, Transformer-style self-attention and BiLSTM temporal modeling.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38179" y="2905125"/>
            <a:ext cx="438139" cy="438150"/>
          </a:xfrm>
          <a:prstGeom prst="rect">
            <a:avLst/>
          </a:prstGeom>
          <a:solidFill>
            <a:srgbClr val="13A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466813" y="2905125"/>
            <a:ext cx="924378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Evidential learning provides prediction uncertainty, while Soft-Viterbi decoding improves temporal consistency.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38179" y="3609975"/>
            <a:ext cx="438139" cy="438150"/>
          </a:xfrm>
          <a:prstGeom prst="rect">
            <a:avLst/>
          </a:prstGeom>
          <a:solidFill>
            <a:srgbClr val="13A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466813" y="3609975"/>
            <a:ext cx="8502338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work is focused on rigorous verification of test results and subject-level sleep-health profiling.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585" y="5581650"/>
            <a:ext cx="10972526" cy="819150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210935" y="5870575"/>
            <a:ext cx="976972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EEG → Sleep Stages → Smoothed Hypnogram → Biomarkers → Personalized Sleep Health Profile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1830119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13A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38179" y="1571625"/>
            <a:ext cx="3059532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76278" y="2428875"/>
            <a:ext cx="28163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9BD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57229" y="3381375"/>
            <a:ext cx="10381990" cy="38100"/>
          </a:xfrm>
          <a:prstGeom prst="rect">
            <a:avLst/>
          </a:prstGeom>
          <a:solidFill>
            <a:srgbClr val="13A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76278" y="5495925"/>
            <a:ext cx="284959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DB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Rikin Parekh · Om Ahuja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DB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23BIT044 · 23BIT014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DB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Guide: Dr. Santosh Sathpathy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38446712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9545" cy="6858000"/>
          </a:xfrm>
          <a:prstGeom prst="rect">
            <a:avLst/>
          </a:prstGeom>
          <a:solidFill>
            <a:srgbClr val="13A6A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7229" y="2333625"/>
            <a:ext cx="2950692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5100" dirty="0"/>
          </a:p>
        </p:txBody>
      </p:sp>
      <p:sp>
        <p:nvSpPr>
          <p:cNvPr id="5" name="Text 3"/>
          <p:cNvSpPr/>
          <p:nvPr/>
        </p:nvSpPr>
        <p:spPr>
          <a:xfrm>
            <a:off x="895328" y="3286125"/>
            <a:ext cx="44605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A9D9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details and evidence placeholders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95328" y="3886200"/>
            <a:ext cx="8762781" cy="28575"/>
          </a:xfrm>
          <a:prstGeom prst="rect">
            <a:avLst/>
          </a:prstGeom>
          <a:solidFill>
            <a:srgbClr val="2F6F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95328" y="5899150"/>
            <a:ext cx="495615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DB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 only when verified data, plots or equations are supplied.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4562399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57200"/>
            <a:ext cx="605417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Full Model 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7229" y="1428750"/>
            <a:ext cx="10477238" cy="4191000"/>
          </a:xfrm>
          <a:prstGeom prst="rect">
            <a:avLst/>
          </a:prstGeom>
          <a:solidFill>
            <a:srgbClr val="F8FAFC"/>
          </a:solidFill>
          <a:ln w="38100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524857" y="3387725"/>
            <a:ext cx="5141883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VERIFIED FULL MODEL SUMMARY]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57229" y="6184900"/>
            <a:ext cx="5130275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F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Parameters, tensor dimensions and layer settings: [DATA REQUIRED]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755125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57200"/>
            <a:ext cx="772696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Detailed Classification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7229" y="1381125"/>
            <a:ext cx="10477238" cy="4333875"/>
          </a:xfrm>
          <a:prstGeom prst="rect">
            <a:avLst/>
          </a:prstGeom>
          <a:solidFill>
            <a:srgbClr val="F8FAFC"/>
          </a:solidFill>
          <a:ln w="38100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801074" y="3411538"/>
            <a:ext cx="658944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VERIFIED TEST-SET CLASSIFICATION REPORT]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57229" y="6203950"/>
            <a:ext cx="433208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F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Precision, recall, F1-score and support: [DATA REQUIRED]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8006709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55015"/>
            <a:ext cx="7833507" cy="48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Baseline Confusion Matrix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721523" y="1367666"/>
            <a:ext cx="9860587" cy="5035319"/>
          </a:xfrm>
          <a:prstGeom prst="rect">
            <a:avLst/>
          </a:prstGeom>
          <a:solidFill>
            <a:srgbClr val="FFFFFF"/>
          </a:solidFill>
          <a:ln w="41961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347908" y="3434245"/>
            <a:ext cx="6607708" cy="90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5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VERIFIED BASELINE CONFUSION MATRIX]</a:t>
            </a:r>
            <a:endParaRPr lang="en-US" sz="2050" dirty="0"/>
          </a:p>
          <a:p>
            <a:pPr marL="0" indent="0" algn="ctr">
              <a:buNone/>
            </a:pPr>
            <a:endParaRPr lang="en-US" sz="2050" dirty="0"/>
          </a:p>
          <a:p>
            <a:pPr marL="0" indent="0" algn="ctr">
              <a:buNone/>
            </a:pPr>
            <a:r>
              <a:rPr lang="en-US" sz="205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| N1 | N2 | N3 | REM</a:t>
            </a:r>
            <a:endParaRPr lang="en-US" sz="2050" dirty="0"/>
          </a:p>
        </p:txBody>
      </p:sp>
    </p:spTree>
    <p:extLst>
      <p:ext uri="{BB962C8B-B14F-4D97-AF65-F5344CB8AC3E}">
        <p14:creationId xmlns:p14="http://schemas.microsoft.com/office/powerpoint/2010/main" val="14641534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55015"/>
            <a:ext cx="9068812" cy="482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Self-Calibrated Confusion Matrix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721523" y="1367666"/>
            <a:ext cx="9860587" cy="5035319"/>
          </a:xfrm>
          <a:prstGeom prst="rect">
            <a:avLst/>
          </a:prstGeom>
          <a:solidFill>
            <a:srgbClr val="FFFFFF"/>
          </a:solidFill>
          <a:ln w="41961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82323" y="3434245"/>
            <a:ext cx="7738879" cy="90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5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VERIFIED SELF-CALIBRATED CONFUSION MATRIX]</a:t>
            </a:r>
            <a:endParaRPr lang="en-US" sz="2050" dirty="0"/>
          </a:p>
          <a:p>
            <a:pPr marL="0" indent="0" algn="ctr">
              <a:buNone/>
            </a:pPr>
            <a:endParaRPr lang="en-US" sz="2050" dirty="0"/>
          </a:p>
          <a:p>
            <a:pPr marL="0" indent="0" algn="ctr">
              <a:buNone/>
            </a:pPr>
            <a:r>
              <a:rPr lang="en-US" sz="205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 | N1 | N2 | N3 | REM</a:t>
            </a:r>
            <a:endParaRPr lang="en-US" sz="2050" dirty="0"/>
          </a:p>
        </p:txBody>
      </p:sp>
    </p:spTree>
    <p:extLst>
      <p:ext uri="{BB962C8B-B14F-4D97-AF65-F5344CB8AC3E}">
        <p14:creationId xmlns:p14="http://schemas.microsoft.com/office/powerpoint/2010/main" val="41238243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57200"/>
            <a:ext cx="618216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Risk-Coverage Curve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2476" y="1333500"/>
            <a:ext cx="10286743" cy="4286250"/>
          </a:xfrm>
          <a:prstGeom prst="rect">
            <a:avLst/>
          </a:prstGeom>
          <a:solidFill>
            <a:srgbClr val="F8FAFC"/>
          </a:solidFill>
          <a:ln w="38100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477729" y="3340100"/>
            <a:ext cx="523623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VERIFIED RISK-COVERAGE CURVE]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52476" y="6184900"/>
            <a:ext cx="3598574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F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Curve values and thresholds: [DATA REQUIRED]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68304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57200"/>
            <a:ext cx="762119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Reliability / Calibration Curve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2476" y="1333500"/>
            <a:ext cx="10286743" cy="4286250"/>
          </a:xfrm>
          <a:prstGeom prst="rect">
            <a:avLst/>
          </a:prstGeom>
          <a:solidFill>
            <a:srgbClr val="F8FAFC"/>
          </a:solidFill>
          <a:ln w="38100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832327" y="3340100"/>
            <a:ext cx="652694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VERIFIED RELIABILITY / CALIBRATION CURVE]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52476" y="6184900"/>
            <a:ext cx="4084635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F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values and bin statistics: [DATA REQUIRED]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5924990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03036" y="411480"/>
            <a:ext cx="5184144" cy="461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1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Class Weights</a:t>
            </a:r>
            <a:endParaRPr lang="en-US" sz="31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2065905" y="1584403"/>
          <a:ext cx="9222755" cy="1490381"/>
        </p:xfrm>
        <a:graphic>
          <a:graphicData uri="http://schemas.openxmlformats.org/drawingml/2006/table">
            <a:tbl>
              <a:tblPr/>
              <a:tblGrid>
                <a:gridCol w="1844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4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45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45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94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Wake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N1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N2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N3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REM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92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83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83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83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83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5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5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83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065905" y="5878438"/>
            <a:ext cx="9222754" cy="568082"/>
          </a:xfrm>
          <a:prstGeom prst="rect">
            <a:avLst/>
          </a:prstGeom>
          <a:solidFill>
            <a:srgbClr val="FFF3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246350" y="6058887"/>
            <a:ext cx="8861863" cy="207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F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weights only from the verified training configuration.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132661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57200"/>
            <a:ext cx="54626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Hyperparameters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47724" y="1381125"/>
            <a:ext cx="4962401" cy="714375"/>
          </a:xfrm>
          <a:prstGeom prst="rect">
            <a:avLst/>
          </a:prstGeom>
          <a:solidFill>
            <a:srgbClr val="EF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76298" y="1381125"/>
            <a:ext cx="0" cy="714375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368" y="1633538"/>
            <a:ext cx="24684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Optimizer: [DATA REQUIRED]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81570" y="1381125"/>
            <a:ext cx="4962401" cy="714375"/>
          </a:xfrm>
          <a:prstGeom prst="rect">
            <a:avLst/>
          </a:prstGeom>
          <a:solidFill>
            <a:srgbClr val="EF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210145" y="1381125"/>
            <a:ext cx="0" cy="714375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9214" y="1633538"/>
            <a:ext cx="27656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rate: [DATA REQUIRED]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47724" y="2266950"/>
            <a:ext cx="4962401" cy="714375"/>
          </a:xfrm>
          <a:prstGeom prst="rect">
            <a:avLst/>
          </a:prstGeom>
          <a:solidFill>
            <a:srgbClr val="EF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76298" y="2266950"/>
            <a:ext cx="0" cy="714375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5368" y="2519362"/>
            <a:ext cx="25301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size: [DATA REQUIRED]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81570" y="2266950"/>
            <a:ext cx="4962401" cy="714375"/>
          </a:xfrm>
          <a:prstGeom prst="rect">
            <a:avLst/>
          </a:prstGeom>
          <a:solidFill>
            <a:srgbClr val="EF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10145" y="2266950"/>
            <a:ext cx="0" cy="714375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9214" y="2519362"/>
            <a:ext cx="22948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Epochs: [DATA REQUIRED]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047724" y="3152775"/>
            <a:ext cx="4962401" cy="714375"/>
          </a:xfrm>
          <a:prstGeom prst="rect">
            <a:avLst/>
          </a:prstGeom>
          <a:solidFill>
            <a:srgbClr val="EF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076298" y="3152775"/>
            <a:ext cx="0" cy="714375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5368" y="3405187"/>
            <a:ext cx="28474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stopping: [DATA REQUIRED]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81570" y="3152775"/>
            <a:ext cx="4962401" cy="714375"/>
          </a:xfrm>
          <a:prstGeom prst="rect">
            <a:avLst/>
          </a:prstGeom>
          <a:solidFill>
            <a:srgbClr val="EF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210145" y="3152775"/>
            <a:ext cx="0" cy="714375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9214" y="3405187"/>
            <a:ext cx="247881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Hardware: [DATA REQUIRED]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047724" y="4038600"/>
            <a:ext cx="4962401" cy="714375"/>
          </a:xfrm>
          <a:prstGeom prst="rect">
            <a:avLst/>
          </a:prstGeom>
          <a:solidFill>
            <a:srgbClr val="EF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076298" y="4038600"/>
            <a:ext cx="0" cy="714375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95368" y="4291013"/>
            <a:ext cx="35943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/ regularization: [DATA REQUIRED]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81570" y="4038600"/>
            <a:ext cx="4962401" cy="714375"/>
          </a:xfrm>
          <a:prstGeom prst="rect">
            <a:avLst/>
          </a:prstGeom>
          <a:solidFill>
            <a:srgbClr val="EFF5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210145" y="4038600"/>
            <a:ext cx="0" cy="714375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9214" y="4291013"/>
            <a:ext cx="317492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1936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settings: [DATA REQUIRED]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047724" y="6184900"/>
            <a:ext cx="10096248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F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values from the final executed configuration only.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725820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28625"/>
            <a:ext cx="616043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Biomarker Equations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1981" y="1285875"/>
            <a:ext cx="5229094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61981" y="1314450"/>
            <a:ext cx="5229094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0575" y="1571625"/>
            <a:ext cx="47719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Efficiency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90575" y="1825625"/>
            <a:ext cx="47719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VERIFIED EQUATION]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00620" y="1285875"/>
            <a:ext cx="5229094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200620" y="1314450"/>
            <a:ext cx="5229094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9214" y="1571625"/>
            <a:ext cx="47719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WASO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429214" y="1825625"/>
            <a:ext cx="47719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VERIFIED EQUATION]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61981" y="3400425"/>
            <a:ext cx="5229094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761981" y="3429000"/>
            <a:ext cx="5229094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0575" y="3686175"/>
            <a:ext cx="47719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N3 %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90575" y="3940175"/>
            <a:ext cx="47719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VERIFIED EQUATION]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00620" y="3400425"/>
            <a:ext cx="5229094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200620" y="3429000"/>
            <a:ext cx="5229094" cy="0"/>
          </a:xfrm>
          <a:prstGeom prst="line">
            <a:avLst/>
          </a:prstGeom>
          <a:solidFill>
            <a:srgbClr val="FFFFFF">
              <a:alpha val="0"/>
            </a:srgbClr>
          </a:solidFill>
          <a:ln w="57150">
            <a:solidFill>
              <a:srgbClr val="13A6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9214" y="3686175"/>
            <a:ext cx="47719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Fragmentation Index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429214" y="3940175"/>
            <a:ext cx="47719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VERIFIED EQUATION]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61981" y="6061075"/>
            <a:ext cx="10667733" cy="463550"/>
          </a:xfrm>
          <a:prstGeom prst="rect">
            <a:avLst/>
          </a:prstGeom>
          <a:solidFill>
            <a:srgbClr val="FFF3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933427" y="6194425"/>
            <a:ext cx="10324842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F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exact formulas implemented in the final notebook or codebase.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6999966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57200"/>
            <a:ext cx="762040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Soft-Viterbi Algorithm Details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2476" y="1333500"/>
            <a:ext cx="10286743" cy="4191000"/>
          </a:xfrm>
          <a:prstGeom prst="rect">
            <a:avLst/>
          </a:prstGeom>
          <a:solidFill>
            <a:srgbClr val="F8FAFC"/>
          </a:solidFill>
          <a:ln w="38100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002085" y="3295650"/>
            <a:ext cx="81874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VERIFIED PSEUDOCODE / EQUATIONS / TRANSITION HANDLING]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476" y="6184900"/>
            <a:ext cx="4130671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6F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Notation and implementation details: [DATA REQUIRED]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8186824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00050"/>
            <a:ext cx="897510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Additional Test-Subject Hypnograms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52476" y="1190625"/>
            <a:ext cx="10286743" cy="1333500"/>
          </a:xfrm>
          <a:prstGeom prst="rect">
            <a:avLst/>
          </a:prstGeom>
          <a:solidFill>
            <a:srgbClr val="FFFFFF"/>
          </a:solidFill>
          <a:ln w="25400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001988" y="1749425"/>
            <a:ext cx="418772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REAL TEST-SUBJECT HYPNOGRAM]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52476" y="2695575"/>
            <a:ext cx="10286743" cy="1333500"/>
          </a:xfrm>
          <a:prstGeom prst="rect">
            <a:avLst/>
          </a:prstGeom>
          <a:solidFill>
            <a:srgbClr val="FFFFFF"/>
          </a:solidFill>
          <a:ln w="25400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001988" y="3254375"/>
            <a:ext cx="418772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REAL TEST-SUBJECT HYPNOGRAM]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52476" y="4200525"/>
            <a:ext cx="10286743" cy="1333500"/>
          </a:xfrm>
          <a:prstGeom prst="rect">
            <a:avLst/>
          </a:prstGeom>
          <a:solidFill>
            <a:srgbClr val="FFFFFF"/>
          </a:solidFill>
          <a:ln w="25400">
            <a:solidFill>
              <a:srgbClr val="8CA7B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001988" y="4759325"/>
            <a:ext cx="418772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078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REAL TEST-SUBJECT HYPNOGRAM]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52476" y="5975350"/>
            <a:ext cx="10286743" cy="501650"/>
          </a:xfrm>
          <a:prstGeom prst="rect">
            <a:avLst/>
          </a:prstGeom>
          <a:solidFill>
            <a:srgbClr val="FDE2E2"/>
          </a:solidFill>
          <a:ln w="19050">
            <a:solidFill>
              <a:srgbClr val="D7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04872" y="6127750"/>
            <a:ext cx="9981950" cy="196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executed test output only. Do not use manually created mock sequences.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07650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09585" y="438150"/>
            <a:ext cx="876397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2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Comparison with Related Literature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666733" y="1333500"/>
          <a:ext cx="10858229" cy="2768600"/>
        </p:xfrm>
        <a:graphic>
          <a:graphicData uri="http://schemas.openxmlformats.org/drawingml/2006/table">
            <a:tbl>
              <a:tblPr/>
              <a:tblGrid>
                <a:gridCol w="1578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81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79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02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31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Dataset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Input Modality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 Protocol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Metric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96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8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[DATA REQUIRED]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87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project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HMC Sleep Dataset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EEG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Subject-wise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[VERIFIED RESULT REQUIRED]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936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executed experiment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6733" y="5635625"/>
            <a:ext cx="10858229" cy="698500"/>
          </a:xfrm>
          <a:prstGeom prst="rect">
            <a:avLst/>
          </a:prstGeom>
          <a:solidFill>
            <a:srgbClr val="FFF3C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857229" y="5788025"/>
            <a:ext cx="10477238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F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only like-for-like protocols and cite every external result. Do not claim state-of-the-art performance without verified evidence.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355814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DA8D70E-88D2-49B7-A821-30108B4650D3}">
  <we:reference id="wa200010215" version="2.0.0.1" store="en-US" storeType="OMEX"/>
  <we:alternateReferences>
    <we:reference id="wa200010215" version="2.0.0.1" store="wa200010215" storeType="OMEX"/>
  </we:alternateReferences>
  <we:properties>
    <we:property name="bps.codex_control.document_id" value="&quot;1c90a05f-de37-42be-acfa-9e09005c8d8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1234</TotalTime>
  <Words>2415</Words>
  <Application>Microsoft Office PowerPoint</Application>
  <PresentationFormat>Widescreen</PresentationFormat>
  <Paragraphs>567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Rikin Parekh</dc:creator>
  <cp:lastModifiedBy>Rikin Parekh</cp:lastModifiedBy>
  <cp:revision>2</cp:revision>
  <dcterms:created xsi:type="dcterms:W3CDTF">2026-10-06T10:13:05Z</dcterms:created>
  <dcterms:modified xsi:type="dcterms:W3CDTF">2026-10-07T06:47:18Z</dcterms:modified>
</cp:coreProperties>
</file>