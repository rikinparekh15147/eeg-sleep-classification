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bcdb63053146b1" /><Relationship Type="http://schemas.openxmlformats.org/officeDocument/2006/relationships/extended-properties" Target="/docProps/app.xml" Id="R6dd087a7a88a4f53" /><Relationship Type="http://schemas.openxmlformats.org/officeDocument/2006/relationships/officeDocument" Target="/ppt/presentation.xml" Id="R93fea469365d4e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fcd0f23a124295"/>
  </p:sldMasterIdLst>
  <p:notesMasterIdLst>
    <p:notesMasterId xmlns:r="http://schemas.openxmlformats.org/officeDocument/2006/relationships" r:id="R21f5e02d771a4d32"/>
  </p:notesMasterIdLst>
  <p:sldIdLst>
    <p:sldId xmlns:r="http://schemas.openxmlformats.org/officeDocument/2006/relationships" id="256" r:id="R74b4e650b7c7444c"/>
    <p:sldId xmlns:r="http://schemas.openxmlformats.org/officeDocument/2006/relationships" id="257" r:id="Rdc2d9f17b4064d08"/>
    <p:sldId xmlns:r="http://schemas.openxmlformats.org/officeDocument/2006/relationships" id="258" r:id="Rf295ca79e78145f1"/>
    <p:sldId xmlns:r="http://schemas.openxmlformats.org/officeDocument/2006/relationships" id="259" r:id="R98514b9a8ce94ea7"/>
    <p:sldId xmlns:r="http://schemas.openxmlformats.org/officeDocument/2006/relationships" id="260" r:id="Rc6eb55bb1f094fce"/>
    <p:sldId xmlns:r="http://schemas.openxmlformats.org/officeDocument/2006/relationships" id="261" r:id="R672e2204b93745ef"/>
    <p:sldId xmlns:r="http://schemas.openxmlformats.org/officeDocument/2006/relationships" id="262" r:id="Rf8c890f945a342ce"/>
    <p:sldId xmlns:r="http://schemas.openxmlformats.org/officeDocument/2006/relationships" id="263" r:id="R61c1d9a83c0c4798"/>
    <p:sldId xmlns:r="http://schemas.openxmlformats.org/officeDocument/2006/relationships" id="264" r:id="R45eec94fbda44bb8"/>
    <p:sldId xmlns:r="http://schemas.openxmlformats.org/officeDocument/2006/relationships" id="265" r:id="R368a17ece6c54978"/>
    <p:sldId xmlns:r="http://schemas.openxmlformats.org/officeDocument/2006/relationships" id="266" r:id="R6c4e4e54712b43ad"/>
    <p:sldId xmlns:r="http://schemas.openxmlformats.org/officeDocument/2006/relationships" id="267" r:id="Rb927f6367dc4494a"/>
    <p:sldId xmlns:r="http://schemas.openxmlformats.org/officeDocument/2006/relationships" id="268" r:id="Ra277192cdb8d4830"/>
    <p:sldId xmlns:r="http://schemas.openxmlformats.org/officeDocument/2006/relationships" id="269" r:id="Re167f30bb4a34b5d"/>
    <p:sldId xmlns:r="http://schemas.openxmlformats.org/officeDocument/2006/relationships" id="270" r:id="R73634a15068642d8"/>
    <p:sldId xmlns:r="http://schemas.openxmlformats.org/officeDocument/2006/relationships" id="271" r:id="R36047e7d75bf407b"/>
    <p:sldId xmlns:r="http://schemas.openxmlformats.org/officeDocument/2006/relationships" id="272" r:id="Rb3254d3193bf489f"/>
    <p:sldId xmlns:r="http://schemas.openxmlformats.org/officeDocument/2006/relationships" id="273" r:id="Rf07001423e774d9b"/>
    <p:sldId xmlns:r="http://schemas.openxmlformats.org/officeDocument/2006/relationships" id="274" r:id="R0605e0d1d7fa41c3"/>
    <p:sldId xmlns:r="http://schemas.openxmlformats.org/officeDocument/2006/relationships" id="275" r:id="Recb032f3b5a74005"/>
    <p:sldId xmlns:r="http://schemas.openxmlformats.org/officeDocument/2006/relationships" id="276" r:id="R8a6706b6457b405c"/>
    <p:sldId xmlns:r="http://schemas.openxmlformats.org/officeDocument/2006/relationships" id="277" r:id="Re5a1c23dba174a92"/>
    <p:sldId xmlns:r="http://schemas.openxmlformats.org/officeDocument/2006/relationships" id="278" r:id="R722994b7f9f44396"/>
    <p:sldId xmlns:r="http://schemas.openxmlformats.org/officeDocument/2006/relationships" id="279" r:id="Rc77e09fa3e5b4208"/>
    <p:sldId xmlns:r="http://schemas.openxmlformats.org/officeDocument/2006/relationships" id="280" r:id="Ra531ba2b7b97453b"/>
    <p:sldId xmlns:r="http://schemas.openxmlformats.org/officeDocument/2006/relationships" id="281" r:id="R7d3e63af5b4f4712"/>
    <p:sldId xmlns:r="http://schemas.openxmlformats.org/officeDocument/2006/relationships" id="282" r:id="Raa468b0a8bf74d10"/>
    <p:sldId xmlns:r="http://schemas.openxmlformats.org/officeDocument/2006/relationships" id="283" r:id="R02c43de082934114"/>
    <p:sldId xmlns:r="http://schemas.openxmlformats.org/officeDocument/2006/relationships" id="284" r:id="R3f2f6c37438242f9"/>
    <p:sldId xmlns:r="http://schemas.openxmlformats.org/officeDocument/2006/relationships" id="285" r:id="R382c0240f3024115"/>
    <p:sldId xmlns:r="http://schemas.openxmlformats.org/officeDocument/2006/relationships" id="286" r:id="Rd778bf878b8b4ec0"/>
    <p:sldId xmlns:r="http://schemas.openxmlformats.org/officeDocument/2006/relationships" id="287" r:id="Rd3a3ae1211454110"/>
    <p:sldId xmlns:r="http://schemas.openxmlformats.org/officeDocument/2006/relationships" id="288" r:id="R57be26dc5e5b46e5"/>
    <p:sldId xmlns:r="http://schemas.openxmlformats.org/officeDocument/2006/relationships" id="289" r:id="Rd87c246ee2b64425"/>
    <p:sldId xmlns:r="http://schemas.openxmlformats.org/officeDocument/2006/relationships" id="290" r:id="R7d3bb40b86384ccf"/>
    <p:sldId xmlns:r="http://schemas.openxmlformats.org/officeDocument/2006/relationships" id="291" r:id="R30d06e3a80194e2f"/>
    <p:sldId xmlns:r="http://schemas.openxmlformats.org/officeDocument/2006/relationships" id="292" r:id="R44e6345c946f428f"/>
    <p:sldId xmlns:r="http://schemas.openxmlformats.org/officeDocument/2006/relationships" id="293" r:id="R1789e5f35f7a4ff6"/>
    <p:sldId xmlns:r="http://schemas.openxmlformats.org/officeDocument/2006/relationships" id="294" r:id="Rc9d6281162494756"/>
    <p:sldId xmlns:r="http://schemas.openxmlformats.org/officeDocument/2006/relationships" id="295" r:id="R52d429f7894d4f85"/>
    <p:sldId xmlns:r="http://schemas.openxmlformats.org/officeDocument/2006/relationships" id="296" r:id="Rfae5b7d6b1ad4d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74d6f7331048f6" /><Relationship Type="http://schemas.openxmlformats.org/officeDocument/2006/relationships/slideMaster" Target="/ppt/slideMasters/slideMaster1.xml" Id="Rd6fcd0f23a124295" /><Relationship Type="http://schemas.openxmlformats.org/officeDocument/2006/relationships/notesMaster" Target="/ppt/notesMasters/notesMaster1.xml" Id="R21f5e02d771a4d32" /><Relationship Type="http://schemas.openxmlformats.org/officeDocument/2006/relationships/presProps" Target="/ppt/presProps.xml" Id="R77eea458e5304b08" /><Relationship Type="http://schemas.openxmlformats.org/officeDocument/2006/relationships/viewProps" Target="/ppt/viewProps.xml" Id="R902f327c788d4e32" /><Relationship Type="http://schemas.openxmlformats.org/officeDocument/2006/relationships/tableStyles" Target="/ppt/tableStyles.xml" Id="Rf99a710204f8468e" /><Relationship Type="http://schemas.openxmlformats.org/officeDocument/2006/relationships/slide" Target="/ppt/slides/slide1.xml" Id="R74b4e650b7c7444c" /><Relationship Type="http://schemas.openxmlformats.org/officeDocument/2006/relationships/slide" Target="/ppt/slides/slide2.xml" Id="Rdc2d9f17b4064d08" /><Relationship Type="http://schemas.openxmlformats.org/officeDocument/2006/relationships/slide" Target="/ppt/slides/slide3.xml" Id="Rf295ca79e78145f1" /><Relationship Type="http://schemas.openxmlformats.org/officeDocument/2006/relationships/slide" Target="/ppt/slides/slide4.xml" Id="R98514b9a8ce94ea7" /><Relationship Type="http://schemas.openxmlformats.org/officeDocument/2006/relationships/slide" Target="/ppt/slides/slide5.xml" Id="Rc6eb55bb1f094fce" /><Relationship Type="http://schemas.openxmlformats.org/officeDocument/2006/relationships/slide" Target="/ppt/slides/slide6.xml" Id="R672e2204b93745ef" /><Relationship Type="http://schemas.openxmlformats.org/officeDocument/2006/relationships/slide" Target="/ppt/slides/slide7.xml" Id="Rf8c890f945a342ce" /><Relationship Type="http://schemas.openxmlformats.org/officeDocument/2006/relationships/slide" Target="/ppt/slides/slide8.xml" Id="R61c1d9a83c0c4798" /><Relationship Type="http://schemas.openxmlformats.org/officeDocument/2006/relationships/slide" Target="/ppt/slides/slide9.xml" Id="R45eec94fbda44bb8" /><Relationship Type="http://schemas.openxmlformats.org/officeDocument/2006/relationships/slide" Target="/ppt/slides/slide10.xml" Id="R368a17ece6c54978" /><Relationship Type="http://schemas.openxmlformats.org/officeDocument/2006/relationships/slide" Target="/ppt/slides/slide11.xml" Id="R6c4e4e54712b43ad" /><Relationship Type="http://schemas.openxmlformats.org/officeDocument/2006/relationships/slide" Target="/ppt/slides/slide12.xml" Id="Rb927f6367dc4494a" /><Relationship Type="http://schemas.openxmlformats.org/officeDocument/2006/relationships/slide" Target="/ppt/slides/slide13.xml" Id="Ra277192cdb8d4830" /><Relationship Type="http://schemas.openxmlformats.org/officeDocument/2006/relationships/slide" Target="/ppt/slides/slide14.xml" Id="Re167f30bb4a34b5d" /><Relationship Type="http://schemas.openxmlformats.org/officeDocument/2006/relationships/slide" Target="/ppt/slides/slide15.xml" Id="R73634a15068642d8" /><Relationship Type="http://schemas.openxmlformats.org/officeDocument/2006/relationships/slide" Target="/ppt/slides/slide16.xml" Id="R36047e7d75bf407b" /><Relationship Type="http://schemas.openxmlformats.org/officeDocument/2006/relationships/slide" Target="/ppt/slides/slide17.xml" Id="Rb3254d3193bf489f" /><Relationship Type="http://schemas.openxmlformats.org/officeDocument/2006/relationships/slide" Target="/ppt/slides/slide18.xml" Id="Rf07001423e774d9b" /><Relationship Type="http://schemas.openxmlformats.org/officeDocument/2006/relationships/slide" Target="/ppt/slides/slide19.xml" Id="R0605e0d1d7fa41c3" /><Relationship Type="http://schemas.openxmlformats.org/officeDocument/2006/relationships/slide" Target="/ppt/slides/slide20.xml" Id="Recb032f3b5a74005" /><Relationship Type="http://schemas.openxmlformats.org/officeDocument/2006/relationships/slide" Target="/ppt/slides/slide21.xml" Id="R8a6706b6457b405c" /><Relationship Type="http://schemas.openxmlformats.org/officeDocument/2006/relationships/slide" Target="/ppt/slides/slide22.xml" Id="Re5a1c23dba174a92" /><Relationship Type="http://schemas.openxmlformats.org/officeDocument/2006/relationships/slide" Target="/ppt/slides/slide23.xml" Id="R722994b7f9f44396" /><Relationship Type="http://schemas.openxmlformats.org/officeDocument/2006/relationships/slide" Target="/ppt/slides/slide24.xml" Id="Rc77e09fa3e5b4208" /><Relationship Type="http://schemas.openxmlformats.org/officeDocument/2006/relationships/slide" Target="/ppt/slides/slide25.xml" Id="Ra531ba2b7b97453b" /><Relationship Type="http://schemas.openxmlformats.org/officeDocument/2006/relationships/slide" Target="/ppt/slides/slide26.xml" Id="R7d3e63af5b4f4712" /><Relationship Type="http://schemas.openxmlformats.org/officeDocument/2006/relationships/slide" Target="/ppt/slides/slide27.xml" Id="Raa468b0a8bf74d10" /><Relationship Type="http://schemas.openxmlformats.org/officeDocument/2006/relationships/slide" Target="/ppt/slides/slide28.xml" Id="R02c43de082934114" /><Relationship Type="http://schemas.openxmlformats.org/officeDocument/2006/relationships/slide" Target="/ppt/slides/slide29.xml" Id="R3f2f6c37438242f9" /><Relationship Type="http://schemas.openxmlformats.org/officeDocument/2006/relationships/slide" Target="/ppt/slides/slide30.xml" Id="R382c0240f3024115" /><Relationship Type="http://schemas.openxmlformats.org/officeDocument/2006/relationships/slide" Target="/ppt/slides/slide31.xml" Id="Rd778bf878b8b4ec0" /><Relationship Type="http://schemas.openxmlformats.org/officeDocument/2006/relationships/slide" Target="/ppt/slides/slide32.xml" Id="Rd3a3ae1211454110" /><Relationship Type="http://schemas.openxmlformats.org/officeDocument/2006/relationships/slide" Target="/ppt/slides/slide33.xml" Id="R57be26dc5e5b46e5" /><Relationship Type="http://schemas.openxmlformats.org/officeDocument/2006/relationships/slide" Target="/ppt/slides/slide34.xml" Id="Rd87c246ee2b64425" /><Relationship Type="http://schemas.openxmlformats.org/officeDocument/2006/relationships/slide" Target="/ppt/slides/slide35.xml" Id="R7d3bb40b86384ccf" /><Relationship Type="http://schemas.openxmlformats.org/officeDocument/2006/relationships/slide" Target="/ppt/slides/slide36.xml" Id="R30d06e3a80194e2f" /><Relationship Type="http://schemas.openxmlformats.org/officeDocument/2006/relationships/slide" Target="/ppt/slides/slide37.xml" Id="R44e6345c946f428f" /><Relationship Type="http://schemas.openxmlformats.org/officeDocument/2006/relationships/slide" Target="/ppt/slides/slide38.xml" Id="R1789e5f35f7a4ff6" /><Relationship Type="http://schemas.openxmlformats.org/officeDocument/2006/relationships/slide" Target="/ppt/slides/slide39.xml" Id="Rc9d6281162494756" /><Relationship Type="http://schemas.openxmlformats.org/officeDocument/2006/relationships/slide" Target="/ppt/slides/slide40.xml" Id="R52d429f7894d4f85" /><Relationship Type="http://schemas.openxmlformats.org/officeDocument/2006/relationships/slide" Target="/ppt/slides/slide41.xml" Id="Rfae5b7d6b1ad4d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8859d5682a4c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f2ba09d38e4d36" /><Relationship Type="http://schemas.openxmlformats.org/officeDocument/2006/relationships/notesMaster" Target="/ppt/notesMasters/notesMaster1.xml" Id="Ra8c649f05b764f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76e840800a421b" /><Relationship Type="http://schemas.openxmlformats.org/officeDocument/2006/relationships/notesMaster" Target="/ppt/notesMasters/notesMaster1.xml" Id="R62a3489bf52c40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436b89d97a4779" /><Relationship Type="http://schemas.openxmlformats.org/officeDocument/2006/relationships/notesMaster" Target="/ppt/notesMasters/notesMaster1.xml" Id="R56d8b1d8e1e043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c2a6fffe564e42" /><Relationship Type="http://schemas.openxmlformats.org/officeDocument/2006/relationships/notesMaster" Target="/ppt/notesMasters/notesMaster1.xml" Id="R65c22f39b6224d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04e854c3a844e5" /><Relationship Type="http://schemas.openxmlformats.org/officeDocument/2006/relationships/notesMaster" Target="/ppt/notesMasters/notesMaster1.xml" Id="R2e6de33e107c4d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fa93d1842f488f" /><Relationship Type="http://schemas.openxmlformats.org/officeDocument/2006/relationships/notesMaster" Target="/ppt/notesMasters/notesMaster1.xml" Id="R04c9d4d89cd146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527fd27656462e" /><Relationship Type="http://schemas.openxmlformats.org/officeDocument/2006/relationships/notesMaster" Target="/ppt/notesMasters/notesMaster1.xml" Id="R9096561fa9774b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bd357bb83e4f02" /><Relationship Type="http://schemas.openxmlformats.org/officeDocument/2006/relationships/notesMaster" Target="/ppt/notesMasters/notesMaster1.xml" Id="Raf685ab697e940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3e96d2b3a14445" /><Relationship Type="http://schemas.openxmlformats.org/officeDocument/2006/relationships/notesMaster" Target="/ppt/notesMasters/notesMaster1.xml" Id="R5de0bc07b67449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4947c8635a4d3a" /><Relationship Type="http://schemas.openxmlformats.org/officeDocument/2006/relationships/notesMaster" Target="/ppt/notesMasters/notesMaster1.xml" Id="R93eb750866004f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bf5fd5f7a8403a" /><Relationship Type="http://schemas.openxmlformats.org/officeDocument/2006/relationships/notesMaster" Target="/ppt/notesMasters/notesMaster1.xml" Id="Ra58db89b273c43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9d045de78a4839" /><Relationship Type="http://schemas.openxmlformats.org/officeDocument/2006/relationships/notesMaster" Target="/ppt/notesMasters/notesMaster1.xml" Id="Re153055506bb4f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abede0bfbd43bd" /><Relationship Type="http://schemas.openxmlformats.org/officeDocument/2006/relationships/notesMaster" Target="/ppt/notesMasters/notesMaster1.xml" Id="R49f9ae34f89c4a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af6ec5a7144cd1" /><Relationship Type="http://schemas.openxmlformats.org/officeDocument/2006/relationships/notesMaster" Target="/ppt/notesMasters/notesMaster1.xml" Id="R3962c756180041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badc850f7e4dd9" /><Relationship Type="http://schemas.openxmlformats.org/officeDocument/2006/relationships/notesMaster" Target="/ppt/notesMasters/notesMaster1.xml" Id="R6b81bec4bf6444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c374f245ba4772" /><Relationship Type="http://schemas.openxmlformats.org/officeDocument/2006/relationships/notesMaster" Target="/ppt/notesMasters/notesMaster1.xml" Id="R3ef538cec722493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769a72d2608432b" /><Relationship Type="http://schemas.openxmlformats.org/officeDocument/2006/relationships/notesMaster" Target="/ppt/notesMasters/notesMaster1.xml" Id="R8fe72d933d59430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17e3fe6e79c4bf1" /><Relationship Type="http://schemas.openxmlformats.org/officeDocument/2006/relationships/notesMaster" Target="/ppt/notesMasters/notesMaster1.xml" Id="R5dd3e0fbaa7249b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b048986fc424252" /><Relationship Type="http://schemas.openxmlformats.org/officeDocument/2006/relationships/notesMaster" Target="/ppt/notesMasters/notesMaster1.xml" Id="R2dfa57007a434db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f23df826e274d97" /><Relationship Type="http://schemas.openxmlformats.org/officeDocument/2006/relationships/notesMaster" Target="/ppt/notesMasters/notesMaster1.xml" Id="Rf38fd14d62724fb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c21e42006d34d16" /><Relationship Type="http://schemas.openxmlformats.org/officeDocument/2006/relationships/notesMaster" Target="/ppt/notesMasters/notesMaster1.xml" Id="R430d7d301f1244b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88bae772b084f86" /><Relationship Type="http://schemas.openxmlformats.org/officeDocument/2006/relationships/notesMaster" Target="/ppt/notesMasters/notesMaster1.xml" Id="R8b92fc854de343e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6d37ffaed614726" /><Relationship Type="http://schemas.openxmlformats.org/officeDocument/2006/relationships/notesMaster" Target="/ppt/notesMasters/notesMaster1.xml" Id="Rbff4f18cc03d4fe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2fa0817be634302" /><Relationship Type="http://schemas.openxmlformats.org/officeDocument/2006/relationships/notesMaster" Target="/ppt/notesMasters/notesMaster1.xml" Id="Re7ab4371d1aa455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64eaf5e58b545ca" /><Relationship Type="http://schemas.openxmlformats.org/officeDocument/2006/relationships/notesMaster" Target="/ppt/notesMasters/notesMaster1.xml" Id="R2db28b6490b6440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b2b269b5c6143f7" /><Relationship Type="http://schemas.openxmlformats.org/officeDocument/2006/relationships/notesMaster" Target="/ppt/notesMasters/notesMaster1.xml" Id="R305a9990f4554ca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72008676abf4793" /><Relationship Type="http://schemas.openxmlformats.org/officeDocument/2006/relationships/notesMaster" Target="/ppt/notesMasters/notesMaster1.xml" Id="Re12a118a9de04ad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78a31bf4872451a" /><Relationship Type="http://schemas.openxmlformats.org/officeDocument/2006/relationships/notesMaster" Target="/ppt/notesMasters/notesMaster1.xml" Id="Re39669092ec1497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21e2d1152ef40e5" /><Relationship Type="http://schemas.openxmlformats.org/officeDocument/2006/relationships/notesMaster" Target="/ppt/notesMasters/notesMaster1.xml" Id="R26824e2857f64b0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c6dc5c71d6e48eb" /><Relationship Type="http://schemas.openxmlformats.org/officeDocument/2006/relationships/notesMaster" Target="/ppt/notesMasters/notesMaster1.xml" Id="Re1c37d5d75374f6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85f3d4875d94706" /><Relationship Type="http://schemas.openxmlformats.org/officeDocument/2006/relationships/notesMaster" Target="/ppt/notesMasters/notesMaster1.xml" Id="R86b2f9609544472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454fa747729405d" /><Relationship Type="http://schemas.openxmlformats.org/officeDocument/2006/relationships/notesMaster" Target="/ppt/notesMasters/notesMaster1.xml" Id="R6680a3c943c4441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6e69c1b59934819" /><Relationship Type="http://schemas.openxmlformats.org/officeDocument/2006/relationships/notesMaster" Target="/ppt/notesMasters/notesMaster1.xml" Id="R2ebcdf790c4f496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79ea7a026814e69" /><Relationship Type="http://schemas.openxmlformats.org/officeDocument/2006/relationships/notesMaster" Target="/ppt/notesMasters/notesMaster1.xml" Id="R4ddfa6fde220441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be5fc0a81464a76" /><Relationship Type="http://schemas.openxmlformats.org/officeDocument/2006/relationships/notesMaster" Target="/ppt/notesMasters/notesMaster1.xml" Id="Rc7fb4e62725441c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ea3809a0dd449b5" /><Relationship Type="http://schemas.openxmlformats.org/officeDocument/2006/relationships/notesMaster" Target="/ppt/notesMasters/notesMaster1.xml" Id="R4046730d917742a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3a387f16d3f4442" /><Relationship Type="http://schemas.openxmlformats.org/officeDocument/2006/relationships/notesMaster" Target="/ppt/notesMasters/notesMaster1.xml" Id="R7eb2c4372407472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9f6731d47ef4e5b" /><Relationship Type="http://schemas.openxmlformats.org/officeDocument/2006/relationships/notesMaster" Target="/ppt/notesMasters/notesMaster1.xml" Id="R3fc39d4b250d4cc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43d89bcb98c4e2e" /><Relationship Type="http://schemas.openxmlformats.org/officeDocument/2006/relationships/notesMaster" Target="/ppt/notesMasters/notesMaster1.xml" Id="R519ad513414a4b3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58f8263b0dc4fe0" /><Relationship Type="http://schemas.openxmlformats.org/officeDocument/2006/relationships/notesMaster" Target="/ppt/notesMasters/notesMaster1.xml" Id="R2c81099d100c440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06b75cdc7884c90" /><Relationship Type="http://schemas.openxmlformats.org/officeDocument/2006/relationships/notesMaster" Target="/ppt/notesMasters/notesMaster1.xml" Id="R53ca5701065a4b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source: https://physionet.org/content/hmc-sleep-staging/1.1/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>Test IDs: SN001, SN004, SN009, SN022. SN identifiers name recordings; partitions are disjoint.</a:t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>The refinement audit loads the saved checkpoint; it does not retrain the Transformer.</a:t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>Same labels and epochs are used for the baseline/refinement comparison.</a:t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>Largest N2 error: 506 N2 epochs predicted N1. Rows are true labels; columns are predictions.</a:t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>These are project feature boundaries, not AASM staging definitions. Sigma power does not measure spindle density.</a:t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>Multivariate coefficients depend on correlated features and standardization; do not read them as isolated physiological rules.</a:t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>Accuracy +3.89 pp; macro F1 +2.10 pp using unrounded values. N1 F1 +4.03 pp; N2 F1 +6.45 pp.</a:t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>W, N3 and REM predictions are retained. Epochs truly in those stages can still enter refinement if originally predicted N1/N2.</a:t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>The SN001 evaluation covers 95 minutes. No whole-night performance or external cohort validation is implied.</a:t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>N2→N1 errors: 506 → 379. All true N1/N2 epochs: accuracy 53.75% → 60.95% (1,680 epochs).</a:t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>Targeted N1/N2 changes retain the other predicted stages and the recording order.</a:t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>Recording duration is an evaluated-window measure. Contiguous timing is assumed for the notebook NPZ sequences.</a:t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>Means of per-epoch relative features across all evaluated epochs, including Wake. Four band/Delta ratios are also retained.</a:t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>Sample SD uses ddof=1; empirical quantiles use linear interpolation. Reference architecture uses fitted training-recording predictions.</a:t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>Dataset-derived descriptive boundaries from 16 training recordings. No healthy normative cohort was established.</a:t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>Any LOW or HIGH metric makes its domain DEVIATED. EEG deviations are shown separately and do not determine domain counts.</a:t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>Reference boundaries describe the HMC training cohort; profile levels are descriptive domain counts.</a:t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>SN001: segment profile. HMC reference deviations are neither disease-risk predictions nor validated severity levels.</a:t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>Select SN001/SN004/SN009/SN022. Inspect domains, sleep architecture, nine EEG features, z-scores, P10/P90, and source artifacts.</a:t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>The new label refinement does not recalibrate Transformer probabilities or provide uncertainty for the logistic classifier.</a:t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Biomarker_N1_N2_Refinement.ipynb cells 1–46; independent reproduction HMC-N1N2-20261007.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https://physionet.org/content/hmc-sleep-staging/1.1/</a:t>
            </a:r>
            <a:endParaRPr/>
          </a:p>
          <a:p xmlns:a="http://schemas.openxmlformats.org/drawingml/2006/main">
            <a:r>
              <a:t>Independent reproduction script: refinement_artifacts/reproduce.py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HMC is a heterogeneous clinical cohort, not a healthy normative population.</a:t>
            </a:r>
            <a:endParaRPr/>
          </a:p>
          <a:p xmlns:a="http://schemas.openxmlformats.org/drawingml/2006/main">
            <a:r>
              <a:t>Deviation levels count domains, not clinical severity or disease risk.</a:t>
            </a:r>
            <a:endParaRPr/>
          </a:p>
          <a:p xmlns:a="http://schemas.openxmlformats.org/drawingml/2006/main">
            <a:r>
              <a:t>Stored SN001 has 190 epochs (95 minutes); whole-night interpretation is unsupported.</a:t>
            </a:r>
            <a:endParaRPr/>
          </a:p>
          <a:p xmlns:a="http://schemas.openxmlformats.org/drawingml/2006/main">
            <a:r>
              <a:t>Epoch-index timing assumes continuity; original EDF alignment needs separate verification.</a:t>
            </a:r>
            <a:endParaRPr/>
          </a:p>
          <a:p xmlns:a="http://schemas.openxmlformats.org/drawingml/2006/main">
            <a:r>
              <a:t>Reference architecture is estimated in sample on training recordings.</a:t>
            </a:r>
            <a:endParaRPr/>
          </a:p>
          <a:p xmlns:a="http://schemas.openxmlformats.org/drawingml/2006/main">
            <a:r>
              <a:t>Transformer uncertainty applies to the original five-stage output, not refined classification confidence.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eea0e77f3849e6" /></Relationships>
</file>

<file path=ppt/slideLayouts/slideLayout1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86588939e84dd8" /><Relationship Type="http://schemas.openxmlformats.org/officeDocument/2006/relationships/slideLayout" Target="/ppt/slideLayouts/slideLayout1.xml" Id="R1a606c376919483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606c376919483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a04c703a54177" /><Relationship Type="http://schemas.openxmlformats.org/officeDocument/2006/relationships/notesSlide" Target="/ppt/notesSlides/notesSlide1.xml" Id="R990305d8e16742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6b1898ecc4758" /><Relationship Type="http://schemas.openxmlformats.org/officeDocument/2006/relationships/notesSlide" Target="/ppt/notesSlides/notesSlide2.xml" Id="Rf0b80207673d4c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4f0623f1e4de4" /><Relationship Type="http://schemas.openxmlformats.org/officeDocument/2006/relationships/notesSlide" Target="/ppt/notesSlides/notesSlide3.xml" Id="R3875cd71c81944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78084da764125" /><Relationship Type="http://schemas.openxmlformats.org/officeDocument/2006/relationships/notesSlide" Target="/ppt/notesSlides/notesSlide4.xml" Id="R5f60a88697374e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f874824aa4673" /><Relationship Type="http://schemas.openxmlformats.org/officeDocument/2006/relationships/notesSlide" Target="/ppt/notesSlides/notesSlide5.xml" Id="R3b0e5c6efd414d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f699b9adc4fe0" /><Relationship Type="http://schemas.openxmlformats.org/officeDocument/2006/relationships/notesSlide" Target="/ppt/notesSlides/notesSlide6.xml" Id="R9e690c31ce6646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24b9ea3284e4b" /><Relationship Type="http://schemas.openxmlformats.org/officeDocument/2006/relationships/notesSlide" Target="/ppt/notesSlides/notesSlide7.xml" Id="R524a068177d44d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3231325454cac" /><Relationship Type="http://schemas.openxmlformats.org/officeDocument/2006/relationships/notesSlide" Target="/ppt/notesSlides/notesSlide8.xml" Id="Rb017319f06d64a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fc79747e842eb" /><Relationship Type="http://schemas.openxmlformats.org/officeDocument/2006/relationships/notesSlide" Target="/ppt/notesSlides/notesSlide9.xml" Id="R0937d678f51b43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22fe15cb94036" /><Relationship Type="http://schemas.openxmlformats.org/officeDocument/2006/relationships/notesSlide" Target="/ppt/notesSlides/notesSlide10.xml" Id="R14532de042424b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5fb9c503d4ef6" /><Relationship Type="http://schemas.openxmlformats.org/officeDocument/2006/relationships/notesSlide" Target="/ppt/notesSlides/notesSlide11.xml" Id="R0556a428f45f44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4b17c2e6e4393" /><Relationship Type="http://schemas.openxmlformats.org/officeDocument/2006/relationships/notesSlide" Target="/ppt/notesSlides/notesSlide12.xml" Id="R68cdd86fd16d49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01394c55c40a2" /><Relationship Type="http://schemas.openxmlformats.org/officeDocument/2006/relationships/image" Target="/ppt/media/image.png" Id="Rc723d4809fd14c0d" /><Relationship Type="http://schemas.openxmlformats.org/officeDocument/2006/relationships/notesSlide" Target="/ppt/notesSlides/notesSlide13.xml" Id="R0b606cdc70ab490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8821689c74bee" /><Relationship Type="http://schemas.openxmlformats.org/officeDocument/2006/relationships/notesSlide" Target="/ppt/notesSlides/notesSlide14.xml" Id="Rc55e0651c9fa45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409e143e244a7" /><Relationship Type="http://schemas.openxmlformats.org/officeDocument/2006/relationships/notesSlide" Target="/ppt/notesSlides/notesSlide15.xml" Id="R1e3414a19c87463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d518453c644d6" /><Relationship Type="http://schemas.openxmlformats.org/officeDocument/2006/relationships/notesSlide" Target="/ppt/notesSlides/notesSlide16.xml" Id="Rdba2caaa4152490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985f293184862" /><Relationship Type="http://schemas.openxmlformats.org/officeDocument/2006/relationships/notesSlide" Target="/ppt/notesSlides/notesSlide17.xml" Id="R69d4e783facb4f3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8dc4a3c3d4c4a" /><Relationship Type="http://schemas.openxmlformats.org/officeDocument/2006/relationships/notesSlide" Target="/ppt/notesSlides/notesSlide18.xml" Id="R6dad329818f8438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1effe959b4899" /><Relationship Type="http://schemas.openxmlformats.org/officeDocument/2006/relationships/image" Target="/ppt/media/image2.png" Id="R7574d4b0455c4004" /><Relationship Type="http://schemas.openxmlformats.org/officeDocument/2006/relationships/notesSlide" Target="/ppt/notesSlides/notesSlide19.xml" Id="Rb27b82de1caf453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5d09147654722" /><Relationship Type="http://schemas.openxmlformats.org/officeDocument/2006/relationships/notesSlide" Target="/ppt/notesSlides/notesSlide20.xml" Id="Rada555ec3f5c485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2a0a22d614529" /><Relationship Type="http://schemas.openxmlformats.org/officeDocument/2006/relationships/notesSlide" Target="/ppt/notesSlides/notesSlide21.xml" Id="R5c8cab77665642b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af2e3c60c44b3" /><Relationship Type="http://schemas.openxmlformats.org/officeDocument/2006/relationships/image" Target="/ppt/media/image3.png" Id="Re1501cc8c3334355" /><Relationship Type="http://schemas.openxmlformats.org/officeDocument/2006/relationships/notesSlide" Target="/ppt/notesSlides/notesSlide22.xml" Id="R45aa1c4533974db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5caac1859480b" /><Relationship Type="http://schemas.openxmlformats.org/officeDocument/2006/relationships/image" Target="/ppt/media/image4.png" Id="Ra252ef81dfb94699" /><Relationship Type="http://schemas.openxmlformats.org/officeDocument/2006/relationships/notesSlide" Target="/ppt/notesSlides/notesSlide23.xml" Id="R4c5deff74221404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d66ebbc2f4f1d" /><Relationship Type="http://schemas.openxmlformats.org/officeDocument/2006/relationships/notesSlide" Target="/ppt/notesSlides/notesSlide24.xml" Id="R24e507397c9e44b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507ab25104cd8" /><Relationship Type="http://schemas.openxmlformats.org/officeDocument/2006/relationships/notesSlide" Target="/ppt/notesSlides/notesSlide25.xml" Id="R0947586a8a2a439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ef5b087ef4a11" /><Relationship Type="http://schemas.openxmlformats.org/officeDocument/2006/relationships/notesSlide" Target="/ppt/notesSlides/notesSlide26.xml" Id="R64b45854273f42b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2d6d104c641ad" /><Relationship Type="http://schemas.openxmlformats.org/officeDocument/2006/relationships/notesSlide" Target="/ppt/notesSlides/notesSlide27.xml" Id="R551f0b116bae416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bc51399114192" /><Relationship Type="http://schemas.openxmlformats.org/officeDocument/2006/relationships/notesSlide" Target="/ppt/notesSlides/notesSlide28.xml" Id="Rabb3b76c93ac423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e00dd6ad8418b" /><Relationship Type="http://schemas.openxmlformats.org/officeDocument/2006/relationships/notesSlide" Target="/ppt/notesSlides/notesSlide29.xml" Id="Rcc29c69fc29649b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138a34ee447ef" /><Relationship Type="http://schemas.openxmlformats.org/officeDocument/2006/relationships/notesSlide" Target="/ppt/notesSlides/notesSlide30.xml" Id="R73bdf7172590491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017068b3b4692" /><Relationship Type="http://schemas.openxmlformats.org/officeDocument/2006/relationships/notesSlide" Target="/ppt/notesSlides/notesSlide31.xml" Id="R652498b5c118436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60bbe1cc1456a" /><Relationship Type="http://schemas.openxmlformats.org/officeDocument/2006/relationships/notesSlide" Target="/ppt/notesSlides/notesSlide32.xml" Id="Rfd2a393ccdd849a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0e117520447c2" /><Relationship Type="http://schemas.openxmlformats.org/officeDocument/2006/relationships/notesSlide" Target="/ppt/notesSlides/notesSlide33.xml" Id="R4fd7ca1acb1b469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4d6c3a6e64b46" /><Relationship Type="http://schemas.openxmlformats.org/officeDocument/2006/relationships/notesSlide" Target="/ppt/notesSlides/notesSlide34.xml" Id="R8267c03efbb34e6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16bc4db094ff2" /><Relationship Type="http://schemas.openxmlformats.org/officeDocument/2006/relationships/notesSlide" Target="/ppt/notesSlides/notesSlide35.xml" Id="Rad5ad7b9695b48e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5568a23b5436d" /><Relationship Type="http://schemas.openxmlformats.org/officeDocument/2006/relationships/image" Target="/ppt/media/image5.png" Id="R75dcd3723b8f4c33" /><Relationship Type="http://schemas.openxmlformats.org/officeDocument/2006/relationships/notesSlide" Target="/ppt/notesSlides/notesSlide36.xml" Id="R29cbe61289024bb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ef7bf39634c67" /><Relationship Type="http://schemas.openxmlformats.org/officeDocument/2006/relationships/notesSlide" Target="/ppt/notesSlides/notesSlide37.xml" Id="R94254732103f4c4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35c14fd3f4694" /><Relationship Type="http://schemas.openxmlformats.org/officeDocument/2006/relationships/notesSlide" Target="/ppt/notesSlides/notesSlide38.xml" Id="R2af08c94ae1f435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c0d1d12ba422a" /><Relationship Type="http://schemas.openxmlformats.org/officeDocument/2006/relationships/notesSlide" Target="/ppt/notesSlides/notesSlide39.xml" Id="R1e6518e7ca684d6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5f065472a4afc" /><Relationship Type="http://schemas.openxmlformats.org/officeDocument/2006/relationships/notesSlide" Target="/ppt/notesSlides/notesSlide40.xml" Id="R01e51d2abc43496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3eed558044c0f" /><Relationship Type="http://schemas.openxmlformats.org/officeDocument/2006/relationships/notesSlide" Target="/ppt/notesSlides/notesSlide41.xml" Id="Rb93221379f6c45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1429F-ADF0-4EAF-B1FB-E3C52A4D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285F7-2BC6-4B0D-8AA4-F5D5FDD4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A69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A69B"/>
                </a:solidFill>
                <a:latin typeface="Arial"/>
                <a:ea typeface="Arial"/>
                <a:cs typeface="Arial"/>
              </a:rPr>
              <a:t>FINAL PROJECT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85831-8A33-4517-8EBF-5E1E4BF2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EEG Sleep Classification and Reference-Based Sleep-Health Profiling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80B3A-6798-4B3B-AEF1-2267BE08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Existing evidential Transformer with targeted N1/N2 spectral refinement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87DAD-BCE0-4E51-B848-BF0DE74C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8763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Rikin Parekh · Om Ahuja</a:t>
            </a:r>
          </a:p>
          <a:p xmlns:a="http://schemas.openxmlformats.org/drawingml/2006/main">
            <a:pPr>
              <a:defRPr sz="15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23BIT044 · 23BIT014</a:t>
            </a:r>
          </a:p>
          <a:p xmlns:a="http://schemas.openxmlformats.org/drawingml/2006/main">
            <a:pPr>
              <a:defRPr sz="15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Guide: Dr. Santosh Sathpathy</a:t>
            </a:r>
          </a:p>
          <a:p xmlns:a="http://schemas.openxmlformats.org/drawingml/2006/main">
            <a:pPr>
              <a:defRPr sz="15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Information and Communication Technology</a:t>
            </a:r>
          </a:p>
          <a:p xmlns:a="http://schemas.openxmlformats.org/drawingml/2006/main">
            <a:pPr>
              <a:defRPr sz="15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Pandit Deendayal Energy University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BC431-2ADD-488A-83CC-A37DAD8D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Verified notebook reproduction · 7 October 2026</a:t>
            </a:r>
          </a:p>
        </p:txBody>
      </p:sp>
    </p:spTree>
    <p:extLst>
      <p:ext uri="{BB962C8B-B14F-4D97-AF65-F5344CB8AC3E}">
        <p14:creationId xmlns:p14="http://schemas.microsoft.com/office/powerpoint/2010/main" val="2208732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B7B192-5A7B-423C-A324-7538989D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7C0C8-74E6-43DF-B7C2-BB114D56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Problem and project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5EDC1-5FDC-4E92-B19A-1C162BC6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E989B-E248-47BA-BAC4-C64288CC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99D81-2511-4677-9887-4E4D25D8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Classify each 30-second EEG epoch as Wake, N1, N2, N3, or REM.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7FF0B-5844-4083-9263-8EBCF63F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8DCAE-49DE-4040-8F53-1104BC1B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Baseline confusion: 506 true N2 epochs were predicted N1.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CCE05-5677-4687-8844-F097CC65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888AE-90D0-45FA-B648-4D30A62F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Extend the retained classifier with spectral refinement and recording-level descriptive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5D449-4C97-4DD9-B8BC-A100E7E1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265B8-9CA8-4A63-9837-CDFC1F63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HMC comparisons are research reference comparisons, not diagnostic conclusions.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D7E99-4D61-44A1-95B8-CDF4C1D5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2E0F4-D9BD-4B97-86FD-4589CB9B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02 / 41</a:t>
            </a:r>
          </a:p>
        </p:txBody>
      </p:sp>
    </p:spTree>
    <p:extLst>
      <p:ext uri="{BB962C8B-B14F-4D97-AF65-F5344CB8AC3E}">
        <p14:creationId xmlns:p14="http://schemas.microsoft.com/office/powerpoint/2010/main" val="12020017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E36C1-3EAE-4123-9CC5-DEBC9737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F5EB5-3DA4-4A04-9CEC-F1CBE11A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Implemented project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74602-4A6C-48D2-91EF-C113B5A9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8DB8A-F774-4E08-9587-B6643CC8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66B5C-DF48-4084-A68C-B7BB0F22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Retain the five-stage evidential Transformer and its uncertainty output.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A6934-0E6D-43D6-84AC-7918EB4D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55724-FC86-4202-AD96-A436A33F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Refine Transformer-predicted N1/N2 using nine EEG spectral features.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59582-A4DB-4CEE-8D3F-6E380D0E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15274-43CD-4D4B-A0E9-291A9271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Calculate architecture metrics and aggregate spectral biomarkers.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B5B0B-E2FA-46A7-A380-C9DB6AB7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1EA6F-E839-430E-84B5-FAFAAB20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Compare with the 16-recording training reference and display four-domain deviation profiles.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CD9FF-F3B8-4E18-B68E-CADB89DA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4A3F3-FDD8-4EDF-B3B0-35BC6298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03 / 41</a:t>
            </a:r>
          </a:p>
        </p:txBody>
      </p:sp>
    </p:spTree>
    <p:extLst>
      <p:ext uri="{BB962C8B-B14F-4D97-AF65-F5344CB8AC3E}">
        <p14:creationId xmlns:p14="http://schemas.microsoft.com/office/powerpoint/2010/main" val="10691842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65149-70A8-43F1-818E-466FB2C9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AB3FC-9C04-41F2-8E1F-CD76757E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HMC Sleep Staging Database v1.1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CBCEB-CB87-48EC-B88A-9E1475F7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1E7B4-5C82-41C6-B123-068050EB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19E52-0135-4307-ADAD-656D1837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151 whole-night PSG recordings; 85 male and 66 female.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9F4F6-A615-4D7D-9286-21958E53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0D203-00C9-45AA-A650-8D0203AF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Mean age: 53.9 ± 15.4 years.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761CD-D08B-4616-BA6B-0B8CF686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00177-6D06-4DC1-BB80-DF4E3978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A heterogeneous population referred for PSG examinations.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AD6C7-FDD2-4B70-A557-7E7780A5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B7E63-1715-4794-8253-D468E3AA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The project uses 24 recordings and four EEG channels sampled originally at 256 Hz.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82829-9231-4565-A38B-34244CCE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PhysioNet HMC v1.1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CA47C-8B9B-49B3-BDAA-6B34991D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04 / 41</a:t>
            </a:r>
          </a:p>
        </p:txBody>
      </p:sp>
    </p:spTree>
    <p:extLst>
      <p:ext uri="{BB962C8B-B14F-4D97-AF65-F5344CB8AC3E}">
        <p14:creationId xmlns:p14="http://schemas.microsoft.com/office/powerpoint/2010/main" val="42526156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1C853-7074-42E9-9E6A-CD979561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F912F-E6FF-4CEE-93CD-70EAF56C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Recording-wise experimental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FC6B9-9431-41EF-B594-2130A1D4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32200"/>
                <a:gridCol w="3632200"/>
                <a:gridCol w="36322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Recordings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Stored epochs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15,216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3,619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Testing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3,109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21,944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BDDF3-DC9F-4718-8E8E-C9FD489B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Test IDs: SN001, SN004, SN009, SN022. SN identifiers name recordings; partitions are disjoint.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9BE3B-14EB-457A-9EDE-9669175C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C9C55-2326-4F59-AC90-70469041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05 / 41</a:t>
            </a:r>
          </a:p>
        </p:txBody>
      </p:sp>
    </p:spTree>
    <p:extLst>
      <p:ext uri="{BB962C8B-B14F-4D97-AF65-F5344CB8AC3E}">
        <p14:creationId xmlns:p14="http://schemas.microsoft.com/office/powerpoint/2010/main" val="24635576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02E9E-51BD-4D04-AAF5-3691C339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AA73A-0801-4A74-A010-42BE0484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Evaluation scope and SN001 segment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31848-A3AE-41A2-8C55-AD31E466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851AD-D1FB-4D20-9546-2887794B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AE1D8-1B67-4058-8BC0-CD5FA435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Current notebook: 3,109 test epochs, including SN001’s stored 190 epochs (95 minutes).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E9227-F105-483C-BF29-8137CDAF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EEE6E-4E9F-4529-A04E-9FF06D1F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Earlier EDF alignment audit: SN001 reconstructed to 854 epochs; test total 3,773.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BCEAF-0D3C-4850-ACCE-0FD1C034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8D19E-0EE6-4FB9-9D30-980F4416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The 55.45% → 59.34% comparison belongs to the current stored-input experiment.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82070-7ECA-4C9B-8965-16551628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28F44-79A0-4051-9C26-36FCB125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SN001’s segment duration and onset do not establish whole-night sleep-health measurements.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18FF2-333B-4D0B-AF84-0A43728E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BEA9E-4494-4232-8515-F16699D4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06 / 41</a:t>
            </a:r>
          </a:p>
        </p:txBody>
      </p:sp>
    </p:spTree>
    <p:extLst>
      <p:ext uri="{BB962C8B-B14F-4D97-AF65-F5344CB8AC3E}">
        <p14:creationId xmlns:p14="http://schemas.microsoft.com/office/powerpoint/2010/main" val="25475353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C48EB-01FA-49AB-8888-2A31BCF0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58A40-6E15-4F42-AD52-FD4A2E60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EEG preprocessing and model input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DF910-BBE2-4F06-9DF9-9C08D2FB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CDECD-7647-4650-AA95-819A4B80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EE0AD-C781-4DB6-A10C-F46929E5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Channels: EEG F4-M1, EEG C4-M1, EEG O2-M1, EEG C3-M2.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92AB5-8901-4C5C-95BA-C9576784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0B404-B40D-4611-BC4D-228A71C1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Actual preprocessing order: 50 Hz notch at the original rate, 0.3–35 Hz bandpass, resample to 100 Hz.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190E5-E91D-4424-B35D-181EDD99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324DD-AE7E-4C92-8483-120FB845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Complete 30-second epochs; per-epoch, per-channel normalization.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CD6E7-780D-4987-B4CA-40D35E18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E6555-673D-4373-8DEB-80D8E901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Each input epoch: 4 channels × 3,000 samples. Apply the notch before 100 Hz resampling.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42A72-F8AA-4509-9DAC-8087CF7E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E7C6F-9728-44A8-AD5C-FD85BD7B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07 / 41</a:t>
            </a:r>
          </a:p>
        </p:txBody>
      </p:sp>
    </p:spTree>
    <p:extLst>
      <p:ext uri="{BB962C8B-B14F-4D97-AF65-F5344CB8AC3E}">
        <p14:creationId xmlns:p14="http://schemas.microsoft.com/office/powerpoint/2010/main" val="2003190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7C9E5-10F3-4D08-84D5-7DC3AA5A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80C9F-093B-4E11-824D-E810344F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Retained Fast SCFormer-U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127E2-C87C-471E-A13E-CA2C92C7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D23E4-D871-401B-84FD-202E7192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323A9-EE1B-4683-B56C-5BD8D070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4 × 3,000 EEG → Conv1D 64 (kernel 7, stride 4) → Conv1D 128 (kernel 5, stride 4)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920D0-6187-456F-A396-60A8D34C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05684-8834-4C0B-97A9-5754C5BB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Self-attention: 4 heads, key dimension 16; residual normalization and feed-forward layers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BEE92-22D2-4BD3-9569-3F12093E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0ED27-A4DD-45D2-AA8E-8D4D9EE0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Bidirectional LSTM: 64 units per direction; pooling and dense evidence head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3280D-7273-46C3-9781-E7B524C0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BDAFF-B173-4461-9967-52CBED01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Five softplus evidence outputs; 226,309 total parameters. Attention and recurrence operate within the epoch.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FF61E-A15F-4F4B-B134-8AD9D407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7BDAB-4071-4F87-9F0F-10502A0B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08 / 41</a:t>
            </a:r>
          </a:p>
        </p:txBody>
      </p:sp>
    </p:spTree>
    <p:extLst>
      <p:ext uri="{BB962C8B-B14F-4D97-AF65-F5344CB8AC3E}">
        <p14:creationId xmlns:p14="http://schemas.microsoft.com/office/powerpoint/2010/main" val="22965729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38851-D8CD-4AC5-90B8-77BE0D01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0F215-005B-4FFD-B1F9-45743738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Role of the retained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8D964-8B7C-4D37-B885-92F39105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48300"/>
                <a:gridCol w="54483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CNN encoder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Local EEG patterns and temporal downsampling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Self-attention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Relations between positions within each epoch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BiLSTM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Downsampled within-epoch sequence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Evidence head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Five-class Dirichlet evidence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Spectral refinement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Independent classifier for N1/N2 candidates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73C3D-9127-496E-9133-9E8BE3CC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16E49-7232-4B0C-A4A9-2630FA7D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09 / 41</a:t>
            </a:r>
          </a:p>
        </p:txBody>
      </p:sp>
    </p:spTree>
    <p:extLst>
      <p:ext uri="{BB962C8B-B14F-4D97-AF65-F5344CB8AC3E}">
        <p14:creationId xmlns:p14="http://schemas.microsoft.com/office/powerpoint/2010/main" val="27213424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394B9E-FFCC-40C6-9460-C7DB2362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03BB7-9697-4C9C-8EF1-1D740495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Evidential probabilities and uncertainty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9254B-9C02-420B-A722-FCA7AF7B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CEA14-828C-4B37-A95B-480D2897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3EF56-A059-4776-B415-BA3B85B0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alpha_k = evidence_k + 1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CA9B4-C040-4FA9-9C78-4C18F369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67B0C-FF40-4098-B33E-F2240200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P_k = alpha_k / sum(alpha)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7D7E9-91CB-4428-A19D-C32B97E6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7F9C6-9ABE-4501-AD9A-94771D93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Uncertainty = 5 / sum(alpha)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978D7-2FA5-4557-840C-8910F826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CAD15-7FE2-4ED5-8FC5-05FEC01F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Refinement changes the selected N1/N2 label. Transformer probabilities and uncertainty still refer to the original five-stage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7C401-ABC0-45D1-BA8E-9D4FA722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DA446-B3B4-478D-ADB9-3D564668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10 / 41</a:t>
            </a:r>
          </a:p>
        </p:txBody>
      </p:sp>
    </p:spTree>
    <p:extLst>
      <p:ext uri="{BB962C8B-B14F-4D97-AF65-F5344CB8AC3E}">
        <p14:creationId xmlns:p14="http://schemas.microsoft.com/office/powerpoint/2010/main" val="36175240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10794-0CAA-4673-A031-654F83D0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7CB4E-E8C3-4C40-B928-4F4405B4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Retained training configuration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602C6-1AC3-4DBE-91E9-3158E0C2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48300"/>
                <a:gridCol w="54483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Existing Transformer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Optimizer / learning 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Adam / 0.0001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Batch size / maximum epochs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128 / 10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Validation-selected checkpoint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Epoch 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Class weighting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Training labels only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Architecture replacement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None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90109-BFC1-4C3D-B2DB-2F774B0E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The refinement audit loads the saved checkpoint; it does not retrain the Transformer.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3A321-5496-4437-B6BB-CDC9C818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CD402-5CE0-4690-A89B-F53F3CB0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11 / 41</a:t>
            </a:r>
          </a:p>
        </p:txBody>
      </p:sp>
    </p:spTree>
    <p:extLst>
      <p:ext uri="{BB962C8B-B14F-4D97-AF65-F5344CB8AC3E}">
        <p14:creationId xmlns:p14="http://schemas.microsoft.com/office/powerpoint/2010/main" val="13029339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E1C82-4AC7-407F-A068-30121A29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B66B5-64A4-4F06-95BE-7888A043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Original Transformer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DB203-5400-476D-BF7D-9009CCA5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48300"/>
                <a:gridCol w="54483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Stored-input test set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55.45%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Macro F1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57.42%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N1 F1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36.60%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N2 F1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57.12%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Evaluated epochs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3,109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DC813-23B1-45EC-BB95-62E95942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Same labels and epochs are used for the baseline/refinement 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6D5A9-5D6C-41DF-9FA0-F6BC0B8F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F4560-8315-41AC-B718-7DF51BCD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12 / 41</a:t>
            </a:r>
          </a:p>
        </p:txBody>
      </p:sp>
    </p:spTree>
    <p:extLst>
      <p:ext uri="{BB962C8B-B14F-4D97-AF65-F5344CB8AC3E}">
        <p14:creationId xmlns:p14="http://schemas.microsoft.com/office/powerpoint/2010/main" val="10696798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96EF5-C4C7-455F-BF4E-C9E1F050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450EE-5438-4AF3-BFD9-E8979002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Baseline confusion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FB132-B088-4DF2-AE4A-B0909C6E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3d4809fd14c0d"/>
          <a:stretch xmlns:a="http://schemas.openxmlformats.org/drawingml/2006/main"/>
        </p:blipFill>
        <p:spPr>
          <a:xfrm xmlns:a="http://schemas.openxmlformats.org/drawingml/2006/main">
            <a:off x="3930788" y="1447800"/>
            <a:ext cx="4273275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78AAB-347B-4A23-A51F-A39217E3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Largest N2 error: 506 N2 epochs predicted N1. Rows are true labels; columns are predictions.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5C2A7-20E7-4676-9579-5726E9C3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CB8FA-6491-4D79-9E25-9907402C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13 / 41</a:t>
            </a:r>
          </a:p>
        </p:txBody>
      </p:sp>
    </p:spTree>
    <p:extLst>
      <p:ext uri="{BB962C8B-B14F-4D97-AF65-F5344CB8AC3E}">
        <p14:creationId xmlns:p14="http://schemas.microsoft.com/office/powerpoint/2010/main" val="12123568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4B990-CC91-4020-872F-BECF5935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941FD-327C-4F93-B349-9D2BC4DB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Nine EEG features for N1/N2 refinement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6E30B-9555-4757-9D18-4C4EC414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48300"/>
                <a:gridCol w="54483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 group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Features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Relative band power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Delta, Theta, Alpha, Sigma, Beta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Ratios to Delta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Sigma/Delta, Theta/Delta, Alpha/Delta, Beta/Delta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Frequency bands (Hz)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0.5–4; 4–8; 8–12; 12–16; 16–30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Candidate gate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Transformer predicts N1 or N2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40AFA-CAEA-4A94-AF18-DC7F51BC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These are project feature boundaries, not AASM staging definitions. Sigma power does not measure spindle density.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65548-B4D0-4684-8DDD-C4D7FC5B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2664B-7600-47BE-A9C0-2B9F5AAB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14 / 41</a:t>
            </a:r>
          </a:p>
        </p:txBody>
      </p:sp>
    </p:spTree>
    <p:extLst>
      <p:ext uri="{BB962C8B-B14F-4D97-AF65-F5344CB8AC3E}">
        <p14:creationId xmlns:p14="http://schemas.microsoft.com/office/powerpoint/2010/main" val="42460448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7D5E74-B85E-436F-916F-1D21FA1E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7067A-F44C-48E0-B9AB-0F7A56F0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Welch spectral extraction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B4BDA-6FC6-47D7-9807-E9BAD38B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4B02E-75C0-4496-A9DC-D1C41ACF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79224-E256-409B-94E7-D509D9BB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Welch PSD per channel: 100 Hz, 400-sample windows (4 seconds), 200-sample overlap.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35C97-3F7C-43FA-82AA-51B085ED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B758C-479C-41B5-9829-28D5E468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Integrate each band with a lower-inclusive, upper-exclusive frequency mask.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28750-0A68-4DA7-A8FA-3743BA02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584F5-7379-4EF6-928D-F99B2A68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Average band powers across the four channels before computing relative powers and ratios.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1F4C4-77A6-4F72-B87F-2AA25262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D027B-3820-4451-BA68-24F7D3E6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Relative power denominator: measured total power in 0.5–30 Hz. Aggregate epoch features by arithmetic mean per recording.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25EB3-8474-45AF-A65A-306B1573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44182-BB3F-4FA9-8C95-9195FCAA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15 / 41</a:t>
            </a:r>
          </a:p>
        </p:txBody>
      </p:sp>
    </p:spTree>
    <p:extLst>
      <p:ext uri="{BB962C8B-B14F-4D97-AF65-F5344CB8AC3E}">
        <p14:creationId xmlns:p14="http://schemas.microsoft.com/office/powerpoint/2010/main" val="15578115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02D6C-DB7F-40A4-BA0A-6397D9EB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F5ED7-ACF5-4271-AD71-8F6D1493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Relative powers and Delta ratios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B76A6-7F02-4FAC-A873-0B05866A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FA66E-354E-4D90-8429-7DE1F236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AE059-D37C-4A9B-BAA6-66B6C421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Relative band power = mean channel band power / mean channel total power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A7D2C-36D9-436B-BBD4-DDBAFB23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9F2B0-E9D8-4E6C-9C54-6CC14D20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Band/Delta ratio = mean channel band power / mean channel Delta power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1F024-4EFC-4659-B1E4-7AB15DE8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5489F-15C3-4C7B-8D80-C7038A43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Delta is a project feature-engineering reference, not a mandatory denominator.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A74C3-7B49-4582-A040-45CBA297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E935E-36E8-45A1-8ABD-EDFCACEB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Normalized EEG powers are spectral features; do not describe them as calibrated absolute physical power.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13B43-C5DE-4727-80FF-974DF933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709858-BDB3-4274-9555-CDBDE35E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16 / 41</a:t>
            </a:r>
          </a:p>
        </p:txBody>
      </p:sp>
    </p:spTree>
    <p:extLst>
      <p:ext uri="{BB962C8B-B14F-4D97-AF65-F5344CB8AC3E}">
        <p14:creationId xmlns:p14="http://schemas.microsoft.com/office/powerpoint/2010/main" val="3338452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91A51-6BFB-4561-A537-EB811D95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3CEAD-BA1C-410B-B31E-0D4EFCDE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Training and inference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98B10-F2E8-424E-A75A-E70AC535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72670-4662-4D88-B82A-252CCCB1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8ECAD-7782-4672-9BD1-DE355DF7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Fit the refiner only on training epochs where the true stage AND the Transformer prediction are N1/N2.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B94AF-8EC5-480B-910B-4AFF625E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ED78A-1A33-46D3-9EA6-03CB0F77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Training subset: 1,278 N1 and 4,588 N2 epochs; 5,866 total.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6A47B-7A42-4296-A7FC-CD2F3010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04950-024F-4599-B45F-25AEF513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StandardScaler → LogisticRegression(class_weight="balanced", max_iter=2000, random_state=42).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E8AF1-6B60-49F0-85D6-1369E23A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1EF3D-23A8-4111-BAC7-05014C24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At inference, gate by the Transformer prediction only. Ground truth is never used to route test epochs.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5D203-093D-4016-B57F-D9941A9C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F4D63-F34C-4BCB-B018-1D12BB7C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17 / 41</a:t>
            </a:r>
          </a:p>
        </p:txBody>
      </p:sp>
    </p:spTree>
    <p:extLst>
      <p:ext uri="{BB962C8B-B14F-4D97-AF65-F5344CB8AC3E}">
        <p14:creationId xmlns:p14="http://schemas.microsoft.com/office/powerpoint/2010/main" val="4348959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46C36-323C-4DDA-8763-A088D70B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CCE8B-484E-4C1E-83F7-A1C6EBDD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Standardized logistic regression coefficients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0276F-C4F7-4593-88A2-711807BD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48300"/>
                <a:gridCol w="5448300"/>
              </a:tblGrid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Coefficient toward N2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delta relative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0.762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theta relative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1.377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alpha relative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-0.827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sigma relative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2.135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beta relative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-1.783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sigma delta ratio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-1.436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theta delta ratio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-1.066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alpha delta ratio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0.995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beta delta ratio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0.309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37EE0-FC3B-4BBA-891A-0A2C4CBD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Multivariate coefficients depend on correlated features and standardization; do not read them as isolated physiological rules.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C6EFC-E173-4151-95CD-64B0679B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39EFA-BD18-492F-86EF-5CECD715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18 / 41</a:t>
            </a:r>
          </a:p>
        </p:txBody>
      </p:sp>
    </p:spTree>
    <p:extLst>
      <p:ext uri="{BB962C8B-B14F-4D97-AF65-F5344CB8AC3E}">
        <p14:creationId xmlns:p14="http://schemas.microsoft.com/office/powerpoint/2010/main" val="35671045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187F9-1DF4-4EF9-9EC1-0D4443A9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667F1-E362-4B43-878B-EAED7272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Effect of targeted N1/N2 refinement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A6FD6-D3F1-4B74-A612-36AC99ED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4d4b0455c4004"/>
          <a:stretch xmlns:a="http://schemas.openxmlformats.org/drawingml/2006/main"/>
        </p:blipFill>
        <p:spPr>
          <a:xfrm xmlns:a="http://schemas.openxmlformats.org/drawingml/2006/main">
            <a:off x="1497430" y="1447800"/>
            <a:ext cx="9139989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83CE9-327F-43CD-A717-D31D3479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Accuracy +3.89 pp; macro F1 +2.10 pp using unrounded values. N1 F1 +4.03 pp; N2 F1 +6.45 pp.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96FB0-D717-4A25-9C33-4BD4FA3E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60AD6-9004-4092-9AD5-0EC2DD70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19 / 41</a:t>
            </a:r>
          </a:p>
        </p:txBody>
      </p:sp>
    </p:spTree>
    <p:extLst>
      <p:ext uri="{BB962C8B-B14F-4D97-AF65-F5344CB8AC3E}">
        <p14:creationId xmlns:p14="http://schemas.microsoft.com/office/powerpoint/2010/main" val="25971354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0D1C5-B90E-41F1-A502-34816F40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5C974-A7D5-4E9D-919D-28DE88A0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Which predictions changed?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722C3-DD3B-4788-9D71-A71C4C08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48300"/>
                <a:gridCol w="54483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Outcome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Epochs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Unchanged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2,871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Corrected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154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Wrong to wrong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Degraded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33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Total changed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1EDE4-CF8E-492F-8188-6E59A8E3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W, N3 and REM predictions are retained. Epochs truly in those stages can still enter refinement if originally predicted N1/N2.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324D5-25C3-472C-A7D8-4D037183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B1EFE-95F3-422A-823E-6652D117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20 / 41</a:t>
            </a:r>
          </a:p>
        </p:txBody>
      </p:sp>
    </p:spTree>
    <p:extLst>
      <p:ext uri="{BB962C8B-B14F-4D97-AF65-F5344CB8AC3E}">
        <p14:creationId xmlns:p14="http://schemas.microsoft.com/office/powerpoint/2010/main" val="10181744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AA90C-60C4-42CA-8633-B94D42FD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58249-652D-40F8-9A56-B9F2D027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Performance by test recording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84308-42ED-4DC6-B00A-1E715FDD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24150"/>
                <a:gridCol w="2724150"/>
                <a:gridCol w="2724150"/>
                <a:gridCol w="272415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Recording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Epochs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Baseline accuracy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Refined accuracy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46.84%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48.42%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SN004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1,016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56.79%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64.07%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901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61.27%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64.48%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SN022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1,002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50.50%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52.00%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471E1-C437-441E-B4D8-7452BA05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The SN001 evaluation covers 95 minutes. No whole-night performance or external cohort validation is implied.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8D29B-4E06-48C4-A258-8806E32C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ED1FA-4987-481F-9000-00D290D8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21 / 41</a:t>
            </a:r>
          </a:p>
        </p:txBody>
      </p:sp>
    </p:spTree>
    <p:extLst>
      <p:ext uri="{BB962C8B-B14F-4D97-AF65-F5344CB8AC3E}">
        <p14:creationId xmlns:p14="http://schemas.microsoft.com/office/powerpoint/2010/main" val="19225126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F296B-09FD-4A2A-8045-1DD5CD76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1DC94-37B3-4A0D-8937-8A81CEA1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Refined confusion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58095-15C7-454D-A513-739F3027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01cc8c3334355"/>
          <a:stretch xmlns:a="http://schemas.openxmlformats.org/drawingml/2006/main"/>
        </p:blipFill>
        <p:spPr>
          <a:xfrm xmlns:a="http://schemas.openxmlformats.org/drawingml/2006/main">
            <a:off x="3138266" y="1447800"/>
            <a:ext cx="5858317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66E6E-F036-416B-9BE9-29AAD6B6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N2→N1 errors: 506 → 379. All true N1/N2 epochs: accuracy 53.75% → 60.95% (1,680 epochs).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A034F-DCE1-4A21-8019-128D9235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7416E-A9AE-416A-BDAC-7BD95EED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22 / 41</a:t>
            </a:r>
          </a:p>
        </p:txBody>
      </p:sp>
    </p:spTree>
    <p:extLst>
      <p:ext uri="{BB962C8B-B14F-4D97-AF65-F5344CB8AC3E}">
        <p14:creationId xmlns:p14="http://schemas.microsoft.com/office/powerpoint/2010/main" val="23967043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A4CBB-60ED-4683-8EEE-9E8AD477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05AC2-FBBA-4C4F-9A14-E39248DB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Original and refined hypnogram — SN009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91D52-38C8-49EB-8E27-706AC43C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2ef81dfb94699"/>
          <a:stretch xmlns:a="http://schemas.openxmlformats.org/drawingml/2006/main"/>
        </p:blipFill>
        <p:spPr>
          <a:xfrm xmlns:a="http://schemas.openxmlformats.org/drawingml/2006/main">
            <a:off x="1109412" y="1447800"/>
            <a:ext cx="9916026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9268B-3FE9-4E52-809D-AC2017ED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Targeted N1/N2 changes retain the other predicted stages and the recording order.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91404-542F-4B65-AA14-DFE37DF7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8459A-F3D0-476E-A12E-A7A77BA0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23 / 41</a:t>
            </a:r>
          </a:p>
        </p:txBody>
      </p:sp>
    </p:spTree>
    <p:extLst>
      <p:ext uri="{BB962C8B-B14F-4D97-AF65-F5344CB8AC3E}">
        <p14:creationId xmlns:p14="http://schemas.microsoft.com/office/powerpoint/2010/main" val="37731228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B500F-0B70-4E50-8780-2331E446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090CF-1216-4748-A2F4-2E8554B9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Sleep architecture measurements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B4B8A-F9A4-494B-A470-DA8823B9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48300"/>
                <a:gridCol w="54483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Definition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N1 + N2 + N3 + REM time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Sleep efficiency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100 × TST / evaluated recording duration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Stage percentages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100 × stage sleep time / TST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WASO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Wake time after first sleep to sequence end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Fragmentation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All stage transitions / TST hours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78DC4-E5ED-4B66-B94B-98975614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Recording duration is an evaluated-window measure. Contiguous timing is assumed for the notebook NPZ sequences.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323E6-4219-402D-A208-2D5BD07C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62004-F30C-4B32-BB11-14CC381A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24 / 41</a:t>
            </a:r>
          </a:p>
        </p:txBody>
      </p:sp>
    </p:spTree>
    <p:extLst>
      <p:ext uri="{BB962C8B-B14F-4D97-AF65-F5344CB8AC3E}">
        <p14:creationId xmlns:p14="http://schemas.microsoft.com/office/powerpoint/2010/main" val="21409045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97436-A671-488F-83E9-81F2DAB6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24494-5136-4B61-82FB-A32DDCD7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Sleep duration and efficiency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3D5F9-37AA-4A7B-B05D-96310449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2D2F0-AC9F-4507-A9FD-C08CCCFD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5EB9C-6231-48AE-A377-AE32951A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Each stored epoch contributes 0.5 minutes. Wake is excluded from TST.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A9CAB-9A48-4851-8E42-1A6B35BF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04A48-A151-49F2-B91C-FC1E66C7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Sleep efficiency uses the duration of the evaluated sequence, not independently verified time in bed.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AF28D-0927-4C3A-9F2F-E4CE53A9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5257E-0609-4B4E-A72C-3C40A57E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N1/N2 refinement cannot change TST or efficiency because both labels are sleep.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59B76-3953-4BE4-8797-91432EAC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52077-E1A4-4E4F-B3ED-CA8C7E77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SN001’s 91.5 minutes predicted sleep in a 95-minute segment must not be treated as whole-night sleep duration.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B9557-F35E-4B13-801D-5BC12731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8AE937-6150-4A6C-876B-E96E4C19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25 / 41</a:t>
            </a:r>
          </a:p>
        </p:txBody>
      </p:sp>
    </p:spTree>
    <p:extLst>
      <p:ext uri="{BB962C8B-B14F-4D97-AF65-F5344CB8AC3E}">
        <p14:creationId xmlns:p14="http://schemas.microsoft.com/office/powerpoint/2010/main" val="27551224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81A2E7-D24A-437F-9334-5F28EE44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6E325-7752-496A-8B55-D2FB4C26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Sleep initiation and Wake after sleep onset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5FCDE-F70D-43A4-A894-42FED40C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63C6C-CDA2-4D09-9249-5420862C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74B82-FB43-4627-8460-5C809F4E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SOL = index of first non-Wake epoch × 0.5 minutes.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83BE6-723B-4091-9862-52B97883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13A45-3AF0-4EE3-BB33-0B23A239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WASO includes every Wake epoch after onset, including Wake at the end of this notebook’s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6F25F-80BC-4872-A3BA-1394C34A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A282C-4B84-4DCD-8736-E861B826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REM latency = time from first sleep epoch to first REM epoch.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DBB30-F445-4F4B-B329-49F3B89C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68B32E-F169-4307-A605-6A5F3D2D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No sleep or no REM makes the corresponding metric unavailable. Segment onset is relative to the segment, not lights-out.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5A546-A26D-4AC9-9CD5-05BB099F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546EE-DADC-4375-A1E0-C5245B0F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26 / 41</a:t>
            </a:r>
          </a:p>
        </p:txBody>
      </p:sp>
    </p:spTree>
    <p:extLst>
      <p:ext uri="{BB962C8B-B14F-4D97-AF65-F5344CB8AC3E}">
        <p14:creationId xmlns:p14="http://schemas.microsoft.com/office/powerpoint/2010/main" val="206526623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4F556-F8B1-40ED-842D-97F3B2F7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D9CBD-81F0-499F-9541-C7DD45D5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Stage percentages and fragmentation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2454D-D3C5-4FCC-9850-9556959B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C5590-518C-40BB-AF9F-A0D6B17A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A0C6B-F770-437B-A020-8DB374F6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N1%, N2%, N3%, REM% use TST as the denominator and sum to approximately 100%.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E0D94-FF4B-4941-96A2-19E18185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F7D15-9261-42C9-9640-172107B8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Awakenings count non-Wake → Wake transitions after first sleep.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F0AD5-81A5-4205-83E1-088E0287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BAEAD-D42E-4F20-B973-2C957479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Stage transitions count every adjacent pair whose labels differ.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D1D73-3279-49A4-BB4F-87C9AA31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755ED-965E-4A09-8EE3-EBC28BBD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Fragmentation = stage transitions / TST hours. This project-defined index is not EEG micro-arousal scoring.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3369A-6D07-48F8-A453-5A10D562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0D94D9-BE2D-45A3-B6FB-D946A59B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27 / 41</a:t>
            </a:r>
          </a:p>
        </p:txBody>
      </p:sp>
    </p:spTree>
    <p:extLst>
      <p:ext uri="{BB962C8B-B14F-4D97-AF65-F5344CB8AC3E}">
        <p14:creationId xmlns:p14="http://schemas.microsoft.com/office/powerpoint/2010/main" val="18301199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1D36A-4E54-4033-8FE4-83914F85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D50CA-AA4A-4975-95B7-697E16F4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Recording-level EEG spectral biomarkers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13938-949A-4547-8066-F5FCB2E1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16100"/>
                <a:gridCol w="1816100"/>
                <a:gridCol w="1816100"/>
                <a:gridCol w="1816100"/>
                <a:gridCol w="1816100"/>
                <a:gridCol w="18161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Recording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Delta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Theta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Alpha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Sigma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Beta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0.6749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0.1201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0.0911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0.0420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0.0451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SN004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0.6632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0.1348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0.0703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0.0430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0.0611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0.6323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0.1284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0.0863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0.0562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0.0682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SN022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0.6826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0.1565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0.0384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0.0254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0.0781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C0FE1-6D57-4655-A322-05CFAB08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Means of per-epoch relative features across all evaluated epochs, including Wake. Four band/Delta ratios are also retained.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57A5F-F9D3-4C6B-B459-EC7CB12C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5D54F-EF93-4B91-A06E-3F5140EC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28 / 41</a:t>
            </a:r>
          </a:p>
        </p:txBody>
      </p:sp>
    </p:spTree>
    <p:extLst>
      <p:ext uri="{BB962C8B-B14F-4D97-AF65-F5344CB8AC3E}">
        <p14:creationId xmlns:p14="http://schemas.microsoft.com/office/powerpoint/2010/main" val="384467120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FBF58-2F89-4F46-A6EE-94FB8C1D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4E99B-D071-442A-89A6-16B95078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Master feature matrix and training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B0A6A-7604-47A6-B21C-A0260A7C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9F96C-A593-43BE-8A28-C28D9CB1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BCFF5-1DC7-4ECF-990E-748B5044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Test matrix: 4 rows × 23 columns = subject ID + 22 numeric fields.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2377B-39C4-4254-911F-0CA9CC7D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FA076-D179-4D90-8391-FD03F05B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Training reference matrix: 16 rows × 23 columns.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9F945-C15C-4731-917D-DBD0F76C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A13A7-EFD0-422D-96D6-20ECF03C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Numeric fields: 13 recording/architecture fields + nine EEG spectral features.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114B5-5444-40A1-87EC-AC270C6F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2C4EC-78A1-44EE-9FBE-58B1FF73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Deviation analysis excludes recording_minutes: 21 compared fields. Ten architecture metrics feed the four domain statuses.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4A515-5BBF-4485-8496-28A87B36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81492-6044-4DA0-8EDD-80092B2D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29 / 41</a:t>
            </a:r>
          </a:p>
        </p:txBody>
      </p:sp>
    </p:spTree>
    <p:extLst>
      <p:ext uri="{BB962C8B-B14F-4D97-AF65-F5344CB8AC3E}">
        <p14:creationId xmlns:p14="http://schemas.microsoft.com/office/powerpoint/2010/main" val="245623998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27899-9FB2-4925-AB65-0B98C789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000CB-4363-4C0C-8437-ED95552F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Training reference —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EAB86-7DF5-4950-950E-D70C4994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3343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9320"/>
                <a:gridCol w="2179320"/>
                <a:gridCol w="2179320"/>
                <a:gridCol w="2179320"/>
                <a:gridCol w="2179320"/>
              </a:tblGrid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SD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P10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P90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TST minutes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377.81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98.53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256.25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512.50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sleep efficiency percent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78.60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14.17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59.16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93.11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sleep onset latency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9.63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7.21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3.50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14.25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WASO minutes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88.06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61.09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27.75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179.25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N1 percent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20.33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10.59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7.63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36.58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N2 percent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40.48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14.03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24.70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57.26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N3 percent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26.22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11.39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15.55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40.99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REM percent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12.96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5.71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5.80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19.42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C1E72-B5E1-49C8-936B-DB2F4429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Sample SD uses ddof=1; empirical quantiles use linear interpolation. Reference architecture uses fitted training-recording predictions.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ECECC-5402-4E19-A8A9-037BBC9F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15CC7-D440-4240-9930-A2E9E92E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30 / 41</a:t>
            </a:r>
          </a:p>
        </p:txBody>
      </p:sp>
    </p:spTree>
    <p:extLst>
      <p:ext uri="{BB962C8B-B14F-4D97-AF65-F5344CB8AC3E}">
        <p14:creationId xmlns:p14="http://schemas.microsoft.com/office/powerpoint/2010/main" val="275512589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9A275-7383-4025-85C9-8BBD4252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DEAFB-83AD-4BBD-9A15-7A1F40C4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Training reference — EEG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9F070-B0A1-4F27-AF7D-29AA9F8B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9320"/>
                <a:gridCol w="2179320"/>
                <a:gridCol w="2179320"/>
                <a:gridCol w="2179320"/>
                <a:gridCol w="2179320"/>
              </a:tblGrid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EEG feature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SD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P10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P90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delta relative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0.6674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0.0674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0.5775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0.7401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theta relative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0.1269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0.0219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0.1046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0.1500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alpha relative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0.0888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0.0448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0.0491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0.1557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sigma relative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0.0349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0.0085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0.0236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0.0465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beta relative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0.0563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0.0284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0.0354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0.0926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sigma delta ratio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0.0656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0.0221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0.0364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0.0930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theta delta ratio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0.2234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0.0677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0.1706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0.3100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alpha delta ratio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0.1985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0.1704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0.0754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0.3880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beta delta ratio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0.1148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0.0715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0.0631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0.1878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978CF-CFDF-4A88-AB77-300D8BE0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Dataset-derived descriptive boundaries from 16 training recordings. No healthy normative cohort was established.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98F8E-5891-42AC-9054-2EC4FF64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49954-1367-4584-9AF6-2F11B552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31 / 41</a:t>
            </a:r>
          </a:p>
        </p:txBody>
      </p:sp>
    </p:spTree>
    <p:extLst>
      <p:ext uri="{BB962C8B-B14F-4D97-AF65-F5344CB8AC3E}">
        <p14:creationId xmlns:p14="http://schemas.microsoft.com/office/powerpoint/2010/main" val="180067098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A71AA-998F-4DAC-9A61-D3FE5428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2F98F-6787-41B8-8D7A-CA1C17CF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Z-scores and P10/P90 regions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1E1B5-14A4-40AA-81B6-589833DC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1BFA8-CD20-468C-A769-698CFC1D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7EB3B-6AB5-454E-AF85-76ABE912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z = (recording value − reference mean) / reference SD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4E3B3-4F15-4E73-A24C-2359343F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F21B6-97C7-4022-885A-A27F12F2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LOW: below P10; NORMAL: P10 through P90; HIGH: above P90.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AC790-3C22-459D-B28B-CC6CADA6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13C7A-4DAB-420A-8786-E6283213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Z-score measures magnitude and direction; percentile regions provide a categorical reference comparison.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0A745-96C0-425B-AED9-94810BE4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04C07-DEBC-45AE-9120-389BEC55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NORMAL means within the dataset interval. LOW/HIGH do not mean medically bad/good. Equality at either boundary stays within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D20BA-C4D7-4278-99A5-62CABEAB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D6B89-C25D-4D60-9993-B650012D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32 / 41</a:t>
            </a:r>
          </a:p>
        </p:txBody>
      </p:sp>
    </p:spTree>
    <p:extLst>
      <p:ext uri="{BB962C8B-B14F-4D97-AF65-F5344CB8AC3E}">
        <p14:creationId xmlns:p14="http://schemas.microsoft.com/office/powerpoint/2010/main" val="14641534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5226B-D213-47E3-ABB2-47DD4657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2E89D-12FF-496F-92E9-00789D35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Four sleep-health domains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0560D-6F3E-4850-AAD2-6D9E30D6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48300"/>
                <a:gridCol w="54483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Domain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Metrics used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Duration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Continuity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Sleep efficiency, WASO, awakenings, fragmentation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Initiation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Architecture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N1%, N2%, N3%, REM%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683DF-0DAA-4BD7-AB87-FB090BB8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Any LOW or HIGH metric makes its domain DEVIATED. EEG deviations are shown separately and do not determine domain counts.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B4B40-0845-4868-8768-C9346108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7CC0F-0371-466D-90B4-B16C39AF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33 / 41</a:t>
            </a:r>
          </a:p>
        </p:txBody>
      </p:sp>
    </p:spTree>
    <p:extLst>
      <p:ext uri="{BB962C8B-B14F-4D97-AF65-F5344CB8AC3E}">
        <p14:creationId xmlns:p14="http://schemas.microsoft.com/office/powerpoint/2010/main" val="412382439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923FF-50F0-49F1-947E-C3AD29F5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09AA1-0F42-476A-898A-AED938E6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Overall descriptive profile levels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2950E-934B-4BDD-921D-69652D2D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48300"/>
                <a:gridCol w="54483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Deviated domains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Profile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Reference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Mild Deviation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Moderate Deviation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3 or 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High Deviation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1EAB5-BC56-4F13-8646-853C2160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Reference boundaries describe the HMC training cohort; profile levels are descriptive domain counts.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65165-8DF2-4F9A-85D7-BB860DD3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44ECE-A561-4680-B690-549AF9AC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34 / 41</a:t>
            </a:r>
          </a:p>
        </p:txBody>
      </p:sp>
    </p:spTree>
    <p:extLst>
      <p:ext uri="{BB962C8B-B14F-4D97-AF65-F5344CB8AC3E}">
        <p14:creationId xmlns:p14="http://schemas.microsoft.com/office/powerpoint/2010/main" val="26830493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9327F-4D99-41BE-81F6-3E745199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865BB-DC5B-4953-873A-411E6D46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Test-recording domain profiles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BA7FA-440D-4782-B0A2-29E4AF8F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16100"/>
                <a:gridCol w="1816100"/>
                <a:gridCol w="1816100"/>
                <a:gridCol w="1816100"/>
                <a:gridCol w="1816100"/>
                <a:gridCol w="1816100"/>
              </a:tblGrid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Recording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Duration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Continuity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Initiation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Architecture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Overall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High Deviation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SN004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ref.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High Deviation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Mild Deviation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SN022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ref.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ref.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Moderate Deviation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AC97A-CBDD-4EE4-8732-0F6C20C0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SN001: segment profile. HMC reference deviations are neither disease-risk predictions nor validated severity levels.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4889F-5053-459D-AE61-D54F79D6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D288A-C2AC-4C6F-B681-29518AA5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35 / 41</a:t>
            </a:r>
          </a:p>
        </p:txBody>
      </p:sp>
    </p:spTree>
    <p:extLst>
      <p:ext uri="{BB962C8B-B14F-4D97-AF65-F5344CB8AC3E}">
        <p14:creationId xmlns:p14="http://schemas.microsoft.com/office/powerpoint/2010/main" val="359249901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DEAE8-3913-4A64-A245-6D827645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E1DD3-7FAF-4947-807F-A9C42812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Interactive Sleep Studio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15DAF-1492-4F6B-83E1-57790E6C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cd3723b8f4c33"/>
          <a:stretch xmlns:a="http://schemas.openxmlformats.org/drawingml/2006/main"/>
        </p:blipFill>
        <p:spPr>
          <a:xfrm xmlns:a="http://schemas.openxmlformats.org/drawingml/2006/main">
            <a:off x="2910284" y="1447800"/>
            <a:ext cx="6314281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5CCC9-5839-47E1-A022-F314234F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Select SN001/SN004/SN009/SN022. Inspect domains, sleep architecture, nine EEG features, z-scores, P10/P90, and source artifacts.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242EC-32D4-4838-937C-CBF9B7E7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6A169-B145-4158-839C-B80030A9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36 / 41</a:t>
            </a:r>
          </a:p>
        </p:txBody>
      </p:sp>
    </p:spTree>
    <p:extLst>
      <p:ext uri="{BB962C8B-B14F-4D97-AF65-F5344CB8AC3E}">
        <p14:creationId xmlns:p14="http://schemas.microsoft.com/office/powerpoint/2010/main" val="221326618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E6245-AAF1-42EB-8422-0DA8C78C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61A07-8FA5-4004-9C63-0CA39107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Complete implemented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4BF74-A289-4E12-99D9-4F965908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7D004-4BA0-4CB7-910D-FBAC7940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D5BED-22B6-43A7-A8E6-16D4F455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Raw EEG → existing preprocessing → evidential Transformer → targeted N1/N2 spectral refinement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144E9-A7C1-4E02-8058-EF6FFC2D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1CC3A-C2B1-4244-82F4-9F037B00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Refined hypnogram → sleep architecture; EEG → spectral biomarkers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8FE7E-F40F-4965-B2FF-6B2705D9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D0A57-500B-4E9A-ABAD-1C0A34E9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Recording feature matrix → 16-recording training reference → z-scores + P10/P90 regions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217E4-5437-498B-8546-73531070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39ED9-B98F-4BD7-B720-8CD89F02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Four domain statuses → descriptive overall deviation profile → interactive dashboard and report exports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024B4-6D47-4AED-933E-B45FECE3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A9808-6932-45D2-8619-08F6645A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37 / 41</a:t>
            </a:r>
          </a:p>
        </p:txBody>
      </p:sp>
    </p:spTree>
    <p:extLst>
      <p:ext uri="{BB962C8B-B14F-4D97-AF65-F5344CB8AC3E}">
        <p14:creationId xmlns:p14="http://schemas.microsoft.com/office/powerpoint/2010/main" val="137258202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D4E43-524D-4D46-A5A0-975385C9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8FD7E-A46A-4D9A-A209-B7977817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Limitations and unimplemented extensions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04143-A54E-4FD1-A8FA-1442F2A2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463F8-63CB-43B2-BF37-D4CB997D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CDB4E-6B44-4F26-897F-E8A55A6D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No explicit spindle detector, dedicated formal SWA metric, or spectral edge frequency.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8AEF7-8A48-4BA9-AC85-FBE97F6E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90B48-1C9F-4CB0-BB42-41E7C14A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No clinically validated normative ranges, disease prediction, or diagnostic severity classification.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BAAAC-5943-4E5E-9436-DB9823E8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54711-C836-4A92-95B8-C661F788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No documented repeated-night participant mapping for true longitudinal personalization.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A28C3-D2A0-4FF3-A480-4F62CC59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995E0-589D-4625-830C-9B576D16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Small clinical reference (16 recordings), assumed NPZ continuity, in-sample reference architecture, and a partial SN001 input.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13596-3024-47CB-ADB7-1CE11502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3C5BC-509A-4F29-8418-4FB78553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38 / 41</a:t>
            </a:r>
          </a:p>
        </p:txBody>
      </p:sp>
    </p:spTree>
    <p:extLst>
      <p:ext uri="{BB962C8B-B14F-4D97-AF65-F5344CB8AC3E}">
        <p14:creationId xmlns:p14="http://schemas.microsoft.com/office/powerpoint/2010/main" val="369999667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8F09E-D185-4A8F-83FB-0B8378AA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2C1DA-57D3-4797-8294-4276D9BE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Model uncertainty and profile deviation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47971-07F7-44B2-9A4B-57490FC3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8966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32200"/>
                <a:gridCol w="3632200"/>
                <a:gridCol w="36322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 answered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91440" marR="91440" marT="45720" marB="45720">
                    <a:solidFill>
                      <a:srgbClr val="102E4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Transformer uncertainty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How much evidence supports this epoch classification?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5 / sum(alpha)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Sleep-health deviation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How does this recording compare with the training reference?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z-score and P10/P90</a:t>
                      </a:r>
                    </a:p>
                  </a:txBody>
                  <a:tcPr marL="91440" marR="91440" marT="45720" marB="45720">
                    <a:solidFill>
                      <a:srgbClr val="E8F2F5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Overall profile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How many architecture domains deviate?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0–4 domain 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ED1C9-876E-459E-BFD1-A40D6FEF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The new label refinement does not recalibrate Transformer probabilities or provide uncertainty for the logistic classifier.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52855-811E-4387-BF91-F2539365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C8BFA-43D6-4582-94DD-0112F5EF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39 / 41</a:t>
            </a:r>
          </a:p>
        </p:txBody>
      </p:sp>
    </p:spTree>
    <p:extLst>
      <p:ext uri="{BB962C8B-B14F-4D97-AF65-F5344CB8AC3E}">
        <p14:creationId xmlns:p14="http://schemas.microsoft.com/office/powerpoint/2010/main" val="281868245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7A2AB-9079-4111-9098-4E71D2D1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CCCFC-F5F5-43D6-886C-26A2DDCC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Project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9B241-8A90-4F54-B51E-DCC30D4C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09007-F7A7-4547-A83B-C5F1EF88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0E29F-C5F3-4378-AA34-647C39DF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The retained Transformer’s test accuracy improves from 55.45% to 59.34% with targeted spectral refinement.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E8212-3790-4B66-B09D-DE6ABC1B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5B0CD-0AF7-43E2-9C5D-2BA0E2FE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Macro F1 improves from 57.42% to 59.51%; N1 and N2 remain challenging.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B949A-71F2-49ED-86FD-A2F3EF45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50788-84CC-4E20-A717-552AA1AA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The dashboard combines architecture, EEG spectral features, reference deviations, and four-domain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CB498-7D19-4283-B32A-4F9B97EA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29569-44B2-4743-BD0C-BF8DB62C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Reference boundaries describe the HMC training cohort; profile levels are descriptive domain counts.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3A970-F875-49F3-BE77-8134B713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31A1E-02F1-4044-90F0-75D57695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40 / 41</a:t>
            </a:r>
          </a:p>
        </p:txBody>
      </p:sp>
    </p:spTree>
    <p:extLst>
      <p:ext uri="{BB962C8B-B14F-4D97-AF65-F5344CB8AC3E}">
        <p14:creationId xmlns:p14="http://schemas.microsoft.com/office/powerpoint/2010/main" val="30765038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0D955-D18B-4285-AB5F-EECB4345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AD008-3859-47A1-9749-71E5C963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Sources and 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401AB-EA7E-496B-BBD8-59EE6EE4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CF3B4-7221-4877-BEF9-28FE1BC1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C1E91-AA16-42E3-8AF7-EA27B573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Implementation: Biomarker_N1_N2_Refinement.ipynb, new pipeline cells 1–46.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9E91A-2C2A-4EAF-85B9-4882E934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6EEBC-9419-4999-9B58-85EA7AB4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Independent Colab reproduction: HMC-N1N2-20261007; saved checkpoint and stored NPZ inputs.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F1627-2A8B-4F46-8328-9F939506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8B374-9BB5-471F-8E58-807A6A95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HMC v1.1: Alvarez-Estevez &amp; Rijsman (2022), DOI 10.13026/t79q-fr32.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1436D-7A18-4191-AC0A-027CE777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F175D-326E-46C2-A350-89242982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Full feature tables, refiner scaler/coefficients, per-epoch outputs, hashes, and checks are in refinement_artifacts/verified.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7FA88-D866-44AE-A766-ECE76883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2F516-7B8D-441F-A829-F1BB8971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24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41 / 41</a:t>
            </a:r>
          </a:p>
        </p:txBody>
      </p:sp>
    </p:spTree>
    <p:extLst>
      <p:ext uri="{BB962C8B-B14F-4D97-AF65-F5344CB8AC3E}">
        <p14:creationId xmlns:p14="http://schemas.microsoft.com/office/powerpoint/2010/main" val="335581468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2026-10-08T03:33:55.7100000Z</dcterms:created>
  <dcterms:modified xsi:type="dcterms:W3CDTF">2026-10-08T03:33:55.7100000Z</dcterms:modified>
</coreProperties>
</file>