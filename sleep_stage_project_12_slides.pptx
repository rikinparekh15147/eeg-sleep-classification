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endParaRPr/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r>
              <a:t>HMC v1.1: 151 clinical recordings; subset 24. Four channels, 100 Hz, 30 s (4 × 3,000). SN001: 95-minute segment.</a:t>
            </a:r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endParaRPr/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r>
              <a:t>These are project feature boundaries, not AASM staging definitions. Sigma power does not measure spindle density.</a:t>
            </a:r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endParaRPr/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r>
              <a:t>Accuracy +3.89 pp; macro F1 +2.10 pp using unrounded values. N1 F1 +4.03 pp; N2 F1 +6.45 pp.</a:t>
            </a:r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r>
              <a:t>Recording duration is an evaluated-window measure. Contiguous timing is assumed for the notebook NPZ sequences.</a:t>
            </a:r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r>
              <a:t>Dataset reference, not healthy norms. EEG deviations are displayed separately; profile levels are descriptive counts.</a:t>
            </a:r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r>
              <a:t>SN001: segment profile. HMC reference deviations are neither disease-risk predictions nor validated severity levels.</a:t>
            </a:r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r>
              <a:t>Select SN001/SN004/SN009/SN022. Inspect domains, sleep architecture, nine EEG features, z-scores, P10/P90, and source artifacts.</a:t>
            </a:r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endParaRPr/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Biomarker_N1_N2_Refinement.ipynb cells 1–46; independent reproduction HMC-N1N2-20261007.</a:t>
            </a:r>
          </a:p>
          <a:p>
            <a:endParaRPr/>
          </a:p>
          <a:p>
            <a:r>
              <a:t>HMC is a heterogeneous clinical cohort, not a healthy normative population.</a:t>
            </a:r>
          </a:p>
          <a:p>
            <a:r>
              <a:t>Deviation levels count domains, not clinical severity or disease risk.</a:t>
            </a:r>
          </a:p>
          <a:p>
            <a:r>
              <a:t>Stored SN001 has 190 epochs (95 minutes); whole-night interpretation is unsupported.</a:t>
            </a:r>
          </a:p>
          <a:p>
            <a:r>
              <a:t>Epoch-index timing assumes continuity; original EDF alignment needs separate verification.</a:t>
            </a:r>
          </a:p>
          <a:p>
            <a:r>
              <a:t>Reference architecture is estimated in sample on training recordings.</a:t>
            </a:r>
          </a:p>
          <a:p>
            <a:r>
              <a:t>Transformer uncertainty applies to the original five-stage output, not refined classification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61BBDF-1A95-4B35-B29B-51DA582D28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6057FE-F124-47B3-A21A-CD0B2E44B6F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8A6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A69B"/>
                </a:solidFill>
                <a:latin typeface="Arial"/>
                <a:ea typeface="Arial"/>
                <a:cs typeface="Arial"/>
              </a:rPr>
              <a:t>FINAL PROJECT REPORT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32D72-29C4-4706-B47A-280B47FF678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858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EEG Sleep Classification and Reference-Based Sleep-Health Profiling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C2023E-58C7-42B0-B74E-4F8632D4E886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Existing evidential Transformer with targeted N1/N2 spectral refinement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BCA5E-AD43-4B70-9FE2-7E00CA46C088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8763000" cy="1638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lang="en-IN"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Om Ahuja</a:t>
            </a:r>
            <a:r>
              <a:rPr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 · </a:t>
            </a:r>
            <a:r>
              <a:rPr lang="en-IN"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23BIT014</a:t>
            </a:r>
            <a:endParaRPr sz="1575" b="0" dirty="0">
              <a:solidFill>
                <a:srgbClr val="102E49"/>
              </a:solidFill>
              <a:latin typeface="Arial"/>
              <a:ea typeface="Arial"/>
              <a:cs typeface="Arial"/>
            </a:endParaRPr>
          </a:p>
          <a:p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lang="en-IN"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Rikin Parekh</a:t>
            </a:r>
            <a:r>
              <a:rPr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 · 23BIT0</a:t>
            </a:r>
            <a:r>
              <a:rPr lang="en-IN"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4</a:t>
            </a:r>
            <a:r>
              <a:rPr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4</a:t>
            </a:r>
          </a:p>
          <a:p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Guide: Dr. Santosh </a:t>
            </a:r>
            <a:r>
              <a:rPr sz="1575" b="0" dirty="0" err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Sathpathy</a:t>
            </a:r>
            <a:endParaRPr sz="1575" b="0" dirty="0">
              <a:solidFill>
                <a:srgbClr val="102E49"/>
              </a:solidFill>
              <a:latin typeface="Arial"/>
              <a:ea typeface="Arial"/>
              <a:cs typeface="Arial"/>
            </a:endParaRPr>
          </a:p>
          <a:p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Information and Communication Technology</a:t>
            </a:r>
          </a:p>
          <a:p>
            <a:pPr>
              <a:defRPr sz="15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02E49"/>
                </a:solidFill>
                <a:latin typeface="Arial"/>
                <a:ea typeface="Arial"/>
                <a:cs typeface="Arial"/>
              </a:rPr>
              <a:t>Pandit Deendayal Energy University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8874B4-4708-44C0-9854-989B07C2CF33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Verified notebook reproduction · 7 October 2026</a:t>
            </a:r>
          </a:p>
        </p:txBody>
      </p:sp>
    </p:spTree>
    <p:extLst>
      <p:ext uri="{BB962C8B-B14F-4D97-AF65-F5344CB8AC3E}">
        <p14:creationId xmlns:p14="http://schemas.microsoft.com/office/powerpoint/2010/main" val="220873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11AA65-5FE1-46C3-BA00-9567C73D6F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0635E8-3D2C-45DD-B28C-C6970B9D7AEC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HMC data and EEG input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75C87-301C-46B6-8A62-AA294CA742A4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graphicFrame>
        <p:nvGraphicFramePr>
          <p:cNvPr id="11" name="Table 10"/>
          <p:cNvGraphicFramePr/>
          <p:nvPr/>
        </p:nvGraphicFramePr>
        <p:xfrm>
          <a:off x="609600" y="1571625"/>
          <a:ext cx="10896600" cy="2857500"/>
        </p:xfrm>
        <a:graphic>
          <a:graphicData uri="http://schemas.openxmlformats.org/drawingml/2006/table">
            <a:tbl>
              <a:tblPr/>
              <a:tblGrid>
                <a:gridCol w="363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Recordings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Stored epochs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15,216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3,619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3,109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21,944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247D011-1590-49A5-A97C-55A113C1E46B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HMC v1.1: 151 clinical recordings; subset 24. Four channels, 100 Hz, 30 s (4 × 3,000). SN001: 95-minute segment.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8300E-F9B1-45C1-97DA-B0B6C38C0544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DDB127-980C-470A-BD7E-D66A8EF53B4D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20200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9167E6-1ACA-4649-9004-5E406439BD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5619DA-8D9E-45FB-8442-A6099AAE0E20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Retained Fast SCFormer-U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F62D44-90BB-4AE2-8CD9-2C17FF336AAE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C79BC2-A4C7-4A96-AA21-A391D16EB33E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BC803A-C2F2-4E2B-8837-961EFE8478C5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4 × 3,000 EEG → Conv1D 64 (kernel 7, stride 4) → Conv1D 128 (kernel 5, stride 4)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F67C13-FFAD-4A39-BE0C-3D70AE9F448F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2557AB-0039-46C2-9F2B-5FB9827BD66C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Self-attention: 4 heads, key dimension 16; residual normalization and feed-forward layers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7D9628-C7D0-419D-9F1B-5C7428CA31C2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DC9059-1E7E-4768-8554-E14F1EC3D2C8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Bidirectional LSTM: 64 units per direction; pooling and dense evidence 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1D6F21-3949-4EE8-8A4B-CE4CD0DE3207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9EA8E1-CDDF-40CD-B2F9-773C4D9229E7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Five softplus evidence outputs; 226,309 total parameters. Attention and recurrence operate within the epoch.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0560AA-03BF-49E6-B3A3-FA40057A4B79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C63F3C-156C-4061-BA2B-1A4EC20AFF2F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06918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56BA7F-52AC-44FC-A7C1-D2A4F63DBC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DE2E9D-E980-4027-B0C8-097ECC3EFA68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Nine EEG features for N1/N2 refinement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9DC579-580C-4E99-82DC-6649E05BC047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graphicFrame>
        <p:nvGraphicFramePr>
          <p:cNvPr id="11" name="Table 10"/>
          <p:cNvGraphicFramePr/>
          <p:nvPr/>
        </p:nvGraphicFramePr>
        <p:xfrm>
          <a:off x="609600" y="1571625"/>
          <a:ext cx="10896600" cy="2857500"/>
        </p:xfrm>
        <a:graphic>
          <a:graphicData uri="http://schemas.openxmlformats.org/drawingml/2006/table">
            <a:tbl>
              <a:tblPr/>
              <a:tblGrid>
                <a:gridCol w="544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 group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Relative band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Delta, Theta, Alpha, Sigma, 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Ratios to Delta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Sigma/Delta, Theta/Delta, Alpha/Delta, Beta/Delta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Frequency bands (Hz)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0.5–4; 4–8; 8–12; 12–16; 16–30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Candidate gate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Transformer predicts N1 or N2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7F60DAF-8E7B-4E19-8743-9424A84B0E61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These are project feature boundaries, not AASM staging definitions. Sigma power does not measure spindle density.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29007-F669-4F55-8F28-430DA9AADBDE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FA5EB-3B21-4B2C-81B1-D04DFAB96E15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3355814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43DFEA0-FC6A-4993-B79A-B673BBEBF8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56103-E27A-40D9-85A4-2A13B806F66E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and inference gates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09C07E-88CA-4EF9-8186-56921EDBC312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DB30C7-511B-4721-A76B-59E459C5D900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9F64A2-4AC7-4966-8267-E47F7000BFCE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Fit the refiner only on training epochs where the true stage AND the Transformer prediction are N1/N2.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A87B9-DCBA-4479-BB3C-DECCCF342A0C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AAD8FB-FF7A-4C04-91C7-E8B77B5A8DD6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subset: 1,278 N1 and 4,588 N2 epochs; 5,866 total.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01044C-7E4F-4F09-A401-038A8D5F53C3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768584-13D8-406B-8E5D-18DDD799F74B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StandardScaler → LogisticRegression(class_weight="balanced", max_iter=2000, random_state=42).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B8897B-BF03-48C4-A191-5F8A2CFD2187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2E088A-983C-45CD-B27A-251B17BCDCA1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At inference, gate by the Transformer prediction only. Ground truth is never used to route test epochs.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411D8C-AD09-4841-BC42-B632CFABFD86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7143B6-40C7-4E84-8A55-04AB308A8F54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425261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8526EB-7AB3-42F8-A695-C90E32A3FD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65D478-0CEE-40B6-A78B-60F6BCE0E1F8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Effect of targeted N1/N2 refinement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CE9DA3-62C1-410B-BA2F-F14134A7AB25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97430" y="1447800"/>
            <a:ext cx="9139989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2AA8B6-F6B4-4172-97FD-AD2007697A04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Accuracy +3.89 pp; macro F1 +2.10 pp using unrounded values. N1 F1 +4.03 pp; N2 F1 +6.45 pp.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245E3-C2EA-4BDD-989E-59039096CF03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D5207D-9A6D-476B-8F31-F0EF0E4AA3F8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20031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3FB53EA-0106-40E7-8656-C9C2AB8632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3B3D69-E265-412B-8E04-B801276C8DC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Sleep architecture measurements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84779-2886-447A-8D43-4D96299E2C5B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graphicFrame>
        <p:nvGraphicFramePr>
          <p:cNvPr id="11" name="Table 10"/>
          <p:cNvGraphicFramePr/>
          <p:nvPr/>
        </p:nvGraphicFramePr>
        <p:xfrm>
          <a:off x="609600" y="1571625"/>
          <a:ext cx="10896600" cy="3429000"/>
        </p:xfrm>
        <a:graphic>
          <a:graphicData uri="http://schemas.openxmlformats.org/drawingml/2006/table">
            <a:tbl>
              <a:tblPr/>
              <a:tblGrid>
                <a:gridCol w="544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TST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N1 + N2 + N3 + REM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Sleep efficiency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100 × TST / evaluated recording duration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Stage percentages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100 × stage sleep time / TST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WASO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Wake time after first sleep to sequence end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Fragmentation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All stage transitions / TST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7DC56A3-5783-43B8-A3ED-154FAB5310AC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Recording duration is an evaluated-window measure. Contiguous timing is assumed for the notebook NPZ sequences.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84A96A-14F2-43DF-B7AC-6C5C1131EAAA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6BAFE-9DF4-4229-9288-8E07CB45F2C4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30293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6BBA279-758D-4F3B-A4CE-4095CF176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B7C5EC-B542-481A-A497-904252FDD481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Training reference and four-domain profiles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CE2B1A-D81F-45C0-818B-80FA3745F19C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0F8032-10C8-4E04-BC39-4E12B302DE72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40387-D05D-432F-8D12-095E03FE1E9F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Reference: 16 training recordings; test matrix: ID + 22 numeric fields. Compare 21 fields, excluding duration of the evaluated window.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EA58ED-41AE-4894-B017-3DFFBBFAC763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DF6330-7A6C-4B3C-9C66-350A608BBB11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z = (value − mean) / sample SD. Below P10 → LOW; P10–P90 → NORMAL; above P90 → HIGH.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AD0B02-5923-4564-98B5-40BF6CA3EC23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E937BC-439B-4875-B791-4F2864F18C79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Domains: Duration (TST); Continuity (efficiency, WASO, awakenings, fragmentation); Initiation (SOL); Architecture (N1/N2/N3/REM %).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62A948-049C-4F45-9E42-D7DAAC4FFB58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DE7984-0511-4022-8A5B-F6811E16EF4D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Any out-of-range metric marks its domain. 0 / 1 / 2 / 3–4 deviated domains → Within Reference / Mild / Moderate / High Deviation.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6AC7EC-4075-4344-9139-7006BB2FD7D8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Dataset reference, not healthy norms. EEG deviations are displayed separately; profile levels are descriptive counts.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D4BAD2-C32E-4750-8F6B-FF393C9D9D73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AED7B3-F7D3-4DBE-910C-4DD5D587F34C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06967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61883F-60FF-4C10-97BB-DC266A2E1E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554248-04C7-45CC-AAC0-AE0F9E90847D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Test-recording domain profiles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746CA-712D-44DB-98FF-3D8ECEF5CA2D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graphicFrame>
        <p:nvGraphicFramePr>
          <p:cNvPr id="11" name="Table 10"/>
          <p:cNvGraphicFramePr/>
          <p:nvPr/>
        </p:nvGraphicFramePr>
        <p:xfrm>
          <a:off x="609600" y="1571625"/>
          <a:ext cx="10896600" cy="1857375"/>
        </p:xfrm>
        <a:graphic>
          <a:graphicData uri="http://schemas.openxmlformats.org/drawingml/2006/table">
            <a:tbl>
              <a:tblPr/>
              <a:tblGrid>
                <a:gridCol w="181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Recording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Continuity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Initiation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>
                    <a:solidFill>
                      <a:srgbClr val="102E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High Deviation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SN004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High Deviation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Mild Deviation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SN022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Within ref.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Deviated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E49"/>
                          </a:solidFill>
                          <a:latin typeface="Arial"/>
                          <a:ea typeface="Arial"/>
                          <a:cs typeface="Arial"/>
                        </a:rPr>
                        <a:t>Moderate Deviation</a:t>
                      </a:r>
                    </a:p>
                  </a:txBody>
                  <a:tcPr>
                    <a:solidFill>
                      <a:srgbClr val="E8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2CB2A7A-0502-4464-8976-15B3E3140CA1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SN001: segment profile. HMC reference deviations are neither disease-risk predictions nor validated severity levels.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3D2779-8801-4BB6-9475-69DD5798234B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078EB-E901-4EF9-9C14-38DE7C129443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434895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11EBF1-14AC-4BB6-BDDD-C9CE32AB91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E4755E-FF0D-427F-9497-9BA93D43534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Interactive Sleep Studio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B0737B-569D-496E-A23D-EEE648036C45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0284" y="1447800"/>
            <a:ext cx="6314281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4EBD46-98CD-4679-AEFB-45B97A4A7867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Select SN001/SN004/SN009/SN022. Inspect domains, sleep architecture, nine EEG features, z-scores, P10/P90, and source artifacts.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A94F5F-3E4E-424A-B689-1D70050FD70B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473DFE-20D5-4C9A-8FC2-5A59B947CFF1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92251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1F5EA7D-095A-4ADF-9B88-213930D9C7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7C0B2F-BDEF-4AAD-9427-B026BB3C0591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Complete implemented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B4FCC6-B228-48DA-9909-E3ED87DBE408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6C6BBF-EF33-45CA-8021-D84AA053DD3D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7C1050-E425-4E1E-8032-D3105F387B76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Raw EEG → existing preprocessing → evidential Transformer → targeted N1/N2 spectral refinement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E32B69-7C88-4939-8DA6-039C3DE9F283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FCAB8B-1A29-4C6A-A4E1-652F6CEAA3B6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Refined hypnogram → sleep architecture; EEG → spectral biomarkers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1BCCBF-DD0F-48A8-9240-7AD1560E355D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AB7D7-CA05-4BDA-9AA6-6F995DB748A7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Recording feature matrix → 16-recording training reference → z-scores + P10/P90 regions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F77E74-1C3A-45D1-9353-B86346658907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803EF3-D557-4728-8384-6CF1E180A674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Four domain statuses → descriptive overall deviation profile → interactive dashboard and report exports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A21149-31EE-499B-A82A-7501FAE1A893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E162CF-B308-4012-96C1-BE4D97D094B8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75512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74C735-2DD7-430C-94A4-41C343668B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BB5E79-1412-40BE-A014-AEF8EFF30BAC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E49"/>
                </a:solidFill>
                <a:latin typeface="Arial"/>
                <a:ea typeface="Arial"/>
                <a:cs typeface="Arial"/>
              </a:rPr>
              <a:t>Limitations and unimplemented extensions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E152EF-3F56-4408-BAB4-D7BB1E62139E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10953750" cy="1905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4E98E1-3ECB-4220-AFED-3CC1F6BF758E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34F481-0C5E-41BF-AB26-9DBD2AE77CA6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explicit spindle detector, dedicated formal SWA metric, or spectral edge frequency.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103C1E-F260-4462-852B-901177D8CAA2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372B5B-2A73-49B4-B180-9EEE802B0E8E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clinically validated normative ranges, disease prediction, or diagnostic severity classification.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D1E1A1-FA18-426C-9EE1-31B877452B2B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BC3A08-4FE2-442B-BF3E-6F76E5D35617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No documented repeated-night participant mapping for true longitudinal personalization.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1FF3EF-7EE6-41EB-8D97-5E2253141284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47625" cy="381000"/>
          </a:xfrm>
          <a:prstGeom prst="rect">
            <a:avLst/>
          </a:prstGeom>
          <a:solidFill>
            <a:srgbClr val="18A69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D9B22-439B-4CBE-A40D-852BB283C8D1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10572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02E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E49"/>
                </a:solidFill>
                <a:latin typeface="Arial"/>
                <a:ea typeface="Arial"/>
                <a:cs typeface="Arial"/>
              </a:rPr>
              <a:t>Small clinical reference (16 recordings), assumed NPZ continuity, in-sample reference architecture, and a partial SN001 input.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9787E-8AE8-4722-8159-BEF2FAEAF95E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10287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Source: HMC-N1N2-20261007 · notebook and reproduced artifacts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47B2F6-63E4-45CA-ADDA-D019B62924E2}"/>
              </a:ext>
            </a:extLst>
          </p:cNvPr>
          <p:cNvSpPr>
            <a:spLocks noGrp="1"/>
          </p:cNvSpPr>
          <p:nvPr/>
        </p:nvSpPr>
        <p:spPr>
          <a:xfrm>
            <a:off x="11191875" y="65246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5269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9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8301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2177</Words>
  <Application>Microsoft Office PowerPoint</Application>
  <DocSecurity>0</DocSecurity>
  <PresentationFormat>Widescreen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Rikin Parekh</cp:lastModifiedBy>
  <cp:revision>1</cp:revision>
  <dcterms:created xsi:type="dcterms:W3CDTF">2026-10-08T03:33:44Z</dcterms:created>
  <dcterms:modified xsi:type="dcterms:W3CDTF">2026-10-08T05:24:48Z</dcterms:modified>
</cp:coreProperties>
</file>