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72" y="2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049574-D4BD-4545-AE6D-70E0DD794FD7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76CF03-D024-4D99-ABA8-BE7E567C4F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0995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Authors, enrollment numbers, guide and institution are supplied by the project owner. Full project title retained across title and subtitle. HMC-PPT-20261007-01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Problem Statement</a:t>
            </a:r>
          </a:p>
          <a:p>
            <a:r>
              <a:t>Run: HMC-PPT-20261007-01</a:t>
            </a:r>
          </a:p>
          <a:p>
            <a:r>
              <a:t>Sources: project scope, preprocessing_config.json</a:t>
            </a:r>
          </a:p>
          <a:p>
            <a:r>
              <a:t>Test recordings: SN009, SN001, SN004, SN022.</a:t>
            </a:r>
          </a:p>
          <a:p>
            <a:r>
              <a:t>Checkpoint: /content/drive/MyDrive/Sleep_Health_Profiling/models/HMC_CHECKPOINTS/best_objective1_model.keras</a:t>
            </a:r>
          </a:p>
          <a:p>
            <a:r>
              <a:t>Checkpoint SHA256: 3bf1423246d5672ce7473562079cb4e8d9aa1a578e18c1cb65e6b43e4156b226</a:t>
            </a:r>
          </a:p>
          <a:p>
            <a:r>
              <a:t>All classification results use identical corrected test epochs.</a:t>
            </a:r>
          </a:p>
          <a:p>
            <a:r>
              <a:t>Only four test recordings; no external validation.</a:t>
            </a:r>
          </a:p>
          <a:p>
            <a:r>
              <a:t>Final training hardware and global training RNG state not preserved.</a:t>
            </a:r>
          </a:p>
          <a:p>
            <a:r>
              <a:t>Notebook execution counts were cleared; saved outputs are historical evidence rather than complete execution provenance.</a:t>
            </a:r>
          </a:p>
          <a:p>
            <a:r>
              <a:t>Test records were evaluated repeatedly in notebook development; not a newly blinded clinical test.</a:t>
            </a:r>
          </a:p>
          <a:p>
            <a:r>
              <a:t>Rule thresholds have no clinical validation in this project.</a:t>
            </a:r>
          </a:p>
          <a:p>
            <a:r>
              <a:t>Evidential probabilities are not a separately fitted self-calibrated condition.</a:t>
            </a:r>
          </a:p>
          <a:p>
            <a:r>
              <a:t>SN identifiers denote recordings; repository assumes one subject per ID and has no independent person-identity mapping.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Objectives</a:t>
            </a:r>
          </a:p>
          <a:p>
            <a:r>
              <a:t>Run: HMC-PPT-20261007-01</a:t>
            </a:r>
          </a:p>
          <a:p>
            <a:r>
              <a:t>Sources: checkpoint_config.json, transition_config.json, biomarker_equations.md</a:t>
            </a:r>
          </a:p>
          <a:p>
            <a:r>
              <a:t>Test recordings: SN009, SN001, SN004, SN022.</a:t>
            </a:r>
          </a:p>
          <a:p>
            <a:r>
              <a:t>Checkpoint: /content/drive/MyDrive/Sleep_Health_Profiling/models/HMC_CHECKPOINTS/best_objective1_model.keras</a:t>
            </a:r>
          </a:p>
          <a:p>
            <a:r>
              <a:t>Checkpoint SHA256: 3bf1423246d5672ce7473562079cb4e8d9aa1a578e18c1cb65e6b43e4156b226</a:t>
            </a:r>
          </a:p>
          <a:p>
            <a:r>
              <a:t>All classification results use identical corrected test epochs.</a:t>
            </a:r>
          </a:p>
          <a:p>
            <a:r>
              <a:t>Only four test recordings; no external validation.</a:t>
            </a:r>
          </a:p>
          <a:p>
            <a:r>
              <a:t>Final training hardware and global training RNG state not preserved.</a:t>
            </a:r>
          </a:p>
          <a:p>
            <a:r>
              <a:t>Notebook execution counts were cleared; saved outputs are historical evidence rather than complete execution provenance.</a:t>
            </a:r>
          </a:p>
          <a:p>
            <a:r>
              <a:t>Test records were evaluated repeatedly in notebook development; not a newly blinded clinical test.</a:t>
            </a:r>
          </a:p>
          <a:p>
            <a:r>
              <a:t>Rule thresholds have no clinical validation in this project.</a:t>
            </a:r>
          </a:p>
          <a:p>
            <a:r>
              <a:t>Evidential probabilities are not a separately fitted self-calibrated condition.</a:t>
            </a:r>
          </a:p>
          <a:p>
            <a:r>
              <a:t>SN identifiers denote recordings; repository assumes one subject per ID and has no independent person-identity mapping.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Dataset and Experimental Split</a:t>
            </a:r>
          </a:p>
          <a:p>
            <a:r>
              <a:t>Run: HMC-PPT-20261007-01</a:t>
            </a:r>
          </a:p>
          <a:p>
            <a:r>
              <a:t>Sources: split_summary.json, split_subjects.csv, input_repairs.json</a:t>
            </a:r>
          </a:p>
          <a:p>
            <a:r>
              <a:t>Test recordings: SN009, SN001, SN004, SN022.</a:t>
            </a:r>
          </a:p>
          <a:p>
            <a:r>
              <a:t>Checkpoint: /content/drive/MyDrive/Sleep_Health_Profiling/models/HMC_CHECKPOINTS/best_objective1_model.keras</a:t>
            </a:r>
          </a:p>
          <a:p>
            <a:r>
              <a:t>Checkpoint SHA256: 3bf1423246d5672ce7473562079cb4e8d9aa1a578e18c1cb65e6b43e4156b226</a:t>
            </a:r>
          </a:p>
          <a:p>
            <a:r>
              <a:t>All classification results use identical corrected test epochs.</a:t>
            </a:r>
          </a:p>
          <a:p>
            <a:r>
              <a:t>Only four test recordings; no external validation.</a:t>
            </a:r>
          </a:p>
          <a:p>
            <a:r>
              <a:t>Final training hardware and global training RNG state not preserved.</a:t>
            </a:r>
          </a:p>
          <a:p>
            <a:r>
              <a:t>Notebook execution counts were cleared; saved outputs are historical evidence rather than complete execution provenance.</a:t>
            </a:r>
          </a:p>
          <a:p>
            <a:r>
              <a:t>Test records were evaluated repeatedly in notebook development; not a newly blinded clinical test.</a:t>
            </a:r>
          </a:p>
          <a:p>
            <a:r>
              <a:t>Rule thresholds have no clinical validation in this project.</a:t>
            </a:r>
          </a:p>
          <a:p>
            <a:r>
              <a:t>Evidential probabilities are not a separately fitted self-calibrated condition.</a:t>
            </a:r>
          </a:p>
          <a:p>
            <a:r>
              <a:t>SN identifiers denote recordings; repository assumes one subject per ID and has no independent person-identity mapping.</a:t>
            </a:r>
          </a:p>
          <a:p>
            <a:r>
              <a:t>Full split: {"train": ["SN017", "SN006", "SN020", "SN025", "SN015", "SN011", "SN019", "SN012", "SN016", "SN018", "SN002", "SN013", "SN023", "SN007", "SN010", "SN003"], "val": ["SN024", "SN005", "SN021", "SN008"], "test": ["SN009", "SN001", "SN004", "SN022"]}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EEG Preprocessing</a:t>
            </a:r>
          </a:p>
          <a:p>
            <a:r>
              <a:t>Run: HMC-PPT-20261007-01</a:t>
            </a:r>
          </a:p>
          <a:p>
            <a:r>
              <a:t>Sources: preprocessing_config.json, eeg_example_metadata.json</a:t>
            </a:r>
          </a:p>
          <a:p>
            <a:r>
              <a:t>Test recordings: SN009, SN001, SN004, SN022.</a:t>
            </a:r>
          </a:p>
          <a:p>
            <a:r>
              <a:t>Checkpoint: /content/drive/MyDrive/Sleep_Health_Profiling/models/HMC_CHECKPOINTS/best_objective1_model.keras</a:t>
            </a:r>
          </a:p>
          <a:p>
            <a:r>
              <a:t>Checkpoint SHA256: 3bf1423246d5672ce7473562079cb4e8d9aa1a578e18c1cb65e6b43e4156b226</a:t>
            </a:r>
          </a:p>
          <a:p>
            <a:r>
              <a:t>All classification results use identical corrected test epochs.</a:t>
            </a:r>
          </a:p>
          <a:p>
            <a:r>
              <a:t>Only four test recordings; no external validation.</a:t>
            </a:r>
          </a:p>
          <a:p>
            <a:r>
              <a:t>Final training hardware and global training RNG state not preserved.</a:t>
            </a:r>
          </a:p>
          <a:p>
            <a:r>
              <a:t>Notebook execution counts were cleared; saved outputs are historical evidence rather than complete execution provenance.</a:t>
            </a:r>
          </a:p>
          <a:p>
            <a:r>
              <a:t>Test records were evaluated repeatedly in notebook development; not a newly blinded clinical test.</a:t>
            </a:r>
          </a:p>
          <a:p>
            <a:r>
              <a:t>Rule thresholds have no clinical validation in this project.</a:t>
            </a:r>
          </a:p>
          <a:p>
            <a:r>
              <a:t>Evidential probabilities are not a separately fitted self-calibrated condition.</a:t>
            </a:r>
          </a:p>
          <a:p>
            <a:r>
              <a:t>SN identifiers denote recordings; repository assumes one subject per ID and has no independent person-identity mapping.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Sleep Stage Distribution</a:t>
            </a:r>
          </a:p>
          <a:p>
            <a:r>
              <a:t>Run: HMC-PPT-20261007-01</a:t>
            </a:r>
          </a:p>
          <a:p>
            <a:r>
              <a:t>Sources: stage_distribution.csv, class_weights.csv</a:t>
            </a:r>
          </a:p>
          <a:p>
            <a:r>
              <a:t>Test recordings: SN009, SN001, SN004, SN022.</a:t>
            </a:r>
          </a:p>
          <a:p>
            <a:r>
              <a:t>Checkpoint: /content/drive/MyDrive/Sleep_Health_Profiling/models/HMC_CHECKPOINTS/best_objective1_model.keras</a:t>
            </a:r>
          </a:p>
          <a:p>
            <a:r>
              <a:t>Checkpoint SHA256: 3bf1423246d5672ce7473562079cb4e8d9aa1a578e18c1cb65e6b43e4156b226</a:t>
            </a:r>
          </a:p>
          <a:p>
            <a:r>
              <a:t>All classification results use identical corrected test epochs.</a:t>
            </a:r>
          </a:p>
          <a:p>
            <a:r>
              <a:t>Only four test recordings; no external validation.</a:t>
            </a:r>
          </a:p>
          <a:p>
            <a:r>
              <a:t>Final training hardware and global training RNG state not preserved.</a:t>
            </a:r>
          </a:p>
          <a:p>
            <a:r>
              <a:t>Notebook execution counts were cleared; saved outputs are historical evidence rather than complete execution provenance.</a:t>
            </a:r>
          </a:p>
          <a:p>
            <a:r>
              <a:t>Test records were evaluated repeatedly in notebook development; not a newly blinded clinical test.</a:t>
            </a:r>
          </a:p>
          <a:p>
            <a:r>
              <a:t>Rule thresholds have no clinical validation in this project.</a:t>
            </a:r>
          </a:p>
          <a:p>
            <a:r>
              <a:t>Evidential probabilities are not a separately fitted self-calibrated condition.</a:t>
            </a:r>
          </a:p>
          <a:p>
            <a:r>
              <a:t>SN identifiers denote recordings; repository assumes one subject per ID and has no independent person-identity mapping.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Fast SCFormer-U Architecture</a:t>
            </a:r>
          </a:p>
          <a:p>
            <a:r>
              <a:t>Run: HMC-PPT-20261007-01</a:t>
            </a:r>
          </a:p>
          <a:p>
            <a:r>
              <a:t>Sources: checkpoint_config.json, model_layers.csv</a:t>
            </a:r>
          </a:p>
          <a:p>
            <a:r>
              <a:t>Test recordings: SN009, SN001, SN004, SN022.</a:t>
            </a:r>
          </a:p>
          <a:p>
            <a:r>
              <a:t>Checkpoint: /content/drive/MyDrive/Sleep_Health_Profiling/models/HMC_CHECKPOINTS/best_objective1_model.keras</a:t>
            </a:r>
          </a:p>
          <a:p>
            <a:r>
              <a:t>Checkpoint SHA256: 3bf1423246d5672ce7473562079cb4e8d9aa1a578e18c1cb65e6b43e4156b226</a:t>
            </a:r>
          </a:p>
          <a:p>
            <a:r>
              <a:t>All classification results use identical corrected test epochs.</a:t>
            </a:r>
          </a:p>
          <a:p>
            <a:r>
              <a:t>Only four test recordings; no external validation.</a:t>
            </a:r>
          </a:p>
          <a:p>
            <a:r>
              <a:t>Final training hardware and global training RNG state not preserved.</a:t>
            </a:r>
          </a:p>
          <a:p>
            <a:r>
              <a:t>Notebook execution counts were cleared; saved outputs are historical evidence rather than complete execution provenance.</a:t>
            </a:r>
          </a:p>
          <a:p>
            <a:r>
              <a:t>Test records were evaluated repeatedly in notebook development; not a newly blinded clinical test.</a:t>
            </a:r>
          </a:p>
          <a:p>
            <a:r>
              <a:t>Rule thresholds have no clinical validation in this project.</a:t>
            </a:r>
          </a:p>
          <a:p>
            <a:r>
              <a:t>Evidential probabilities are not a separately fitted self-calibrated condition.</a:t>
            </a:r>
          </a:p>
          <a:p>
            <a:r>
              <a:t>SN identifiers denote recordings; repository assumes one subject per ID and has no independent person-identity mapping.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Role of Each Model Component</a:t>
            </a:r>
          </a:p>
          <a:p>
            <a:r>
              <a:t>Run: HMC-PPT-20261007-01</a:t>
            </a:r>
          </a:p>
          <a:p>
            <a:r>
              <a:t>Sources: checkpoint_config.json, model_layers.csv</a:t>
            </a:r>
          </a:p>
          <a:p>
            <a:r>
              <a:t>Test recordings: SN009, SN001, SN004, SN022.</a:t>
            </a:r>
          </a:p>
          <a:p>
            <a:r>
              <a:t>Checkpoint: /content/drive/MyDrive/Sleep_Health_Profiling/models/HMC_CHECKPOINTS/best_objective1_model.keras</a:t>
            </a:r>
          </a:p>
          <a:p>
            <a:r>
              <a:t>Checkpoint SHA256: 3bf1423246d5672ce7473562079cb4e8d9aa1a578e18c1cb65e6b43e4156b226</a:t>
            </a:r>
          </a:p>
          <a:p>
            <a:r>
              <a:t>All classification results use identical corrected test epochs.</a:t>
            </a:r>
          </a:p>
          <a:p>
            <a:r>
              <a:t>Only four test recordings; no external validation.</a:t>
            </a:r>
          </a:p>
          <a:p>
            <a:r>
              <a:t>Final training hardware and global training RNG state not preserved.</a:t>
            </a:r>
          </a:p>
          <a:p>
            <a:r>
              <a:t>Notebook execution counts were cleared; saved outputs are historical evidence rather than complete execution provenance.</a:t>
            </a:r>
          </a:p>
          <a:p>
            <a:r>
              <a:t>Test records were evaluated repeatedly in notebook development; not a newly blinded clinical test.</a:t>
            </a:r>
          </a:p>
          <a:p>
            <a:r>
              <a:t>Rule thresholds have no clinical validation in this project.</a:t>
            </a:r>
          </a:p>
          <a:p>
            <a:r>
              <a:t>Evidential probabilities are not a separately fitted self-calibrated condition.</a:t>
            </a:r>
          </a:p>
          <a:p>
            <a:r>
              <a:t>SN identifiers denote recordings; repository assumes one subject per ID and has no independent person-identity mapping.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Uncertainty-Aware Classification</a:t>
            </a:r>
          </a:p>
          <a:p>
            <a:r>
              <a:t>Run: HMC-PPT-20261007-01</a:t>
            </a:r>
          </a:p>
          <a:p>
            <a:r>
              <a:t>Sources: calibration_metrics.json, test_uncertainty.csv</a:t>
            </a:r>
          </a:p>
          <a:p>
            <a:r>
              <a:t>Test recordings: SN009, SN001, SN004, SN022.</a:t>
            </a:r>
          </a:p>
          <a:p>
            <a:r>
              <a:t>Checkpoint: /content/drive/MyDrive/Sleep_Health_Profiling/models/HMC_CHECKPOINTS/best_objective1_model.keras</a:t>
            </a:r>
          </a:p>
          <a:p>
            <a:r>
              <a:t>Checkpoint SHA256: 3bf1423246d5672ce7473562079cb4e8d9aa1a578e18c1cb65e6b43e4156b226</a:t>
            </a:r>
          </a:p>
          <a:p>
            <a:r>
              <a:t>All classification results use identical corrected test epochs.</a:t>
            </a:r>
          </a:p>
          <a:p>
            <a:r>
              <a:t>Only four test recordings; no external validation.</a:t>
            </a:r>
          </a:p>
          <a:p>
            <a:r>
              <a:t>Final training hardware and global training RNG state not preserved.</a:t>
            </a:r>
          </a:p>
          <a:p>
            <a:r>
              <a:t>Notebook execution counts were cleared; saved outputs are historical evidence rather than complete execution provenance.</a:t>
            </a:r>
          </a:p>
          <a:p>
            <a:r>
              <a:t>Test records were evaluated repeatedly in notebook development; not a newly blinded clinical test.</a:t>
            </a:r>
          </a:p>
          <a:p>
            <a:r>
              <a:t>Rule thresholds have no clinical validation in this project.</a:t>
            </a:r>
          </a:p>
          <a:p>
            <a:r>
              <a:t>Evidential probabilities are not a separately fitted self-calibrated condition.</a:t>
            </a:r>
          </a:p>
          <a:p>
            <a:r>
              <a:t>SN identifiers denote recordings; repository assumes one subject per ID and has no independent person-identity mapping.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Model Training Progress</a:t>
            </a:r>
          </a:p>
          <a:p>
            <a:r>
              <a:t>Run: HMC-PPT-20261007-01</a:t>
            </a:r>
          </a:p>
          <a:p>
            <a:r>
              <a:t>Sources: training_history.csv, hyperparameters.json</a:t>
            </a:r>
          </a:p>
          <a:p>
            <a:r>
              <a:t>Test recordings: SN009, SN001, SN004, SN022.</a:t>
            </a:r>
          </a:p>
          <a:p>
            <a:r>
              <a:t>Checkpoint: /content/drive/MyDrive/Sleep_Health_Profiling/models/HMC_CHECKPOINTS/best_objective1_model.keras</a:t>
            </a:r>
          </a:p>
          <a:p>
            <a:r>
              <a:t>Checkpoint SHA256: 3bf1423246d5672ce7473562079cb4e8d9aa1a578e18c1cb65e6b43e4156b226</a:t>
            </a:r>
          </a:p>
          <a:p>
            <a:r>
              <a:t>All classification results use identical corrected test epochs.</a:t>
            </a:r>
          </a:p>
          <a:p>
            <a:r>
              <a:t>Only four test recordings; no external validation.</a:t>
            </a:r>
          </a:p>
          <a:p>
            <a:r>
              <a:t>Final training hardware and global training RNG state not preserved.</a:t>
            </a:r>
          </a:p>
          <a:p>
            <a:r>
              <a:t>Notebook execution counts were cleared; saved outputs are historical evidence rather than complete execution provenance.</a:t>
            </a:r>
          </a:p>
          <a:p>
            <a:r>
              <a:t>Test records were evaluated repeatedly in notebook development; not a newly blinded clinical test.</a:t>
            </a:r>
          </a:p>
          <a:p>
            <a:r>
              <a:t>Rule thresholds have no clinical validation in this project.</a:t>
            </a:r>
          </a:p>
          <a:p>
            <a:r>
              <a:t>Evidential probabilities are not a separately fitted self-calibrated condition.</a:t>
            </a:r>
          </a:p>
          <a:p>
            <a:r>
              <a:t>SN identifiers denote recordings; repository assumes one subject per ID and has no independent person-identity mapping.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Sleep-Stage Classification Performance</a:t>
            </a:r>
          </a:p>
          <a:p>
            <a:r>
              <a:t>Run: HMC-PPT-20261007-01</a:t>
            </a:r>
          </a:p>
          <a:p>
            <a:r>
              <a:t>Sources: overall_metrics.json, test_epoch_predictions.csv</a:t>
            </a:r>
          </a:p>
          <a:p>
            <a:r>
              <a:t>Test recordings: SN009, SN001, SN004, SN022.</a:t>
            </a:r>
          </a:p>
          <a:p>
            <a:r>
              <a:t>Checkpoint: /content/drive/MyDrive/Sleep_Health_Profiling/models/HMC_CHECKPOINTS/best_objective1_model.keras</a:t>
            </a:r>
          </a:p>
          <a:p>
            <a:r>
              <a:t>Checkpoint SHA256: 3bf1423246d5672ce7473562079cb4e8d9aa1a578e18c1cb65e6b43e4156b226</a:t>
            </a:r>
          </a:p>
          <a:p>
            <a:r>
              <a:t>All classification results use identical corrected test epochs.</a:t>
            </a:r>
          </a:p>
          <a:p>
            <a:r>
              <a:t>Only four test recordings; no external validation.</a:t>
            </a:r>
          </a:p>
          <a:p>
            <a:r>
              <a:t>Final training hardware and global training RNG state not preserved.</a:t>
            </a:r>
          </a:p>
          <a:p>
            <a:r>
              <a:t>Notebook execution counts were cleared; saved outputs are historical evidence rather than complete execution provenance.</a:t>
            </a:r>
          </a:p>
          <a:p>
            <a:r>
              <a:t>Test records were evaluated repeatedly in notebook development; not a newly blinded clinical test.</a:t>
            </a:r>
          </a:p>
          <a:p>
            <a:r>
              <a:t>Rule thresholds have no clinical validation in this project.</a:t>
            </a:r>
          </a:p>
          <a:p>
            <a:r>
              <a:t>Evidential probabilities are not a separately fitted self-calibrated condition.</a:t>
            </a:r>
          </a:p>
          <a:p>
            <a:r>
              <a:t>SN identifiers denote recordings; repository assumes one subject per ID and has no independent person-identity mapping.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Sleep Stage Confusion Matrix</a:t>
            </a:r>
          </a:p>
          <a:p>
            <a:r>
              <a:t>Run: HMC-PPT-20261007-01</a:t>
            </a:r>
          </a:p>
          <a:p>
            <a:r>
              <a:t>Sources: confusion_matrix_normalized.csv, classification_report.csv</a:t>
            </a:r>
          </a:p>
          <a:p>
            <a:r>
              <a:t>Test recordings: SN009, SN001, SN004, SN022.</a:t>
            </a:r>
          </a:p>
          <a:p>
            <a:r>
              <a:t>Checkpoint: /content/drive/MyDrive/Sleep_Health_Profiling/models/HMC_CHECKPOINTS/best_objective1_model.keras</a:t>
            </a:r>
          </a:p>
          <a:p>
            <a:r>
              <a:t>Checkpoint SHA256: 3bf1423246d5672ce7473562079cb4e8d9aa1a578e18c1cb65e6b43e4156b226</a:t>
            </a:r>
          </a:p>
          <a:p>
            <a:r>
              <a:t>All classification results use identical corrected test epochs.</a:t>
            </a:r>
          </a:p>
          <a:p>
            <a:r>
              <a:t>Only four test recordings; no external validation.</a:t>
            </a:r>
          </a:p>
          <a:p>
            <a:r>
              <a:t>Final training hardware and global training RNG state not preserved.</a:t>
            </a:r>
          </a:p>
          <a:p>
            <a:r>
              <a:t>Notebook execution counts were cleared; saved outputs are historical evidence rather than complete execution provenance.</a:t>
            </a:r>
          </a:p>
          <a:p>
            <a:r>
              <a:t>Test records were evaluated repeatedly in notebook development; not a newly blinded clinical test.</a:t>
            </a:r>
          </a:p>
          <a:p>
            <a:r>
              <a:t>Rule thresholds have no clinical validation in this project.</a:t>
            </a:r>
          </a:p>
          <a:p>
            <a:r>
              <a:t>Evidential probabilities are not a separately fitted self-calibrated condition.</a:t>
            </a:r>
          </a:p>
          <a:p>
            <a:r>
              <a:t>SN identifiers denote recordings; repository assumes one subject per ID and has no independent person-identity mapping.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Class-Wise Classification Performance</a:t>
            </a:r>
          </a:p>
          <a:p>
            <a:r>
              <a:t>Run: HMC-PPT-20261007-01</a:t>
            </a:r>
          </a:p>
          <a:p>
            <a:r>
              <a:t>Sources: classification_report.csv</a:t>
            </a:r>
          </a:p>
          <a:p>
            <a:r>
              <a:t>Test recordings: SN009, SN001, SN004, SN022.</a:t>
            </a:r>
          </a:p>
          <a:p>
            <a:r>
              <a:t>Checkpoint: /content/drive/MyDrive/Sleep_Health_Profiling/models/HMC_CHECKPOINTS/best_objective1_model.keras</a:t>
            </a:r>
          </a:p>
          <a:p>
            <a:r>
              <a:t>Checkpoint SHA256: 3bf1423246d5672ce7473562079cb4e8d9aa1a578e18c1cb65e6b43e4156b226</a:t>
            </a:r>
          </a:p>
          <a:p>
            <a:r>
              <a:t>All classification results use identical corrected test epochs.</a:t>
            </a:r>
          </a:p>
          <a:p>
            <a:r>
              <a:t>Only four test recordings; no external validation.</a:t>
            </a:r>
          </a:p>
          <a:p>
            <a:r>
              <a:t>Final training hardware and global training RNG state not preserved.</a:t>
            </a:r>
          </a:p>
          <a:p>
            <a:r>
              <a:t>Notebook execution counts were cleared; saved outputs are historical evidence rather than complete execution provenance.</a:t>
            </a:r>
          </a:p>
          <a:p>
            <a:r>
              <a:t>Test records were evaluated repeatedly in notebook development; not a newly blinded clinical test.</a:t>
            </a:r>
          </a:p>
          <a:p>
            <a:r>
              <a:t>Rule thresholds have no clinical validation in this project.</a:t>
            </a:r>
          </a:p>
          <a:p>
            <a:r>
              <a:t>Evidential probabilities are not a separately fitted self-calibrated condition.</a:t>
            </a:r>
          </a:p>
          <a:p>
            <a:r>
              <a:t>SN identifiers denote recordings; repository assumes one subject per ID and has no independent person-identity mapping.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Uncertainty and Calibration</a:t>
            </a:r>
          </a:p>
          <a:p>
            <a:r>
              <a:t>Run: HMC-PPT-20261007-01</a:t>
            </a:r>
          </a:p>
          <a:p>
            <a:r>
              <a:t>Sources: calibration_metrics.json, calibration_bins.csv</a:t>
            </a:r>
          </a:p>
          <a:p>
            <a:r>
              <a:t>Test recordings: SN009, SN001, SN004, SN022.</a:t>
            </a:r>
          </a:p>
          <a:p>
            <a:r>
              <a:t>Checkpoint: /content/drive/MyDrive/Sleep_Health_Profiling/models/HMC_CHECKPOINTS/best_objective1_model.keras</a:t>
            </a:r>
          </a:p>
          <a:p>
            <a:r>
              <a:t>Checkpoint SHA256: 3bf1423246d5672ce7473562079cb4e8d9aa1a578e18c1cb65e6b43e4156b226</a:t>
            </a:r>
          </a:p>
          <a:p>
            <a:r>
              <a:t>All classification results use identical corrected test epochs.</a:t>
            </a:r>
          </a:p>
          <a:p>
            <a:r>
              <a:t>Only four test recordings; no external validation.</a:t>
            </a:r>
          </a:p>
          <a:p>
            <a:r>
              <a:t>Final training hardware and global training RNG state not preserved.</a:t>
            </a:r>
          </a:p>
          <a:p>
            <a:r>
              <a:t>Notebook execution counts were cleared; saved outputs are historical evidence rather than complete execution provenance.</a:t>
            </a:r>
          </a:p>
          <a:p>
            <a:r>
              <a:t>Test records were evaluated repeatedly in notebook development; not a newly blinded clinical test.</a:t>
            </a:r>
          </a:p>
          <a:p>
            <a:r>
              <a:t>Rule thresholds have no clinical validation in this project.</a:t>
            </a:r>
          </a:p>
          <a:p>
            <a:r>
              <a:t>Evidential probabilities are not a separately fitted self-calibrated condition.</a:t>
            </a:r>
          </a:p>
          <a:p>
            <a:r>
              <a:t>SN identifiers denote recordings; repository assumes one subject per ID and has no independent person-identity mapping.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Soft-Viterbi Sleep Stage Refinement</a:t>
            </a:r>
          </a:p>
          <a:p>
            <a:r>
              <a:t>Run: HMC-PPT-20261007-01</a:t>
            </a:r>
          </a:p>
          <a:p>
            <a:r>
              <a:t>Sources: soft_viterbi_pseudocode.txt, transition_config.json</a:t>
            </a:r>
          </a:p>
          <a:p>
            <a:r>
              <a:t>Test recordings: SN009, SN001, SN004, SN022.</a:t>
            </a:r>
          </a:p>
          <a:p>
            <a:r>
              <a:t>Checkpoint: /content/drive/MyDrive/Sleep_Health_Profiling/models/HMC_CHECKPOINTS/best_objective1_model.keras</a:t>
            </a:r>
          </a:p>
          <a:p>
            <a:r>
              <a:t>Checkpoint SHA256: 3bf1423246d5672ce7473562079cb4e8d9aa1a578e18c1cb65e6b43e4156b226</a:t>
            </a:r>
          </a:p>
          <a:p>
            <a:r>
              <a:t>All classification results use identical corrected test epochs.</a:t>
            </a:r>
          </a:p>
          <a:p>
            <a:r>
              <a:t>Only four test recordings; no external validation.</a:t>
            </a:r>
          </a:p>
          <a:p>
            <a:r>
              <a:t>Final training hardware and global training RNG state not preserved.</a:t>
            </a:r>
          </a:p>
          <a:p>
            <a:r>
              <a:t>Notebook execution counts were cleared; saved outputs are historical evidence rather than complete execution provenance.</a:t>
            </a:r>
          </a:p>
          <a:p>
            <a:r>
              <a:t>Test records were evaluated repeatedly in notebook development; not a newly blinded clinical test.</a:t>
            </a:r>
          </a:p>
          <a:p>
            <a:r>
              <a:t>Rule thresholds have no clinical validation in this project.</a:t>
            </a:r>
          </a:p>
          <a:p>
            <a:r>
              <a:t>Evidential probabilities are not a separately fitted self-calibrated condition.</a:t>
            </a:r>
          </a:p>
          <a:p>
            <a:r>
              <a:t>SN identifiers denote recordings; repository assumes one subject per ID and has no independent person-identity mapping.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Sleep Stage Transition Modeling</a:t>
            </a:r>
          </a:p>
          <a:p>
            <a:r>
              <a:t>Run: HMC-PPT-20261007-01</a:t>
            </a:r>
          </a:p>
          <a:p>
            <a:r>
              <a:t>Sources: transition_matrix.csv, transition_config.json</a:t>
            </a:r>
          </a:p>
          <a:p>
            <a:r>
              <a:t>Test recordings: SN009, SN001, SN004, SN022.</a:t>
            </a:r>
          </a:p>
          <a:p>
            <a:r>
              <a:t>Checkpoint: /content/drive/MyDrive/Sleep_Health_Profiling/models/HMC_CHECKPOINTS/best_objective1_model.keras</a:t>
            </a:r>
          </a:p>
          <a:p>
            <a:r>
              <a:t>Checkpoint SHA256: 3bf1423246d5672ce7473562079cb4e8d9aa1a578e18c1cb65e6b43e4156b226</a:t>
            </a:r>
          </a:p>
          <a:p>
            <a:r>
              <a:t>All classification results use identical corrected test epochs.</a:t>
            </a:r>
          </a:p>
          <a:p>
            <a:r>
              <a:t>Only four test recordings; no external validation.</a:t>
            </a:r>
          </a:p>
          <a:p>
            <a:r>
              <a:t>Final training hardware and global training RNG state not preserved.</a:t>
            </a:r>
          </a:p>
          <a:p>
            <a:r>
              <a:t>Notebook execution counts were cleared; saved outputs are historical evidence rather than complete execution provenance.</a:t>
            </a:r>
          </a:p>
          <a:p>
            <a:r>
              <a:t>Test records were evaluated repeatedly in notebook development; not a newly blinded clinical test.</a:t>
            </a:r>
          </a:p>
          <a:p>
            <a:r>
              <a:t>Rule thresholds have no clinical validation in this project.</a:t>
            </a:r>
          </a:p>
          <a:p>
            <a:r>
              <a:t>Evidential probabilities are not a separately fitted self-calibrated condition.</a:t>
            </a:r>
          </a:p>
          <a:p>
            <a:r>
              <a:t>SN identifiers denote recordings; repository assumes one subject per ID and has no independent person-identity mapping.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Raw vs Smoothed Sequence — SN009</a:t>
            </a:r>
          </a:p>
          <a:p>
            <a:r>
              <a:t>Run: HMC-PPT-20261007-01</a:t>
            </a:r>
          </a:p>
          <a:p>
            <a:r>
              <a:t>Sources: test_epoch_predictions.csv</a:t>
            </a:r>
          </a:p>
          <a:p>
            <a:r>
              <a:t>Test recordings: SN009, SN001, SN004, SN022.</a:t>
            </a:r>
          </a:p>
          <a:p>
            <a:r>
              <a:t>Checkpoint: /content/drive/MyDrive/Sleep_Health_Profiling/models/HMC_CHECKPOINTS/best_objective1_model.keras</a:t>
            </a:r>
          </a:p>
          <a:p>
            <a:r>
              <a:t>Checkpoint SHA256: 3bf1423246d5672ce7473562079cb4e8d9aa1a578e18c1cb65e6b43e4156b226</a:t>
            </a:r>
          </a:p>
          <a:p>
            <a:r>
              <a:t>All classification results use identical corrected test epochs.</a:t>
            </a:r>
          </a:p>
          <a:p>
            <a:r>
              <a:t>Only four test recordings; no external validation.</a:t>
            </a:r>
          </a:p>
          <a:p>
            <a:r>
              <a:t>Final training hardware and global training RNG state not preserved.</a:t>
            </a:r>
          </a:p>
          <a:p>
            <a:r>
              <a:t>Notebook execution counts were cleared; saved outputs are historical evidence rather than complete execution provenance.</a:t>
            </a:r>
          </a:p>
          <a:p>
            <a:r>
              <a:t>Test records were evaluated repeatedly in notebook development; not a newly blinded clinical test.</a:t>
            </a:r>
          </a:p>
          <a:p>
            <a:r>
              <a:t>Rule thresholds have no clinical validation in this project.</a:t>
            </a:r>
          </a:p>
          <a:p>
            <a:r>
              <a:t>Evidential probabilities are not a separately fitted self-calibrated condition.</a:t>
            </a:r>
          </a:p>
          <a:p>
            <a:r>
              <a:t>SN identifiers denote recordings; repository assumes one subject per ID and has no independent person-identity mapping.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Impact of Sequence Smoothing</a:t>
            </a:r>
          </a:p>
          <a:p>
            <a:r>
              <a:t>Run: HMC-PPT-20261007-01</a:t>
            </a:r>
          </a:p>
          <a:p>
            <a:r>
              <a:t>Sources: raw_vs_smoothed_metrics.csv, smoothing_delta.json</a:t>
            </a:r>
          </a:p>
          <a:p>
            <a:r>
              <a:t>Test recordings: SN009, SN001, SN004, SN022.</a:t>
            </a:r>
          </a:p>
          <a:p>
            <a:r>
              <a:t>Checkpoint: /content/drive/MyDrive/Sleep_Health_Profiling/models/HMC_CHECKPOINTS/best_objective1_model.keras</a:t>
            </a:r>
          </a:p>
          <a:p>
            <a:r>
              <a:t>Checkpoint SHA256: 3bf1423246d5672ce7473562079cb4e8d9aa1a578e18c1cb65e6b43e4156b226</a:t>
            </a:r>
          </a:p>
          <a:p>
            <a:r>
              <a:t>All classification results use identical corrected test epochs.</a:t>
            </a:r>
          </a:p>
          <a:p>
            <a:r>
              <a:t>Only four test recordings; no external validation.</a:t>
            </a:r>
          </a:p>
          <a:p>
            <a:r>
              <a:t>Final training hardware and global training RNG state not preserved.</a:t>
            </a:r>
          </a:p>
          <a:p>
            <a:r>
              <a:t>Notebook execution counts were cleared; saved outputs are historical evidence rather than complete execution provenance.</a:t>
            </a:r>
          </a:p>
          <a:p>
            <a:r>
              <a:t>Test records were evaluated repeatedly in notebook development; not a newly blinded clinical test.</a:t>
            </a:r>
          </a:p>
          <a:p>
            <a:r>
              <a:t>Rule thresholds have no clinical validation in this project.</a:t>
            </a:r>
          </a:p>
          <a:p>
            <a:r>
              <a:t>Evidential probabilities are not a separately fitted self-calibrated condition.</a:t>
            </a:r>
          </a:p>
          <a:p>
            <a:r>
              <a:t>SN identifiers denote recordings; repository assumes one subject per ID and has no independent person-identity mapping.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Personalized Sleep Health Indicators</a:t>
            </a:r>
          </a:p>
          <a:p>
            <a:r>
              <a:t>Run: HMC-PPT-20261007-01</a:t>
            </a:r>
          </a:p>
          <a:p>
            <a:r>
              <a:t>Sources: biomarker_equations.md, subject_biomarkers.csv</a:t>
            </a:r>
          </a:p>
          <a:p>
            <a:r>
              <a:t>Test recordings: SN009, SN001, SN004, SN022.</a:t>
            </a:r>
          </a:p>
          <a:p>
            <a:r>
              <a:t>Checkpoint: /content/drive/MyDrive/Sleep_Health_Profiling/models/HMC_CHECKPOINTS/best_objective1_model.keras</a:t>
            </a:r>
          </a:p>
          <a:p>
            <a:r>
              <a:t>Checkpoint SHA256: 3bf1423246d5672ce7473562079cb4e8d9aa1a578e18c1cb65e6b43e4156b226</a:t>
            </a:r>
          </a:p>
          <a:p>
            <a:r>
              <a:t>All classification results use identical corrected test epochs.</a:t>
            </a:r>
          </a:p>
          <a:p>
            <a:r>
              <a:t>Only four test recordings; no external validation.</a:t>
            </a:r>
          </a:p>
          <a:p>
            <a:r>
              <a:t>Final training hardware and global training RNG state not preserved.</a:t>
            </a:r>
          </a:p>
          <a:p>
            <a:r>
              <a:t>Notebook execution counts were cleared; saved outputs are historical evidence rather than complete execution provenance.</a:t>
            </a:r>
          </a:p>
          <a:p>
            <a:r>
              <a:t>Test records were evaluated repeatedly in notebook development; not a newly blinded clinical test.</a:t>
            </a:r>
          </a:p>
          <a:p>
            <a:r>
              <a:t>Rule thresholds have no clinical validation in this project.</a:t>
            </a:r>
          </a:p>
          <a:p>
            <a:r>
              <a:t>Evidential probabilities are not a separately fitted self-calibrated condition.</a:t>
            </a:r>
          </a:p>
          <a:p>
            <a:r>
              <a:t>SN identifiers denote recordings; repository assumes one subject per ID and has no independent person-identity mapping.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Rule-Based Sleep Health Risk Stratification</a:t>
            </a:r>
          </a:p>
          <a:p>
            <a:r>
              <a:t>Run: HMC-PPT-20261007-01</a:t>
            </a:r>
          </a:p>
          <a:p>
            <a:r>
              <a:t>Sources: risk_rules.json, risk_rules_table.csv</a:t>
            </a:r>
          </a:p>
          <a:p>
            <a:r>
              <a:t>Test recordings: SN009, SN001, SN004, SN022.</a:t>
            </a:r>
          </a:p>
          <a:p>
            <a:r>
              <a:t>Checkpoint: /content/drive/MyDrive/Sleep_Health_Profiling/models/HMC_CHECKPOINTS/best_objective1_model.keras</a:t>
            </a:r>
          </a:p>
          <a:p>
            <a:r>
              <a:t>Checkpoint SHA256: 3bf1423246d5672ce7473562079cb4e8d9aa1a578e18c1cb65e6b43e4156b226</a:t>
            </a:r>
          </a:p>
          <a:p>
            <a:r>
              <a:t>All classification results use identical corrected test epochs.</a:t>
            </a:r>
          </a:p>
          <a:p>
            <a:r>
              <a:t>Only four test recordings; no external validation.</a:t>
            </a:r>
          </a:p>
          <a:p>
            <a:r>
              <a:t>Final training hardware and global training RNG state not preserved.</a:t>
            </a:r>
          </a:p>
          <a:p>
            <a:r>
              <a:t>Notebook execution counts were cleared; saved outputs are historical evidence rather than complete execution provenance.</a:t>
            </a:r>
          </a:p>
          <a:p>
            <a:r>
              <a:t>Test records were evaluated repeatedly in notebook development; not a newly blinded clinical test.</a:t>
            </a:r>
          </a:p>
          <a:p>
            <a:r>
              <a:t>Rule thresholds have no clinical validation in this project.</a:t>
            </a:r>
          </a:p>
          <a:p>
            <a:r>
              <a:t>Evidential probabilities are not a separately fitted self-calibrated condition.</a:t>
            </a:r>
          </a:p>
          <a:p>
            <a:r>
              <a:t>SN identifiers denote recordings; repository assumes one subject per ID and has no independent person-identity mapping.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Test Subject Sleep Health Profiles</a:t>
            </a:r>
          </a:p>
          <a:p>
            <a:r>
              <a:t>Run: HMC-PPT-20261007-01</a:t>
            </a:r>
          </a:p>
          <a:p>
            <a:r>
              <a:t>Sources: subject_risk_profiles.csv, biomarker_validation.csv</a:t>
            </a:r>
          </a:p>
          <a:p>
            <a:r>
              <a:t>Test recordings: SN009, SN001, SN004, SN022.</a:t>
            </a:r>
          </a:p>
          <a:p>
            <a:r>
              <a:t>Checkpoint: /content/drive/MyDrive/Sleep_Health_Profiling/models/HMC_CHECKPOINTS/best_objective1_model.keras</a:t>
            </a:r>
          </a:p>
          <a:p>
            <a:r>
              <a:t>Checkpoint SHA256: 3bf1423246d5672ce7473562079cb4e8d9aa1a578e18c1cb65e6b43e4156b226</a:t>
            </a:r>
          </a:p>
          <a:p>
            <a:r>
              <a:t>All classification results use identical corrected test epochs.</a:t>
            </a:r>
          </a:p>
          <a:p>
            <a:r>
              <a:t>Only four test recordings; no external validation.</a:t>
            </a:r>
          </a:p>
          <a:p>
            <a:r>
              <a:t>Final training hardware and global training RNG state not preserved.</a:t>
            </a:r>
          </a:p>
          <a:p>
            <a:r>
              <a:t>Notebook execution counts were cleared; saved outputs are historical evidence rather than complete execution provenance.</a:t>
            </a:r>
          </a:p>
          <a:p>
            <a:r>
              <a:t>Test records were evaluated repeatedly in notebook development; not a newly blinded clinical test.</a:t>
            </a:r>
          </a:p>
          <a:p>
            <a:r>
              <a:t>Rule thresholds have no clinical validation in this project.</a:t>
            </a:r>
          </a:p>
          <a:p>
            <a:r>
              <a:t>Evidential probabilities are not a separately fitted self-calibrated condition.</a:t>
            </a:r>
          </a:p>
          <a:p>
            <a:r>
              <a:t>SN identifiers denote recordings; repository assumes one subject per ID and has no independent person-identity mapping.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Complete End-to-End Framework</a:t>
            </a:r>
          </a:p>
          <a:p>
            <a:r>
              <a:t>Run: HMC-PPT-20261007-01</a:t>
            </a:r>
          </a:p>
          <a:p>
            <a:r>
              <a:t>Sources: evaluate_authoritative_run.py, final_results.json</a:t>
            </a:r>
          </a:p>
          <a:p>
            <a:r>
              <a:t>Test recordings: SN009, SN001, SN004, SN022.</a:t>
            </a:r>
          </a:p>
          <a:p>
            <a:r>
              <a:t>Checkpoint: /content/drive/MyDrive/Sleep_Health_Profiling/models/HMC_CHECKPOINTS/best_objective1_model.keras</a:t>
            </a:r>
          </a:p>
          <a:p>
            <a:r>
              <a:t>Checkpoint SHA256: 3bf1423246d5672ce7473562079cb4e8d9aa1a578e18c1cb65e6b43e4156b226</a:t>
            </a:r>
          </a:p>
          <a:p>
            <a:r>
              <a:t>All classification results use identical corrected test epochs.</a:t>
            </a:r>
          </a:p>
          <a:p>
            <a:r>
              <a:t>Only four test recordings; no external validation.</a:t>
            </a:r>
          </a:p>
          <a:p>
            <a:r>
              <a:t>Final training hardware and global training RNG state not preserved.</a:t>
            </a:r>
          </a:p>
          <a:p>
            <a:r>
              <a:t>Notebook execution counts were cleared; saved outputs are historical evidence rather than complete execution provenance.</a:t>
            </a:r>
          </a:p>
          <a:p>
            <a:r>
              <a:t>Test records were evaluated repeatedly in notebook development; not a newly blinded clinical test.</a:t>
            </a:r>
          </a:p>
          <a:p>
            <a:r>
              <a:t>Rule thresholds have no clinical validation in this project.</a:t>
            </a:r>
          </a:p>
          <a:p>
            <a:r>
              <a:t>Evidential probabilities are not a separately fitted self-calibrated condition.</a:t>
            </a:r>
          </a:p>
          <a:p>
            <a:r>
              <a:t>SN identifiers denote recordings; repository assumes one subject per ID and has no independent person-identity mapping.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Progress — Verified Deliverables</a:t>
            </a:r>
          </a:p>
          <a:p>
            <a:r>
              <a:t>Run: HMC-PPT-20261007-01</a:t>
            </a:r>
          </a:p>
          <a:p>
            <a:r>
              <a:t>Sources: final_results.json, input_repairs.json</a:t>
            </a:r>
          </a:p>
          <a:p>
            <a:r>
              <a:t>Test recordings: SN009, SN001, SN004, SN022.</a:t>
            </a:r>
          </a:p>
          <a:p>
            <a:r>
              <a:t>Checkpoint: /content/drive/MyDrive/Sleep_Health_Profiling/models/HMC_CHECKPOINTS/best_objective1_model.keras</a:t>
            </a:r>
          </a:p>
          <a:p>
            <a:r>
              <a:t>Checkpoint SHA256: 3bf1423246d5672ce7473562079cb4e8d9aa1a578e18c1cb65e6b43e4156b226</a:t>
            </a:r>
          </a:p>
          <a:p>
            <a:r>
              <a:t>All classification results use identical corrected test epochs.</a:t>
            </a:r>
          </a:p>
          <a:p>
            <a:r>
              <a:t>Only four test recordings; no external validation.</a:t>
            </a:r>
          </a:p>
          <a:p>
            <a:r>
              <a:t>Final training hardware and global training RNG state not preserved.</a:t>
            </a:r>
          </a:p>
          <a:p>
            <a:r>
              <a:t>Notebook execution counts were cleared; saved outputs are historical evidence rather than complete execution provenance.</a:t>
            </a:r>
          </a:p>
          <a:p>
            <a:r>
              <a:t>Test records were evaluated repeatedly in notebook development; not a newly blinded clinical test.</a:t>
            </a:r>
          </a:p>
          <a:p>
            <a:r>
              <a:t>Rule thresholds have no clinical validation in this project.</a:t>
            </a:r>
          </a:p>
          <a:p>
            <a:r>
              <a:t>Evidential probabilities are not a separately fitted self-calibrated condition.</a:t>
            </a:r>
          </a:p>
          <a:p>
            <a:r>
              <a:t>SN identifiers denote recordings; repository assumes one subject per ID and has no independent person-identity mapping.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Research Limitations</a:t>
            </a:r>
          </a:p>
          <a:p>
            <a:r>
              <a:t>Run: HMC-PPT-20261007-01</a:t>
            </a:r>
          </a:p>
          <a:p>
            <a:r>
              <a:t>Sources: final_results.json, calibration_metrics.json</a:t>
            </a:r>
          </a:p>
          <a:p>
            <a:r>
              <a:t>Test recordings: SN009, SN001, SN004, SN022.</a:t>
            </a:r>
          </a:p>
          <a:p>
            <a:r>
              <a:t>Checkpoint: /content/drive/MyDrive/Sleep_Health_Profiling/models/HMC_CHECKPOINTS/best_objective1_model.keras</a:t>
            </a:r>
          </a:p>
          <a:p>
            <a:r>
              <a:t>Checkpoint SHA256: 3bf1423246d5672ce7473562079cb4e8d9aa1a578e18c1cb65e6b43e4156b226</a:t>
            </a:r>
          </a:p>
          <a:p>
            <a:r>
              <a:t>All classification results use identical corrected test epochs.</a:t>
            </a:r>
          </a:p>
          <a:p>
            <a:r>
              <a:t>Only four test recordings; no external validation.</a:t>
            </a:r>
          </a:p>
          <a:p>
            <a:r>
              <a:t>Final training hardware and global training RNG state not preserved.</a:t>
            </a:r>
          </a:p>
          <a:p>
            <a:r>
              <a:t>Notebook execution counts were cleared; saved outputs are historical evidence rather than complete execution provenance.</a:t>
            </a:r>
          </a:p>
          <a:p>
            <a:r>
              <a:t>Test records were evaluated repeatedly in notebook development; not a newly blinded clinical test.</a:t>
            </a:r>
          </a:p>
          <a:p>
            <a:r>
              <a:t>Rule thresholds have no clinical validation in this project.</a:t>
            </a:r>
          </a:p>
          <a:p>
            <a:r>
              <a:t>Evidential probabilities are not a separately fitted self-calibrated condition.</a:t>
            </a:r>
          </a:p>
          <a:p>
            <a:r>
              <a:t>SN identifiers denote recordings; repository assumes one subject per ID and has no independent person-identity mapping.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Future Work</a:t>
            </a:r>
          </a:p>
          <a:p>
            <a:r>
              <a:t>Run: HMC-PPT-20261007-01</a:t>
            </a:r>
          </a:p>
          <a:p>
            <a:r>
              <a:t>Sources: verified scope and limitations</a:t>
            </a:r>
          </a:p>
          <a:p>
            <a:r>
              <a:t>Test recordings: SN009, SN001, SN004, SN022.</a:t>
            </a:r>
          </a:p>
          <a:p>
            <a:r>
              <a:t>Checkpoint: /content/drive/MyDrive/Sleep_Health_Profiling/models/HMC_CHECKPOINTS/best_objective1_model.keras</a:t>
            </a:r>
          </a:p>
          <a:p>
            <a:r>
              <a:t>Checkpoint SHA256: 3bf1423246d5672ce7473562079cb4e8d9aa1a578e18c1cb65e6b43e4156b226</a:t>
            </a:r>
          </a:p>
          <a:p>
            <a:r>
              <a:t>All classification results use identical corrected test epochs.</a:t>
            </a:r>
          </a:p>
          <a:p>
            <a:r>
              <a:t>Only four test recordings; no external validation.</a:t>
            </a:r>
          </a:p>
          <a:p>
            <a:r>
              <a:t>Final training hardware and global training RNG state not preserved.</a:t>
            </a:r>
          </a:p>
          <a:p>
            <a:r>
              <a:t>Notebook execution counts were cleared; saved outputs are historical evidence rather than complete execution provenance.</a:t>
            </a:r>
          </a:p>
          <a:p>
            <a:r>
              <a:t>Test records were evaluated repeatedly in notebook development; not a newly blinded clinical test.</a:t>
            </a:r>
          </a:p>
          <a:p>
            <a:r>
              <a:t>Rule thresholds have no clinical validation in this project.</a:t>
            </a:r>
          </a:p>
          <a:p>
            <a:r>
              <a:t>Evidential probabilities are not a separately fitted self-calibrated condition.</a:t>
            </a:r>
          </a:p>
          <a:p>
            <a:r>
              <a:t>SN identifiers denote recordings; repository assumes one subject per ID and has no independent person-identity mapping.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Verified Example System Output</a:t>
            </a:r>
          </a:p>
          <a:p>
            <a:r>
              <a:t>Run: HMC-PPT-20261007-01</a:t>
            </a:r>
          </a:p>
          <a:p>
            <a:r>
              <a:t>Sources: eeg_example_metadata.json, subject_risk_profiles.csv</a:t>
            </a:r>
          </a:p>
          <a:p>
            <a:r>
              <a:t>Test recordings: SN009, SN001, SN004, SN022.</a:t>
            </a:r>
          </a:p>
          <a:p>
            <a:r>
              <a:t>Checkpoint: /content/drive/MyDrive/Sleep_Health_Profiling/models/HMC_CHECKPOINTS/best_objective1_model.keras</a:t>
            </a:r>
          </a:p>
          <a:p>
            <a:r>
              <a:t>Checkpoint SHA256: 3bf1423246d5672ce7473562079cb4e8d9aa1a578e18c1cb65e6b43e4156b226</a:t>
            </a:r>
          </a:p>
          <a:p>
            <a:r>
              <a:t>All classification results use identical corrected test epochs.</a:t>
            </a:r>
          </a:p>
          <a:p>
            <a:r>
              <a:t>Only four test recordings; no external validation.</a:t>
            </a:r>
          </a:p>
          <a:p>
            <a:r>
              <a:t>Final training hardware and global training RNG state not preserved.</a:t>
            </a:r>
          </a:p>
          <a:p>
            <a:r>
              <a:t>Notebook execution counts were cleared; saved outputs are historical evidence rather than complete execution provenance.</a:t>
            </a:r>
          </a:p>
          <a:p>
            <a:r>
              <a:t>Test records were evaluated repeatedly in notebook development; not a newly blinded clinical test.</a:t>
            </a:r>
          </a:p>
          <a:p>
            <a:r>
              <a:t>Rule thresholds have no clinical validation in this project.</a:t>
            </a:r>
          </a:p>
          <a:p>
            <a:r>
              <a:t>Evidential probabilities are not a separately fitted self-calibrated condition.</a:t>
            </a:r>
          </a:p>
          <a:p>
            <a:r>
              <a:t>SN identifiers denote recordings; repository assumes one subject per ID and has no independent person-identity mapping.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Conclusion</a:t>
            </a:r>
          </a:p>
          <a:p>
            <a:r>
              <a:t>Run: HMC-PPT-20261007-01</a:t>
            </a:r>
          </a:p>
          <a:p>
            <a:r>
              <a:t>Sources: final_results.json, overall_metrics.json</a:t>
            </a:r>
          </a:p>
          <a:p>
            <a:r>
              <a:t>Test recordings: SN009, SN001, SN004, SN022.</a:t>
            </a:r>
          </a:p>
          <a:p>
            <a:r>
              <a:t>Checkpoint: /content/drive/MyDrive/Sleep_Health_Profiling/models/HMC_CHECKPOINTS/best_objective1_model.keras</a:t>
            </a:r>
          </a:p>
          <a:p>
            <a:r>
              <a:t>Checkpoint SHA256: 3bf1423246d5672ce7473562079cb4e8d9aa1a578e18c1cb65e6b43e4156b226</a:t>
            </a:r>
          </a:p>
          <a:p>
            <a:r>
              <a:t>All classification results use identical corrected test epochs.</a:t>
            </a:r>
          </a:p>
          <a:p>
            <a:r>
              <a:t>Only four test recordings; no external validation.</a:t>
            </a:r>
          </a:p>
          <a:p>
            <a:r>
              <a:t>Final training hardware and global training RNG state not preserved.</a:t>
            </a:r>
          </a:p>
          <a:p>
            <a:r>
              <a:t>Notebook execution counts were cleared; saved outputs are historical evidence rather than complete execution provenance.</a:t>
            </a:r>
          </a:p>
          <a:p>
            <a:r>
              <a:t>Test records were evaluated repeatedly in notebook development; not a newly blinded clinical test.</a:t>
            </a:r>
          </a:p>
          <a:p>
            <a:r>
              <a:t>Rule thresholds have no clinical validation in this project.</a:t>
            </a:r>
          </a:p>
          <a:p>
            <a:r>
              <a:t>Evidential probabilities are not a separately fitted self-calibrated condition.</a:t>
            </a:r>
          </a:p>
          <a:p>
            <a:r>
              <a:t>SN identifiers denote recordings; repository assumes one subject per ID and has no independent person-identity mapping.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Names and guide retained from original deck and user metadata. HMC-PPT-20261007-01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Appendix</a:t>
            </a:r>
          </a:p>
          <a:p>
            <a:r>
              <a:t>Run: HMC-PPT-20261007-01</a:t>
            </a:r>
          </a:p>
          <a:p>
            <a:r>
              <a:t>Sources: verified artifact package</a:t>
            </a:r>
          </a:p>
          <a:p>
            <a:r>
              <a:t>Test recordings: SN009, SN001, SN004, SN022.</a:t>
            </a:r>
          </a:p>
          <a:p>
            <a:r>
              <a:t>Checkpoint: /content/drive/MyDrive/Sleep_Health_Profiling/models/HMC_CHECKPOINTS/best_objective1_model.keras</a:t>
            </a:r>
          </a:p>
          <a:p>
            <a:r>
              <a:t>Checkpoint SHA256: 3bf1423246d5672ce7473562079cb4e8d9aa1a578e18c1cb65e6b43e4156b226</a:t>
            </a:r>
          </a:p>
          <a:p>
            <a:r>
              <a:t>All classification results use identical corrected test epochs.</a:t>
            </a:r>
          </a:p>
          <a:p>
            <a:r>
              <a:t>Only four test recordings; no external validation.</a:t>
            </a:r>
          </a:p>
          <a:p>
            <a:r>
              <a:t>Final training hardware and global training RNG state not preserved.</a:t>
            </a:r>
          </a:p>
          <a:p>
            <a:r>
              <a:t>Notebook execution counts were cleared; saved outputs are historical evidence rather than complete execution provenance.</a:t>
            </a:r>
          </a:p>
          <a:p>
            <a:r>
              <a:t>Test records were evaluated repeatedly in notebook development; not a newly blinded clinical test.</a:t>
            </a:r>
          </a:p>
          <a:p>
            <a:r>
              <a:t>Rule thresholds have no clinical validation in this project.</a:t>
            </a:r>
          </a:p>
          <a:p>
            <a:r>
              <a:t>Evidential probabilities are not a separately fitted self-calibrated condition.</a:t>
            </a:r>
          </a:p>
          <a:p>
            <a:r>
              <a:t>SN identifiers denote recordings; repository assumes one subject per ID and has no independent person-identity mapping.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Appendix — Model Summary</a:t>
            </a:r>
          </a:p>
          <a:p>
            <a:r>
              <a:t>Run: HMC-PPT-20261007-01</a:t>
            </a:r>
          </a:p>
          <a:p>
            <a:r>
              <a:t>Sources: model_layers.csv, model_summary.txt</a:t>
            </a:r>
          </a:p>
          <a:p>
            <a:r>
              <a:t>Test recordings: SN009, SN001, SN004, SN022.</a:t>
            </a:r>
          </a:p>
          <a:p>
            <a:r>
              <a:t>Checkpoint: /content/drive/MyDrive/Sleep_Health_Profiling/models/HMC_CHECKPOINTS/best_objective1_model.keras</a:t>
            </a:r>
          </a:p>
          <a:p>
            <a:r>
              <a:t>Checkpoint SHA256: 3bf1423246d5672ce7473562079cb4e8d9aa1a578e18c1cb65e6b43e4156b226</a:t>
            </a:r>
          </a:p>
          <a:p>
            <a:r>
              <a:t>All classification results use identical corrected test epochs.</a:t>
            </a:r>
          </a:p>
          <a:p>
            <a:r>
              <a:t>Only four test recordings; no external validation.</a:t>
            </a:r>
          </a:p>
          <a:p>
            <a:r>
              <a:t>Final training hardware and global training RNG state not preserved.</a:t>
            </a:r>
          </a:p>
          <a:p>
            <a:r>
              <a:t>Notebook execution counts were cleared; saved outputs are historical evidence rather than complete execution provenance.</a:t>
            </a:r>
          </a:p>
          <a:p>
            <a:r>
              <a:t>Test records were evaluated repeatedly in notebook development; not a newly blinded clinical test.</a:t>
            </a:r>
          </a:p>
          <a:p>
            <a:r>
              <a:t>Rule thresholds have no clinical validation in this project.</a:t>
            </a:r>
          </a:p>
          <a:p>
            <a:r>
              <a:t>Evidential probabilities are not a separately fitted self-calibrated condition.</a:t>
            </a:r>
          </a:p>
          <a:p>
            <a:r>
              <a:t>SN identifiers denote recordings; repository assumes one subject per ID and has no independent person-identity mapping.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Appendix — Classification Report</a:t>
            </a:r>
          </a:p>
          <a:p>
            <a:r>
              <a:t>Run: HMC-PPT-20261007-01</a:t>
            </a:r>
          </a:p>
          <a:p>
            <a:r>
              <a:t>Sources: classification_report.csv</a:t>
            </a:r>
          </a:p>
          <a:p>
            <a:r>
              <a:t>Test recordings: SN009, SN001, SN004, SN022.</a:t>
            </a:r>
          </a:p>
          <a:p>
            <a:r>
              <a:t>Checkpoint: /content/drive/MyDrive/Sleep_Health_Profiling/models/HMC_CHECKPOINTS/best_objective1_model.keras</a:t>
            </a:r>
          </a:p>
          <a:p>
            <a:r>
              <a:t>Checkpoint SHA256: 3bf1423246d5672ce7473562079cb4e8d9aa1a578e18c1cb65e6b43e4156b226</a:t>
            </a:r>
          </a:p>
          <a:p>
            <a:r>
              <a:t>All classification results use identical corrected test epochs.</a:t>
            </a:r>
          </a:p>
          <a:p>
            <a:r>
              <a:t>Only four test recordings; no external validation.</a:t>
            </a:r>
          </a:p>
          <a:p>
            <a:r>
              <a:t>Final training hardware and global training RNG state not preserved.</a:t>
            </a:r>
          </a:p>
          <a:p>
            <a:r>
              <a:t>Notebook execution counts were cleared; saved outputs are historical evidence rather than complete execution provenance.</a:t>
            </a:r>
          </a:p>
          <a:p>
            <a:r>
              <a:t>Test records were evaluated repeatedly in notebook development; not a newly blinded clinical test.</a:t>
            </a:r>
          </a:p>
          <a:p>
            <a:r>
              <a:t>Rule thresholds have no clinical validation in this project.</a:t>
            </a:r>
          </a:p>
          <a:p>
            <a:r>
              <a:t>Evidential probabilities are not a separately fitted self-calibrated condition.</a:t>
            </a:r>
          </a:p>
          <a:p>
            <a:r>
              <a:t>SN identifiers denote recordings; repository assumes one subject per ID and has no independent person-identity mapping.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Appendix — Raw Confusion Counts</a:t>
            </a:r>
          </a:p>
          <a:p>
            <a:r>
              <a:t>Run: HMC-PPT-20261007-01</a:t>
            </a:r>
          </a:p>
          <a:p>
            <a:r>
              <a:t>Sources: confusion_matrix_counts.csv</a:t>
            </a:r>
          </a:p>
          <a:p>
            <a:r>
              <a:t>Test recordings: SN009, SN001, SN004, SN022.</a:t>
            </a:r>
          </a:p>
          <a:p>
            <a:r>
              <a:t>Checkpoint: /content/drive/MyDrive/Sleep_Health_Profiling/models/HMC_CHECKPOINTS/best_objective1_model.keras</a:t>
            </a:r>
          </a:p>
          <a:p>
            <a:r>
              <a:t>Checkpoint SHA256: 3bf1423246d5672ce7473562079cb4e8d9aa1a578e18c1cb65e6b43e4156b226</a:t>
            </a:r>
          </a:p>
          <a:p>
            <a:r>
              <a:t>All classification results use identical corrected test epochs.</a:t>
            </a:r>
          </a:p>
          <a:p>
            <a:r>
              <a:t>Only four test recordings; no external validation.</a:t>
            </a:r>
          </a:p>
          <a:p>
            <a:r>
              <a:t>Final training hardware and global training RNG state not preserved.</a:t>
            </a:r>
          </a:p>
          <a:p>
            <a:r>
              <a:t>Notebook execution counts were cleared; saved outputs are historical evidence rather than complete execution provenance.</a:t>
            </a:r>
          </a:p>
          <a:p>
            <a:r>
              <a:t>Test records were evaluated repeatedly in notebook development; not a newly blinded clinical test.</a:t>
            </a:r>
          </a:p>
          <a:p>
            <a:r>
              <a:t>Rule thresholds have no clinical validation in this project.</a:t>
            </a:r>
          </a:p>
          <a:p>
            <a:r>
              <a:t>Evidential probabilities are not a separately fitted self-calibrated condition.</a:t>
            </a:r>
          </a:p>
          <a:p>
            <a:r>
              <a:t>SN identifiers denote recordings; repository assumes one subject per ID and has no independent person-identity mapping.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Appendix — Soft-Viterbi Confusion Matrix</a:t>
            </a:r>
          </a:p>
          <a:p>
            <a:r>
              <a:t>Run: HMC-PPT-20261007-01</a:t>
            </a:r>
          </a:p>
          <a:p>
            <a:r>
              <a:t>Sources: smoothed_confusion_matrix_normalized.csv</a:t>
            </a:r>
          </a:p>
          <a:p>
            <a:r>
              <a:t>Test recordings: SN009, SN001, SN004, SN022.</a:t>
            </a:r>
          </a:p>
          <a:p>
            <a:r>
              <a:t>Checkpoint: /content/drive/MyDrive/Sleep_Health_Profiling/models/HMC_CHECKPOINTS/best_objective1_model.keras</a:t>
            </a:r>
          </a:p>
          <a:p>
            <a:r>
              <a:t>Checkpoint SHA256: 3bf1423246d5672ce7473562079cb4e8d9aa1a578e18c1cb65e6b43e4156b226</a:t>
            </a:r>
          </a:p>
          <a:p>
            <a:r>
              <a:t>All classification results use identical corrected test epochs.</a:t>
            </a:r>
          </a:p>
          <a:p>
            <a:r>
              <a:t>Only four test recordings; no external validation.</a:t>
            </a:r>
          </a:p>
          <a:p>
            <a:r>
              <a:t>Final training hardware and global training RNG state not preserved.</a:t>
            </a:r>
          </a:p>
          <a:p>
            <a:r>
              <a:t>Notebook execution counts were cleared; saved outputs are historical evidence rather than complete execution provenance.</a:t>
            </a:r>
          </a:p>
          <a:p>
            <a:r>
              <a:t>Test records were evaluated repeatedly in notebook development; not a newly blinded clinical test.</a:t>
            </a:r>
          </a:p>
          <a:p>
            <a:r>
              <a:t>Rule thresholds have no clinical validation in this project.</a:t>
            </a:r>
          </a:p>
          <a:p>
            <a:r>
              <a:t>Evidential probabilities are not a separately fitted self-calibrated condition.</a:t>
            </a:r>
          </a:p>
          <a:p>
            <a:r>
              <a:t>SN identifiers denote recordings; repository assumes one subject per ID and has no independent person-identity mapping.</a:t>
            </a:r>
          </a:p>
          <a:p>
            <a:r>
              <a:t>Renamed unsupported self-calibrated appendix condition: no such checkpoint exists in the final project model directory.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Appendix — Risk–Coverage Curve</a:t>
            </a:r>
          </a:p>
          <a:p>
            <a:r>
              <a:t>Run: HMC-PPT-20261007-01</a:t>
            </a:r>
          </a:p>
          <a:p>
            <a:r>
              <a:t>Sources: risk_coverage_data.csv, calibration_metrics.json</a:t>
            </a:r>
          </a:p>
          <a:p>
            <a:r>
              <a:t>Test recordings: SN009, SN001, SN004, SN022.</a:t>
            </a:r>
          </a:p>
          <a:p>
            <a:r>
              <a:t>Checkpoint: /content/drive/MyDrive/Sleep_Health_Profiling/models/HMC_CHECKPOINTS/best_objective1_model.keras</a:t>
            </a:r>
          </a:p>
          <a:p>
            <a:r>
              <a:t>Checkpoint SHA256: 3bf1423246d5672ce7473562079cb4e8d9aa1a578e18c1cb65e6b43e4156b226</a:t>
            </a:r>
          </a:p>
          <a:p>
            <a:r>
              <a:t>All classification results use identical corrected test epochs.</a:t>
            </a:r>
          </a:p>
          <a:p>
            <a:r>
              <a:t>Only four test recordings; no external validation.</a:t>
            </a:r>
          </a:p>
          <a:p>
            <a:r>
              <a:t>Final training hardware and global training RNG state not preserved.</a:t>
            </a:r>
          </a:p>
          <a:p>
            <a:r>
              <a:t>Notebook execution counts were cleared; saved outputs are historical evidence rather than complete execution provenance.</a:t>
            </a:r>
          </a:p>
          <a:p>
            <a:r>
              <a:t>Test records were evaluated repeatedly in notebook development; not a newly blinded clinical test.</a:t>
            </a:r>
          </a:p>
          <a:p>
            <a:r>
              <a:t>Rule thresholds have no clinical validation in this project.</a:t>
            </a:r>
          </a:p>
          <a:p>
            <a:r>
              <a:t>Evidential probabilities are not a separately fitted self-calibrated condition.</a:t>
            </a:r>
          </a:p>
          <a:p>
            <a:r>
              <a:t>SN identifiers denote recordings; repository assumes one subject per ID and has no independent person-identity mapping.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Appendix — Reliability and Calibration</a:t>
            </a:r>
          </a:p>
          <a:p>
            <a:r>
              <a:t>Run: HMC-PPT-20261007-01</a:t>
            </a:r>
          </a:p>
          <a:p>
            <a:r>
              <a:t>Sources: calibration_bins.csv, calibration_metrics.json</a:t>
            </a:r>
          </a:p>
          <a:p>
            <a:r>
              <a:t>Test recordings: SN009, SN001, SN004, SN022.</a:t>
            </a:r>
          </a:p>
          <a:p>
            <a:r>
              <a:t>Checkpoint: /content/drive/MyDrive/Sleep_Health_Profiling/models/HMC_CHECKPOINTS/best_objective1_model.keras</a:t>
            </a:r>
          </a:p>
          <a:p>
            <a:r>
              <a:t>Checkpoint SHA256: 3bf1423246d5672ce7473562079cb4e8d9aa1a578e18c1cb65e6b43e4156b226</a:t>
            </a:r>
          </a:p>
          <a:p>
            <a:r>
              <a:t>All classification results use identical corrected test epochs.</a:t>
            </a:r>
          </a:p>
          <a:p>
            <a:r>
              <a:t>Only four test recordings; no external validation.</a:t>
            </a:r>
          </a:p>
          <a:p>
            <a:r>
              <a:t>Final training hardware and global training RNG state not preserved.</a:t>
            </a:r>
          </a:p>
          <a:p>
            <a:r>
              <a:t>Notebook execution counts were cleared; saved outputs are historical evidence rather than complete execution provenance.</a:t>
            </a:r>
          </a:p>
          <a:p>
            <a:r>
              <a:t>Test records were evaluated repeatedly in notebook development; not a newly blinded clinical test.</a:t>
            </a:r>
          </a:p>
          <a:p>
            <a:r>
              <a:t>Rule thresholds have no clinical validation in this project.</a:t>
            </a:r>
          </a:p>
          <a:p>
            <a:r>
              <a:t>Evidential probabilities are not a separately fitted self-calibrated condition.</a:t>
            </a:r>
          </a:p>
          <a:p>
            <a:r>
              <a:t>SN identifiers denote recordings; repository assumes one subject per ID and has no independent person-identity mapping.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Appendix — Training Class Weights</a:t>
            </a:r>
          </a:p>
          <a:p>
            <a:r>
              <a:t>Run: HMC-PPT-20261007-01</a:t>
            </a:r>
          </a:p>
          <a:p>
            <a:r>
              <a:t>Sources: class_weights.csv</a:t>
            </a:r>
          </a:p>
          <a:p>
            <a:r>
              <a:t>Test recordings: SN009, SN001, SN004, SN022.</a:t>
            </a:r>
          </a:p>
          <a:p>
            <a:r>
              <a:t>Checkpoint: /content/drive/MyDrive/Sleep_Health_Profiling/models/HMC_CHECKPOINTS/best_objective1_model.keras</a:t>
            </a:r>
          </a:p>
          <a:p>
            <a:r>
              <a:t>Checkpoint SHA256: 3bf1423246d5672ce7473562079cb4e8d9aa1a578e18c1cb65e6b43e4156b226</a:t>
            </a:r>
          </a:p>
          <a:p>
            <a:r>
              <a:t>All classification results use identical corrected test epochs.</a:t>
            </a:r>
          </a:p>
          <a:p>
            <a:r>
              <a:t>Only four test recordings; no external validation.</a:t>
            </a:r>
          </a:p>
          <a:p>
            <a:r>
              <a:t>Final training hardware and global training RNG state not preserved.</a:t>
            </a:r>
          </a:p>
          <a:p>
            <a:r>
              <a:t>Notebook execution counts were cleared; saved outputs are historical evidence rather than complete execution provenance.</a:t>
            </a:r>
          </a:p>
          <a:p>
            <a:r>
              <a:t>Test records were evaluated repeatedly in notebook development; not a newly blinded clinical test.</a:t>
            </a:r>
          </a:p>
          <a:p>
            <a:r>
              <a:t>Rule thresholds have no clinical validation in this project.</a:t>
            </a:r>
          </a:p>
          <a:p>
            <a:r>
              <a:t>Evidential probabilities are not a separately fitted self-calibrated condition.</a:t>
            </a:r>
          </a:p>
          <a:p>
            <a:r>
              <a:t>SN identifiers denote recordings; repository assumes one subject per ID and has no independent person-identity mapping.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Appendix — Final Hyperparameters</a:t>
            </a:r>
          </a:p>
          <a:p>
            <a:r>
              <a:t>Run: HMC-PPT-20261007-01</a:t>
            </a:r>
          </a:p>
          <a:p>
            <a:r>
              <a:t>Sources: hyperparameters.json, checkpoint_config.json</a:t>
            </a:r>
          </a:p>
          <a:p>
            <a:r>
              <a:t>Test recordings: SN009, SN001, SN004, SN022.</a:t>
            </a:r>
          </a:p>
          <a:p>
            <a:r>
              <a:t>Checkpoint: /content/drive/MyDrive/Sleep_Health_Profiling/models/HMC_CHECKPOINTS/best_objective1_model.keras</a:t>
            </a:r>
          </a:p>
          <a:p>
            <a:r>
              <a:t>Checkpoint SHA256: 3bf1423246d5672ce7473562079cb4e8d9aa1a578e18c1cb65e6b43e4156b226</a:t>
            </a:r>
          </a:p>
          <a:p>
            <a:r>
              <a:t>All classification results use identical corrected test epochs.</a:t>
            </a:r>
          </a:p>
          <a:p>
            <a:r>
              <a:t>Only four test recordings; no external validation.</a:t>
            </a:r>
          </a:p>
          <a:p>
            <a:r>
              <a:t>Final training hardware and global training RNG state not preserved.</a:t>
            </a:r>
          </a:p>
          <a:p>
            <a:r>
              <a:t>Notebook execution counts were cleared; saved outputs are historical evidence rather than complete execution provenance.</a:t>
            </a:r>
          </a:p>
          <a:p>
            <a:r>
              <a:t>Test records were evaluated repeatedly in notebook development; not a newly blinded clinical test.</a:t>
            </a:r>
          </a:p>
          <a:p>
            <a:r>
              <a:t>Rule thresholds have no clinical validation in this project.</a:t>
            </a:r>
          </a:p>
          <a:p>
            <a:r>
              <a:t>Evidential probabilities are not a separately fitted self-calibrated condition.</a:t>
            </a:r>
          </a:p>
          <a:p>
            <a:r>
              <a:t>SN identifiers denote recordings; repository assumes one subject per ID and has no independent person-identity mapping.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Appendix — Implemented Biomarker Equations</a:t>
            </a:r>
          </a:p>
          <a:p>
            <a:r>
              <a:t>Run: HMC-PPT-20261007-01</a:t>
            </a:r>
          </a:p>
          <a:p>
            <a:r>
              <a:t>Sources: biomarker_equations.md</a:t>
            </a:r>
          </a:p>
          <a:p>
            <a:r>
              <a:t>Test recordings: SN009, SN001, SN004, SN022.</a:t>
            </a:r>
          </a:p>
          <a:p>
            <a:r>
              <a:t>Checkpoint: /content/drive/MyDrive/Sleep_Health_Profiling/models/HMC_CHECKPOINTS/best_objective1_model.keras</a:t>
            </a:r>
          </a:p>
          <a:p>
            <a:r>
              <a:t>Checkpoint SHA256: 3bf1423246d5672ce7473562079cb4e8d9aa1a578e18c1cb65e6b43e4156b226</a:t>
            </a:r>
          </a:p>
          <a:p>
            <a:r>
              <a:t>All classification results use identical corrected test epochs.</a:t>
            </a:r>
          </a:p>
          <a:p>
            <a:r>
              <a:t>Only four test recordings; no external validation.</a:t>
            </a:r>
          </a:p>
          <a:p>
            <a:r>
              <a:t>Final training hardware and global training RNG state not preserved.</a:t>
            </a:r>
          </a:p>
          <a:p>
            <a:r>
              <a:t>Notebook execution counts were cleared; saved outputs are historical evidence rather than complete execution provenance.</a:t>
            </a:r>
          </a:p>
          <a:p>
            <a:r>
              <a:t>Test records were evaluated repeatedly in notebook development; not a newly blinded clinical test.</a:t>
            </a:r>
          </a:p>
          <a:p>
            <a:r>
              <a:t>Rule thresholds have no clinical validation in this project.</a:t>
            </a:r>
          </a:p>
          <a:p>
            <a:r>
              <a:t>Evidential probabilities are not a separately fitted self-calibrated condition.</a:t>
            </a:r>
          </a:p>
          <a:p>
            <a:r>
              <a:t>SN identifiers denote recordings; repository assumes one subject per ID and has no independent person-identity mapping.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Appendix — Weighted Viterbi Details</a:t>
            </a:r>
          </a:p>
          <a:p>
            <a:r>
              <a:t>Run: HMC-PPT-20261007-01</a:t>
            </a:r>
          </a:p>
          <a:p>
            <a:r>
              <a:t>Sources: soft_viterbi_pseudocode.txt, transition_config.json</a:t>
            </a:r>
          </a:p>
          <a:p>
            <a:r>
              <a:t>Test recordings: SN009, SN001, SN004, SN022.</a:t>
            </a:r>
          </a:p>
          <a:p>
            <a:r>
              <a:t>Checkpoint: /content/drive/MyDrive/Sleep_Health_Profiling/models/HMC_CHECKPOINTS/best_objective1_model.keras</a:t>
            </a:r>
          </a:p>
          <a:p>
            <a:r>
              <a:t>Checkpoint SHA256: 3bf1423246d5672ce7473562079cb4e8d9aa1a578e18c1cb65e6b43e4156b226</a:t>
            </a:r>
          </a:p>
          <a:p>
            <a:r>
              <a:t>All classification results use identical corrected test epochs.</a:t>
            </a:r>
          </a:p>
          <a:p>
            <a:r>
              <a:t>Only four test recordings; no external validation.</a:t>
            </a:r>
          </a:p>
          <a:p>
            <a:r>
              <a:t>Final training hardware and global training RNG state not preserved.</a:t>
            </a:r>
          </a:p>
          <a:p>
            <a:r>
              <a:t>Notebook execution counts were cleared; saved outputs are historical evidence rather than complete execution provenance.</a:t>
            </a:r>
          </a:p>
          <a:p>
            <a:r>
              <a:t>Test records were evaluated repeatedly in notebook development; not a newly blinded clinical test.</a:t>
            </a:r>
          </a:p>
          <a:p>
            <a:r>
              <a:t>Rule thresholds have no clinical validation in this project.</a:t>
            </a:r>
          </a:p>
          <a:p>
            <a:r>
              <a:t>Evidential probabilities are not a separately fitted self-calibrated condition.</a:t>
            </a:r>
          </a:p>
          <a:p>
            <a:r>
              <a:t>SN identifiers denote recordings; repository assumes one subject per ID and has no independent person-identity mapping.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Appendix — Additional Test Hypnograms</a:t>
            </a:r>
          </a:p>
          <a:p>
            <a:r>
              <a:t>Run: HMC-PPT-20261007-01</a:t>
            </a:r>
          </a:p>
          <a:p>
            <a:r>
              <a:t>Sources: test_epoch_predictions.csv</a:t>
            </a:r>
          </a:p>
          <a:p>
            <a:r>
              <a:t>Test recordings: SN009, SN001, SN004, SN022.</a:t>
            </a:r>
          </a:p>
          <a:p>
            <a:r>
              <a:t>Checkpoint: /content/drive/MyDrive/Sleep_Health_Profiling/models/HMC_CHECKPOINTS/best_objective1_model.keras</a:t>
            </a:r>
          </a:p>
          <a:p>
            <a:r>
              <a:t>Checkpoint SHA256: 3bf1423246d5672ce7473562079cb4e8d9aa1a578e18c1cb65e6b43e4156b226</a:t>
            </a:r>
          </a:p>
          <a:p>
            <a:r>
              <a:t>All classification results use identical corrected test epochs.</a:t>
            </a:r>
          </a:p>
          <a:p>
            <a:r>
              <a:t>Only four test recordings; no external validation.</a:t>
            </a:r>
          </a:p>
          <a:p>
            <a:r>
              <a:t>Final training hardware and global training RNG state not preserved.</a:t>
            </a:r>
          </a:p>
          <a:p>
            <a:r>
              <a:t>Notebook execution counts were cleared; saved outputs are historical evidence rather than complete execution provenance.</a:t>
            </a:r>
          </a:p>
          <a:p>
            <a:r>
              <a:t>Test records were evaluated repeatedly in notebook development; not a newly blinded clinical test.</a:t>
            </a:r>
          </a:p>
          <a:p>
            <a:r>
              <a:t>Rule thresholds have no clinical validation in this project.</a:t>
            </a:r>
          </a:p>
          <a:p>
            <a:r>
              <a:t>Evidential probabilities are not a separately fitted self-calibrated condition.</a:t>
            </a:r>
          </a:p>
          <a:p>
            <a:r>
              <a:t>SN identifiers denote recordings; repository assumes one subject per ID and has no independent person-identity mapping.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Appendix — Related Literature</a:t>
            </a:r>
          </a:p>
          <a:p>
            <a:r>
              <a:t>Run: HMC-PPT-20261007-01</a:t>
            </a:r>
          </a:p>
          <a:p>
            <a:r>
              <a:t>Sources: literature_comparison.csv, references.txt</a:t>
            </a:r>
          </a:p>
          <a:p>
            <a:r>
              <a:t>Test recordings: SN009, SN001, SN004, SN022.</a:t>
            </a:r>
          </a:p>
          <a:p>
            <a:r>
              <a:t>Checkpoint: /content/drive/MyDrive/Sleep_Health_Profiling/models/HMC_CHECKPOINTS/best_objective1_model.keras</a:t>
            </a:r>
          </a:p>
          <a:p>
            <a:r>
              <a:t>Checkpoint SHA256: 3bf1423246d5672ce7473562079cb4e8d9aa1a578e18c1cb65e6b43e4156b226</a:t>
            </a:r>
          </a:p>
          <a:p>
            <a:r>
              <a:t>All classification results use identical corrected test epochs.</a:t>
            </a:r>
          </a:p>
          <a:p>
            <a:r>
              <a:t>Only four test recordings; no external validation.</a:t>
            </a:r>
          </a:p>
          <a:p>
            <a:r>
              <a:t>Final training hardware and global training RNG state not preserved.</a:t>
            </a:r>
          </a:p>
          <a:p>
            <a:r>
              <a:t>Notebook execution counts were cleared; saved outputs are historical evidence rather than complete execution provenance.</a:t>
            </a:r>
          </a:p>
          <a:p>
            <a:r>
              <a:t>Test records were evaluated repeatedly in notebook development; not a newly blinded clinical test.</a:t>
            </a:r>
          </a:p>
          <a:p>
            <a:r>
              <a:t>Rule thresholds have no clinical validation in this project.</a:t>
            </a:r>
          </a:p>
          <a:p>
            <a:r>
              <a:t>Evidential probabilities are not a separately fitted self-calibrated condition.</a:t>
            </a:r>
          </a:p>
          <a:p>
            <a:r>
              <a:t>SN identifiers denote recordings; repository assumes one subject per ID and has no independent person-identity mapping.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9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5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71446" cy="6858000"/>
          </a:xfrm>
          <a:prstGeom prst="rect">
            <a:avLst/>
          </a:prstGeom>
          <a:solidFill>
            <a:srgbClr val="13A6A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23882" y="552450"/>
            <a:ext cx="264451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58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PROJECT REPORT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23882" y="990600"/>
            <a:ext cx="1014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Transformer-Based Sleep Stage Classification and Personalized Sleep Health Profiling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42931" y="2190750"/>
            <a:ext cx="9334267" cy="308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4265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Fast SCFormer-U, Evidential Learning and Soft-Viterbi Sequence Decoding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2931" y="3952875"/>
            <a:ext cx="10286743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CFE3E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2931" y="4171950"/>
            <a:ext cx="4962401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by: Rikin Parekh, Om Ahuja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067273" y="4171950"/>
            <a:ext cx="4962401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No.: 23BIT044, 23BIT014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42931" y="4507210"/>
            <a:ext cx="4962401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Guide: Dr. Santosh Sathpathy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067273" y="4507210"/>
            <a:ext cx="4962401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Department: Information and Communication Technology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42931" y="4842470"/>
            <a:ext cx="4962401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Institute/University: Pandit Deendayal Energy University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67273" y="4842470"/>
            <a:ext cx="4962401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evaluation: 7 October 2026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42931" y="6356350"/>
            <a:ext cx="2380094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C71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engineering / AI project</a:t>
            </a:r>
            <a:endParaRPr lang="en-US" sz="12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5DACE8-0B37-43F8-80F6-B1FE048CAE1C}"/>
              </a:ext>
            </a:extLst>
          </p:cNvPr>
          <p:cNvSpPr/>
          <p:nvPr/>
        </p:nvSpPr>
        <p:spPr>
          <a:xfrm>
            <a:off x="6350000" y="3124200"/>
            <a:ext cx="63500" cy="101600"/>
          </a:xfrm>
          <a:prstGeom prst="rect">
            <a:avLst/>
          </a:prstGeom>
          <a:solidFill>
            <a:srgbClr val="8FD3C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E1D4A61-0397-4C90-BAD0-ECC7D5FA4091}"/>
              </a:ext>
            </a:extLst>
          </p:cNvPr>
          <p:cNvSpPr/>
          <p:nvPr/>
        </p:nvSpPr>
        <p:spPr>
          <a:xfrm>
            <a:off x="6553200" y="3073400"/>
            <a:ext cx="63500" cy="203200"/>
          </a:xfrm>
          <a:prstGeom prst="rect">
            <a:avLst/>
          </a:prstGeom>
          <a:solidFill>
            <a:srgbClr val="8FD3C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5D17E7A-67F7-434F-ACE3-7D39FBF011E5}"/>
              </a:ext>
            </a:extLst>
          </p:cNvPr>
          <p:cNvSpPr/>
          <p:nvPr/>
        </p:nvSpPr>
        <p:spPr>
          <a:xfrm>
            <a:off x="6756400" y="2984500"/>
            <a:ext cx="63500" cy="381000"/>
          </a:xfrm>
          <a:prstGeom prst="rect">
            <a:avLst/>
          </a:prstGeom>
          <a:solidFill>
            <a:srgbClr val="8FD3C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2E023AC-810D-4D1D-87D6-E1AA99404AD6}"/>
              </a:ext>
            </a:extLst>
          </p:cNvPr>
          <p:cNvSpPr/>
          <p:nvPr/>
        </p:nvSpPr>
        <p:spPr>
          <a:xfrm>
            <a:off x="6959600" y="3098800"/>
            <a:ext cx="63500" cy="152400"/>
          </a:xfrm>
          <a:prstGeom prst="rect">
            <a:avLst/>
          </a:prstGeom>
          <a:solidFill>
            <a:srgbClr val="8FD3C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3C7383C-7EB4-4CB4-9AE1-2FD20BD3C64B}"/>
              </a:ext>
            </a:extLst>
          </p:cNvPr>
          <p:cNvSpPr/>
          <p:nvPr/>
        </p:nvSpPr>
        <p:spPr>
          <a:xfrm>
            <a:off x="7162800" y="2908300"/>
            <a:ext cx="63500" cy="533400"/>
          </a:xfrm>
          <a:prstGeom prst="rect">
            <a:avLst/>
          </a:prstGeom>
          <a:solidFill>
            <a:srgbClr val="8FD3C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0F1492C-FA5B-4C6E-BBEE-B845354FFA63}"/>
              </a:ext>
            </a:extLst>
          </p:cNvPr>
          <p:cNvSpPr/>
          <p:nvPr/>
        </p:nvSpPr>
        <p:spPr>
          <a:xfrm>
            <a:off x="7366000" y="3060700"/>
            <a:ext cx="63500" cy="228600"/>
          </a:xfrm>
          <a:prstGeom prst="rect">
            <a:avLst/>
          </a:prstGeom>
          <a:solidFill>
            <a:srgbClr val="8FD3C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F16E8E7-FA6E-49C7-AA52-00F1E642C29F}"/>
              </a:ext>
            </a:extLst>
          </p:cNvPr>
          <p:cNvSpPr/>
          <p:nvPr/>
        </p:nvSpPr>
        <p:spPr>
          <a:xfrm>
            <a:off x="7569200" y="3117850"/>
            <a:ext cx="63500" cy="114300"/>
          </a:xfrm>
          <a:prstGeom prst="rect">
            <a:avLst/>
          </a:prstGeom>
          <a:solidFill>
            <a:srgbClr val="8FD3C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BE7C0E2-9F56-4D1C-8C40-BB436C6CEA79}"/>
              </a:ext>
            </a:extLst>
          </p:cNvPr>
          <p:cNvSpPr/>
          <p:nvPr/>
        </p:nvSpPr>
        <p:spPr>
          <a:xfrm>
            <a:off x="7772400" y="3016250"/>
            <a:ext cx="63500" cy="317500"/>
          </a:xfrm>
          <a:prstGeom prst="rect">
            <a:avLst/>
          </a:prstGeom>
          <a:solidFill>
            <a:srgbClr val="8FD3C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FEFDF81-DA4A-4639-AE8A-784808A1E631}"/>
              </a:ext>
            </a:extLst>
          </p:cNvPr>
          <p:cNvSpPr/>
          <p:nvPr/>
        </p:nvSpPr>
        <p:spPr>
          <a:xfrm>
            <a:off x="7975600" y="2870200"/>
            <a:ext cx="63500" cy="609600"/>
          </a:xfrm>
          <a:prstGeom prst="rect">
            <a:avLst/>
          </a:prstGeom>
          <a:solidFill>
            <a:srgbClr val="8FD3C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80AE25C-23FC-4B32-B6E8-E748F99BFCEC}"/>
              </a:ext>
            </a:extLst>
          </p:cNvPr>
          <p:cNvSpPr/>
          <p:nvPr/>
        </p:nvSpPr>
        <p:spPr>
          <a:xfrm>
            <a:off x="8178800" y="3073400"/>
            <a:ext cx="63500" cy="203200"/>
          </a:xfrm>
          <a:prstGeom prst="rect">
            <a:avLst/>
          </a:prstGeom>
          <a:solidFill>
            <a:srgbClr val="8FD3C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9E287D0-D1A5-4D4C-B351-3020030981C8}"/>
              </a:ext>
            </a:extLst>
          </p:cNvPr>
          <p:cNvSpPr/>
          <p:nvPr/>
        </p:nvSpPr>
        <p:spPr>
          <a:xfrm>
            <a:off x="8382000" y="3124200"/>
            <a:ext cx="63500" cy="101600"/>
          </a:xfrm>
          <a:prstGeom prst="rect">
            <a:avLst/>
          </a:prstGeom>
          <a:solidFill>
            <a:srgbClr val="8FD3C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DA8C69D-8FE5-4ACD-9BCD-F831293A334A}"/>
              </a:ext>
            </a:extLst>
          </p:cNvPr>
          <p:cNvSpPr/>
          <p:nvPr/>
        </p:nvSpPr>
        <p:spPr>
          <a:xfrm>
            <a:off x="8585200" y="2990850"/>
            <a:ext cx="63500" cy="368300"/>
          </a:xfrm>
          <a:prstGeom prst="rect">
            <a:avLst/>
          </a:prstGeom>
          <a:solidFill>
            <a:srgbClr val="8FD3C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00461BC-5E2D-4534-B85C-21DBDCB13A96}"/>
              </a:ext>
            </a:extLst>
          </p:cNvPr>
          <p:cNvSpPr/>
          <p:nvPr/>
        </p:nvSpPr>
        <p:spPr>
          <a:xfrm>
            <a:off x="8788400" y="3098800"/>
            <a:ext cx="63500" cy="152400"/>
          </a:xfrm>
          <a:prstGeom prst="rect">
            <a:avLst/>
          </a:prstGeom>
          <a:solidFill>
            <a:srgbClr val="8FD3C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99E079D-667C-44E0-B4FC-D8D3EF3E9119}"/>
              </a:ext>
            </a:extLst>
          </p:cNvPr>
          <p:cNvSpPr/>
          <p:nvPr/>
        </p:nvSpPr>
        <p:spPr>
          <a:xfrm>
            <a:off x="8991600" y="2933700"/>
            <a:ext cx="63500" cy="482600"/>
          </a:xfrm>
          <a:prstGeom prst="rect">
            <a:avLst/>
          </a:prstGeom>
          <a:solidFill>
            <a:srgbClr val="8FD3C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3BDE8EE-63CC-45F8-8E1B-2D25303DAEB4}"/>
              </a:ext>
            </a:extLst>
          </p:cNvPr>
          <p:cNvSpPr/>
          <p:nvPr/>
        </p:nvSpPr>
        <p:spPr>
          <a:xfrm>
            <a:off x="9194800" y="3079750"/>
            <a:ext cx="63500" cy="190500"/>
          </a:xfrm>
          <a:prstGeom prst="rect">
            <a:avLst/>
          </a:prstGeom>
          <a:solidFill>
            <a:srgbClr val="8FD3C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8732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  <a:defRPr sz="2800" b="1">
                <a:solidFill>
                  <a:srgbClr val="0B2E4F"/>
                </a:solidFill>
                <a:latin typeface="Arial"/>
              </a:defRPr>
            </a:pPr>
            <a:r>
              <a:t>Problem Statement</a:t>
            </a:r>
            <a:endParaRPr lang="en-US" sz="3000" dirty="0"/>
          </a:p>
        </p:txBody>
      </p:sp>
      <p:sp>
        <p:nvSpPr>
          <p:cNvPr id="4" name="Rectangle 3"/>
          <p:cNvSpPr/>
          <p:nvPr/>
        </p:nvSpPr>
        <p:spPr>
          <a:xfrm>
            <a:off x="594360" y="1033271"/>
            <a:ext cx="11018520" cy="32004"/>
          </a:xfrm>
          <a:prstGeom prst="rect">
            <a:avLst/>
          </a:prstGeom>
          <a:solidFill>
            <a:srgbClr val="13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46520"/>
            <a:ext cx="10789920" cy="22860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60788A"/>
                </a:solidFill>
                <a:latin typeface="Arial"/>
              </a:defRPr>
            </a:pPr>
            <a:r>
              <a:t>Source: HMC-PPT-20261007-01 | project scope, preprocessing_config.json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19088"/>
            <a:ext cx="365760" cy="256032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60788A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789920" cy="214884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900"/>
              </a:spcAft>
              <a:defRPr sz="2300" b="0">
                <a:solidFill>
                  <a:srgbClr val="19364D"/>
                </a:solidFill>
                <a:latin typeface="Arial"/>
              </a:defRPr>
            </a:pPr>
            <a:r>
              <a:t>• Classify four-channel EEG into Wake, N1, N2, N3 and REM at 30-second resolution.</a:t>
            </a:r>
          </a:p>
          <a:p>
            <a:pPr algn="l">
              <a:spcAft>
                <a:spcPts val="900"/>
              </a:spcAft>
              <a:defRPr sz="2300" b="0">
                <a:solidFill>
                  <a:srgbClr val="19364D"/>
                </a:solidFill>
                <a:latin typeface="Arial"/>
              </a:defRPr>
            </a:pPr>
            <a:r>
              <a:t>• Automate epoch scoring, expose evidential uncertainty, and decode recording-level stage sequences.</a:t>
            </a:r>
          </a:p>
          <a:p>
            <a:pPr algn="l">
              <a:spcAft>
                <a:spcPts val="900"/>
              </a:spcAft>
              <a:defRPr sz="2300" b="0">
                <a:solidFill>
                  <a:srgbClr val="19364D"/>
                </a:solidFill>
                <a:latin typeface="Arial"/>
              </a:defRPr>
            </a:pPr>
            <a:r>
              <a:t>• Convert scored sequences into interpretable research sleep profiles.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657600"/>
            <a:ext cx="2480310" cy="1234440"/>
          </a:xfrm>
          <a:prstGeom prst="round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3840480"/>
            <a:ext cx="2370582" cy="96012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EEG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29534" y="4165091"/>
            <a:ext cx="265176" cy="219456"/>
          </a:xfrm>
          <a:prstGeom prst="rightArrow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40430" y="3657600"/>
            <a:ext cx="2480310" cy="1234440"/>
          </a:xfrm>
          <a:prstGeom prst="round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95294" y="3840480"/>
            <a:ext cx="2370582" cy="96012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Five-stage</a:t>
            </a:r>
          </a:p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classification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975604" y="4165091"/>
            <a:ext cx="265176" cy="219456"/>
          </a:xfrm>
          <a:prstGeom prst="rightArrow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86500" y="3657600"/>
            <a:ext cx="2480310" cy="1234440"/>
          </a:xfrm>
          <a:prstGeom prst="round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1364" y="3840480"/>
            <a:ext cx="2370582" cy="96012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Sequence</a:t>
            </a:r>
          </a:p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decoding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821674" y="4165091"/>
            <a:ext cx="265176" cy="219456"/>
          </a:xfrm>
          <a:prstGeom prst="rightArrow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32570" y="3657600"/>
            <a:ext cx="2480310" cy="1234440"/>
          </a:xfrm>
          <a:prstGeom prst="round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7434" y="3840480"/>
            <a:ext cx="2370582" cy="96012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Research</a:t>
            </a:r>
          </a:p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profile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870448"/>
            <a:ext cx="10927080" cy="429768"/>
          </a:xfrm>
          <a:prstGeom prst="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36576"/>
          <a:lstStyle/>
          <a:p>
            <a:pPr algn="l">
              <a:spcAft>
                <a:spcPts val="0"/>
              </a:spcAft>
              <a:defRPr sz="1600" b="0">
                <a:solidFill>
                  <a:srgbClr val="19364D"/>
                </a:solidFill>
                <a:latin typeface="Arial"/>
              </a:defRPr>
            </a:pPr>
            <a:r>
              <a:t>Scope: academic engineering research; no diagnostic or clinical-validation claim.</a:t>
            </a:r>
          </a:p>
        </p:txBody>
      </p:sp>
    </p:spTree>
    <p:extLst>
      <p:ext uri="{BB962C8B-B14F-4D97-AF65-F5344CB8AC3E}">
        <p14:creationId xmlns:p14="http://schemas.microsoft.com/office/powerpoint/2010/main" val="1202001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  <a:defRPr sz="2800" b="1">
                <a:solidFill>
                  <a:srgbClr val="0B2E4F"/>
                </a:solidFill>
                <a:latin typeface="Arial"/>
              </a:defRPr>
            </a:pPr>
            <a:r>
              <a:t>Project Objectives</a:t>
            </a:r>
            <a:endParaRPr lang="en-US" sz="3000" dirty="0"/>
          </a:p>
        </p:txBody>
      </p:sp>
      <p:sp>
        <p:nvSpPr>
          <p:cNvPr id="4" name="Rectangle 3"/>
          <p:cNvSpPr/>
          <p:nvPr/>
        </p:nvSpPr>
        <p:spPr>
          <a:xfrm>
            <a:off x="594360" y="1033271"/>
            <a:ext cx="11018520" cy="32004"/>
          </a:xfrm>
          <a:prstGeom prst="rect">
            <a:avLst/>
          </a:prstGeom>
          <a:solidFill>
            <a:srgbClr val="13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46520"/>
            <a:ext cx="10789920" cy="22860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60788A"/>
                </a:solidFill>
                <a:latin typeface="Arial"/>
              </a:defRPr>
            </a:pPr>
            <a:r>
              <a:t>Source: HMC-PPT-20261007-01 | checkpoint_config.json, transition_config.json, biomarker_equations.md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19088"/>
            <a:ext cx="365760" cy="256032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60788A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10927080" cy="1325880"/>
          </a:xfrm>
          <a:prstGeom prst="round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45720" cy="1325880"/>
          </a:xfrm>
          <a:prstGeom prst="rect">
            <a:avLst/>
          </a:prstGeom>
          <a:solidFill>
            <a:srgbClr val="13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435607"/>
            <a:ext cx="10616184" cy="36576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2100" b="1">
                <a:solidFill>
                  <a:srgbClr val="0B2E4F"/>
                </a:solidFill>
                <a:latin typeface="Arial"/>
              </a:defRPr>
            </a:pPr>
            <a:r>
              <a:t>01  Sleep-stage classification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783080"/>
            <a:ext cx="10616184" cy="832103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9364D"/>
                </a:solidFill>
                <a:latin typeface="Arial"/>
              </a:defRPr>
            </a:pPr>
            <a:r>
              <a:t>Predict five stages using a compact CNN–self-attention–BiLSTM evidential model.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834639"/>
            <a:ext cx="10927080" cy="1325880"/>
          </a:xfrm>
          <a:prstGeom prst="round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834639"/>
            <a:ext cx="45720" cy="1325880"/>
          </a:xfrm>
          <a:prstGeom prst="rect">
            <a:avLst/>
          </a:prstGeom>
          <a:solidFill>
            <a:srgbClr val="13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2944368"/>
            <a:ext cx="10616184" cy="36576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2100" b="1">
                <a:solidFill>
                  <a:srgbClr val="0B2E4F"/>
                </a:solidFill>
                <a:latin typeface="Arial"/>
              </a:defRPr>
            </a:pPr>
            <a:r>
              <a:t>02  Sequence refinement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3291839"/>
            <a:ext cx="10616184" cy="832103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9364D"/>
                </a:solidFill>
                <a:latin typeface="Arial"/>
              </a:defRPr>
            </a:pPr>
            <a:r>
              <a:t>Decode stage probabilities with training-derived transitions, separately for each recording.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343400"/>
            <a:ext cx="10927080" cy="1325880"/>
          </a:xfrm>
          <a:prstGeom prst="round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343400"/>
            <a:ext cx="45720" cy="1325880"/>
          </a:xfrm>
          <a:prstGeom prst="rect">
            <a:avLst/>
          </a:prstGeom>
          <a:solidFill>
            <a:srgbClr val="13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" y="4453128"/>
            <a:ext cx="10616184" cy="36576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2100" b="1">
                <a:solidFill>
                  <a:srgbClr val="0B2E4F"/>
                </a:solidFill>
                <a:latin typeface="Arial"/>
              </a:defRPr>
            </a:pPr>
            <a:r>
              <a:t>03  Subject-level profiling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4800600"/>
            <a:ext cx="10616184" cy="832103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9364D"/>
                </a:solidFill>
                <a:latin typeface="Arial"/>
              </a:defRPr>
            </a:pPr>
            <a:r>
              <a:t>Compute source-defined biomarkers, compare with ground truth and apply research risk rules.</a:t>
            </a:r>
          </a:p>
        </p:txBody>
      </p:sp>
    </p:spTree>
    <p:extLst>
      <p:ext uri="{BB962C8B-B14F-4D97-AF65-F5344CB8AC3E}">
        <p14:creationId xmlns:p14="http://schemas.microsoft.com/office/powerpoint/2010/main" val="1069184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  <a:defRPr sz="2800" b="1">
                <a:solidFill>
                  <a:srgbClr val="0B2E4F"/>
                </a:solidFill>
                <a:latin typeface="Arial"/>
              </a:defRPr>
            </a:pPr>
            <a:r>
              <a:t>Dataset and Experimental Split</a:t>
            </a:r>
            <a:endParaRPr lang="en-US" sz="3000" dirty="0"/>
          </a:p>
        </p:txBody>
      </p:sp>
      <p:sp>
        <p:nvSpPr>
          <p:cNvPr id="4" name="Rectangle 3"/>
          <p:cNvSpPr/>
          <p:nvPr/>
        </p:nvSpPr>
        <p:spPr>
          <a:xfrm>
            <a:off x="594360" y="1033271"/>
            <a:ext cx="11018520" cy="32004"/>
          </a:xfrm>
          <a:prstGeom prst="rect">
            <a:avLst/>
          </a:prstGeom>
          <a:solidFill>
            <a:srgbClr val="13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46520"/>
            <a:ext cx="10789920" cy="22860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60788A"/>
                </a:solidFill>
                <a:latin typeface="Arial"/>
              </a:defRPr>
            </a:pPr>
            <a:r>
              <a:t>Source: HMC-PPT-20261007-01 | split_summary.json, split_subjects.csv, input_repairs.json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19088"/>
            <a:ext cx="365760" cy="256032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60788A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63040"/>
            <a:ext cx="2480310" cy="1097280"/>
          </a:xfrm>
          <a:prstGeom prst="round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645920"/>
            <a:ext cx="2370582" cy="822959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24 recordings</a:t>
            </a:r>
          </a:p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24 unique SN IDs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29534" y="1901952"/>
            <a:ext cx="265176" cy="219456"/>
          </a:xfrm>
          <a:prstGeom prst="rightArrow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40430" y="1463040"/>
            <a:ext cx="2480310" cy="1097280"/>
          </a:xfrm>
          <a:prstGeom prst="round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95294" y="1645920"/>
            <a:ext cx="2370582" cy="822959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16 training</a:t>
            </a:r>
          </a:p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15,216 epochs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75604" y="1901952"/>
            <a:ext cx="265176" cy="219456"/>
          </a:xfrm>
          <a:prstGeom prst="rightArrow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86500" y="1463040"/>
            <a:ext cx="2480310" cy="1097280"/>
          </a:xfrm>
          <a:prstGeom prst="round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1364" y="1645920"/>
            <a:ext cx="2370582" cy="822959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4 validation</a:t>
            </a:r>
          </a:p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3,619 epochs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821674" y="1901952"/>
            <a:ext cx="265176" cy="219456"/>
          </a:xfrm>
          <a:prstGeom prst="rightArrow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32570" y="1463040"/>
            <a:ext cx="2480310" cy="1097280"/>
          </a:xfrm>
          <a:prstGeom prst="round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7434" y="1645920"/>
            <a:ext cx="2370582" cy="822959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4 test</a:t>
            </a:r>
          </a:p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3,773 epochs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788920"/>
            <a:ext cx="10607040" cy="96012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900"/>
              </a:spcAft>
              <a:defRPr sz="2100" b="0">
                <a:solidFill>
                  <a:srgbClr val="19364D"/>
                </a:solidFill>
                <a:latin typeface="Arial"/>
              </a:defRPr>
            </a:pPr>
            <a:r>
              <a:t>Total evaluated usable epochs: 22,608</a:t>
            </a:r>
          </a:p>
          <a:p>
            <a:pPr algn="l">
              <a:spcAft>
                <a:spcPts val="900"/>
              </a:spcAft>
              <a:defRPr sz="2100" b="0">
                <a:solidFill>
                  <a:srgbClr val="19364D"/>
                </a:solidFill>
                <a:latin typeface="Arial"/>
              </a:defRPr>
            </a:pPr>
            <a:r>
              <a:t>Overall counts: Wake 4,288 · N1 2,446 · N2 8,258 · N3 4,103 · REM 3,513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931920"/>
            <a:ext cx="10607040" cy="86868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900"/>
              </a:spcAft>
              <a:defRPr sz="2100" b="0">
                <a:solidFill>
                  <a:srgbClr val="19364D"/>
                </a:solidFill>
                <a:latin typeface="Arial"/>
              </a:defRPr>
            </a:pPr>
            <a:r>
              <a:t>Selected EEG channels: F4–M1 · C4–M1 · O2–M1 · C3–M2</a:t>
            </a:r>
          </a:p>
          <a:p>
            <a:pPr algn="l">
              <a:spcAft>
                <a:spcPts val="900"/>
              </a:spcAft>
              <a:defRPr sz="2100" b="0">
                <a:solidFill>
                  <a:srgbClr val="19364D"/>
                </a:solidFill>
                <a:latin typeface="Arial"/>
              </a:defRPr>
            </a:pPr>
            <a:r>
              <a:t>Test IDs: SN009, SN001, SN004, SN022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029200"/>
            <a:ext cx="10607040" cy="77724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900"/>
              </a:spcAft>
              <a:defRPr sz="1800" b="0">
                <a:solidFill>
                  <a:srgbClr val="19364D"/>
                </a:solidFill>
                <a:latin typeface="Arial"/>
              </a:defRPr>
            </a:pPr>
            <a:r>
              <a:t>SN001 correction: 190 stored epochs → 854 EDF-derived epochs. Original data preserved.</a:t>
            </a:r>
          </a:p>
          <a:p>
            <a:pPr algn="l">
              <a:spcAft>
                <a:spcPts val="900"/>
              </a:spcAft>
              <a:defRPr sz="1800" b="0">
                <a:solidFill>
                  <a:srgbClr val="19364D"/>
                </a:solidFill>
                <a:latin typeface="Arial"/>
              </a:defRPr>
            </a:pPr>
            <a:r>
              <a:t>No subject/recording ID appears in more than one split.</a:t>
            </a:r>
          </a:p>
        </p:txBody>
      </p:sp>
    </p:spTree>
    <p:extLst>
      <p:ext uri="{BB962C8B-B14F-4D97-AF65-F5344CB8AC3E}">
        <p14:creationId xmlns:p14="http://schemas.microsoft.com/office/powerpoint/2010/main" val="4252615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  <a:defRPr sz="2800" b="1">
                <a:solidFill>
                  <a:srgbClr val="0B2E4F"/>
                </a:solidFill>
                <a:latin typeface="Arial"/>
              </a:defRPr>
            </a:pPr>
            <a:r>
              <a:t>EEG Preprocessing</a:t>
            </a:r>
            <a:endParaRPr lang="en-US" sz="3000" dirty="0"/>
          </a:p>
        </p:txBody>
      </p:sp>
      <p:sp>
        <p:nvSpPr>
          <p:cNvPr id="4" name="Rectangle 3"/>
          <p:cNvSpPr/>
          <p:nvPr/>
        </p:nvSpPr>
        <p:spPr>
          <a:xfrm>
            <a:off x="594360" y="1033271"/>
            <a:ext cx="11018520" cy="32004"/>
          </a:xfrm>
          <a:prstGeom prst="rect">
            <a:avLst/>
          </a:prstGeom>
          <a:solidFill>
            <a:srgbClr val="13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46520"/>
            <a:ext cx="10789920" cy="22860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60788A"/>
                </a:solidFill>
                <a:latin typeface="Arial"/>
              </a:defRPr>
            </a:pPr>
            <a:r>
              <a:t>Source: HMC-PPT-20261007-01 | preprocessing_config.json, eeg_example_metadata.json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19088"/>
            <a:ext cx="365760" cy="256032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60788A"/>
                </a:solidFill>
                <a:latin typeface="Arial"/>
              </a:defRPr>
            </a:pPr>
            <a:r>
              <a:t>05</a:t>
            </a:r>
          </a:p>
        </p:txBody>
      </p:sp>
      <p:pic>
        <p:nvPicPr>
          <p:cNvPr id="7" name="Picture 6" descr="raw_eeg_exam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25346"/>
            <a:ext cx="5577840" cy="2510027"/>
          </a:xfrm>
          <a:prstGeom prst="rect">
            <a:avLst/>
          </a:prstGeom>
        </p:spPr>
      </p:pic>
      <p:pic>
        <p:nvPicPr>
          <p:cNvPr id="8" name="Picture 7" descr="preprocessed_eeg_exam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625346"/>
            <a:ext cx="5577840" cy="251002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4617720"/>
            <a:ext cx="10789920" cy="475488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2100" b="1">
                <a:solidFill>
                  <a:srgbClr val="0B2E4F"/>
                </a:solidFill>
                <a:latin typeface="Arial"/>
              </a:defRPr>
            </a:pPr>
            <a:r>
              <a:t>Channel selection → 50 Hz notch → 0.3–35 Hz bandpass → resample 256→100 Hz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230368"/>
            <a:ext cx="10789920" cy="82296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900"/>
              </a:spcAft>
              <a:defRPr sz="1900" b="0">
                <a:solidFill>
                  <a:srgbClr val="19364D"/>
                </a:solidFill>
                <a:latin typeface="Arial"/>
              </a:defRPr>
            </a:pPr>
            <a:r>
              <a:t>30-second epochs → channel-wise epoch normalization → input shape (4, 3000)</a:t>
            </a:r>
          </a:p>
          <a:p>
            <a:pPr algn="l">
              <a:spcAft>
                <a:spcPts val="900"/>
              </a:spcAft>
              <a:defRPr sz="1900" b="0">
                <a:solidFill>
                  <a:srgbClr val="19364D"/>
                </a:solidFill>
                <a:latin typeface="Arial"/>
              </a:defRPr>
            </a:pPr>
            <a:r>
              <a:t>No amplitude-based rejection; reject_by_annotation=False in the source.</a:t>
            </a:r>
          </a:p>
        </p:txBody>
      </p:sp>
    </p:spTree>
    <p:extLst>
      <p:ext uri="{BB962C8B-B14F-4D97-AF65-F5344CB8AC3E}">
        <p14:creationId xmlns:p14="http://schemas.microsoft.com/office/powerpoint/2010/main" val="2463557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  <a:defRPr sz="2800" b="1">
                <a:solidFill>
                  <a:srgbClr val="0B2E4F"/>
                </a:solidFill>
                <a:latin typeface="Arial"/>
              </a:defRPr>
            </a:pPr>
            <a:r>
              <a:t>Sleep Stage Distribution</a:t>
            </a:r>
            <a:endParaRPr lang="en-US" sz="3000" dirty="0"/>
          </a:p>
        </p:txBody>
      </p:sp>
      <p:sp>
        <p:nvSpPr>
          <p:cNvPr id="4" name="Rectangle 3"/>
          <p:cNvSpPr/>
          <p:nvPr/>
        </p:nvSpPr>
        <p:spPr>
          <a:xfrm>
            <a:off x="594360" y="1033271"/>
            <a:ext cx="11018520" cy="32004"/>
          </a:xfrm>
          <a:prstGeom prst="rect">
            <a:avLst/>
          </a:prstGeom>
          <a:solidFill>
            <a:srgbClr val="13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46520"/>
            <a:ext cx="10789920" cy="22860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60788A"/>
                </a:solidFill>
                <a:latin typeface="Arial"/>
              </a:defRPr>
            </a:pPr>
            <a:r>
              <a:t>Source: HMC-PPT-20261007-01 | stage_distribution.csv, class_weights.csv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19088"/>
            <a:ext cx="365760" cy="256032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60788A"/>
                </a:solidFill>
                <a:latin typeface="Arial"/>
              </a:defRPr>
            </a:pPr>
            <a:r>
              <a:t>06</a:t>
            </a:r>
          </a:p>
        </p:txBody>
      </p:sp>
      <p:pic>
        <p:nvPicPr>
          <p:cNvPr id="7" name="Picture 6" descr="stage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4459" y="1207008"/>
            <a:ext cx="9418320" cy="47091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40080" y="5870448"/>
            <a:ext cx="10927080" cy="429768"/>
          </a:xfrm>
          <a:prstGeom prst="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36576"/>
          <a:lstStyle/>
          <a:p>
            <a:pPr algn="l">
              <a:spcAft>
                <a:spcPts val="0"/>
              </a:spcAft>
              <a:defRPr sz="1600" b="0">
                <a:solidFill>
                  <a:srgbClr val="19364D"/>
                </a:solidFill>
                <a:latin typeface="Arial"/>
              </a:defRPr>
            </a:pPr>
            <a:r>
              <a:t>Class weighting: Ntraining / (5 × training class count); computed from training labels only.</a:t>
            </a:r>
          </a:p>
        </p:txBody>
      </p:sp>
    </p:spTree>
    <p:extLst>
      <p:ext uri="{BB962C8B-B14F-4D97-AF65-F5344CB8AC3E}">
        <p14:creationId xmlns:p14="http://schemas.microsoft.com/office/powerpoint/2010/main" val="2547535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  <a:defRPr sz="2800" b="1">
                <a:solidFill>
                  <a:srgbClr val="0B2E4F"/>
                </a:solidFill>
                <a:latin typeface="Arial"/>
              </a:defRPr>
            </a:pPr>
            <a:r>
              <a:t>Fast SCFormer-U Architecture</a:t>
            </a:r>
            <a:endParaRPr lang="en-US" sz="3000" dirty="0"/>
          </a:p>
        </p:txBody>
      </p:sp>
      <p:sp>
        <p:nvSpPr>
          <p:cNvPr id="4" name="Rectangle 3"/>
          <p:cNvSpPr/>
          <p:nvPr/>
        </p:nvSpPr>
        <p:spPr>
          <a:xfrm>
            <a:off x="594360" y="1033271"/>
            <a:ext cx="11018520" cy="32004"/>
          </a:xfrm>
          <a:prstGeom prst="rect">
            <a:avLst/>
          </a:prstGeom>
          <a:solidFill>
            <a:srgbClr val="13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46520"/>
            <a:ext cx="10789920" cy="22860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60788A"/>
                </a:solidFill>
                <a:latin typeface="Arial"/>
              </a:defRPr>
            </a:pPr>
            <a:r>
              <a:t>Source: HMC-PPT-20261007-01 | checkpoint_config.json, model_layers.csv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19088"/>
            <a:ext cx="365760" cy="256032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60788A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2480310" cy="1325880"/>
          </a:xfrm>
          <a:prstGeom prst="round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600200"/>
            <a:ext cx="2370582" cy="105156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EEG epoch</a:t>
            </a:r>
          </a:p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4 × 3000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29534" y="1970531"/>
            <a:ext cx="265176" cy="219456"/>
          </a:xfrm>
          <a:prstGeom prst="rightArrow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40430" y="1417320"/>
            <a:ext cx="2480310" cy="1325880"/>
          </a:xfrm>
          <a:prstGeom prst="round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95294" y="1600200"/>
            <a:ext cx="2370582" cy="105156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Conv1D 64</a:t>
            </a:r>
          </a:p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k7, stride4</a:t>
            </a:r>
          </a:p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750 × 64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75604" y="1970531"/>
            <a:ext cx="265176" cy="219456"/>
          </a:xfrm>
          <a:prstGeom prst="rightArrow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86500" y="1417320"/>
            <a:ext cx="2480310" cy="1325880"/>
          </a:xfrm>
          <a:prstGeom prst="round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1364" y="1600200"/>
            <a:ext cx="2370582" cy="105156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Conv1D 128</a:t>
            </a:r>
          </a:p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k5, stride4</a:t>
            </a:r>
          </a:p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188 × 128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821674" y="1970531"/>
            <a:ext cx="265176" cy="219456"/>
          </a:xfrm>
          <a:prstGeom prst="rightArrow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32570" y="1417320"/>
            <a:ext cx="2480310" cy="1325880"/>
          </a:xfrm>
          <a:prstGeom prst="round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7434" y="1600200"/>
            <a:ext cx="2370582" cy="105156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Self-attention</a:t>
            </a:r>
          </a:p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4 heads, key16</a:t>
            </a:r>
          </a:p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188 × 128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337560"/>
            <a:ext cx="2480310" cy="1325880"/>
          </a:xfrm>
          <a:prstGeom prst="round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" y="3520440"/>
            <a:ext cx="2370582" cy="105156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Softplus 5</a:t>
            </a:r>
          </a:p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evidence</a:t>
            </a:r>
          </a:p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α = e + 1</a:t>
            </a:r>
          </a:p>
        </p:txBody>
      </p:sp>
      <p:sp>
        <p:nvSpPr>
          <p:cNvPr id="20" name="Right Arrow 19"/>
          <p:cNvSpPr/>
          <p:nvPr/>
        </p:nvSpPr>
        <p:spPr>
          <a:xfrm rot="10800000">
            <a:off x="3129534" y="3890772"/>
            <a:ext cx="265176" cy="219456"/>
          </a:xfrm>
          <a:prstGeom prst="rightArrow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440430" y="3337560"/>
            <a:ext cx="2480310" cy="1325880"/>
          </a:xfrm>
          <a:prstGeom prst="round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95294" y="3520440"/>
            <a:ext cx="2370582" cy="105156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Average pool</a:t>
            </a:r>
          </a:p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Dense 128</a:t>
            </a:r>
          </a:p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Dropout .2/.1</a:t>
            </a:r>
          </a:p>
        </p:txBody>
      </p:sp>
      <p:sp>
        <p:nvSpPr>
          <p:cNvPr id="23" name="Right Arrow 22"/>
          <p:cNvSpPr/>
          <p:nvPr/>
        </p:nvSpPr>
        <p:spPr>
          <a:xfrm rot="10800000">
            <a:off x="5975604" y="3890772"/>
            <a:ext cx="265176" cy="219456"/>
          </a:xfrm>
          <a:prstGeom prst="rightArrow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86500" y="3337560"/>
            <a:ext cx="2480310" cy="1325880"/>
          </a:xfrm>
          <a:prstGeom prst="round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41364" y="3520440"/>
            <a:ext cx="2370582" cy="105156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BiLSTM 64×2</a:t>
            </a:r>
          </a:p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188 × 128</a:t>
            </a:r>
          </a:p>
        </p:txBody>
      </p:sp>
      <p:sp>
        <p:nvSpPr>
          <p:cNvPr id="26" name="Right Arrow 25"/>
          <p:cNvSpPr/>
          <p:nvPr/>
        </p:nvSpPr>
        <p:spPr>
          <a:xfrm rot="10800000">
            <a:off x="8821674" y="3890772"/>
            <a:ext cx="265176" cy="219456"/>
          </a:xfrm>
          <a:prstGeom prst="rightArrow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32570" y="3337560"/>
            <a:ext cx="2480310" cy="1325880"/>
          </a:xfrm>
          <a:prstGeom prst="round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87434" y="3520440"/>
            <a:ext cx="2370582" cy="105156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Residual + LN</a:t>
            </a:r>
          </a:p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FFN 128→128</a:t>
            </a:r>
          </a:p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GELU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10424160" y="2852928"/>
            <a:ext cx="320040" cy="365760"/>
          </a:xfrm>
          <a:prstGeom prst="downArrow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5870448"/>
            <a:ext cx="10927080" cy="429768"/>
          </a:xfrm>
          <a:prstGeom prst="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36576"/>
          <a:lstStyle/>
          <a:p>
            <a:pPr algn="l">
              <a:spcAft>
                <a:spcPts val="0"/>
              </a:spcAft>
              <a:defRPr sz="1600" b="0">
                <a:solidFill>
                  <a:srgbClr val="19364D"/>
                </a:solidFill>
                <a:latin typeface="Arial"/>
              </a:defRPr>
            </a:pPr>
            <a:r>
              <a:t>Hybrid CNN–Transformer/self-attention–BiLSTM | 225,925 trainable parameters</a:t>
            </a:r>
          </a:p>
        </p:txBody>
      </p:sp>
    </p:spTree>
    <p:extLst>
      <p:ext uri="{BB962C8B-B14F-4D97-AF65-F5344CB8AC3E}">
        <p14:creationId xmlns:p14="http://schemas.microsoft.com/office/powerpoint/2010/main" val="200319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  <a:defRPr sz="2800" b="1">
                <a:solidFill>
                  <a:srgbClr val="0B2E4F"/>
                </a:solidFill>
                <a:latin typeface="Arial"/>
              </a:defRPr>
            </a:pPr>
            <a:r>
              <a:t>Role of Each Model Component</a:t>
            </a:r>
            <a:endParaRPr lang="en-US" sz="3000" dirty="0"/>
          </a:p>
        </p:txBody>
      </p:sp>
      <p:sp>
        <p:nvSpPr>
          <p:cNvPr id="4" name="Rectangle 3"/>
          <p:cNvSpPr/>
          <p:nvPr/>
        </p:nvSpPr>
        <p:spPr>
          <a:xfrm>
            <a:off x="594360" y="1033271"/>
            <a:ext cx="11018520" cy="32004"/>
          </a:xfrm>
          <a:prstGeom prst="rect">
            <a:avLst/>
          </a:prstGeom>
          <a:solidFill>
            <a:srgbClr val="13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46520"/>
            <a:ext cx="10789920" cy="22860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60788A"/>
                </a:solidFill>
                <a:latin typeface="Arial"/>
              </a:defRPr>
            </a:pPr>
            <a:r>
              <a:t>Source: HMC-PPT-20261007-01 | checkpoint_config.json, model_layers.csv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19088"/>
            <a:ext cx="365760" cy="256032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60788A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10927080" cy="1033271"/>
          </a:xfrm>
          <a:prstGeom prst="round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45720" cy="1033271"/>
          </a:xfrm>
          <a:prstGeom prst="rect">
            <a:avLst/>
          </a:prstGeom>
          <a:solidFill>
            <a:srgbClr val="13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435607"/>
            <a:ext cx="10616184" cy="36576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2100" b="1">
                <a:solidFill>
                  <a:srgbClr val="0B2E4F"/>
                </a:solidFill>
                <a:latin typeface="Arial"/>
              </a:defRPr>
            </a:pPr>
            <a:r>
              <a:t>CNN downsampling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783080"/>
            <a:ext cx="10616184" cy="539495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9364D"/>
                </a:solidFill>
                <a:latin typeface="Arial"/>
              </a:defRPr>
            </a:pPr>
            <a:r>
              <a:t>Convolutional filters learn local patterns; strides reduce 3000 samples to 188 feature positions.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487168"/>
            <a:ext cx="10927080" cy="1033271"/>
          </a:xfrm>
          <a:prstGeom prst="round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487168"/>
            <a:ext cx="45720" cy="1033271"/>
          </a:xfrm>
          <a:prstGeom prst="rect">
            <a:avLst/>
          </a:prstGeom>
          <a:solidFill>
            <a:srgbClr val="13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2596896"/>
            <a:ext cx="10616184" cy="36576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2100" b="1">
                <a:solidFill>
                  <a:srgbClr val="0B2E4F"/>
                </a:solidFill>
                <a:latin typeface="Arial"/>
              </a:defRPr>
            </a:pPr>
            <a:r>
              <a:t>Self-attention + feed-forward block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2944368"/>
            <a:ext cx="10616184" cy="539495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9364D"/>
                </a:solidFill>
                <a:latin typeface="Arial"/>
              </a:defRPr>
            </a:pPr>
            <a:r>
              <a:t>Four attention heads combine feature positions within each individual 30-second epoch.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648456"/>
            <a:ext cx="10927080" cy="1033271"/>
          </a:xfrm>
          <a:prstGeom prst="round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648456"/>
            <a:ext cx="45720" cy="1033271"/>
          </a:xfrm>
          <a:prstGeom prst="rect">
            <a:avLst/>
          </a:prstGeom>
          <a:solidFill>
            <a:srgbClr val="13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" y="3758184"/>
            <a:ext cx="10616184" cy="36576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2100" b="1">
                <a:solidFill>
                  <a:srgbClr val="0B2E4F"/>
                </a:solidFill>
                <a:latin typeface="Arial"/>
              </a:defRPr>
            </a:pPr>
            <a:r>
              <a:t>Bidirectional LSTM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4105656"/>
            <a:ext cx="10616184" cy="539495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9364D"/>
                </a:solidFill>
                <a:latin typeface="Arial"/>
              </a:defRPr>
            </a:pPr>
            <a:r>
              <a:t>64 units in each direction model the downsampled within-epoch sequence.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809744"/>
            <a:ext cx="10927080" cy="1033271"/>
          </a:xfrm>
          <a:prstGeom prst="round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809744"/>
            <a:ext cx="45720" cy="1033271"/>
          </a:xfrm>
          <a:prstGeom prst="rect">
            <a:avLst/>
          </a:prstGeom>
          <a:solidFill>
            <a:srgbClr val="13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" y="4919472"/>
            <a:ext cx="10616184" cy="36576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2100" b="1">
                <a:solidFill>
                  <a:srgbClr val="0B2E4F"/>
                </a:solidFill>
                <a:latin typeface="Arial"/>
              </a:defRPr>
            </a:pPr>
            <a:r>
              <a:t>Evidential 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5266944"/>
            <a:ext cx="10616184" cy="539495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9364D"/>
                </a:solidFill>
                <a:latin typeface="Arial"/>
              </a:defRPr>
            </a:pPr>
            <a:r>
              <a:t>Five nonnegative evidence values define Dirichlet means and total-evidence uncertainty.</a:t>
            </a:r>
          </a:p>
        </p:txBody>
      </p:sp>
    </p:spTree>
    <p:extLst>
      <p:ext uri="{BB962C8B-B14F-4D97-AF65-F5344CB8AC3E}">
        <p14:creationId xmlns:p14="http://schemas.microsoft.com/office/powerpoint/2010/main" val="22965729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  <a:defRPr sz="2800" b="1">
                <a:solidFill>
                  <a:srgbClr val="0B2E4F"/>
                </a:solidFill>
                <a:latin typeface="Arial"/>
              </a:defRPr>
            </a:pPr>
            <a:r>
              <a:t>Uncertainty-Aware Classification</a:t>
            </a:r>
            <a:endParaRPr lang="en-US" sz="3000" dirty="0"/>
          </a:p>
        </p:txBody>
      </p:sp>
      <p:sp>
        <p:nvSpPr>
          <p:cNvPr id="4" name="Rectangle 3"/>
          <p:cNvSpPr/>
          <p:nvPr/>
        </p:nvSpPr>
        <p:spPr>
          <a:xfrm>
            <a:off x="594360" y="1033271"/>
            <a:ext cx="11018520" cy="32004"/>
          </a:xfrm>
          <a:prstGeom prst="rect">
            <a:avLst/>
          </a:prstGeom>
          <a:solidFill>
            <a:srgbClr val="13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46520"/>
            <a:ext cx="10789920" cy="22860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60788A"/>
                </a:solidFill>
                <a:latin typeface="Arial"/>
              </a:defRPr>
            </a:pPr>
            <a:r>
              <a:t>Source: HMC-PPT-20261007-01 | calibration_metrics.json, test_uncertainty.csv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19088"/>
            <a:ext cx="365760" cy="256032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60788A"/>
                </a:solidFill>
                <a:latin typeface="Arial"/>
              </a:defRPr>
            </a:pPr>
            <a:r>
              <a:t>09</a:t>
            </a:r>
          </a:p>
        </p:txBody>
      </p:sp>
      <p:pic>
        <p:nvPicPr>
          <p:cNvPr id="7" name="Picture 6" descr="uncertainty_correct_incorr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57350"/>
            <a:ext cx="7726679" cy="38633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66760" y="1600200"/>
            <a:ext cx="3200400" cy="338328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900"/>
              </a:spcAft>
              <a:defRPr sz="2100" b="0">
                <a:solidFill>
                  <a:srgbClr val="19364D"/>
                </a:solidFill>
                <a:latin typeface="Arial"/>
              </a:defRPr>
            </a:pPr>
            <a:r>
              <a:t>Actual output</a:t>
            </a:r>
          </a:p>
          <a:p>
            <a:pPr algn="l">
              <a:spcAft>
                <a:spcPts val="900"/>
              </a:spcAft>
              <a:defRPr sz="2100" b="0">
                <a:solidFill>
                  <a:srgbClr val="19364D"/>
                </a:solidFill>
                <a:latin typeface="Arial"/>
              </a:defRPr>
            </a:pPr>
            <a:r>
              <a:t>αk = evidencek + 1</a:t>
            </a:r>
          </a:p>
          <a:p>
            <a:pPr algn="l">
              <a:spcAft>
                <a:spcPts val="900"/>
              </a:spcAft>
              <a:defRPr sz="2100" b="0">
                <a:solidFill>
                  <a:srgbClr val="19364D"/>
                </a:solidFill>
                <a:latin typeface="Arial"/>
              </a:defRPr>
            </a:pPr>
            <a:r>
              <a:t>pk = αk / Σα</a:t>
            </a:r>
          </a:p>
          <a:p>
            <a:pPr algn="l">
              <a:spcAft>
                <a:spcPts val="900"/>
              </a:spcAft>
              <a:defRPr sz="2100" b="0">
                <a:solidFill>
                  <a:srgbClr val="19364D"/>
                </a:solidFill>
                <a:latin typeface="Arial"/>
              </a:defRPr>
            </a:pPr>
            <a:r>
              <a:t>u = 5 / Σα</a:t>
            </a:r>
          </a:p>
          <a:p>
            <a:pPr algn="l">
              <a:spcAft>
                <a:spcPts val="900"/>
              </a:spcAft>
              <a:defRPr sz="2100" b="0">
                <a:solidFill>
                  <a:srgbClr val="19364D"/>
                </a:solidFill>
                <a:latin typeface="Arial"/>
              </a:defRPr>
            </a:pPr>
          </a:p>
          <a:p>
            <a:pPr algn="l">
              <a:spcAft>
                <a:spcPts val="900"/>
              </a:spcAft>
              <a:defRPr sz="2100" b="0">
                <a:solidFill>
                  <a:srgbClr val="19364D"/>
                </a:solidFill>
                <a:latin typeface="Arial"/>
              </a:defRPr>
            </a:pPr>
            <a:r>
              <a:t>Error-detection AUROC</a:t>
            </a:r>
          </a:p>
          <a:p>
            <a:pPr algn="l">
              <a:spcAft>
                <a:spcPts val="900"/>
              </a:spcAft>
              <a:defRPr sz="2100" b="0">
                <a:solidFill>
                  <a:srgbClr val="19364D"/>
                </a:solidFill>
                <a:latin typeface="Arial"/>
              </a:defRPr>
            </a:pPr>
            <a:r>
              <a:t>0.580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870448"/>
            <a:ext cx="10927080" cy="429768"/>
          </a:xfrm>
          <a:prstGeom prst="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36576"/>
          <a:lstStyle/>
          <a:p>
            <a:pPr algn="l">
              <a:spcAft>
                <a:spcPts val="0"/>
              </a:spcAft>
              <a:defRPr sz="1600" b="0">
                <a:solidFill>
                  <a:srgbClr val="19364D"/>
                </a:solidFill>
                <a:latin typeface="Arial"/>
              </a:defRPr>
            </a:pPr>
            <a:r>
              <a:t>Higher uncertainty is useful only if it separates errors; this is evaluated, not assumed.</a:t>
            </a:r>
          </a:p>
        </p:txBody>
      </p:sp>
    </p:spTree>
    <p:extLst>
      <p:ext uri="{BB962C8B-B14F-4D97-AF65-F5344CB8AC3E}">
        <p14:creationId xmlns:p14="http://schemas.microsoft.com/office/powerpoint/2010/main" val="2721342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  <a:defRPr sz="2800" b="1">
                <a:solidFill>
                  <a:srgbClr val="0B2E4F"/>
                </a:solidFill>
                <a:latin typeface="Arial"/>
              </a:defRPr>
            </a:pPr>
            <a:r>
              <a:t>Model Training Progress</a:t>
            </a:r>
            <a:endParaRPr lang="en-US" sz="3000" dirty="0"/>
          </a:p>
        </p:txBody>
      </p:sp>
      <p:sp>
        <p:nvSpPr>
          <p:cNvPr id="4" name="Rectangle 3"/>
          <p:cNvSpPr/>
          <p:nvPr/>
        </p:nvSpPr>
        <p:spPr>
          <a:xfrm>
            <a:off x="594360" y="1033271"/>
            <a:ext cx="11018520" cy="32004"/>
          </a:xfrm>
          <a:prstGeom prst="rect">
            <a:avLst/>
          </a:prstGeom>
          <a:solidFill>
            <a:srgbClr val="13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46520"/>
            <a:ext cx="10789920" cy="22860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60788A"/>
                </a:solidFill>
                <a:latin typeface="Arial"/>
              </a:defRPr>
            </a:pPr>
            <a:r>
              <a:t>Source: HMC-PPT-20261007-01 | training_history.csv, hyperparameters.json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19088"/>
            <a:ext cx="365760" cy="256032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60788A"/>
                </a:solidFill>
                <a:latin typeface="Arial"/>
              </a:defRPr>
            </a:pPr>
            <a:r>
              <a:t>10</a:t>
            </a:r>
          </a:p>
        </p:txBody>
      </p:sp>
      <p:pic>
        <p:nvPicPr>
          <p:cNvPr id="7" name="Picture 6" descr="training_accura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71600"/>
            <a:ext cx="5577840" cy="2788920"/>
          </a:xfrm>
          <a:prstGeom prst="rect">
            <a:avLst/>
          </a:prstGeom>
        </p:spPr>
      </p:pic>
      <p:pic>
        <p:nvPicPr>
          <p:cNvPr id="8" name="Picture 7" descr="training_lo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371600"/>
            <a:ext cx="5577840" cy="2788920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4434840"/>
          <a:ext cx="11018519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2743200"/>
                <a:gridCol w="2286000"/>
                <a:gridCol w="4114800"/>
              </a:tblGrid>
              <a:tr h="37719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Setting</a:t>
                      </a:r>
                    </a:p>
                  </a:txBody>
                  <a:tcPr marL="82296" marR="73152" marT="82296" marB="54864" anchor="ctr"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Verified value</a:t>
                      </a:r>
                    </a:p>
                  </a:txBody>
                  <a:tcPr marL="82296" marR="73152" marT="82296" marB="54864" anchor="ctr"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Setting</a:t>
                      </a:r>
                    </a:p>
                  </a:txBody>
                  <a:tcPr marL="82296" marR="73152" marT="82296" marB="54864" anchor="ctr"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Verified value</a:t>
                      </a:r>
                    </a:p>
                  </a:txBody>
                  <a:tcPr marL="82296" marR="73152" marT="82296" marB="54864" anchor="ctr">
                    <a:solidFill>
                      <a:srgbClr val="0B2E4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Optimizer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Adam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Learning rate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1 × 10⁻⁴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Batch size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128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Epochs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10; selected 9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Early stopping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Patience 5; not triggered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Training hardware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Not preserved in run log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75240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  <a:defRPr sz="2800" b="1">
                <a:solidFill>
                  <a:srgbClr val="0B2E4F"/>
                </a:solidFill>
                <a:latin typeface="Arial"/>
              </a:defRPr>
            </a:pPr>
            <a:r>
              <a:t>Sleep-Stage Classification Performance</a:t>
            </a:r>
            <a:endParaRPr lang="en-US" sz="3000" dirty="0"/>
          </a:p>
        </p:txBody>
      </p:sp>
      <p:sp>
        <p:nvSpPr>
          <p:cNvPr id="4" name="Rectangle 3"/>
          <p:cNvSpPr/>
          <p:nvPr/>
        </p:nvSpPr>
        <p:spPr>
          <a:xfrm>
            <a:off x="594360" y="1033271"/>
            <a:ext cx="11018520" cy="32004"/>
          </a:xfrm>
          <a:prstGeom prst="rect">
            <a:avLst/>
          </a:prstGeom>
          <a:solidFill>
            <a:srgbClr val="13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46520"/>
            <a:ext cx="10789920" cy="22860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60788A"/>
                </a:solidFill>
                <a:latin typeface="Arial"/>
              </a:defRPr>
            </a:pPr>
            <a:r>
              <a:t>Source: HMC-PPT-20261007-01 | overall_metrics.json, test_epoch_predictions.csv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19088"/>
            <a:ext cx="365760" cy="256032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60788A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3566160" cy="1554480"/>
          </a:xfrm>
          <a:prstGeom prst="round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618488"/>
            <a:ext cx="3200400" cy="41148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0B2E4F"/>
                </a:solidFill>
                <a:latin typeface="Arial"/>
              </a:defRPr>
            </a:pPr>
            <a:r>
              <a:t>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084832"/>
            <a:ext cx="3200400" cy="73152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13A6A1"/>
                </a:solidFill>
                <a:latin typeface="Arial"/>
              </a:defRPr>
            </a:pPr>
            <a:r>
              <a:t>53.75%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62272" y="1463040"/>
            <a:ext cx="3566160" cy="1554480"/>
          </a:xfrm>
          <a:prstGeom prst="round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26864" y="1618488"/>
            <a:ext cx="3200400" cy="41148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0B2E4F"/>
                </a:solidFill>
                <a:latin typeface="Arial"/>
              </a:defRPr>
            </a:pPr>
            <a:r>
              <a:t>Balanced 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2084832"/>
            <a:ext cx="3200400" cy="73152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13A6A1"/>
                </a:solidFill>
                <a:latin typeface="Arial"/>
              </a:defRPr>
            </a:pPr>
            <a:r>
              <a:t>57.83%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38744" y="1463040"/>
            <a:ext cx="3566160" cy="1554480"/>
          </a:xfrm>
          <a:prstGeom prst="round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03336" y="1618488"/>
            <a:ext cx="3200400" cy="41148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0B2E4F"/>
                </a:solidFill>
                <a:latin typeface="Arial"/>
              </a:defRPr>
            </a:pPr>
            <a:r>
              <a:t>Macro F1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3336" y="2084832"/>
            <a:ext cx="3200400" cy="73152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13A6A1"/>
                </a:solidFill>
                <a:latin typeface="Arial"/>
              </a:defRPr>
            </a:pPr>
            <a:r>
              <a:t>55.12%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337560"/>
            <a:ext cx="3566160" cy="1554480"/>
          </a:xfrm>
          <a:prstGeom prst="round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3493008"/>
            <a:ext cx="3200400" cy="41148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0B2E4F"/>
                </a:solidFill>
                <a:latin typeface="Arial"/>
              </a:defRPr>
            </a:pPr>
            <a:r>
              <a:t>Weighted F1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3959352"/>
            <a:ext cx="3200400" cy="73152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13A6A1"/>
                </a:solidFill>
                <a:latin typeface="Arial"/>
              </a:defRPr>
            </a:pPr>
            <a:r>
              <a:t>54.92%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62272" y="3337560"/>
            <a:ext cx="3566160" cy="1554480"/>
          </a:xfrm>
          <a:prstGeom prst="round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26864" y="3493008"/>
            <a:ext cx="3200400" cy="41148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0B2E4F"/>
                </a:solidFill>
                <a:latin typeface="Arial"/>
              </a:defRPr>
            </a:pPr>
            <a:r>
              <a:t>Cohen’s kappa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26864" y="3959352"/>
            <a:ext cx="3200400" cy="73152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13A6A1"/>
                </a:solidFill>
                <a:latin typeface="Arial"/>
              </a:defRPr>
            </a:pPr>
            <a:r>
              <a:t>0.4060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7" y="3657600"/>
            <a:ext cx="2971800" cy="109728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900"/>
              </a:spcAft>
              <a:defRPr sz="2100" b="1">
                <a:solidFill>
                  <a:srgbClr val="0B2E4F"/>
                </a:solidFill>
                <a:latin typeface="Arial"/>
              </a:defRPr>
            </a:pPr>
            <a:r>
              <a:t>Raw evidential model</a:t>
            </a:r>
          </a:p>
          <a:p>
            <a:pPr algn="l">
              <a:spcAft>
                <a:spcPts val="900"/>
              </a:spcAft>
              <a:defRPr sz="2100" b="1">
                <a:solidFill>
                  <a:srgbClr val="0B2E4F"/>
                </a:solidFill>
                <a:latin typeface="Arial"/>
              </a:defRPr>
            </a:pPr>
            <a:r>
              <a:t>3,773 epochs · four held-out test IDs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870448"/>
            <a:ext cx="10927080" cy="429768"/>
          </a:xfrm>
          <a:prstGeom prst="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36576"/>
          <a:lstStyle/>
          <a:p>
            <a:pPr algn="l">
              <a:spcAft>
                <a:spcPts val="0"/>
              </a:spcAft>
              <a:defRPr sz="1600" b="0">
                <a:solidFill>
                  <a:srgbClr val="19364D"/>
                </a:solidFill>
                <a:latin typeface="Arial"/>
              </a:defRPr>
            </a:pPr>
            <a:r>
              <a:t>Final checkpoint, corrected test inputs, one run. Subject-disjoint fit; no external validation.</a:t>
            </a:r>
          </a:p>
        </p:txBody>
      </p:sp>
    </p:spTree>
    <p:extLst>
      <p:ext uri="{BB962C8B-B14F-4D97-AF65-F5344CB8AC3E}">
        <p14:creationId xmlns:p14="http://schemas.microsoft.com/office/powerpoint/2010/main" val="13029339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  <a:defRPr sz="2800" b="1">
                <a:solidFill>
                  <a:srgbClr val="0B2E4F"/>
                </a:solidFill>
                <a:latin typeface="Arial"/>
              </a:defRPr>
            </a:pPr>
            <a:r>
              <a:t>Sleep Stage Confusion Matrix</a:t>
            </a:r>
            <a:endParaRPr lang="en-US" sz="3000" dirty="0"/>
          </a:p>
        </p:txBody>
      </p:sp>
      <p:sp>
        <p:nvSpPr>
          <p:cNvPr id="4" name="Rectangle 3"/>
          <p:cNvSpPr/>
          <p:nvPr/>
        </p:nvSpPr>
        <p:spPr>
          <a:xfrm>
            <a:off x="594360" y="1033271"/>
            <a:ext cx="11018520" cy="32004"/>
          </a:xfrm>
          <a:prstGeom prst="rect">
            <a:avLst/>
          </a:prstGeom>
          <a:solidFill>
            <a:srgbClr val="13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46520"/>
            <a:ext cx="10789920" cy="22860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60788A"/>
                </a:solidFill>
                <a:latin typeface="Arial"/>
              </a:defRPr>
            </a:pPr>
            <a:r>
              <a:t>Source: HMC-PPT-20261007-01 | confusion_matrix_normalized.csv, classification_report.csv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19088"/>
            <a:ext cx="365760" cy="256032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60788A"/>
                </a:solidFill>
                <a:latin typeface="Arial"/>
              </a:defRPr>
            </a:pPr>
            <a:r>
              <a:t>12</a:t>
            </a:r>
          </a:p>
        </p:txBody>
      </p:sp>
      <p:pic>
        <p:nvPicPr>
          <p:cNvPr id="7" name="Picture 6" descr="confusion_matrix_normaliz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766" y="1143000"/>
            <a:ext cx="6761747" cy="513892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80960" y="1645920"/>
            <a:ext cx="3749039" cy="338328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900"/>
              </a:spcAft>
              <a:defRPr sz="2100" b="0">
                <a:solidFill>
                  <a:srgbClr val="19364D"/>
                </a:solidFill>
                <a:latin typeface="Arial"/>
              </a:defRPr>
            </a:pPr>
            <a:r>
              <a:t>• Highest recall: Wake (66.36%).</a:t>
            </a:r>
          </a:p>
          <a:p>
            <a:pPr algn="l">
              <a:spcAft>
                <a:spcPts val="900"/>
              </a:spcAft>
              <a:defRPr sz="2100" b="0">
                <a:solidFill>
                  <a:srgbClr val="19364D"/>
                </a:solidFill>
                <a:latin typeface="Arial"/>
              </a:defRPr>
            </a:pPr>
            <a:r>
              <a:t>• Lowest recall: N2 (44.00%).</a:t>
            </a:r>
          </a:p>
          <a:p>
            <a:pPr algn="l">
              <a:spcAft>
                <a:spcPts val="900"/>
              </a:spcAft>
              <a:defRPr sz="2100" b="0">
                <a:solidFill>
                  <a:srgbClr val="19364D"/>
                </a:solidFill>
                <a:latin typeface="Arial"/>
              </a:defRPr>
            </a:pPr>
            <a:r>
              <a:t>• Largest off-diagonal share: N3 → N2 (35.33%).</a:t>
            </a:r>
          </a:p>
        </p:txBody>
      </p:sp>
    </p:spTree>
    <p:extLst>
      <p:ext uri="{BB962C8B-B14F-4D97-AF65-F5344CB8AC3E}">
        <p14:creationId xmlns:p14="http://schemas.microsoft.com/office/powerpoint/2010/main" val="10696798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  <a:defRPr sz="2800" b="1">
                <a:solidFill>
                  <a:srgbClr val="0B2E4F"/>
                </a:solidFill>
                <a:latin typeface="Arial"/>
              </a:defRPr>
            </a:pPr>
            <a:r>
              <a:t>Class-Wise Classification Performance</a:t>
            </a:r>
            <a:endParaRPr lang="en-US" sz="3000" dirty="0"/>
          </a:p>
        </p:txBody>
      </p:sp>
      <p:sp>
        <p:nvSpPr>
          <p:cNvPr id="4" name="Rectangle 3"/>
          <p:cNvSpPr/>
          <p:nvPr/>
        </p:nvSpPr>
        <p:spPr>
          <a:xfrm>
            <a:off x="594360" y="1033271"/>
            <a:ext cx="11018520" cy="32004"/>
          </a:xfrm>
          <a:prstGeom prst="rect">
            <a:avLst/>
          </a:prstGeom>
          <a:solidFill>
            <a:srgbClr val="13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46520"/>
            <a:ext cx="10789920" cy="22860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60788A"/>
                </a:solidFill>
                <a:latin typeface="Arial"/>
              </a:defRPr>
            </a:pPr>
            <a:r>
              <a:t>Source: HMC-PPT-20261007-01 | classification_report.csv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19088"/>
            <a:ext cx="365760" cy="256032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60788A"/>
                </a:solidFill>
                <a:latin typeface="Arial"/>
              </a:defRPr>
            </a:pPr>
            <a:r>
              <a:t>13</a:t>
            </a:r>
          </a:p>
        </p:txBody>
      </p:sp>
      <p:pic>
        <p:nvPicPr>
          <p:cNvPr id="7" name="Picture 6" descr="class_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645920"/>
            <a:ext cx="7315200" cy="365760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001000" y="1691640"/>
          <a:ext cx="35661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1307592"/>
                <a:gridCol w="1298448"/>
              </a:tblGrid>
              <a:tr h="54864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Stage</a:t>
                      </a:r>
                    </a:p>
                  </a:txBody>
                  <a:tcPr marL="82296" marR="73152" marT="82296" marB="54864" anchor="ctr"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Precision</a:t>
                      </a:r>
                    </a:p>
                  </a:txBody>
                  <a:tcPr marL="82296" marR="73152" marT="82296" marB="54864" anchor="ctr"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Recall</a:t>
                      </a:r>
                    </a:p>
                  </a:txBody>
                  <a:tcPr marL="82296" marR="73152" marT="82296" marB="54864" anchor="ctr">
                    <a:solidFill>
                      <a:srgbClr val="0B2E4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Wake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0.643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0.664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N1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0.269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0.571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N2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0.685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0.440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N3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0.644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0.640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REM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0.543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0.577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5870448"/>
            <a:ext cx="10927080" cy="429768"/>
          </a:xfrm>
          <a:prstGeom prst="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36576"/>
          <a:lstStyle/>
          <a:p>
            <a:pPr algn="l">
              <a:spcAft>
                <a:spcPts val="0"/>
              </a:spcAft>
              <a:defRPr sz="1600" b="0">
                <a:solidFill>
                  <a:srgbClr val="19364D"/>
                </a:solidFill>
                <a:latin typeface="Arial"/>
              </a:defRPr>
            </a:pPr>
            <a:r>
              <a:t>Lowest class F1: N1; all values come from the raw-model condition.</a:t>
            </a:r>
          </a:p>
        </p:txBody>
      </p:sp>
    </p:spTree>
    <p:extLst>
      <p:ext uri="{BB962C8B-B14F-4D97-AF65-F5344CB8AC3E}">
        <p14:creationId xmlns:p14="http://schemas.microsoft.com/office/powerpoint/2010/main" val="12123568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  <a:defRPr sz="2800" b="1">
                <a:solidFill>
                  <a:srgbClr val="0B2E4F"/>
                </a:solidFill>
                <a:latin typeface="Arial"/>
              </a:defRPr>
            </a:pPr>
            <a:r>
              <a:t>Uncertainty and Calibration</a:t>
            </a:r>
            <a:endParaRPr lang="en-US" sz="3000" dirty="0"/>
          </a:p>
        </p:txBody>
      </p:sp>
      <p:sp>
        <p:nvSpPr>
          <p:cNvPr id="4" name="Rectangle 3"/>
          <p:cNvSpPr/>
          <p:nvPr/>
        </p:nvSpPr>
        <p:spPr>
          <a:xfrm>
            <a:off x="594360" y="1033271"/>
            <a:ext cx="11018520" cy="32004"/>
          </a:xfrm>
          <a:prstGeom prst="rect">
            <a:avLst/>
          </a:prstGeom>
          <a:solidFill>
            <a:srgbClr val="13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46520"/>
            <a:ext cx="10789920" cy="22860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60788A"/>
                </a:solidFill>
                <a:latin typeface="Arial"/>
              </a:defRPr>
            </a:pPr>
            <a:r>
              <a:t>Source: HMC-PPT-20261007-01 | calibration_metrics.json, calibration_bins.csv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19088"/>
            <a:ext cx="365760" cy="256032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60788A"/>
                </a:solidFill>
                <a:latin typeface="Arial"/>
              </a:defRPr>
            </a:pPr>
            <a:r>
              <a:t>14</a:t>
            </a:r>
          </a:p>
        </p:txBody>
      </p:sp>
      <p:pic>
        <p:nvPicPr>
          <p:cNvPr id="7" name="Picture 6" descr="uncertainty_correct_incorr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43050"/>
            <a:ext cx="5623560" cy="2811780"/>
          </a:xfrm>
          <a:prstGeom prst="rect">
            <a:avLst/>
          </a:prstGeom>
        </p:spPr>
      </p:pic>
      <p:pic>
        <p:nvPicPr>
          <p:cNvPr id="8" name="Picture 7" descr="reliability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5688" y="1188720"/>
            <a:ext cx="5225142" cy="3657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5074920"/>
            <a:ext cx="10789920" cy="91440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900"/>
              </a:spcAft>
              <a:defRPr sz="2100" b="0">
                <a:solidFill>
                  <a:srgbClr val="19364D"/>
                </a:solidFill>
                <a:latin typeface="Arial"/>
              </a:defRPr>
            </a:pPr>
            <a:r>
              <a:t>ECE (10 bins): 0.0705  |  Brier (multiclass sum): 0.5879</a:t>
            </a:r>
          </a:p>
          <a:p>
            <a:pPr algn="l">
              <a:spcAft>
                <a:spcPts val="900"/>
              </a:spcAft>
              <a:defRPr sz="2100" b="0">
                <a:solidFill>
                  <a:srgbClr val="19364D"/>
                </a:solidFill>
                <a:latin typeface="Arial"/>
              </a:defRPr>
            </a:pPr>
            <a:r>
              <a:t>NLL: 1.1012  |  Error AUROC: 0.5798</a:t>
            </a:r>
          </a:p>
        </p:txBody>
      </p:sp>
    </p:spTree>
    <p:extLst>
      <p:ext uri="{BB962C8B-B14F-4D97-AF65-F5344CB8AC3E}">
        <p14:creationId xmlns:p14="http://schemas.microsoft.com/office/powerpoint/2010/main" val="42460448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  <a:defRPr sz="2800" b="1">
                <a:solidFill>
                  <a:srgbClr val="0B2E4F"/>
                </a:solidFill>
                <a:latin typeface="Arial"/>
              </a:defRPr>
            </a:pPr>
            <a:r>
              <a:t>Soft-Viterbi Sleep Stage Refinement</a:t>
            </a:r>
            <a:endParaRPr lang="en-US" sz="3000" dirty="0"/>
          </a:p>
        </p:txBody>
      </p:sp>
      <p:sp>
        <p:nvSpPr>
          <p:cNvPr id="4" name="Rectangle 3"/>
          <p:cNvSpPr/>
          <p:nvPr/>
        </p:nvSpPr>
        <p:spPr>
          <a:xfrm>
            <a:off x="594360" y="1033271"/>
            <a:ext cx="11018520" cy="32004"/>
          </a:xfrm>
          <a:prstGeom prst="rect">
            <a:avLst/>
          </a:prstGeom>
          <a:solidFill>
            <a:srgbClr val="13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46520"/>
            <a:ext cx="10789920" cy="22860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60788A"/>
                </a:solidFill>
                <a:latin typeface="Arial"/>
              </a:defRPr>
            </a:pPr>
            <a:r>
              <a:t>Source: HMC-PPT-20261007-01 | soft_viterbi_pseudocode.txt, transition_config.json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19088"/>
            <a:ext cx="365760" cy="256032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60788A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789920" cy="214884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900"/>
              </a:spcAft>
              <a:defRPr sz="2300" b="0">
                <a:solidFill>
                  <a:srgbClr val="19364D"/>
                </a:solidFill>
                <a:latin typeface="Arial"/>
              </a:defRPr>
            </a:pPr>
            <a:r>
              <a:t>• The model scores each 30-second epoch independently.</a:t>
            </a:r>
          </a:p>
          <a:p>
            <a:pPr algn="l">
              <a:spcAft>
                <a:spcPts val="900"/>
              </a:spcAft>
              <a:defRPr sz="2300" b="0">
                <a:solidFill>
                  <a:srgbClr val="19364D"/>
                </a:solidFill>
                <a:latin typeface="Arial"/>
              </a:defRPr>
            </a:pPr>
            <a:r>
              <a:t>• The decoder balances those stage probabilities with transitions estimated from training labels.</a:t>
            </a:r>
          </a:p>
          <a:p>
            <a:pPr algn="l">
              <a:spcAft>
                <a:spcPts val="900"/>
              </a:spcAft>
              <a:defRPr sz="2300" b="0">
                <a:solidFill>
                  <a:srgbClr val="19364D"/>
                </a:solidFill>
                <a:latin typeface="Arial"/>
              </a:defRPr>
            </a:pPr>
            <a:r>
              <a:t>• A log-space dynamic program selects one sequence for each recording; it never joins subjects.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931920"/>
            <a:ext cx="2480310" cy="1143000"/>
          </a:xfrm>
          <a:prstGeom prst="round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4114800"/>
            <a:ext cx="2370582" cy="86868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Dirichlet mean</a:t>
            </a:r>
          </a:p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probabilities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29534" y="4393692"/>
            <a:ext cx="265176" cy="219456"/>
          </a:xfrm>
          <a:prstGeom prst="rightArrow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40430" y="3931920"/>
            <a:ext cx="2480310" cy="1143000"/>
          </a:xfrm>
          <a:prstGeom prst="round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95294" y="4114800"/>
            <a:ext cx="2370582" cy="86868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Training-label</a:t>
            </a:r>
          </a:p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transition matrix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975604" y="4393692"/>
            <a:ext cx="265176" cy="219456"/>
          </a:xfrm>
          <a:prstGeom prst="rightArrow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86500" y="3931920"/>
            <a:ext cx="2480310" cy="1143000"/>
          </a:xfrm>
          <a:prstGeom prst="round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1364" y="4114800"/>
            <a:ext cx="2370582" cy="86868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Weighted MAP</a:t>
            </a:r>
          </a:p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Viterbi decoder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821674" y="4393692"/>
            <a:ext cx="265176" cy="219456"/>
          </a:xfrm>
          <a:prstGeom prst="rightArrow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32570" y="3931920"/>
            <a:ext cx="2480310" cy="1143000"/>
          </a:xfrm>
          <a:prstGeom prst="round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7434" y="4114800"/>
            <a:ext cx="2370582" cy="86868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Decoded</a:t>
            </a:r>
          </a:p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hypnogram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870448"/>
            <a:ext cx="10927080" cy="429768"/>
          </a:xfrm>
          <a:prstGeom prst="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36576"/>
          <a:lstStyle/>
          <a:p>
            <a:pPr algn="l">
              <a:spcAft>
                <a:spcPts val="0"/>
              </a:spcAft>
              <a:defRPr sz="1600" b="0">
                <a:solidFill>
                  <a:srgbClr val="19364D"/>
                </a:solidFill>
                <a:latin typeface="Arial"/>
              </a:defRPr>
            </a:pPr>
            <a:r>
              <a:t>Smoothing may improve aggregate scores while erasing brief stages. All transitions remain possible.</a:t>
            </a:r>
          </a:p>
        </p:txBody>
      </p:sp>
    </p:spTree>
    <p:extLst>
      <p:ext uri="{BB962C8B-B14F-4D97-AF65-F5344CB8AC3E}">
        <p14:creationId xmlns:p14="http://schemas.microsoft.com/office/powerpoint/2010/main" val="15578115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  <a:defRPr sz="2800" b="1">
                <a:solidFill>
                  <a:srgbClr val="0B2E4F"/>
                </a:solidFill>
                <a:latin typeface="Arial"/>
              </a:defRPr>
            </a:pPr>
            <a:r>
              <a:t>Sleep Stage Transition Modeling</a:t>
            </a:r>
            <a:endParaRPr lang="en-US" sz="3000" dirty="0"/>
          </a:p>
        </p:txBody>
      </p:sp>
      <p:sp>
        <p:nvSpPr>
          <p:cNvPr id="4" name="Rectangle 3"/>
          <p:cNvSpPr/>
          <p:nvPr/>
        </p:nvSpPr>
        <p:spPr>
          <a:xfrm>
            <a:off x="594360" y="1033271"/>
            <a:ext cx="11018520" cy="32004"/>
          </a:xfrm>
          <a:prstGeom prst="rect">
            <a:avLst/>
          </a:prstGeom>
          <a:solidFill>
            <a:srgbClr val="13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46520"/>
            <a:ext cx="10789920" cy="22860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60788A"/>
                </a:solidFill>
                <a:latin typeface="Arial"/>
              </a:defRPr>
            </a:pPr>
            <a:r>
              <a:t>Source: HMC-PPT-20261007-01 | transition_matrix.csv, transition_config.json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19088"/>
            <a:ext cx="365760" cy="256032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60788A"/>
                </a:solidFill>
                <a:latin typeface="Arial"/>
              </a:defRPr>
            </a:pPr>
            <a:r>
              <a:t>16</a:t>
            </a:r>
          </a:p>
        </p:txBody>
      </p:sp>
      <p:pic>
        <p:nvPicPr>
          <p:cNvPr id="7" name="Picture 6" descr="transit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074" y="1188720"/>
            <a:ext cx="6557210" cy="4983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83879" y="1600200"/>
            <a:ext cx="3246120" cy="425196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900"/>
              </a:spcAft>
              <a:defRPr sz="2000" b="0">
                <a:solidFill>
                  <a:srgbClr val="19364D"/>
                </a:solidFill>
                <a:latin typeface="Arial"/>
              </a:defRPr>
            </a:pPr>
            <a:r>
              <a:t>Training labels only</a:t>
            </a:r>
          </a:p>
          <a:p>
            <a:pPr algn="l">
              <a:spcAft>
                <a:spcPts val="900"/>
              </a:spcAft>
              <a:defRPr sz="2000" b="0">
                <a:solidFill>
                  <a:srgbClr val="19364D"/>
                </a:solidFill>
                <a:latin typeface="Arial"/>
              </a:defRPr>
            </a:pPr>
          </a:p>
          <a:p>
            <a:pPr algn="l">
              <a:spcAft>
                <a:spcPts val="900"/>
              </a:spcAft>
              <a:defRPr sz="2000" b="0">
                <a:solidFill>
                  <a:srgbClr val="19364D"/>
                </a:solidFill>
                <a:latin typeface="Arial"/>
              </a:defRPr>
            </a:pPr>
            <a:r>
              <a:t>Pseudocount: 1 per cell</a:t>
            </a:r>
          </a:p>
          <a:p>
            <a:pPr algn="l">
              <a:spcAft>
                <a:spcPts val="900"/>
              </a:spcAft>
              <a:defRPr sz="2000" b="0">
                <a:solidFill>
                  <a:srgbClr val="19364D"/>
                </a:solidFill>
                <a:latin typeface="Arial"/>
              </a:defRPr>
            </a:pPr>
            <a:r>
              <a:t>Rows sum to one</a:t>
            </a:r>
          </a:p>
          <a:p>
            <a:pPr algn="l">
              <a:spcAft>
                <a:spcPts val="900"/>
              </a:spcAft>
              <a:defRPr sz="2000" b="0">
                <a:solidFill>
                  <a:srgbClr val="19364D"/>
                </a:solidFill>
                <a:latin typeface="Arial"/>
              </a:defRPr>
            </a:pPr>
            <a:r>
              <a:t>Initialization: stage prevalence</a:t>
            </a:r>
          </a:p>
          <a:p>
            <a:pPr algn="l">
              <a:spcAft>
                <a:spcPts val="900"/>
              </a:spcAft>
              <a:defRPr sz="2000" b="0">
                <a:solidFill>
                  <a:srgbClr val="19364D"/>
                </a:solidFill>
                <a:latin typeface="Arial"/>
              </a:defRPr>
            </a:pPr>
            <a:r>
              <a:t>Separate recording boundaries</a:t>
            </a:r>
          </a:p>
          <a:p>
            <a:pPr algn="l">
              <a:spcAft>
                <a:spcPts val="900"/>
              </a:spcAft>
              <a:defRPr sz="2000" b="0">
                <a:solidFill>
                  <a:srgbClr val="19364D"/>
                </a:solidFill>
                <a:latin typeface="Arial"/>
              </a:defRPr>
            </a:pPr>
            <a:r>
              <a:t>Emission log-weight: 0.9</a:t>
            </a:r>
          </a:p>
        </p:txBody>
      </p:sp>
    </p:spTree>
    <p:extLst>
      <p:ext uri="{BB962C8B-B14F-4D97-AF65-F5344CB8AC3E}">
        <p14:creationId xmlns:p14="http://schemas.microsoft.com/office/powerpoint/2010/main" val="3338452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  <a:defRPr sz="2800" b="1">
                <a:solidFill>
                  <a:srgbClr val="0B2E4F"/>
                </a:solidFill>
                <a:latin typeface="Arial"/>
              </a:defRPr>
            </a:pPr>
            <a:r>
              <a:t>Raw vs Smoothed Sequence — SN009</a:t>
            </a:r>
            <a:endParaRPr lang="en-US" sz="3000" dirty="0"/>
          </a:p>
        </p:txBody>
      </p:sp>
      <p:sp>
        <p:nvSpPr>
          <p:cNvPr id="4" name="Rectangle 3"/>
          <p:cNvSpPr/>
          <p:nvPr/>
        </p:nvSpPr>
        <p:spPr>
          <a:xfrm>
            <a:off x="594360" y="1033271"/>
            <a:ext cx="11018520" cy="32004"/>
          </a:xfrm>
          <a:prstGeom prst="rect">
            <a:avLst/>
          </a:prstGeom>
          <a:solidFill>
            <a:srgbClr val="13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46520"/>
            <a:ext cx="10789920" cy="22860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60788A"/>
                </a:solidFill>
                <a:latin typeface="Arial"/>
              </a:defRPr>
            </a:pPr>
            <a:r>
              <a:t>Source: HMC-PPT-20261007-01 | test_epoch_predictions.csv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19088"/>
            <a:ext cx="365760" cy="256032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60788A"/>
                </a:solidFill>
                <a:latin typeface="Arial"/>
              </a:defRPr>
            </a:pPr>
            <a:r>
              <a:t>17</a:t>
            </a:r>
          </a:p>
        </p:txBody>
      </p:sp>
      <p:pic>
        <p:nvPicPr>
          <p:cNvPr id="7" name="Picture 6" descr="hypnogram_subject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85875"/>
            <a:ext cx="11155680" cy="4880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8959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  <a:defRPr sz="2800" b="1">
                <a:solidFill>
                  <a:srgbClr val="0B2E4F"/>
                </a:solidFill>
                <a:latin typeface="Arial"/>
              </a:defRPr>
            </a:pPr>
            <a:r>
              <a:t>Impact of Sequence Smoothing</a:t>
            </a:r>
            <a:endParaRPr lang="en-US" sz="3000" dirty="0"/>
          </a:p>
        </p:txBody>
      </p:sp>
      <p:sp>
        <p:nvSpPr>
          <p:cNvPr id="4" name="Rectangle 3"/>
          <p:cNvSpPr/>
          <p:nvPr/>
        </p:nvSpPr>
        <p:spPr>
          <a:xfrm>
            <a:off x="594360" y="1033271"/>
            <a:ext cx="11018520" cy="32004"/>
          </a:xfrm>
          <a:prstGeom prst="rect">
            <a:avLst/>
          </a:prstGeom>
          <a:solidFill>
            <a:srgbClr val="13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46520"/>
            <a:ext cx="10789920" cy="22860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60788A"/>
                </a:solidFill>
                <a:latin typeface="Arial"/>
              </a:defRPr>
            </a:pPr>
            <a:r>
              <a:t>Source: HMC-PPT-20261007-01 | raw_vs_smoothed_metrics.csv, smoothing_delta.json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19088"/>
            <a:ext cx="365760" cy="256032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60788A"/>
                </a:solidFill>
                <a:latin typeface="Arial"/>
              </a:defRPr>
            </a:pPr>
            <a:r>
              <a:t>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508760"/>
          <a:ext cx="1101852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20"/>
                <a:gridCol w="2606040"/>
                <a:gridCol w="2606040"/>
                <a:gridCol w="2560320"/>
              </a:tblGrid>
              <a:tr h="594360">
                <a:tc>
                  <a:txBody>
                    <a:bodyPr/>
                    <a:lstStyle/>
                    <a:p>
                      <a:pPr>
                        <a:defRPr sz="2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Metric</a:t>
                      </a:r>
                    </a:p>
                  </a:txBody>
                  <a:tcPr marL="82296" marR="73152" marT="82296" marB="54864" anchor="ctr"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Raw model</a:t>
                      </a:r>
                    </a:p>
                  </a:txBody>
                  <a:tcPr marL="82296" marR="73152" marT="82296" marB="54864" anchor="ctr"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Soft-Viterbi</a:t>
                      </a:r>
                    </a:p>
                  </a:txBody>
                  <a:tcPr marL="82296" marR="73152" marT="82296" marB="54864" anchor="ctr"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Absolute change</a:t>
                      </a:r>
                    </a:p>
                  </a:txBody>
                  <a:tcPr marL="82296" marR="73152" marT="82296" marB="54864" anchor="ctr">
                    <a:solidFill>
                      <a:srgbClr val="0B2E4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Accuracy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53.75%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61.99%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+8.24 pp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Balanced accuracy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57.83%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64.26%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+6.43 pp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Macro F1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55.12%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61.76%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+6.64 pp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Weighted F1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54.92%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61.93%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+7.01 pp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Cohen’s kappa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0.4060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0.4999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+0.0939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5349240"/>
            <a:ext cx="10698480" cy="86868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900"/>
              </a:spcAft>
              <a:defRPr sz="1900" b="0">
                <a:solidFill>
                  <a:srgbClr val="19364D"/>
                </a:solidFill>
                <a:latin typeface="Arial"/>
              </a:defRPr>
            </a:pPr>
            <a:r>
              <a:t>Improved: Accuracy, Balanced accuracy, Macro F1, Weighted F1, Cohen’s kappa.</a:t>
            </a:r>
          </a:p>
          <a:p>
            <a:pPr algn="l">
              <a:spcAft>
                <a:spcPts val="900"/>
              </a:spcAft>
              <a:defRPr sz="1900" b="0">
                <a:solidFill>
                  <a:srgbClr val="19364D"/>
                </a:solidFill>
                <a:latin typeface="Arial"/>
              </a:defRPr>
            </a:pPr>
            <a:r>
              <a:t>All listed aggregate metrics improved; per-subject outcomes may differ.</a:t>
            </a:r>
          </a:p>
        </p:txBody>
      </p:sp>
    </p:spTree>
    <p:extLst>
      <p:ext uri="{BB962C8B-B14F-4D97-AF65-F5344CB8AC3E}">
        <p14:creationId xmlns:p14="http://schemas.microsoft.com/office/powerpoint/2010/main" val="35671045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  <a:defRPr sz="2800" b="1">
                <a:solidFill>
                  <a:srgbClr val="0B2E4F"/>
                </a:solidFill>
                <a:latin typeface="Arial"/>
              </a:defRPr>
            </a:pPr>
            <a:r>
              <a:t>Personalized Sleep Health Indicators</a:t>
            </a:r>
            <a:endParaRPr lang="en-US" sz="3000" dirty="0"/>
          </a:p>
        </p:txBody>
      </p:sp>
      <p:sp>
        <p:nvSpPr>
          <p:cNvPr id="4" name="Rectangle 3"/>
          <p:cNvSpPr/>
          <p:nvPr/>
        </p:nvSpPr>
        <p:spPr>
          <a:xfrm>
            <a:off x="594360" y="1033271"/>
            <a:ext cx="11018520" cy="32004"/>
          </a:xfrm>
          <a:prstGeom prst="rect">
            <a:avLst/>
          </a:prstGeom>
          <a:solidFill>
            <a:srgbClr val="13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46520"/>
            <a:ext cx="10789920" cy="22860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60788A"/>
                </a:solidFill>
                <a:latin typeface="Arial"/>
              </a:defRPr>
            </a:pPr>
            <a:r>
              <a:t>Source: HMC-PPT-20261007-01 | biomarker_equations.md, subject_biomarkers.csv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19088"/>
            <a:ext cx="365760" cy="256032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60788A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80160"/>
            <a:ext cx="10927080" cy="1005840"/>
          </a:xfrm>
          <a:prstGeom prst="round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280160"/>
            <a:ext cx="45720" cy="1005840"/>
          </a:xfrm>
          <a:prstGeom prst="rect">
            <a:avLst/>
          </a:prstGeom>
          <a:solidFill>
            <a:srgbClr val="13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389888"/>
            <a:ext cx="10616184" cy="36576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2100" b="1">
                <a:solidFill>
                  <a:srgbClr val="0B2E4F"/>
                </a:solidFill>
                <a:latin typeface="Arial"/>
              </a:defRPr>
            </a:pPr>
            <a:r>
              <a:t>Evaluated-recording SE (%)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737360"/>
            <a:ext cx="10616184" cy="512064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9364D"/>
                </a:solidFill>
                <a:latin typeface="Arial"/>
              </a:defRPr>
            </a:pPr>
            <a:r>
              <a:t>100 × non-Wake epochs / all evaluated epochs; a recording-duration proxy.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432304"/>
            <a:ext cx="10927080" cy="1005840"/>
          </a:xfrm>
          <a:prstGeom prst="round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432304"/>
            <a:ext cx="45720" cy="1005840"/>
          </a:xfrm>
          <a:prstGeom prst="rect">
            <a:avLst/>
          </a:prstGeom>
          <a:solidFill>
            <a:srgbClr val="13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2542032"/>
            <a:ext cx="10616184" cy="36576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2100" b="1">
                <a:solidFill>
                  <a:srgbClr val="0B2E4F"/>
                </a:solidFill>
                <a:latin typeface="Arial"/>
              </a:defRPr>
            </a:pPr>
            <a:r>
              <a:t>WASO (minutes)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2889504"/>
            <a:ext cx="10616184" cy="512064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9364D"/>
                </a:solidFill>
                <a:latin typeface="Arial"/>
              </a:defRPr>
            </a:pPr>
            <a:r>
              <a:t>Wake epochs between first and last sleep epoch × 0.5; excludes trailing Wake.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584448"/>
            <a:ext cx="10927080" cy="1005840"/>
          </a:xfrm>
          <a:prstGeom prst="round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584448"/>
            <a:ext cx="45720" cy="1005840"/>
          </a:xfrm>
          <a:prstGeom prst="rect">
            <a:avLst/>
          </a:prstGeom>
          <a:solidFill>
            <a:srgbClr val="13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" y="3694176"/>
            <a:ext cx="10616184" cy="36576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2100" b="1">
                <a:solidFill>
                  <a:srgbClr val="0B2E4F"/>
                </a:solidFill>
                <a:latin typeface="Arial"/>
              </a:defRPr>
            </a:pPr>
            <a:r>
              <a:t>N3 proportion (%)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4041648"/>
            <a:ext cx="10616184" cy="512064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9364D"/>
                </a:solidFill>
                <a:latin typeface="Arial"/>
              </a:defRPr>
            </a:pPr>
            <a:r>
              <a:t>100 × N3 epochs / all evaluated epochs, including Wake in the denominator.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736592"/>
            <a:ext cx="10927080" cy="1005840"/>
          </a:xfrm>
          <a:prstGeom prst="round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736592"/>
            <a:ext cx="45720" cy="1005840"/>
          </a:xfrm>
          <a:prstGeom prst="rect">
            <a:avLst/>
          </a:prstGeom>
          <a:solidFill>
            <a:srgbClr val="13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" y="4846320"/>
            <a:ext cx="10616184" cy="36576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2100" b="1">
                <a:solidFill>
                  <a:srgbClr val="0B2E4F"/>
                </a:solidFill>
                <a:latin typeface="Arial"/>
              </a:defRPr>
            </a:pPr>
            <a:r>
              <a:t>SFI (transitions / sleep hour)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5193792"/>
            <a:ext cx="10616184" cy="512064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9364D"/>
                </a:solidFill>
                <a:latin typeface="Arial"/>
              </a:defRPr>
            </a:pPr>
            <a:r>
              <a:t>N2/N3/REM → Wake/N1 transitions divided by hours scored as sleep; coarse stage-transition proxy.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870448"/>
            <a:ext cx="10927080" cy="429768"/>
          </a:xfrm>
          <a:prstGeom prst="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36576"/>
          <a:lstStyle/>
          <a:p>
            <a:pPr algn="l">
              <a:spcAft>
                <a:spcPts val="0"/>
              </a:spcAft>
              <a:defRPr sz="1600" b="0">
                <a:solidFill>
                  <a:srgbClr val="19364D"/>
                </a:solidFill>
                <a:latin typeface="Arial"/>
              </a:defRPr>
            </a:pPr>
            <a:r>
              <a:t>No verified time-in-bed denominator; these indicators are research measures, not diagnoses.</a:t>
            </a:r>
          </a:p>
        </p:txBody>
      </p:sp>
    </p:spTree>
    <p:extLst>
      <p:ext uri="{BB962C8B-B14F-4D97-AF65-F5344CB8AC3E}">
        <p14:creationId xmlns:p14="http://schemas.microsoft.com/office/powerpoint/2010/main" val="25971354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  <a:defRPr sz="2800" b="1">
                <a:solidFill>
                  <a:srgbClr val="0B2E4F"/>
                </a:solidFill>
                <a:latin typeface="Arial"/>
              </a:defRPr>
            </a:pPr>
            <a:r>
              <a:t>Rule-Based Sleep Health Risk Stratification</a:t>
            </a:r>
            <a:endParaRPr lang="en-US" sz="3000" dirty="0"/>
          </a:p>
        </p:txBody>
      </p:sp>
      <p:sp>
        <p:nvSpPr>
          <p:cNvPr id="4" name="Rectangle 3"/>
          <p:cNvSpPr/>
          <p:nvPr/>
        </p:nvSpPr>
        <p:spPr>
          <a:xfrm>
            <a:off x="594360" y="1033271"/>
            <a:ext cx="11018520" cy="32004"/>
          </a:xfrm>
          <a:prstGeom prst="rect">
            <a:avLst/>
          </a:prstGeom>
          <a:solidFill>
            <a:srgbClr val="13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46520"/>
            <a:ext cx="10789920" cy="22860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60788A"/>
                </a:solidFill>
                <a:latin typeface="Arial"/>
              </a:defRPr>
            </a:pPr>
            <a:r>
              <a:t>Source: HMC-PPT-20261007-01 | risk_rules.json, risk_rules_table.csv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19088"/>
            <a:ext cx="365760" cy="256032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60788A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789920" cy="77724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0B2E4F"/>
                </a:solidFill>
                <a:latin typeface="Arial"/>
              </a:defRPr>
            </a:pPr>
            <a:r>
              <a:t>Flags: SE &lt;75% · WASO &gt;60 min · N3 &lt;10% · SFI &gt;10 transitions/sleep hour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2514600"/>
          <a:ext cx="110185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651760"/>
                <a:gridCol w="6858000"/>
              </a:tblGrid>
              <a:tr h="594360">
                <a:tc>
                  <a:txBody>
                    <a:bodyPr/>
                    <a:lstStyle/>
                    <a:p>
                      <a:pPr>
                        <a:defRPr sz="2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Priority</a:t>
                      </a:r>
                    </a:p>
                  </a:txBody>
                  <a:tcPr marL="82296" marR="73152" marT="82296" marB="54864" anchor="ctr"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Research category</a:t>
                      </a:r>
                    </a:p>
                  </a:txBody>
                  <a:tcPr marL="82296" marR="73152" marT="82296" marB="54864" anchor="ctr"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Exact assignment rule</a:t>
                      </a:r>
                    </a:p>
                  </a:txBody>
                  <a:tcPr marL="82296" marR="73152" marT="82296" marB="54864" anchor="ctr">
                    <a:solidFill>
                      <a:srgbClr val="0B2E4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High Risk</a:t>
                      </a:r>
                    </a:p>
                  </a:txBody>
                  <a:tcPr marL="82296" marR="73152" marT="82296" marB="54864" anchor="ctr">
                    <a:solidFill>
                      <a:srgbClr val="FADA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≥3 flags OR SE &lt;65% OR SFI &gt;15/h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Mild Risk</a:t>
                      </a:r>
                    </a:p>
                  </a:txBody>
                  <a:tcPr marL="82296" marR="73152" marT="82296" marB="54864" anchor="ctr">
                    <a:solidFill>
                      <a:srgbClr val="FFF0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Otherwise, at least one flag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Healthy</a:t>
                      </a:r>
                    </a:p>
                  </a:txBody>
                  <a:tcPr marL="82296" marR="73152" marT="82296" marB="54864" anchor="ctr">
                    <a:solidFill>
                      <a:srgbClr val="DBF1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Otherwise, no flags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" y="5166360"/>
            <a:ext cx="10698480" cy="82296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900"/>
              </a:spcAft>
              <a:defRPr sz="2000" b="0">
                <a:solidFill>
                  <a:srgbClr val="19364D"/>
                </a:solidFill>
                <a:latin typeface="Arial"/>
              </a:defRPr>
            </a:pPr>
            <a:r>
              <a:t>Missing/nonfinite input → Unclassified in the new evaluator.</a:t>
            </a:r>
          </a:p>
          <a:p>
            <a:pPr algn="l">
              <a:spcAft>
                <a:spcPts val="900"/>
              </a:spcAft>
              <a:defRPr sz="2000" b="0">
                <a:solidFill>
                  <a:srgbClr val="19364D"/>
                </a:solidFill>
                <a:latin typeface="Arial"/>
              </a:defRPr>
            </a:pPr>
            <a:r>
              <a:t>Thresholds are source-code rules; no clinical validation is established.</a:t>
            </a:r>
          </a:p>
        </p:txBody>
      </p:sp>
    </p:spTree>
    <p:extLst>
      <p:ext uri="{BB962C8B-B14F-4D97-AF65-F5344CB8AC3E}">
        <p14:creationId xmlns:p14="http://schemas.microsoft.com/office/powerpoint/2010/main" val="10181744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  <a:defRPr sz="2800" b="1">
                <a:solidFill>
                  <a:srgbClr val="0B2E4F"/>
                </a:solidFill>
                <a:latin typeface="Arial"/>
              </a:defRPr>
            </a:pPr>
            <a:r>
              <a:t>Test Subject Sleep Health Profiles</a:t>
            </a:r>
            <a:endParaRPr lang="en-US" sz="3000" dirty="0"/>
          </a:p>
        </p:txBody>
      </p:sp>
      <p:sp>
        <p:nvSpPr>
          <p:cNvPr id="4" name="Rectangle 3"/>
          <p:cNvSpPr/>
          <p:nvPr/>
        </p:nvSpPr>
        <p:spPr>
          <a:xfrm>
            <a:off x="594360" y="1033271"/>
            <a:ext cx="11018520" cy="32004"/>
          </a:xfrm>
          <a:prstGeom prst="rect">
            <a:avLst/>
          </a:prstGeom>
          <a:solidFill>
            <a:srgbClr val="13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46520"/>
            <a:ext cx="10789920" cy="22860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60788A"/>
                </a:solidFill>
                <a:latin typeface="Arial"/>
              </a:defRPr>
            </a:pPr>
            <a:r>
              <a:t>Source: HMC-PPT-20261007-01 | subject_risk_profiles.csv, biomarker_validation.csv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19088"/>
            <a:ext cx="365760" cy="256032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60788A"/>
                </a:solidFill>
                <a:latin typeface="Arial"/>
              </a:defRPr>
            </a:pPr>
            <a:r>
              <a:t>21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645920"/>
          <a:ext cx="1097280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783080"/>
                <a:gridCol w="1828800"/>
                <a:gridCol w="1691640"/>
                <a:gridCol w="1508760"/>
                <a:gridCol w="2743200"/>
              </a:tblGrid>
              <a:tr h="649224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Recording</a:t>
                      </a:r>
                    </a:p>
                  </a:txBody>
                  <a:tcPr marL="82296" marR="73152" marT="82296" marB="54864" anchor="ctr"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SE proxy</a:t>
                      </a:r>
                    </a:p>
                  </a:txBody>
                  <a:tcPr marL="82296" marR="73152" marT="82296" marB="54864" anchor="ctr"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WASO (min)</a:t>
                      </a:r>
                    </a:p>
                  </a:txBody>
                  <a:tcPr marL="82296" marR="73152" marT="82296" marB="54864" anchor="ctr"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N3 / all</a:t>
                      </a:r>
                    </a:p>
                  </a:txBody>
                  <a:tcPr marL="82296" marR="73152" marT="82296" marB="54864" anchor="ctr"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SFI (/h)</a:t>
                      </a:r>
                    </a:p>
                  </a:txBody>
                  <a:tcPr marL="82296" marR="73152" marT="82296" marB="54864" anchor="ctr"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Risk</a:t>
                      </a:r>
                    </a:p>
                  </a:txBody>
                  <a:tcPr marL="82296" marR="73152" marT="82296" marB="54864" anchor="ctr">
                    <a:solidFill>
                      <a:srgbClr val="0B2E4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SN009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90.01%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14.0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23.97%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1.18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Healthy</a:t>
                      </a:r>
                    </a:p>
                  </a:txBody>
                  <a:tcPr marL="82296" marR="73152" marT="82296" marB="54864" anchor="ctr">
                    <a:solidFill>
                      <a:srgbClr val="DBF1E9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SN001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91.45%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31.5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24.71%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1.84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Healthy</a:t>
                      </a:r>
                    </a:p>
                  </a:txBody>
                  <a:tcPr marL="82296" marR="73152" marT="82296" marB="54864" anchor="ctr">
                    <a:solidFill>
                      <a:srgbClr val="DBF1E9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SN004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88.48%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34.5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7.19%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2.27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Mild Risk</a:t>
                      </a:r>
                    </a:p>
                  </a:txBody>
                  <a:tcPr marL="82296" marR="73152" marT="82296" marB="54864" anchor="ctr">
                    <a:solidFill>
                      <a:srgbClr val="FFF0C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SN022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84.03%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74.0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9.08%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2.00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Mild Risk</a:t>
                      </a:r>
                    </a:p>
                  </a:txBody>
                  <a:tcPr marL="82296" marR="73152" marT="82296" marB="54864" anchor="ctr">
                    <a:solidFill>
                      <a:srgbClr val="FFF0C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5257800"/>
            <a:ext cx="10789920" cy="77724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900"/>
              </a:spcAft>
              <a:defRPr sz="2000" b="0">
                <a:solidFill>
                  <a:srgbClr val="19364D"/>
                </a:solidFill>
                <a:latin typeface="Arial"/>
              </a:defRPr>
            </a:pPr>
            <a:r>
              <a:t>Source: Soft-Viterbi labels only. Ground-truth profiles are stored separately.</a:t>
            </a:r>
          </a:p>
          <a:p>
            <a:pPr algn="l">
              <a:spcAft>
                <a:spcPts val="900"/>
              </a:spcAft>
              <a:defRPr sz="2000" b="0">
                <a:solidFill>
                  <a:srgbClr val="19364D"/>
                </a:solidFill>
                <a:latin typeface="Arial"/>
              </a:defRPr>
            </a:pPr>
            <a:r>
              <a:t>Research category agreement with ground truth: 2/4 recordings.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035040"/>
            <a:ext cx="10927080" cy="429768"/>
          </a:xfrm>
          <a:prstGeom prst="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36576"/>
          <a:lstStyle/>
          <a:p>
            <a:pPr algn="l">
              <a:spcAft>
                <a:spcPts val="0"/>
              </a:spcAft>
              <a:defRPr sz="1600" b="0">
                <a:solidFill>
                  <a:srgbClr val="19364D"/>
                </a:solidFill>
                <a:latin typeface="Arial"/>
              </a:defRPr>
            </a:pPr>
            <a:r>
              <a:t>SFI is a stage-transition proxy. Time in bed was not directly verified.</a:t>
            </a:r>
          </a:p>
        </p:txBody>
      </p:sp>
    </p:spTree>
    <p:extLst>
      <p:ext uri="{BB962C8B-B14F-4D97-AF65-F5344CB8AC3E}">
        <p14:creationId xmlns:p14="http://schemas.microsoft.com/office/powerpoint/2010/main" val="1922512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06AD306B-DE34-4014-870D-194A4D3884C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B2D2218-EC29-42DD-9D07-0D7ADE5F6F6C}"/>
              </a:ext>
            </a:extLst>
          </p:cNvPr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vertOverflow="overflow" vert="horz" wrap="none" rtlCol="0" anchor="ctr" anchorCtr="0" lIns="0" tIns="0" bIns="0">
            <a:normAutofit lnSpcReduction="10000"/>
          </a:bodyPr>
          <a:lstStyle/>
          <a:p>
            <a:pPr algn="l">
              <a:defRPr sz="2800" b="1">
                <a:solidFill>
                  <a:srgbClr val="0B2E4F"/>
                </a:solidFill>
                <a:latin typeface="Arial"/>
              </a:defRPr>
            </a:pPr>
            <a:r>
              <a:t>Complete End-to-End Framework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4360" y="1033271"/>
            <a:ext cx="11018520" cy="32004"/>
          </a:xfrm>
          <a:prstGeom prst="rect">
            <a:avLst/>
          </a:prstGeom>
          <a:solidFill>
            <a:srgbClr val="13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1792" y="6446520"/>
            <a:ext cx="10789920" cy="22860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60788A"/>
                </a:solidFill>
                <a:latin typeface="Arial"/>
              </a:defRPr>
            </a:pPr>
            <a:r>
              <a:t>Source: HMC-PPT-20261007-01 | evaluate_authoritative_run.py, final_results.json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84280" y="6419088"/>
            <a:ext cx="365760" cy="256032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60788A"/>
                </a:solidFill>
                <a:latin typeface="Arial"/>
              </a:defRPr>
            </a:pPr>
            <a:r>
              <a:t>22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94360" y="1463040"/>
            <a:ext cx="2480310" cy="1188720"/>
          </a:xfrm>
          <a:prstGeom prst="round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9224" y="1645920"/>
            <a:ext cx="2370582" cy="91440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Four-channel</a:t>
            </a:r>
          </a:p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EDF EEG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3129534" y="1947672"/>
            <a:ext cx="265176" cy="219456"/>
          </a:xfrm>
          <a:prstGeom prst="rightArrow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3440430" y="1463040"/>
            <a:ext cx="2480310" cy="1188720"/>
          </a:xfrm>
          <a:prstGeom prst="round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495294" y="1645920"/>
            <a:ext cx="2370582" cy="91440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Verified</a:t>
            </a:r>
          </a:p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preprocessing</a:t>
            </a:r>
          </a:p>
        </p:txBody>
      </p:sp>
      <p:sp>
        <p:nvSpPr>
          <p:cNvPr id="54" name="Right Arrow 53"/>
          <p:cNvSpPr/>
          <p:nvPr/>
        </p:nvSpPr>
        <p:spPr>
          <a:xfrm>
            <a:off x="5975604" y="1947672"/>
            <a:ext cx="265176" cy="219456"/>
          </a:xfrm>
          <a:prstGeom prst="rightArrow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286500" y="1463040"/>
            <a:ext cx="2480310" cy="1188720"/>
          </a:xfrm>
          <a:prstGeom prst="round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41364" y="1645920"/>
            <a:ext cx="2370582" cy="91440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30-second</a:t>
            </a:r>
          </a:p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epochs</a:t>
            </a:r>
          </a:p>
        </p:txBody>
      </p:sp>
      <p:sp>
        <p:nvSpPr>
          <p:cNvPr id="57" name="Right Arrow 56"/>
          <p:cNvSpPr/>
          <p:nvPr/>
        </p:nvSpPr>
        <p:spPr>
          <a:xfrm>
            <a:off x="8821674" y="1947672"/>
            <a:ext cx="265176" cy="219456"/>
          </a:xfrm>
          <a:prstGeom prst="rightArrow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9132570" y="1463040"/>
            <a:ext cx="2480310" cy="1188720"/>
          </a:xfrm>
          <a:prstGeom prst="round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187434" y="1645920"/>
            <a:ext cx="2370582" cy="91440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Fast SCFormer-U</a:t>
            </a:r>
          </a:p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hybrid model</a:t>
            </a:r>
          </a:p>
        </p:txBody>
      </p:sp>
      <p:sp>
        <p:nvSpPr>
          <p:cNvPr id="60" name="Down Arrow 59"/>
          <p:cNvSpPr/>
          <p:nvPr/>
        </p:nvSpPr>
        <p:spPr>
          <a:xfrm>
            <a:off x="10424160" y="2834640"/>
            <a:ext cx="320040" cy="411480"/>
          </a:xfrm>
          <a:prstGeom prst="downArrow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594360" y="3566160"/>
            <a:ext cx="2480310" cy="1188720"/>
          </a:xfrm>
          <a:prstGeom prst="round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9224" y="3749039"/>
            <a:ext cx="2370582" cy="91440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Research profile</a:t>
            </a:r>
          </a:p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+ ground-truth check</a:t>
            </a:r>
          </a:p>
        </p:txBody>
      </p:sp>
      <p:sp>
        <p:nvSpPr>
          <p:cNvPr id="63" name="Right Arrow 62"/>
          <p:cNvSpPr/>
          <p:nvPr/>
        </p:nvSpPr>
        <p:spPr>
          <a:xfrm rot="10800000">
            <a:off x="3129534" y="4050791"/>
            <a:ext cx="265176" cy="219456"/>
          </a:xfrm>
          <a:prstGeom prst="rightArrow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3440430" y="3566160"/>
            <a:ext cx="2480310" cy="1188720"/>
          </a:xfrm>
          <a:prstGeom prst="round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495294" y="3749039"/>
            <a:ext cx="2370582" cy="91440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SE / WASO</a:t>
            </a:r>
          </a:p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N3 / SFI</a:t>
            </a:r>
          </a:p>
        </p:txBody>
      </p:sp>
      <p:sp>
        <p:nvSpPr>
          <p:cNvPr id="66" name="Right Arrow 65"/>
          <p:cNvSpPr/>
          <p:nvPr/>
        </p:nvSpPr>
        <p:spPr>
          <a:xfrm rot="10800000">
            <a:off x="5975604" y="4050791"/>
            <a:ext cx="265176" cy="219456"/>
          </a:xfrm>
          <a:prstGeom prst="rightArrow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6286500" y="3566160"/>
            <a:ext cx="2480310" cy="1188720"/>
          </a:xfrm>
          <a:prstGeom prst="round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341364" y="3749039"/>
            <a:ext cx="2370582" cy="91440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Decoded</a:t>
            </a:r>
          </a:p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hypnogram</a:t>
            </a:r>
          </a:p>
        </p:txBody>
      </p:sp>
      <p:sp>
        <p:nvSpPr>
          <p:cNvPr id="69" name="Right Arrow 68"/>
          <p:cNvSpPr/>
          <p:nvPr/>
        </p:nvSpPr>
        <p:spPr>
          <a:xfrm rot="10800000">
            <a:off x="8821674" y="4050791"/>
            <a:ext cx="265176" cy="219456"/>
          </a:xfrm>
          <a:prstGeom prst="rightArrow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9132570" y="3566160"/>
            <a:ext cx="2480310" cy="1188720"/>
          </a:xfrm>
          <a:prstGeom prst="round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187434" y="3749039"/>
            <a:ext cx="2370582" cy="91440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Probabilities</a:t>
            </a:r>
          </a:p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+ uncertainty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31520" y="5257800"/>
            <a:ext cx="10789920" cy="73152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1900" b="0">
                <a:solidFill>
                  <a:srgbClr val="19364D"/>
                </a:solidFill>
                <a:latin typeface="Arial"/>
              </a:defRPr>
            </a:pPr>
            <a:r>
              <a:t>Second row is read right to left: probabilities → per-recording Viterbi → biomarkers → research rules.</a:t>
            </a:r>
          </a:p>
        </p:txBody>
      </p:sp>
    </p:spTree>
    <p:extLst>
      <p:ext uri="{BB962C8B-B14F-4D97-AF65-F5344CB8AC3E}">
        <p14:creationId xmlns:p14="http://schemas.microsoft.com/office/powerpoint/2010/main" val="23967043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  <a:defRPr sz="2800" b="1">
                <a:solidFill>
                  <a:srgbClr val="0B2E4F"/>
                </a:solidFill>
                <a:latin typeface="Arial"/>
              </a:defRPr>
            </a:pPr>
            <a:r>
              <a:t>Project Progress — Verified Deliverables</a:t>
            </a:r>
            <a:endParaRPr lang="en-US" sz="3000" dirty="0"/>
          </a:p>
        </p:txBody>
      </p:sp>
      <p:sp>
        <p:nvSpPr>
          <p:cNvPr id="4" name="Rectangle 3"/>
          <p:cNvSpPr/>
          <p:nvPr/>
        </p:nvSpPr>
        <p:spPr>
          <a:xfrm>
            <a:off x="594360" y="1033271"/>
            <a:ext cx="11018520" cy="32004"/>
          </a:xfrm>
          <a:prstGeom prst="rect">
            <a:avLst/>
          </a:prstGeom>
          <a:solidFill>
            <a:srgbClr val="13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46520"/>
            <a:ext cx="10789920" cy="22860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60788A"/>
                </a:solidFill>
                <a:latin typeface="Arial"/>
              </a:defRPr>
            </a:pPr>
            <a:r>
              <a:t>Source: HMC-PPT-20261007-01 | final_results.json, input_repairs.json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19088"/>
            <a:ext cx="365760" cy="256032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60788A"/>
                </a:solidFill>
                <a:latin typeface="Arial"/>
              </a:defRPr>
            </a:pPr>
            <a: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927080" cy="1371600"/>
          </a:xfrm>
          <a:prstGeom prst="round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45720" cy="1371600"/>
          </a:xfrm>
          <a:prstGeom prst="rect">
            <a:avLst/>
          </a:prstGeom>
          <a:solidFill>
            <a:srgbClr val="13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481328"/>
            <a:ext cx="10616184" cy="36576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2100" b="1">
                <a:solidFill>
                  <a:srgbClr val="0B2E4F"/>
                </a:solidFill>
                <a:latin typeface="Arial"/>
              </a:defRPr>
            </a:pPr>
            <a:r>
              <a:t>Completed and checked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828800"/>
            <a:ext cx="10616184" cy="877824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9364D"/>
                </a:solidFill>
                <a:latin typeface="Arial"/>
              </a:defRPr>
            </a:pPr>
            <a:r>
              <a:t>Saved checkpoint loaded; disjoint split audited; corrupted SN001 test input reconstructed; inference rerun on all four test recordings.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926080"/>
            <a:ext cx="10927080" cy="1371600"/>
          </a:xfrm>
          <a:prstGeom prst="round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926080"/>
            <a:ext cx="45720" cy="1371600"/>
          </a:xfrm>
          <a:prstGeom prst="rect">
            <a:avLst/>
          </a:prstGeom>
          <a:solidFill>
            <a:srgbClr val="13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3035808"/>
            <a:ext cx="10616184" cy="36576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2100" b="1">
                <a:solidFill>
                  <a:srgbClr val="0B2E4F"/>
                </a:solidFill>
                <a:latin typeface="Arial"/>
              </a:defRPr>
            </a:pPr>
            <a:r>
              <a:t>Completed and checked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3383280"/>
            <a:ext cx="10616184" cy="877824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9364D"/>
                </a:solidFill>
                <a:latin typeface="Arial"/>
              </a:defRPr>
            </a:pPr>
            <a:r>
              <a:t>Confusion matrices, class reports, uncertainty/calibration, transition decoding, real EEG plots and all four hypnograms generated from one run.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480560"/>
            <a:ext cx="10927080" cy="1371600"/>
          </a:xfrm>
          <a:prstGeom prst="round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480560"/>
            <a:ext cx="45720" cy="1371600"/>
          </a:xfrm>
          <a:prstGeom prst="rect">
            <a:avLst/>
          </a:prstGeom>
          <a:solidFill>
            <a:srgbClr val="13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" y="4590288"/>
            <a:ext cx="10616184" cy="36576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2100" b="1">
                <a:solidFill>
                  <a:srgbClr val="0B2E4F"/>
                </a:solidFill>
                <a:latin typeface="Arial"/>
              </a:defRPr>
            </a:pPr>
            <a:r>
              <a:t>Research limits remain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4937760"/>
            <a:ext cx="10616184" cy="877824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9364D"/>
                </a:solidFill>
                <a:latin typeface="Arial"/>
              </a:defRPr>
            </a:pPr>
            <a:r>
              <a:t>External validation, clinical threshold review and independent diagnostic validation have not been performed.</a:t>
            </a:r>
          </a:p>
        </p:txBody>
      </p:sp>
    </p:spTree>
    <p:extLst>
      <p:ext uri="{BB962C8B-B14F-4D97-AF65-F5344CB8AC3E}">
        <p14:creationId xmlns:p14="http://schemas.microsoft.com/office/powerpoint/2010/main" val="37731228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  <a:defRPr sz="2800" b="1">
                <a:solidFill>
                  <a:srgbClr val="0B2E4F"/>
                </a:solidFill>
                <a:latin typeface="Arial"/>
              </a:defRPr>
            </a:pPr>
            <a:r>
              <a:t>Current Research Limitations</a:t>
            </a:r>
            <a:endParaRPr lang="en-US" sz="3000" dirty="0"/>
          </a:p>
        </p:txBody>
      </p:sp>
      <p:sp>
        <p:nvSpPr>
          <p:cNvPr id="4" name="Rectangle 3"/>
          <p:cNvSpPr/>
          <p:nvPr/>
        </p:nvSpPr>
        <p:spPr>
          <a:xfrm>
            <a:off x="594360" y="1033271"/>
            <a:ext cx="11018520" cy="32004"/>
          </a:xfrm>
          <a:prstGeom prst="rect">
            <a:avLst/>
          </a:prstGeom>
          <a:solidFill>
            <a:srgbClr val="13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46520"/>
            <a:ext cx="10789920" cy="22860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60788A"/>
                </a:solidFill>
                <a:latin typeface="Arial"/>
              </a:defRPr>
            </a:pPr>
            <a:r>
              <a:t>Source: HMC-PPT-20261007-01 | final_results.json, calibration_metrics.json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19088"/>
            <a:ext cx="365760" cy="256032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60788A"/>
                </a:solidFill>
                <a:latin typeface="Arial"/>
              </a:defRPr>
            </a:pPr>
            <a: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789920" cy="480060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900"/>
              </a:spcAft>
              <a:defRPr sz="2200" b="0">
                <a:solidFill>
                  <a:srgbClr val="19364D"/>
                </a:solidFill>
                <a:latin typeface="Arial"/>
              </a:defRPr>
            </a:pPr>
            <a:r>
              <a:t>• Limited cohort: 24 SN recording IDs; only four final test recordings (3,773 epochs).</a:t>
            </a:r>
          </a:p>
          <a:p>
            <a:pPr algn="l">
              <a:spcAft>
                <a:spcPts val="900"/>
              </a:spcAft>
              <a:defRPr sz="2200" b="0">
                <a:solidFill>
                  <a:srgbClr val="19364D"/>
                </a:solidFill>
                <a:latin typeface="Arial"/>
              </a:defRPr>
            </a:pPr>
            <a:r>
              <a:t>• EEG-only inputs; no multimodal PSG or cross-dataset validation.</a:t>
            </a:r>
          </a:p>
          <a:p>
            <a:pPr algn="l">
              <a:spcAft>
                <a:spcPts val="900"/>
              </a:spcAft>
              <a:defRPr sz="2200" b="0">
                <a:solidFill>
                  <a:srgbClr val="19364D"/>
                </a:solidFill>
                <a:latin typeface="Arial"/>
              </a:defRPr>
            </a:pPr>
            <a:r>
              <a:t>• Historical notebook test reuse limits claims of a newly blinded evaluation.</a:t>
            </a:r>
          </a:p>
          <a:p>
            <a:pPr algn="l">
              <a:spcAft>
                <a:spcPts val="900"/>
              </a:spcAft>
              <a:defRPr sz="2200" b="0">
                <a:solidFill>
                  <a:srgbClr val="19364D"/>
                </a:solidFill>
                <a:latin typeface="Arial"/>
              </a:defRPr>
            </a:pPr>
            <a:r>
              <a:t>• Evidential uncertainty and reliability require stronger independent validation.</a:t>
            </a:r>
          </a:p>
          <a:p>
            <a:pPr algn="l">
              <a:spcAft>
                <a:spcPts val="900"/>
              </a:spcAft>
              <a:defRPr sz="2200" b="0">
                <a:solidFill>
                  <a:srgbClr val="19364D"/>
                </a:solidFill>
                <a:latin typeface="Arial"/>
              </a:defRPr>
            </a:pPr>
            <a:r>
              <a:t>• Research biomarker definitions and thresholds are not clinically validated.</a:t>
            </a:r>
          </a:p>
          <a:p>
            <a:pPr algn="l">
              <a:spcAft>
                <a:spcPts val="900"/>
              </a:spcAft>
              <a:defRPr sz="2200" b="0">
                <a:solidFill>
                  <a:srgbClr val="19364D"/>
                </a:solidFill>
                <a:latin typeface="Arial"/>
              </a:defRPr>
            </a:pPr>
            <a:r>
              <a:t>• Training hardware and final global training RNG state were not preserved.</a:t>
            </a:r>
          </a:p>
        </p:txBody>
      </p:sp>
    </p:spTree>
    <p:extLst>
      <p:ext uri="{BB962C8B-B14F-4D97-AF65-F5344CB8AC3E}">
        <p14:creationId xmlns:p14="http://schemas.microsoft.com/office/powerpoint/2010/main" val="21409045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  <a:defRPr sz="2800" b="1">
                <a:solidFill>
                  <a:srgbClr val="0B2E4F"/>
                </a:solidFill>
                <a:latin typeface="Arial"/>
              </a:defRPr>
            </a:pPr>
            <a:r>
              <a:t>Future Work</a:t>
            </a:r>
            <a:endParaRPr lang="en-US" sz="3000" dirty="0"/>
          </a:p>
        </p:txBody>
      </p:sp>
      <p:sp>
        <p:nvSpPr>
          <p:cNvPr id="4" name="Rectangle 3"/>
          <p:cNvSpPr/>
          <p:nvPr/>
        </p:nvSpPr>
        <p:spPr>
          <a:xfrm>
            <a:off x="594360" y="1033271"/>
            <a:ext cx="11018520" cy="32004"/>
          </a:xfrm>
          <a:prstGeom prst="rect">
            <a:avLst/>
          </a:prstGeom>
          <a:solidFill>
            <a:srgbClr val="13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46520"/>
            <a:ext cx="10789920" cy="22860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60788A"/>
                </a:solidFill>
                <a:latin typeface="Arial"/>
              </a:defRPr>
            </a:pPr>
            <a:r>
              <a:t>Source: HMC-PPT-20261007-01 | verified scope and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19088"/>
            <a:ext cx="365760" cy="256032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60788A"/>
                </a:solidFill>
                <a:latin typeface="Arial"/>
              </a:defRPr>
            </a:pPr>
            <a:r>
              <a:t>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5303520" cy="1371600"/>
          </a:xfrm>
          <a:prstGeom prst="round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45720" cy="1371600"/>
          </a:xfrm>
          <a:prstGeom prst="rect">
            <a:avLst/>
          </a:prstGeom>
          <a:solidFill>
            <a:srgbClr val="13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435607"/>
            <a:ext cx="4992624" cy="36576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2100" b="1">
                <a:solidFill>
                  <a:srgbClr val="0B2E4F"/>
                </a:solidFill>
                <a:latin typeface="Arial"/>
              </a:defRPr>
            </a:pPr>
            <a:r>
              <a:t>External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783080"/>
            <a:ext cx="4992624" cy="877824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9364D"/>
                </a:solidFill>
                <a:latin typeface="Arial"/>
              </a:defRPr>
            </a:pPr>
            <a:r>
              <a:t>Evaluate on independent HMC recordings and another sleep dataset.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325880"/>
            <a:ext cx="5303520" cy="1371600"/>
          </a:xfrm>
          <a:prstGeom prst="round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325880"/>
            <a:ext cx="45720" cy="1371600"/>
          </a:xfrm>
          <a:prstGeom prst="rect">
            <a:avLst/>
          </a:prstGeom>
          <a:solidFill>
            <a:srgbClr val="13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435607"/>
            <a:ext cx="4992624" cy="36576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2100" b="1">
                <a:solidFill>
                  <a:srgbClr val="0B2E4F"/>
                </a:solidFill>
                <a:latin typeface="Arial"/>
              </a:defRPr>
            </a:pPr>
            <a:r>
              <a:t>Multimodal PSG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783080"/>
            <a:ext cx="4992624" cy="877824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9364D"/>
                </a:solidFill>
                <a:latin typeface="Arial"/>
              </a:defRPr>
            </a:pPr>
            <a:r>
              <a:t>Test EEG + EOG + EMG with a preregistered protocol.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898648"/>
            <a:ext cx="5303520" cy="1371600"/>
          </a:xfrm>
          <a:prstGeom prst="round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898648"/>
            <a:ext cx="45720" cy="1371600"/>
          </a:xfrm>
          <a:prstGeom prst="rect">
            <a:avLst/>
          </a:prstGeom>
          <a:solidFill>
            <a:srgbClr val="13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" y="3008376"/>
            <a:ext cx="4992624" cy="36576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2100" b="1">
                <a:solidFill>
                  <a:srgbClr val="0B2E4F"/>
                </a:solidFill>
                <a:latin typeface="Arial"/>
              </a:defRPr>
            </a:pPr>
            <a:r>
              <a:t>Generalization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3355848"/>
            <a:ext cx="4992624" cy="877824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9364D"/>
                </a:solidFill>
                <a:latin typeface="Arial"/>
              </a:defRPr>
            </a:pPr>
            <a:r>
              <a:t>Study montage, device and population changes.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898648"/>
            <a:ext cx="5303520" cy="1371600"/>
          </a:xfrm>
          <a:prstGeom prst="round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2898648"/>
            <a:ext cx="45720" cy="1371600"/>
          </a:xfrm>
          <a:prstGeom prst="rect">
            <a:avLst/>
          </a:prstGeom>
          <a:solidFill>
            <a:srgbClr val="13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3008376"/>
            <a:ext cx="4992624" cy="36576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2100" b="1">
                <a:solidFill>
                  <a:srgbClr val="0B2E4F"/>
                </a:solidFill>
                <a:latin typeface="Arial"/>
              </a:defRPr>
            </a:pPr>
            <a:r>
              <a:t>Calibration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3355848"/>
            <a:ext cx="4992624" cy="877824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9364D"/>
                </a:solidFill>
                <a:latin typeface="Arial"/>
              </a:defRPr>
            </a:pPr>
            <a:r>
              <a:t>Fit any calibrator on validation data, then test once.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471416"/>
            <a:ext cx="5303520" cy="1371600"/>
          </a:xfrm>
          <a:prstGeom prst="round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471416"/>
            <a:ext cx="45720" cy="1371600"/>
          </a:xfrm>
          <a:prstGeom prst="rect">
            <a:avLst/>
          </a:prstGeom>
          <a:solidFill>
            <a:srgbClr val="13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8" y="4581144"/>
            <a:ext cx="4992624" cy="36576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2100" b="1">
                <a:solidFill>
                  <a:srgbClr val="0B2E4F"/>
                </a:solidFill>
                <a:latin typeface="Arial"/>
              </a:defRPr>
            </a:pPr>
            <a:r>
              <a:t>Clinical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" y="4928616"/>
            <a:ext cx="4992624" cy="877824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9364D"/>
                </a:solidFill>
                <a:latin typeface="Arial"/>
              </a:defRPr>
            </a:pPr>
            <a:r>
              <a:t>Review biomarker denominators and research thresholds with experts.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4471416"/>
            <a:ext cx="5303520" cy="1371600"/>
          </a:xfrm>
          <a:prstGeom prst="round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4471416"/>
            <a:ext cx="45720" cy="1371600"/>
          </a:xfrm>
          <a:prstGeom prst="rect">
            <a:avLst/>
          </a:prstGeom>
          <a:solidFill>
            <a:srgbClr val="13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19088" y="4581144"/>
            <a:ext cx="4992624" cy="36576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2100" b="1">
                <a:solidFill>
                  <a:srgbClr val="0B2E4F"/>
                </a:solidFill>
                <a:latin typeface="Arial"/>
              </a:defRPr>
            </a:pPr>
            <a:r>
              <a:t>Prospective validation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088" y="4928616"/>
            <a:ext cx="4992624" cy="877824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9364D"/>
                </a:solidFill>
                <a:latin typeface="Arial"/>
              </a:defRPr>
            </a:pPr>
            <a:r>
              <a:t>Assess blinded recording-level outcomes before clinical claims.</a:t>
            </a:r>
          </a:p>
        </p:txBody>
      </p:sp>
    </p:spTree>
    <p:extLst>
      <p:ext uri="{BB962C8B-B14F-4D97-AF65-F5344CB8AC3E}">
        <p14:creationId xmlns:p14="http://schemas.microsoft.com/office/powerpoint/2010/main" val="2755122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  <a:defRPr sz="2800" b="1">
                <a:solidFill>
                  <a:srgbClr val="0B2E4F"/>
                </a:solidFill>
                <a:latin typeface="Arial"/>
              </a:defRPr>
            </a:pPr>
            <a:r>
              <a:t>Verified Example System Output</a:t>
            </a:r>
            <a:endParaRPr lang="en-US" sz="3000" dirty="0"/>
          </a:p>
        </p:txBody>
      </p:sp>
      <p:sp>
        <p:nvSpPr>
          <p:cNvPr id="4" name="Rectangle 3"/>
          <p:cNvSpPr/>
          <p:nvPr/>
        </p:nvSpPr>
        <p:spPr>
          <a:xfrm>
            <a:off x="594360" y="1033271"/>
            <a:ext cx="11018520" cy="32004"/>
          </a:xfrm>
          <a:prstGeom prst="rect">
            <a:avLst/>
          </a:prstGeom>
          <a:solidFill>
            <a:srgbClr val="13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46520"/>
            <a:ext cx="10789920" cy="22860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60788A"/>
                </a:solidFill>
                <a:latin typeface="Arial"/>
              </a:defRPr>
            </a:pPr>
            <a:r>
              <a:t>Source: HMC-PPT-20261007-01 | eeg_example_metadata.json, subject_risk_profiles.csv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19088"/>
            <a:ext cx="365760" cy="256032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60788A"/>
                </a:solidFill>
                <a:latin typeface="Arial"/>
              </a:defRPr>
            </a:pPr>
            <a:r>
              <a:t>26</a:t>
            </a:r>
          </a:p>
        </p:txBody>
      </p:sp>
      <p:pic>
        <p:nvPicPr>
          <p:cNvPr id="7" name="Picture 6" descr="raw_eeg_exam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26488"/>
            <a:ext cx="6080760" cy="273634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03720" y="1600200"/>
            <a:ext cx="4572000" cy="352044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900"/>
              </a:spcAft>
              <a:defRPr sz="2200" b="0">
                <a:solidFill>
                  <a:srgbClr val="19364D"/>
                </a:solidFill>
                <a:latin typeface="Arial"/>
              </a:defRPr>
            </a:pPr>
            <a:r>
              <a:t>Test recording SN009</a:t>
            </a:r>
          </a:p>
          <a:p>
            <a:pPr algn="l">
              <a:spcAft>
                <a:spcPts val="900"/>
              </a:spcAft>
              <a:defRPr sz="2200" b="0">
                <a:solidFill>
                  <a:srgbClr val="19364D"/>
                </a:solidFill>
                <a:latin typeface="Arial"/>
              </a:defRPr>
            </a:pPr>
            <a:r>
              <a:t>SE proxy: 90.01%</a:t>
            </a:r>
          </a:p>
          <a:p>
            <a:pPr algn="l">
              <a:spcAft>
                <a:spcPts val="900"/>
              </a:spcAft>
              <a:defRPr sz="2200" b="0">
                <a:solidFill>
                  <a:srgbClr val="19364D"/>
                </a:solidFill>
                <a:latin typeface="Arial"/>
              </a:defRPr>
            </a:pPr>
            <a:r>
              <a:t>WASO: 14.0 min</a:t>
            </a:r>
          </a:p>
          <a:p>
            <a:pPr algn="l">
              <a:spcAft>
                <a:spcPts val="900"/>
              </a:spcAft>
              <a:defRPr sz="2200" b="0">
                <a:solidFill>
                  <a:srgbClr val="19364D"/>
                </a:solidFill>
                <a:latin typeface="Arial"/>
              </a:defRPr>
            </a:pPr>
            <a:r>
              <a:t>N3 / all epochs: 23.97%</a:t>
            </a:r>
          </a:p>
          <a:p>
            <a:pPr algn="l">
              <a:spcAft>
                <a:spcPts val="900"/>
              </a:spcAft>
              <a:defRPr sz="2200" b="0">
                <a:solidFill>
                  <a:srgbClr val="19364D"/>
                </a:solidFill>
                <a:latin typeface="Arial"/>
              </a:defRPr>
            </a:pPr>
            <a:r>
              <a:t>SFI: 1.18 /sleep h</a:t>
            </a:r>
          </a:p>
          <a:p>
            <a:pPr algn="l">
              <a:spcAft>
                <a:spcPts val="900"/>
              </a:spcAft>
              <a:defRPr sz="2200" b="0">
                <a:solidFill>
                  <a:srgbClr val="19364D"/>
                </a:solidFill>
                <a:latin typeface="Arial"/>
              </a:defRPr>
            </a:pPr>
            <a:r>
              <a:t>Research category: Healthy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870448"/>
            <a:ext cx="10927080" cy="429768"/>
          </a:xfrm>
          <a:prstGeom prst="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36576"/>
          <a:lstStyle/>
          <a:p>
            <a:pPr algn="l">
              <a:spcAft>
                <a:spcPts val="0"/>
              </a:spcAft>
              <a:defRPr sz="1600" b="0">
                <a:solidFill>
                  <a:srgbClr val="19364D"/>
                </a:solidFill>
                <a:latin typeface="Arial"/>
              </a:defRPr>
            </a:pPr>
            <a:r>
              <a:t>Outputs: hypnogram, epoch probabilities, uncertainty and ground-truth validation.</a:t>
            </a:r>
          </a:p>
        </p:txBody>
      </p:sp>
    </p:spTree>
    <p:extLst>
      <p:ext uri="{BB962C8B-B14F-4D97-AF65-F5344CB8AC3E}">
        <p14:creationId xmlns:p14="http://schemas.microsoft.com/office/powerpoint/2010/main" val="20652662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  <a:defRPr sz="2800" b="1">
                <a:solidFill>
                  <a:srgbClr val="0B2E4F"/>
                </a:solidFill>
                <a:latin typeface="Arial"/>
              </a:defRPr>
            </a:pPr>
            <a:r>
              <a:t>Conclusion</a:t>
            </a:r>
            <a:endParaRPr lang="en-US" sz="3000" dirty="0"/>
          </a:p>
        </p:txBody>
      </p:sp>
      <p:sp>
        <p:nvSpPr>
          <p:cNvPr id="4" name="Rectangle 3"/>
          <p:cNvSpPr/>
          <p:nvPr/>
        </p:nvSpPr>
        <p:spPr>
          <a:xfrm>
            <a:off x="594360" y="1033271"/>
            <a:ext cx="11018520" cy="32004"/>
          </a:xfrm>
          <a:prstGeom prst="rect">
            <a:avLst/>
          </a:prstGeom>
          <a:solidFill>
            <a:srgbClr val="13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46520"/>
            <a:ext cx="10789920" cy="22860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60788A"/>
                </a:solidFill>
                <a:latin typeface="Arial"/>
              </a:defRPr>
            </a:pPr>
            <a:r>
              <a:t>Source: HMC-PPT-20261007-01 | final_results.json, overall_metrics.json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19088"/>
            <a:ext cx="365760" cy="256032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60788A"/>
                </a:solidFill>
                <a:latin typeface="Arial"/>
              </a:defRPr>
            </a:pPr>
            <a: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789920" cy="448056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900"/>
              </a:spcAft>
              <a:defRPr sz="2400" b="0">
                <a:solidFill>
                  <a:srgbClr val="19364D"/>
                </a:solidFill>
                <a:latin typeface="Arial"/>
              </a:defRPr>
            </a:pPr>
            <a:r>
              <a:t>• A compact hybrid CNN–self-attention–BiLSTM pipeline supports five-stage EEG scoring and evidential uncertainty.</a:t>
            </a:r>
          </a:p>
          <a:p>
            <a:pPr algn="l">
              <a:spcAft>
                <a:spcPts val="900"/>
              </a:spcAft>
              <a:defRPr sz="2400" b="0">
                <a:solidFill>
                  <a:srgbClr val="19364D"/>
                </a:solidFill>
                <a:latin typeface="Arial"/>
              </a:defRPr>
            </a:pPr>
            <a:r>
              <a:t>• On 3,773 epochs from four test recordings, raw accuracy was 53.75%; Soft-Viterbi accuracy was 61.99%.</a:t>
            </a:r>
          </a:p>
          <a:p>
            <a:pPr algn="l">
              <a:spcAft>
                <a:spcPts val="900"/>
              </a:spcAft>
              <a:defRPr sz="2400" b="0">
                <a:solidFill>
                  <a:srgbClr val="19364D"/>
                </a:solidFill>
                <a:latin typeface="Arial"/>
              </a:defRPr>
            </a:pPr>
            <a:r>
              <a:t>• All final results use one checkpoint and the same verified test epochs; SN001’s shortened input was corrected.</a:t>
            </a:r>
          </a:p>
          <a:p>
            <a:pPr algn="l">
              <a:spcAft>
                <a:spcPts val="900"/>
              </a:spcAft>
              <a:defRPr sz="2400" b="0">
                <a:solidFill>
                  <a:srgbClr val="19364D"/>
                </a:solidFill>
                <a:latin typeface="Arial"/>
              </a:defRPr>
            </a:pPr>
            <a:r>
              <a:t>• Research sleep profiles are reproducible, but clinical validity and external generalization remain unestablished.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870448"/>
            <a:ext cx="10927080" cy="429768"/>
          </a:xfrm>
          <a:prstGeom prst="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36576"/>
          <a:lstStyle/>
          <a:p>
            <a:pPr algn="l">
              <a:spcAft>
                <a:spcPts val="0"/>
              </a:spcAft>
              <a:defRPr sz="1600" b="0">
                <a:solidFill>
                  <a:srgbClr val="19364D"/>
                </a:solidFill>
                <a:latin typeface="Arial"/>
              </a:defRPr>
            </a:pPr>
            <a:r>
              <a:t>EEG → stage probabilities + uncertainty → decoded hypnogram → research sleep profile</a:t>
            </a:r>
          </a:p>
        </p:txBody>
      </p:sp>
    </p:spTree>
    <p:extLst>
      <p:ext uri="{BB962C8B-B14F-4D97-AF65-F5344CB8AC3E}">
        <p14:creationId xmlns:p14="http://schemas.microsoft.com/office/powerpoint/2010/main" val="1830119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71446" cy="6858000"/>
          </a:xfrm>
          <a:prstGeom prst="rect">
            <a:avLst/>
          </a:prstGeom>
          <a:solidFill>
            <a:srgbClr val="13A6A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38179" y="1571625"/>
            <a:ext cx="3288132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76278" y="2428875"/>
            <a:ext cx="3044953" cy="37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dirty="0">
                <a:solidFill>
                  <a:srgbClr val="9BDE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857229" y="3381375"/>
            <a:ext cx="10381990" cy="38100"/>
          </a:xfrm>
          <a:prstGeom prst="rect">
            <a:avLst/>
          </a:prstGeom>
          <a:solidFill>
            <a:srgbClr val="13A6A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76278" y="5495925"/>
            <a:ext cx="3078191" cy="844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DB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Rikin Parekh · Om Ahuja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DB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23BIT044 · 23BIT014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DB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Guide: Dr. Santosh Sathpathy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38446712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  <a:defRPr sz="2800" b="1">
                <a:solidFill>
                  <a:srgbClr val="FFFFFF"/>
                </a:solidFill>
                <a:latin typeface="Arial"/>
              </a:defRPr>
            </a:pPr>
            <a:r>
              <a:t>Appendix</a:t>
            </a:r>
            <a:endParaRPr lang="en-US" sz="5100" dirty="0"/>
          </a:p>
        </p:txBody>
      </p:sp>
      <p:sp>
        <p:nvSpPr>
          <p:cNvPr id="5" name="Rectangle 4"/>
          <p:cNvSpPr/>
          <p:nvPr/>
        </p:nvSpPr>
        <p:spPr>
          <a:xfrm>
            <a:off x="594360" y="1033271"/>
            <a:ext cx="11018520" cy="32004"/>
          </a:xfrm>
          <a:prstGeom prst="rect">
            <a:avLst/>
          </a:prstGeom>
          <a:solidFill>
            <a:srgbClr val="13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446520"/>
            <a:ext cx="10789920" cy="22860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60788A"/>
                </a:solidFill>
                <a:latin typeface="Arial"/>
              </a:defRPr>
            </a:pPr>
            <a:r>
              <a:t>Source: HMC-PPT-20261007-01 | verified artifact package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19088"/>
            <a:ext cx="365760" cy="256032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60788A"/>
                </a:solidFill>
                <a:latin typeface="Arial"/>
              </a:defRPr>
            </a:pPr>
            <a: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10698480" cy="82296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3400" b="1">
                <a:solidFill>
                  <a:srgbClr val="FFFFFF"/>
                </a:solidFill>
                <a:latin typeface="Arial"/>
              </a:defRPr>
            </a:pPr>
            <a:r>
              <a:t>Technical details and reproducible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00400"/>
            <a:ext cx="10698480" cy="128016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900"/>
              </a:spcAft>
              <a:defRPr sz="2300" b="0">
                <a:solidFill>
                  <a:srgbClr val="B6DCDC"/>
                </a:solidFill>
                <a:latin typeface="Arial"/>
              </a:defRPr>
            </a:pPr>
            <a:r>
              <a:t>Checkpoint architecture · classification · uncertainty · sequence decoding</a:t>
            </a:r>
          </a:p>
          <a:p>
            <a:pPr algn="l">
              <a:spcAft>
                <a:spcPts val="900"/>
              </a:spcAft>
              <a:defRPr sz="2300" b="0">
                <a:solidFill>
                  <a:srgbClr val="B6DCDC"/>
                </a:solidFill>
                <a:latin typeface="Arial"/>
              </a:defRPr>
            </a:pPr>
            <a:r>
              <a:t>Training settings · source equations · additional real hypnograms · literature</a:t>
            </a:r>
          </a:p>
        </p:txBody>
      </p:sp>
    </p:spTree>
    <p:extLst>
      <p:ext uri="{BB962C8B-B14F-4D97-AF65-F5344CB8AC3E}">
        <p14:creationId xmlns:p14="http://schemas.microsoft.com/office/powerpoint/2010/main" val="24562399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  <a:defRPr sz="2800" b="1">
                <a:solidFill>
                  <a:srgbClr val="0B2E4F"/>
                </a:solidFill>
                <a:latin typeface="Arial"/>
              </a:defRPr>
            </a:pPr>
            <a:r>
              <a:t>Appendix — Model Summary</a:t>
            </a:r>
            <a:endParaRPr lang="en-US" sz="3000" dirty="0"/>
          </a:p>
        </p:txBody>
      </p:sp>
      <p:sp>
        <p:nvSpPr>
          <p:cNvPr id="4" name="Rectangle 3"/>
          <p:cNvSpPr/>
          <p:nvPr/>
        </p:nvSpPr>
        <p:spPr>
          <a:xfrm>
            <a:off x="594360" y="1033271"/>
            <a:ext cx="11018520" cy="32004"/>
          </a:xfrm>
          <a:prstGeom prst="rect">
            <a:avLst/>
          </a:prstGeom>
          <a:solidFill>
            <a:srgbClr val="13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46520"/>
            <a:ext cx="10789920" cy="22860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60788A"/>
                </a:solidFill>
                <a:latin typeface="Arial"/>
              </a:defRPr>
            </a:pPr>
            <a:r>
              <a:t>Source: HMC-PPT-20261007-01 | model_layers.csv, model_summary.txt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19088"/>
            <a:ext cx="365760" cy="256032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60788A"/>
                </a:solidFill>
                <a:latin typeface="Arial"/>
              </a:defRPr>
            </a:pPr>
            <a:r>
              <a:t>30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325880"/>
          <a:ext cx="110185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5120640"/>
                <a:gridCol w="1691640"/>
              </a:tblGrid>
              <a:tr h="43434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Component</a:t>
                      </a:r>
                    </a:p>
                  </a:txBody>
                  <a:tcPr marL="82296" marR="73152" marT="82296" marB="54864" anchor="ctr"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Output / setting</a:t>
                      </a:r>
                    </a:p>
                  </a:txBody>
                  <a:tcPr marL="82296" marR="73152" marT="82296" marB="54864" anchor="ctr"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Parameters</a:t>
                      </a:r>
                    </a:p>
                  </a:txBody>
                  <a:tcPr marL="82296" marR="73152" marT="82296" marB="54864" anchor="ctr">
                    <a:solidFill>
                      <a:srgbClr val="0B2E4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Input + permute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4 × 3000 → 3000 × 4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Conv1D 64 + BN + ReLU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750 × 64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2,112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Conv1D 128 + BN + ReLU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188 × 128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41,600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Multi-head attention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188 × 128; 4 heads × key16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33,088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Residual/LN + FFN + residual/LN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188 × 128; GELU 128→128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33,536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Bidirectional LSTM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188 × 128; 64 per direction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98,816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Global average pool + dropout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128; dropout .2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Dense + dropout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128; ReLU; dropout .1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16,512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Evidential dense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5; softplus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645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0080" y="5870448"/>
            <a:ext cx="10927080" cy="429768"/>
          </a:xfrm>
          <a:prstGeom prst="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36576"/>
          <a:lstStyle/>
          <a:p>
            <a:pPr algn="l">
              <a:spcAft>
                <a:spcPts val="0"/>
              </a:spcAft>
              <a:defRPr sz="1600" b="0">
                <a:solidFill>
                  <a:srgbClr val="19364D"/>
                </a:solidFill>
                <a:latin typeface="Arial"/>
              </a:defRPr>
            </a:pPr>
            <a:r>
              <a:t>Total 226,309; trainable 225,925; non-trainable 384. Full layer export in model_layers.csv.</a:t>
            </a:r>
          </a:p>
        </p:txBody>
      </p:sp>
    </p:spTree>
    <p:extLst>
      <p:ext uri="{BB962C8B-B14F-4D97-AF65-F5344CB8AC3E}">
        <p14:creationId xmlns:p14="http://schemas.microsoft.com/office/powerpoint/2010/main" val="27551258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  <a:defRPr sz="2800" b="1">
                <a:solidFill>
                  <a:srgbClr val="0B2E4F"/>
                </a:solidFill>
                <a:latin typeface="Arial"/>
              </a:defRPr>
            </a:pPr>
            <a:r>
              <a:t>Appendix — Classification Report</a:t>
            </a:r>
            <a:endParaRPr lang="en-US" sz="3000" dirty="0"/>
          </a:p>
        </p:txBody>
      </p:sp>
      <p:sp>
        <p:nvSpPr>
          <p:cNvPr id="4" name="Rectangle 3"/>
          <p:cNvSpPr/>
          <p:nvPr/>
        </p:nvSpPr>
        <p:spPr>
          <a:xfrm>
            <a:off x="594360" y="1033271"/>
            <a:ext cx="11018520" cy="32004"/>
          </a:xfrm>
          <a:prstGeom prst="rect">
            <a:avLst/>
          </a:prstGeom>
          <a:solidFill>
            <a:srgbClr val="13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46520"/>
            <a:ext cx="10789920" cy="22860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60788A"/>
                </a:solidFill>
                <a:latin typeface="Arial"/>
              </a:defRPr>
            </a:pPr>
            <a:r>
              <a:t>Source: HMC-PPT-20261007-01 | classification_report.csv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19088"/>
            <a:ext cx="365760" cy="256032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60788A"/>
                </a:solidFill>
                <a:latin typeface="Arial"/>
              </a:defRPr>
            </a:pPr>
            <a:r>
              <a:t>31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371600"/>
          <a:ext cx="110185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1965960"/>
                <a:gridCol w="1965960"/>
                <a:gridCol w="1965960"/>
                <a:gridCol w="2240280"/>
              </a:tblGrid>
              <a:tr h="537210">
                <a:tc>
                  <a:txBody>
                    <a:bodyPr/>
                    <a:lstStyle/>
                    <a:p>
                      <a:pPr>
                        <a:defRPr sz="2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Stage / average</a:t>
                      </a:r>
                    </a:p>
                  </a:txBody>
                  <a:tcPr marL="82296" marR="73152" marT="82296" marB="54864" anchor="ctr"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Precision</a:t>
                      </a:r>
                    </a:p>
                  </a:txBody>
                  <a:tcPr marL="82296" marR="73152" marT="82296" marB="54864" anchor="ctr"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Recall</a:t>
                      </a:r>
                    </a:p>
                  </a:txBody>
                  <a:tcPr marL="82296" marR="73152" marT="82296" marB="54864" anchor="ctr"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F1</a:t>
                      </a:r>
                    </a:p>
                  </a:txBody>
                  <a:tcPr marL="82296" marR="73152" marT="82296" marB="54864" anchor="ctr"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Support</a:t>
                      </a:r>
                    </a:p>
                  </a:txBody>
                  <a:tcPr marL="82296" marR="73152" marT="82296" marB="54864" anchor="ctr">
                    <a:solidFill>
                      <a:srgbClr val="0B2E4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Wake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0.643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0.664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0.653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437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N1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0.269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0.571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0.366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471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N2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0.685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0.440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0.536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1,618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N3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0.644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0.640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0.642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600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REM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0.543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0.577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0.559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647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macro avg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0.557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0.578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0.551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3,773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weighted avg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0.597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0.538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0.549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3,773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0080" y="5870448"/>
            <a:ext cx="10927080" cy="429768"/>
          </a:xfrm>
          <a:prstGeom prst="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36576"/>
          <a:lstStyle/>
          <a:p>
            <a:pPr algn="l">
              <a:spcAft>
                <a:spcPts val="0"/>
              </a:spcAft>
              <a:defRPr sz="1600" b="0">
                <a:solidFill>
                  <a:srgbClr val="19364D"/>
                </a:solidFill>
                <a:latin typeface="Arial"/>
              </a:defRPr>
            </a:pPr>
            <a:r>
              <a:t>Raw model; support total 3,773. Macro averages weight stages equally; weighted averages use support.</a:t>
            </a:r>
          </a:p>
        </p:txBody>
      </p:sp>
    </p:spTree>
    <p:extLst>
      <p:ext uri="{BB962C8B-B14F-4D97-AF65-F5344CB8AC3E}">
        <p14:creationId xmlns:p14="http://schemas.microsoft.com/office/powerpoint/2010/main" val="18006709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  <a:defRPr sz="2800" b="1">
                <a:solidFill>
                  <a:srgbClr val="0B2E4F"/>
                </a:solidFill>
                <a:latin typeface="Arial"/>
              </a:defRPr>
            </a:pPr>
            <a:r>
              <a:t>Appendix — Raw Confusion Counts</a:t>
            </a:r>
            <a:endParaRPr lang="en-US" sz="3300" dirty="0"/>
          </a:p>
        </p:txBody>
      </p:sp>
      <p:sp>
        <p:nvSpPr>
          <p:cNvPr id="4" name="Rectangle 3"/>
          <p:cNvSpPr/>
          <p:nvPr/>
        </p:nvSpPr>
        <p:spPr>
          <a:xfrm>
            <a:off x="594360" y="1033271"/>
            <a:ext cx="11018520" cy="32004"/>
          </a:xfrm>
          <a:prstGeom prst="rect">
            <a:avLst/>
          </a:prstGeom>
          <a:solidFill>
            <a:srgbClr val="13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46520"/>
            <a:ext cx="10789920" cy="22860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60788A"/>
                </a:solidFill>
                <a:latin typeface="Arial"/>
              </a:defRPr>
            </a:pPr>
            <a:r>
              <a:t>Source: HMC-PPT-20261007-01 | confusion_matrix_counts.csv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19088"/>
            <a:ext cx="365760" cy="256032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60788A"/>
                </a:solidFill>
                <a:latin typeface="Arial"/>
              </a:defRPr>
            </a:pPr>
            <a:r>
              <a:t>32</a:t>
            </a:r>
          </a:p>
        </p:txBody>
      </p:sp>
      <p:pic>
        <p:nvPicPr>
          <p:cNvPr id="7" name="Picture 6" descr="confusion_matrix_cou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9057" y="1143000"/>
            <a:ext cx="6737684" cy="512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1534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  <a:defRPr sz="2800" b="1">
                <a:solidFill>
                  <a:srgbClr val="0B2E4F"/>
                </a:solidFill>
                <a:latin typeface="Arial"/>
              </a:defRPr>
            </a:pPr>
            <a:r>
              <a:t>Appendix — Soft-Viterbi Confusion Matrix</a:t>
            </a:r>
            <a:endParaRPr lang="en-US" sz="3300" dirty="0"/>
          </a:p>
        </p:txBody>
      </p:sp>
      <p:sp>
        <p:nvSpPr>
          <p:cNvPr id="4" name="Rectangle 3"/>
          <p:cNvSpPr/>
          <p:nvPr/>
        </p:nvSpPr>
        <p:spPr>
          <a:xfrm>
            <a:off x="594360" y="1033271"/>
            <a:ext cx="11018520" cy="32004"/>
          </a:xfrm>
          <a:prstGeom prst="rect">
            <a:avLst/>
          </a:prstGeom>
          <a:solidFill>
            <a:srgbClr val="13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46520"/>
            <a:ext cx="10789920" cy="22860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60788A"/>
                </a:solidFill>
                <a:latin typeface="Arial"/>
              </a:defRPr>
            </a:pPr>
            <a:r>
              <a:t>Source: HMC-PPT-20261007-01 | smoothed_confusion_matrix_normalized.csv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19088"/>
            <a:ext cx="365760" cy="256032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60788A"/>
                </a:solidFill>
                <a:latin typeface="Arial"/>
              </a:defRPr>
            </a:pPr>
            <a:r>
              <a:t>33</a:t>
            </a:r>
          </a:p>
        </p:txBody>
      </p:sp>
      <p:pic>
        <p:nvPicPr>
          <p:cNvPr id="7" name="Picture 6" descr="smoothed_confusion_matrix_normaliz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2075" y="1143000"/>
            <a:ext cx="6617368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8243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  <a:defRPr sz="2800" b="1">
                <a:solidFill>
                  <a:srgbClr val="0B2E4F"/>
                </a:solidFill>
                <a:latin typeface="Arial"/>
              </a:defRPr>
            </a:pPr>
            <a:r>
              <a:t>Appendix — Risk–Coverage Curve</a:t>
            </a:r>
            <a:endParaRPr lang="en-US" sz="3000" dirty="0"/>
          </a:p>
        </p:txBody>
      </p:sp>
      <p:sp>
        <p:nvSpPr>
          <p:cNvPr id="4" name="Rectangle 3"/>
          <p:cNvSpPr/>
          <p:nvPr/>
        </p:nvSpPr>
        <p:spPr>
          <a:xfrm>
            <a:off x="594360" y="1033271"/>
            <a:ext cx="11018520" cy="32004"/>
          </a:xfrm>
          <a:prstGeom prst="rect">
            <a:avLst/>
          </a:prstGeom>
          <a:solidFill>
            <a:srgbClr val="13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46520"/>
            <a:ext cx="10789920" cy="22860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60788A"/>
                </a:solidFill>
                <a:latin typeface="Arial"/>
              </a:defRPr>
            </a:pPr>
            <a:r>
              <a:t>Source: HMC-PPT-20261007-01 | risk_coverage_data.csv, calibration_metrics.json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19088"/>
            <a:ext cx="365760" cy="256032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60788A"/>
                </a:solidFill>
                <a:latin typeface="Arial"/>
              </a:defRPr>
            </a:pPr>
            <a:r>
              <a:t>34</a:t>
            </a:r>
          </a:p>
        </p:txBody>
      </p:sp>
      <p:pic>
        <p:nvPicPr>
          <p:cNvPr id="7" name="Picture 6" descr="risk_coverage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580" y="1234440"/>
            <a:ext cx="9784080" cy="4892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049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  <a:defRPr sz="2800" b="1">
                <a:solidFill>
                  <a:srgbClr val="0B2E4F"/>
                </a:solidFill>
                <a:latin typeface="Arial"/>
              </a:defRPr>
            </a:pPr>
            <a:r>
              <a:t>Appendix — Reliability and Calibration</a:t>
            </a:r>
            <a:endParaRPr lang="en-US" sz="3000" dirty="0"/>
          </a:p>
        </p:txBody>
      </p:sp>
      <p:sp>
        <p:nvSpPr>
          <p:cNvPr id="4" name="Rectangle 3"/>
          <p:cNvSpPr/>
          <p:nvPr/>
        </p:nvSpPr>
        <p:spPr>
          <a:xfrm>
            <a:off x="594360" y="1033271"/>
            <a:ext cx="11018520" cy="32004"/>
          </a:xfrm>
          <a:prstGeom prst="rect">
            <a:avLst/>
          </a:prstGeom>
          <a:solidFill>
            <a:srgbClr val="13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46520"/>
            <a:ext cx="10789920" cy="22860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60788A"/>
                </a:solidFill>
                <a:latin typeface="Arial"/>
              </a:defRPr>
            </a:pPr>
            <a:r>
              <a:t>Source: HMC-PPT-20261007-01 | calibration_bins.csv, calibration_metrics.json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19088"/>
            <a:ext cx="365760" cy="256032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60788A"/>
                </a:solidFill>
                <a:latin typeface="Arial"/>
              </a:defRPr>
            </a:pPr>
            <a:r>
              <a:t>35</a:t>
            </a:r>
          </a:p>
        </p:txBody>
      </p:sp>
      <p:pic>
        <p:nvPicPr>
          <p:cNvPr id="7" name="Picture 6" descr="reliability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297" y="1143000"/>
            <a:ext cx="7249885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38160" y="1645920"/>
            <a:ext cx="3200400" cy="429768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900"/>
              </a:spcAft>
              <a:defRPr sz="2100" b="0">
                <a:solidFill>
                  <a:srgbClr val="19364D"/>
                </a:solidFill>
                <a:latin typeface="Arial"/>
              </a:defRPr>
            </a:pPr>
            <a:r>
              <a:t>Raw probabilities</a:t>
            </a:r>
          </a:p>
          <a:p>
            <a:pPr algn="l">
              <a:spcAft>
                <a:spcPts val="900"/>
              </a:spcAft>
              <a:defRPr sz="2100" b="0">
                <a:solidFill>
                  <a:srgbClr val="19364D"/>
                </a:solidFill>
                <a:latin typeface="Arial"/>
              </a:defRPr>
            </a:pPr>
          </a:p>
          <a:p>
            <a:pPr algn="l">
              <a:spcAft>
                <a:spcPts val="900"/>
              </a:spcAft>
              <a:defRPr sz="2100" b="0">
                <a:solidFill>
                  <a:srgbClr val="19364D"/>
                </a:solidFill>
                <a:latin typeface="Arial"/>
              </a:defRPr>
            </a:pPr>
            <a:r>
              <a:t>10 equal-width bins</a:t>
            </a:r>
          </a:p>
          <a:p>
            <a:pPr algn="l">
              <a:spcAft>
                <a:spcPts val="900"/>
              </a:spcAft>
              <a:defRPr sz="2100" b="0">
                <a:solidFill>
                  <a:srgbClr val="19364D"/>
                </a:solidFill>
                <a:latin typeface="Arial"/>
              </a:defRPr>
            </a:pPr>
            <a:r>
              <a:t>ECE: 0.0705</a:t>
            </a:r>
          </a:p>
          <a:p>
            <a:pPr algn="l">
              <a:spcAft>
                <a:spcPts val="900"/>
              </a:spcAft>
              <a:defRPr sz="2100" b="0">
                <a:solidFill>
                  <a:srgbClr val="19364D"/>
                </a:solidFill>
                <a:latin typeface="Arial"/>
              </a:defRPr>
            </a:pPr>
            <a:r>
              <a:t>Brier: 0.5879</a:t>
            </a:r>
          </a:p>
          <a:p>
            <a:pPr algn="l">
              <a:spcAft>
                <a:spcPts val="900"/>
              </a:spcAft>
              <a:defRPr sz="2100" b="0">
                <a:solidFill>
                  <a:srgbClr val="19364D"/>
                </a:solidFill>
                <a:latin typeface="Arial"/>
              </a:defRPr>
            </a:pPr>
            <a:r>
              <a:t>NLL: 1.1012</a:t>
            </a:r>
          </a:p>
          <a:p>
            <a:pPr algn="l">
              <a:spcAft>
                <a:spcPts val="900"/>
              </a:spcAft>
              <a:defRPr sz="2100" b="0">
                <a:solidFill>
                  <a:srgbClr val="19364D"/>
                </a:solidFill>
                <a:latin typeface="Arial"/>
              </a:defRPr>
            </a:pPr>
          </a:p>
          <a:p>
            <a:pPr algn="l">
              <a:spcAft>
                <a:spcPts val="900"/>
              </a:spcAft>
              <a:defRPr sz="2100" b="0">
                <a:solidFill>
                  <a:srgbClr val="19364D"/>
                </a:solidFill>
                <a:latin typeface="Arial"/>
              </a:defRPr>
            </a:pPr>
            <a:r>
              <a:t>Bin counts shown below the curve.</a:t>
            </a:r>
          </a:p>
        </p:txBody>
      </p:sp>
    </p:spTree>
    <p:extLst>
      <p:ext uri="{BB962C8B-B14F-4D97-AF65-F5344CB8AC3E}">
        <p14:creationId xmlns:p14="http://schemas.microsoft.com/office/powerpoint/2010/main" val="35924990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  <a:defRPr sz="2800" b="1">
                <a:solidFill>
                  <a:srgbClr val="0B2E4F"/>
                </a:solidFill>
                <a:latin typeface="Arial"/>
              </a:defRPr>
            </a:pPr>
            <a:r>
              <a:t>Appendix — Training Class Weights</a:t>
            </a:r>
            <a:endParaRPr lang="en-US" sz="3150" dirty="0"/>
          </a:p>
        </p:txBody>
      </p:sp>
      <p:sp>
        <p:nvSpPr>
          <p:cNvPr id="4" name="Rectangle 3"/>
          <p:cNvSpPr/>
          <p:nvPr/>
        </p:nvSpPr>
        <p:spPr>
          <a:xfrm>
            <a:off x="594360" y="1033271"/>
            <a:ext cx="11018520" cy="32004"/>
          </a:xfrm>
          <a:prstGeom prst="rect">
            <a:avLst/>
          </a:prstGeom>
          <a:solidFill>
            <a:srgbClr val="13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46520"/>
            <a:ext cx="10789920" cy="22860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60788A"/>
                </a:solidFill>
                <a:latin typeface="Arial"/>
              </a:defRPr>
            </a:pPr>
            <a:r>
              <a:t>Source: HMC-PPT-20261007-01 | class_weights.csv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19088"/>
            <a:ext cx="365760" cy="256032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60788A"/>
                </a:solidFill>
                <a:latin typeface="Arial"/>
              </a:defRPr>
            </a:pPr>
            <a:r>
              <a:t>36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554480"/>
          <a:ext cx="11018519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4680"/>
                <a:gridCol w="4114800"/>
                <a:gridCol w="3749039"/>
              </a:tblGrid>
              <a:tr h="586740">
                <a:tc>
                  <a:txBody>
                    <a:bodyPr/>
                    <a:lstStyle/>
                    <a:p>
                      <a:pPr>
                        <a:defRPr sz="2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Stage</a:t>
                      </a:r>
                    </a:p>
                  </a:txBody>
                  <a:tcPr marL="82296" marR="73152" marT="82296" marB="54864" anchor="ctr"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Training epochs</a:t>
                      </a:r>
                    </a:p>
                  </a:txBody>
                  <a:tcPr marL="82296" marR="73152" marT="82296" marB="54864" anchor="ctr"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Balanced weight</a:t>
                      </a:r>
                    </a:p>
                  </a:txBody>
                  <a:tcPr marL="82296" marR="73152" marT="82296" marB="54864" anchor="ctr">
                    <a:solidFill>
                      <a:srgbClr val="0B2E4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>
                        <a:defRPr sz="23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Wake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3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3,202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3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0.950406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>
                        <a:defRPr sz="23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N1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3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1,553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3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1.959562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>
                        <a:defRPr sz="23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N2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3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5,254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3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0.579216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>
                        <a:defRPr sz="23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N3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3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2,926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3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1.040055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>
                        <a:defRPr sz="23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REM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3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2,281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3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1.334152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5212080"/>
            <a:ext cx="10698480" cy="100584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900"/>
              </a:spcAft>
              <a:defRPr sz="2100" b="0">
                <a:solidFill>
                  <a:srgbClr val="19364D"/>
                </a:solidFill>
                <a:latin typeface="Arial"/>
              </a:defRPr>
            </a:pPr>
            <a:r>
              <a:t>wk = Ntraining / (5 × Nk)</a:t>
            </a:r>
          </a:p>
          <a:p>
            <a:pPr algn="l">
              <a:spcAft>
                <a:spcPts val="900"/>
              </a:spcAft>
              <a:defRPr sz="2100" b="0">
                <a:solidFill>
                  <a:srgbClr val="19364D"/>
                </a:solidFill>
                <a:latin typeface="Arial"/>
              </a:defRPr>
            </a:pPr>
            <a:r>
              <a:t>Balanced weights use training labels only; passed to model.fit(class_weight=...).</a:t>
            </a:r>
          </a:p>
        </p:txBody>
      </p:sp>
    </p:spTree>
    <p:extLst>
      <p:ext uri="{BB962C8B-B14F-4D97-AF65-F5344CB8AC3E}">
        <p14:creationId xmlns:p14="http://schemas.microsoft.com/office/powerpoint/2010/main" val="22132661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  <a:defRPr sz="2800" b="1">
                <a:solidFill>
                  <a:srgbClr val="0B2E4F"/>
                </a:solidFill>
                <a:latin typeface="Arial"/>
              </a:defRPr>
            </a:pPr>
            <a:r>
              <a:t>Appendix — Final Hyperparameters</a:t>
            </a:r>
            <a:endParaRPr lang="en-US" sz="3000" dirty="0"/>
          </a:p>
        </p:txBody>
      </p:sp>
      <p:sp>
        <p:nvSpPr>
          <p:cNvPr id="4" name="Rectangle 3"/>
          <p:cNvSpPr/>
          <p:nvPr/>
        </p:nvSpPr>
        <p:spPr>
          <a:xfrm>
            <a:off x="594360" y="1033271"/>
            <a:ext cx="11018520" cy="32004"/>
          </a:xfrm>
          <a:prstGeom prst="rect">
            <a:avLst/>
          </a:prstGeom>
          <a:solidFill>
            <a:srgbClr val="13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46520"/>
            <a:ext cx="10789920" cy="22860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60788A"/>
                </a:solidFill>
                <a:latin typeface="Arial"/>
              </a:defRPr>
            </a:pPr>
            <a:r>
              <a:t>Source: HMC-PPT-20261007-01 | hyperparameters.json, checkpoint_config.json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19088"/>
            <a:ext cx="365760" cy="256032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60788A"/>
                </a:solidFill>
                <a:latin typeface="Arial"/>
              </a:defRPr>
            </a:pPr>
            <a:r>
              <a:t>37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298448"/>
          <a:ext cx="1101852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6200"/>
                <a:gridCol w="7132320"/>
              </a:tblGrid>
              <a:tr h="50292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Setting</a:t>
                      </a:r>
                    </a:p>
                  </a:txBody>
                  <a:tcPr marL="82296" marR="73152" marT="82296" marB="54864" anchor="ctr"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Verified configuration</a:t>
                      </a:r>
                    </a:p>
                  </a:txBody>
                  <a:tcPr marL="82296" marR="73152" marT="82296" marB="54864" anchor="ctr">
                    <a:solidFill>
                      <a:srgbClr val="0B2E4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Optimizer / learning rate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Adam / 1 × 10⁻⁴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Batch / epoch limit / completed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128 / 10 / 10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Checkpoint selection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Maximum validation evidential accuracy; epoch 9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Early stopping / scheduler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Patience 5, restore best; not triggered / no scheduler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Dropout / evidence penalty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0.2 and 0.1 / coefficient 0.003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Label smoothing / class weighting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0.05 / balanced training-label weights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Seed provenance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Split seed 42; final training RNG state not recoverable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Hardware / versions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Training hardware not recorded; checkpoint Keras 3.13.2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25820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  <a:defRPr sz="2800" b="1">
                <a:solidFill>
                  <a:srgbClr val="0B2E4F"/>
                </a:solidFill>
                <a:latin typeface="Arial"/>
              </a:defRPr>
            </a:pPr>
            <a:r>
              <a:t>Appendix — Implemented Biomarker Equations</a:t>
            </a:r>
            <a:endParaRPr lang="en-US" sz="3000" dirty="0"/>
          </a:p>
        </p:txBody>
      </p:sp>
      <p:sp>
        <p:nvSpPr>
          <p:cNvPr id="4" name="Rectangle 3"/>
          <p:cNvSpPr/>
          <p:nvPr/>
        </p:nvSpPr>
        <p:spPr>
          <a:xfrm>
            <a:off x="594360" y="1033271"/>
            <a:ext cx="11018520" cy="32004"/>
          </a:xfrm>
          <a:prstGeom prst="rect">
            <a:avLst/>
          </a:prstGeom>
          <a:solidFill>
            <a:srgbClr val="13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46520"/>
            <a:ext cx="10789920" cy="22860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60788A"/>
                </a:solidFill>
                <a:latin typeface="Arial"/>
              </a:defRPr>
            </a:pPr>
            <a:r>
              <a:t>Source: HMC-PPT-20261007-01 | biomarker_equations.md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19088"/>
            <a:ext cx="365760" cy="256032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60788A"/>
                </a:solidFill>
                <a:latin typeface="Arial"/>
              </a:defRPr>
            </a:pPr>
            <a:r>
              <a:t>38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417320"/>
          <a:ext cx="110185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7909560"/>
              </a:tblGrid>
              <a:tr h="576072">
                <a:tc>
                  <a:txBody>
                    <a:bodyPr/>
                    <a:lstStyle/>
                    <a:p>
                      <a:pPr>
                        <a:defRPr sz="2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Measure</a:t>
                      </a:r>
                    </a:p>
                  </a:txBody>
                  <a:tcPr marL="82296" marR="73152" marT="82296" marB="54864" anchor="ctr"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Exact source equation</a:t>
                      </a:r>
                    </a:p>
                  </a:txBody>
                  <a:tcPr marL="82296" marR="73152" marT="82296" marB="54864" anchor="ctr">
                    <a:solidFill>
                      <a:srgbClr val="0B2E4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SE proxy (%)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100 × nsleep / N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WASO (min)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0.5 × Wake count between first and last sleep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N3 / all (%)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100 × nN3 / N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SFI (/sleep h)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Count({N2,N3,REM} → {Wake,N1}) / (nsleep / 120)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4645152"/>
            <a:ext cx="10698480" cy="128016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900"/>
              </a:spcAft>
              <a:defRPr sz="1900" b="0">
                <a:solidFill>
                  <a:srgbClr val="19364D"/>
                </a:solidFill>
                <a:latin typeface="Arial"/>
              </a:defRPr>
            </a:pPr>
            <a:r>
              <a:t>N: evaluated 30-second epochs; nsleep: non-Wake epochs; nN3: N3 epochs.</a:t>
            </a:r>
          </a:p>
          <a:p>
            <a:pPr algn="l">
              <a:spcAft>
                <a:spcPts val="900"/>
              </a:spcAft>
              <a:defRPr sz="1900" b="0">
                <a:solidFill>
                  <a:srgbClr val="19364D"/>
                </a:solidFill>
                <a:latin typeface="Arial"/>
              </a:defRPr>
            </a:pPr>
            <a:r>
              <a:t>WASO excludes trailing Wake; no-sleep WASO/SFI return 0 in source.</a:t>
            </a:r>
          </a:p>
          <a:p>
            <a:pPr algn="l">
              <a:spcAft>
                <a:spcPts val="900"/>
              </a:spcAft>
              <a:defRPr sz="1900" b="0">
                <a:solidFill>
                  <a:srgbClr val="19364D"/>
                </a:solidFill>
                <a:latin typeface="Arial"/>
              </a:defRPr>
            </a:pPr>
            <a:r>
              <a:t>No verified time-in-bed denominator. SFI is a stage-transition proxy, not micro-arousal scoring.</a:t>
            </a:r>
          </a:p>
        </p:txBody>
      </p:sp>
    </p:spTree>
    <p:extLst>
      <p:ext uri="{BB962C8B-B14F-4D97-AF65-F5344CB8AC3E}">
        <p14:creationId xmlns:p14="http://schemas.microsoft.com/office/powerpoint/2010/main" val="36999966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  <a:defRPr sz="2800" b="1">
                <a:solidFill>
                  <a:srgbClr val="0B2E4F"/>
                </a:solidFill>
                <a:latin typeface="Arial"/>
              </a:defRPr>
            </a:pPr>
            <a:r>
              <a:t>Appendix — Weighted Viterbi Details</a:t>
            </a:r>
            <a:endParaRPr lang="en-US" sz="3000" dirty="0"/>
          </a:p>
        </p:txBody>
      </p:sp>
      <p:sp>
        <p:nvSpPr>
          <p:cNvPr id="4" name="Rectangle 3"/>
          <p:cNvSpPr/>
          <p:nvPr/>
        </p:nvSpPr>
        <p:spPr>
          <a:xfrm>
            <a:off x="594360" y="1033271"/>
            <a:ext cx="11018520" cy="32004"/>
          </a:xfrm>
          <a:prstGeom prst="rect">
            <a:avLst/>
          </a:prstGeom>
          <a:solidFill>
            <a:srgbClr val="13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46520"/>
            <a:ext cx="10789920" cy="22860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60788A"/>
                </a:solidFill>
                <a:latin typeface="Arial"/>
              </a:defRPr>
            </a:pPr>
            <a:r>
              <a:t>Source: HMC-PPT-20261007-01 | soft_viterbi_pseudocode.txt, transition_config.json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19088"/>
            <a:ext cx="365760" cy="256032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60788A"/>
                </a:solidFill>
                <a:latin typeface="Arial"/>
              </a:defRPr>
            </a:pPr>
            <a:r>
              <a:t>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10698480" cy="150876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900"/>
              </a:spcAft>
              <a:defRPr sz="2300" b="0">
                <a:solidFill>
                  <a:srgbClr val="0B2E4F"/>
                </a:solidFill>
                <a:latin typeface="Arial"/>
              </a:defRPr>
            </a:pPr>
            <a:r>
              <a:t>Aij = (1 + training transitions i→j) / row sum</a:t>
            </a:r>
          </a:p>
          <a:p>
            <a:pPr algn="l">
              <a:spcAft>
                <a:spcPts val="900"/>
              </a:spcAft>
              <a:defRPr sz="2300" b="0">
                <a:solidFill>
                  <a:srgbClr val="0B2E4F"/>
                </a:solidFill>
                <a:latin typeface="Arial"/>
              </a:defRPr>
            </a:pPr>
            <a:r>
              <a:t>πj = (1 + training countj) / (5 + Ntraining)</a:t>
            </a:r>
          </a:p>
          <a:p>
            <a:pPr algn="l">
              <a:spcAft>
                <a:spcPts val="900"/>
              </a:spcAft>
              <a:defRPr sz="2300" b="0">
                <a:solidFill>
                  <a:srgbClr val="0B2E4F"/>
                </a:solidFill>
                <a:latin typeface="Arial"/>
              </a:defRPr>
            </a:pPr>
            <a:r>
              <a:t>ptj = (etj + 1) / Σk(etk + 1)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127248"/>
            <a:ext cx="10698480" cy="155448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900"/>
              </a:spcAft>
              <a:defRPr sz="2300" b="0">
                <a:solidFill>
                  <a:srgbClr val="19364D"/>
                </a:solidFill>
                <a:latin typeface="Arial"/>
              </a:defRPr>
            </a:pPr>
            <a:r>
              <a:t>D0j = log(πj + ε) + 0.9 log(p0j + ε)</a:t>
            </a:r>
          </a:p>
          <a:p>
            <a:pPr algn="l">
              <a:spcAft>
                <a:spcPts val="900"/>
              </a:spcAft>
              <a:defRPr sz="2300" b="0">
                <a:solidFill>
                  <a:srgbClr val="19364D"/>
                </a:solidFill>
                <a:latin typeface="Arial"/>
              </a:defRPr>
            </a:pPr>
            <a:r>
              <a:t>Dtj = maxi[Dt−1,i + log(Aij + ε)] + 0.9 log(ptj + ε)</a:t>
            </a:r>
          </a:p>
          <a:p>
            <a:pPr algn="l">
              <a:spcAft>
                <a:spcPts val="900"/>
              </a:spcAft>
              <a:defRPr sz="2300" b="0">
                <a:solidFill>
                  <a:srgbClr val="19364D"/>
                </a:solidFill>
                <a:latin typeface="Arial"/>
              </a:defRPr>
            </a:pPr>
            <a:r>
              <a:t>Store argmax predecessors; backtrack from argmaxj DT−1,j.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983480"/>
            <a:ext cx="10698480" cy="109728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900"/>
              </a:spcAft>
              <a:defRPr sz="1900" b="0">
                <a:solidFill>
                  <a:srgbClr val="19364D"/>
                </a:solidFill>
                <a:latin typeface="Arial"/>
              </a:defRPr>
            </a:pPr>
            <a:r>
              <a:t>ε = 10⁻¹²; training-only transitions; class order Wake/N1/N2/N3/REM.</a:t>
            </a:r>
          </a:p>
          <a:p>
            <a:pPr algn="l">
              <a:spcAft>
                <a:spcPts val="900"/>
              </a:spcAft>
              <a:defRPr sz="1900" b="0">
                <a:solidFill>
                  <a:srgbClr val="19364D"/>
                </a:solidFill>
                <a:latin typeface="Arial"/>
              </a:defRPr>
            </a:pPr>
            <a:r>
              <a:t>Restart at each recording or missing-epoch gap. This is weighted MAP Viterbi, not differentiable soft-DP.</a:t>
            </a:r>
          </a:p>
        </p:txBody>
      </p:sp>
    </p:spTree>
    <p:extLst>
      <p:ext uri="{BB962C8B-B14F-4D97-AF65-F5344CB8AC3E}">
        <p14:creationId xmlns:p14="http://schemas.microsoft.com/office/powerpoint/2010/main" val="28186824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  <a:defRPr sz="2800" b="1">
                <a:solidFill>
                  <a:srgbClr val="0B2E4F"/>
                </a:solidFill>
                <a:latin typeface="Arial"/>
              </a:defRPr>
            </a:pPr>
            <a:r>
              <a:t>Appendix — Additional Test Hypnograms</a:t>
            </a:r>
            <a:endParaRPr lang="en-US" sz="3000" dirty="0"/>
          </a:p>
        </p:txBody>
      </p:sp>
      <p:sp>
        <p:nvSpPr>
          <p:cNvPr id="4" name="Rectangle 3"/>
          <p:cNvSpPr/>
          <p:nvPr/>
        </p:nvSpPr>
        <p:spPr>
          <a:xfrm>
            <a:off x="594360" y="1033271"/>
            <a:ext cx="11018520" cy="32004"/>
          </a:xfrm>
          <a:prstGeom prst="rect">
            <a:avLst/>
          </a:prstGeom>
          <a:solidFill>
            <a:srgbClr val="13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46520"/>
            <a:ext cx="10789920" cy="22860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60788A"/>
                </a:solidFill>
                <a:latin typeface="Arial"/>
              </a:defRPr>
            </a:pPr>
            <a:r>
              <a:t>Source: HMC-PPT-20261007-01 | test_epoch_predictions.csv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19088"/>
            <a:ext cx="365760" cy="256032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60788A"/>
                </a:solidFill>
                <a:latin typeface="Arial"/>
              </a:defRPr>
            </a:pPr>
            <a:r>
              <a:t>40</a:t>
            </a:r>
          </a:p>
        </p:txBody>
      </p:sp>
      <p:pic>
        <p:nvPicPr>
          <p:cNvPr id="7" name="Picture 6" descr="additional_hypnogra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610" y="1143000"/>
            <a:ext cx="10934298" cy="5193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5038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  <a:defRPr sz="2800" b="1">
                <a:solidFill>
                  <a:srgbClr val="0B2E4F"/>
                </a:solidFill>
                <a:latin typeface="Arial"/>
              </a:defRPr>
            </a:pPr>
            <a:r>
              <a:t>Appendix — Related Literature</a:t>
            </a:r>
            <a:endParaRPr lang="en-US" sz="3000" dirty="0"/>
          </a:p>
        </p:txBody>
      </p:sp>
      <p:sp>
        <p:nvSpPr>
          <p:cNvPr id="4" name="Rectangle 3"/>
          <p:cNvSpPr/>
          <p:nvPr/>
        </p:nvSpPr>
        <p:spPr>
          <a:xfrm>
            <a:off x="594360" y="1033271"/>
            <a:ext cx="11018520" cy="32004"/>
          </a:xfrm>
          <a:prstGeom prst="rect">
            <a:avLst/>
          </a:prstGeom>
          <a:solidFill>
            <a:srgbClr val="13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46520"/>
            <a:ext cx="10789920" cy="22860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60788A"/>
                </a:solidFill>
                <a:latin typeface="Arial"/>
              </a:defRPr>
            </a:pPr>
            <a:r>
              <a:t>Source: HMC-PPT-20261007-01 | literature_comparison.csv, references.txt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19088"/>
            <a:ext cx="365760" cy="256032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60788A"/>
                </a:solidFill>
                <a:latin typeface="Arial"/>
              </a:defRPr>
            </a:pPr>
            <a:r>
              <a:t>41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371600"/>
          <a:ext cx="1101852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2011680"/>
                <a:gridCol w="2148840"/>
                <a:gridCol w="2468880"/>
                <a:gridCol w="2057400"/>
              </a:tblGrid>
              <a:tr h="66294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Study</a:t>
                      </a:r>
                    </a:p>
                  </a:txBody>
                  <a:tcPr marL="82296" marR="73152" marT="82296" marB="54864" anchor="ctr"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Dataset</a:t>
                      </a:r>
                    </a:p>
                  </a:txBody>
                  <a:tcPr marL="82296" marR="73152" marT="82296" marB="54864" anchor="ctr"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Modality</a:t>
                      </a:r>
                    </a:p>
                  </a:txBody>
                  <a:tcPr marL="82296" marR="73152" marT="82296" marB="54864" anchor="ctr"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Protocol</a:t>
                      </a:r>
                    </a:p>
                  </a:txBody>
                  <a:tcPr marL="82296" marR="73152" marT="82296" marB="54864" anchor="ctr"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Accuracy / macro F1</a:t>
                      </a:r>
                    </a:p>
                  </a:txBody>
                  <a:tcPr marL="82296" marR="73152" marT="82296" marB="54864" anchor="ctr">
                    <a:solidFill>
                      <a:srgbClr val="0B2E4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SeqSleepNet [1]</a:t>
                      </a:r>
                    </a:p>
                    <a:p>
                      <a:pPr>
                        <a:defRPr sz="17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2019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MASS; 200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EEG+EOG+EMG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20-fold subject CV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87.10% / 83.30%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DeepSleepNet [2]</a:t>
                      </a:r>
                    </a:p>
                    <a:p>
                      <a:pPr>
                        <a:defRPr sz="17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2017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Sleep-EDF; 20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EEG Fpz–Cz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20-fold subject CV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82.00% / 76.90%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Current raw model</a:t>
                      </a:r>
                    </a:p>
                    <a:p>
                      <a:pPr>
                        <a:defRPr sz="17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2026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HMC subset; 24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Four-channel EEG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Fixed 16/4/4 split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53.75% / 55.12%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4434840"/>
            <a:ext cx="10698480" cy="160020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900"/>
              </a:spcAft>
              <a:defRPr sz="1800" b="0">
                <a:solidFill>
                  <a:srgbClr val="19364D"/>
                </a:solidFill>
                <a:latin typeface="Arial"/>
              </a:defRPr>
            </a:pPr>
            <a:r>
              <a:t>Context only: different datasets, modalities and split protocols prevent direct ranking.</a:t>
            </a:r>
          </a:p>
          <a:p>
            <a:pPr algn="l">
              <a:spcAft>
                <a:spcPts val="900"/>
              </a:spcAft>
              <a:defRPr sz="1800" b="0">
                <a:solidFill>
                  <a:srgbClr val="19364D"/>
                </a:solidFill>
                <a:latin typeface="Arial"/>
              </a:defRPr>
            </a:pPr>
            <a:r>
              <a:t>[1] DOI: 10.1109/TNSRE.2019.2896659</a:t>
            </a:r>
          </a:p>
          <a:p>
            <a:pPr algn="l">
              <a:spcAft>
                <a:spcPts val="900"/>
              </a:spcAft>
              <a:defRPr sz="1800" b="0">
                <a:solidFill>
                  <a:srgbClr val="19364D"/>
                </a:solidFill>
                <a:latin typeface="Arial"/>
              </a:defRPr>
            </a:pPr>
            <a:r>
              <a:t>[2] DOI: 10.1109/TNSRE.2017.2721116</a:t>
            </a:r>
          </a:p>
          <a:p>
            <a:pPr algn="l">
              <a:spcAft>
                <a:spcPts val="900"/>
              </a:spcAft>
              <a:defRPr sz="1800" b="0">
                <a:solidFill>
                  <a:srgbClr val="19364D"/>
                </a:solidFill>
                <a:latin typeface="Arial"/>
              </a:defRPr>
            </a:pPr>
            <a:r>
              <a:t>HMC dataset: DOI 10.13026/t79q-fr32. Full sources and protocols in references.txt.</a:t>
            </a:r>
          </a:p>
        </p:txBody>
      </p:sp>
    </p:spTree>
    <p:extLst>
      <p:ext uri="{BB962C8B-B14F-4D97-AF65-F5344CB8AC3E}">
        <p14:creationId xmlns:p14="http://schemas.microsoft.com/office/powerpoint/2010/main" val="3355814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DA8D70E-88D2-49B7-A821-30108B4650D3}">
  <we:reference id="wa200010215" version="2.0.0.1" store="en-US" storeType="OMEX"/>
  <we:alternateReferences>
    <we:reference id="wa200010215" version="2.0.0.1" store="wa200010215" storeType="OMEX"/>
  </we:alternateReferences>
  <we:properties>
    <we:property name="bps.codex_control.document_id" value="&quot;1c90a05f-de37-42be-acfa-9e09005c8d8b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1234</TotalTime>
  <Words>2415</Words>
  <Application>Microsoft Office PowerPoint</Application>
  <PresentationFormat>Widescreen</PresentationFormat>
  <Paragraphs>567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Rikin Parekh</dc:creator>
  <cp:lastModifiedBy>Rikin Parekh</cp:lastModifiedBy>
  <cp:revision>2</cp:revision>
  <dcterms:created xsi:type="dcterms:W3CDTF">2026-10-06T10:13:05Z</dcterms:created>
  <dcterms:modified xsi:type="dcterms:W3CDTF">2026-10-07T06:47:18Z</dcterms:modified>
</cp:coreProperties>
</file>