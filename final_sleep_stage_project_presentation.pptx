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6eee6c7ade40c1" /><Relationship Type="http://schemas.openxmlformats.org/officeDocument/2006/relationships/extended-properties" Target="/docProps/app.xml" Id="R673b156d4ebc4f5c" /><Relationship Type="http://schemas.openxmlformats.org/officeDocument/2006/relationships/officeDocument" Target="/ppt/presentation.xml" Id="R585e7a10e62442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e1f7ed279549ca"/>
  </p:sldMasterIdLst>
  <p:notesMasterIdLst>
    <p:notesMasterId xmlns:r="http://schemas.openxmlformats.org/officeDocument/2006/relationships" r:id="R15b5684f662144b4"/>
  </p:notesMasterIdLst>
  <p:sldIdLst>
    <p:sldId xmlns:r="http://schemas.openxmlformats.org/officeDocument/2006/relationships" id="256" r:id="R5f02ad766f2b4ed2"/>
    <p:sldId xmlns:r="http://schemas.openxmlformats.org/officeDocument/2006/relationships" id="257" r:id="R39734f16493e4c0f"/>
    <p:sldId xmlns:r="http://schemas.openxmlformats.org/officeDocument/2006/relationships" id="258" r:id="Rd4773462df414c79"/>
    <p:sldId xmlns:r="http://schemas.openxmlformats.org/officeDocument/2006/relationships" id="259" r:id="R470cab7b8982408e"/>
    <p:sldId xmlns:r="http://schemas.openxmlformats.org/officeDocument/2006/relationships" id="260" r:id="Re668e747f7624a12"/>
    <p:sldId xmlns:r="http://schemas.openxmlformats.org/officeDocument/2006/relationships" id="261" r:id="Re03f9860da484f4f"/>
    <p:sldId xmlns:r="http://schemas.openxmlformats.org/officeDocument/2006/relationships" id="262" r:id="R6c84090234b141e4"/>
    <p:sldId xmlns:r="http://schemas.openxmlformats.org/officeDocument/2006/relationships" id="263" r:id="R61873d10f8904e5c"/>
    <p:sldId xmlns:r="http://schemas.openxmlformats.org/officeDocument/2006/relationships" id="264" r:id="Re58022c0ac8b4238"/>
    <p:sldId xmlns:r="http://schemas.openxmlformats.org/officeDocument/2006/relationships" id="265" r:id="R34e38755aaf845f2"/>
    <p:sldId xmlns:r="http://schemas.openxmlformats.org/officeDocument/2006/relationships" id="266" r:id="Re4d852a5d773484c"/>
    <p:sldId xmlns:r="http://schemas.openxmlformats.org/officeDocument/2006/relationships" id="267" r:id="Rb326881cebeb4eed"/>
    <p:sldId xmlns:r="http://schemas.openxmlformats.org/officeDocument/2006/relationships" id="268" r:id="Ra1ddc67b51914ed7"/>
    <p:sldId xmlns:r="http://schemas.openxmlformats.org/officeDocument/2006/relationships" id="269" r:id="R67accc83e2b94a28"/>
    <p:sldId xmlns:r="http://schemas.openxmlformats.org/officeDocument/2006/relationships" id="270" r:id="R25d08cc0631d4747"/>
    <p:sldId xmlns:r="http://schemas.openxmlformats.org/officeDocument/2006/relationships" id="271" r:id="R9479516d5e754838"/>
    <p:sldId xmlns:r="http://schemas.openxmlformats.org/officeDocument/2006/relationships" id="272" r:id="Ra665d06b0d8f40f0"/>
    <p:sldId xmlns:r="http://schemas.openxmlformats.org/officeDocument/2006/relationships" id="273" r:id="R4e6bdcfadc064ec7"/>
    <p:sldId xmlns:r="http://schemas.openxmlformats.org/officeDocument/2006/relationships" id="274" r:id="R4ae002c6984440eb"/>
    <p:sldId xmlns:r="http://schemas.openxmlformats.org/officeDocument/2006/relationships" id="275" r:id="R1e9129cf0df44359"/>
    <p:sldId xmlns:r="http://schemas.openxmlformats.org/officeDocument/2006/relationships" id="276" r:id="Rabd72ee595774e38"/>
    <p:sldId xmlns:r="http://schemas.openxmlformats.org/officeDocument/2006/relationships" id="277" r:id="R4f118ff7fe034e1b"/>
    <p:sldId xmlns:r="http://schemas.openxmlformats.org/officeDocument/2006/relationships" id="278" r:id="R98aef1f899a94bdb"/>
    <p:sldId xmlns:r="http://schemas.openxmlformats.org/officeDocument/2006/relationships" id="279" r:id="Ra347bde73448460e"/>
    <p:sldId xmlns:r="http://schemas.openxmlformats.org/officeDocument/2006/relationships" id="280" r:id="Rafd3090dd43740a2"/>
    <p:sldId xmlns:r="http://schemas.openxmlformats.org/officeDocument/2006/relationships" id="281" r:id="R6d7272f0f5064822"/>
    <p:sldId xmlns:r="http://schemas.openxmlformats.org/officeDocument/2006/relationships" id="282" r:id="R4c391b6417044e9c"/>
    <p:sldId xmlns:r="http://schemas.openxmlformats.org/officeDocument/2006/relationships" id="283" r:id="Rb864441710334ffe"/>
    <p:sldId xmlns:r="http://schemas.openxmlformats.org/officeDocument/2006/relationships" id="284" r:id="R8e56255a60b14968"/>
    <p:sldId xmlns:r="http://schemas.openxmlformats.org/officeDocument/2006/relationships" id="285" r:id="R1f256d99022446fd"/>
    <p:sldId xmlns:r="http://schemas.openxmlformats.org/officeDocument/2006/relationships" id="286" r:id="R19f0ea8382e54939"/>
    <p:sldId xmlns:r="http://schemas.openxmlformats.org/officeDocument/2006/relationships" id="287" r:id="R1cbfa764585f491d"/>
    <p:sldId xmlns:r="http://schemas.openxmlformats.org/officeDocument/2006/relationships" id="288" r:id="R5d9b8cae5bec4d20"/>
    <p:sldId xmlns:r="http://schemas.openxmlformats.org/officeDocument/2006/relationships" id="289" r:id="Rae2f65d5dee447d9"/>
    <p:sldId xmlns:r="http://schemas.openxmlformats.org/officeDocument/2006/relationships" id="290" r:id="Rf21eb42e2d954892"/>
    <p:sldId xmlns:r="http://schemas.openxmlformats.org/officeDocument/2006/relationships" id="291" r:id="R64f5b5fc8d714dd7"/>
    <p:sldId xmlns:r="http://schemas.openxmlformats.org/officeDocument/2006/relationships" id="292" r:id="R3d00d8ff5b4448c9"/>
    <p:sldId xmlns:r="http://schemas.openxmlformats.org/officeDocument/2006/relationships" id="293" r:id="Rca9967ff82dc44aa"/>
    <p:sldId xmlns:r="http://schemas.openxmlformats.org/officeDocument/2006/relationships" id="294" r:id="R9e0615ef763f4733"/>
    <p:sldId xmlns:r="http://schemas.openxmlformats.org/officeDocument/2006/relationships" id="295" r:id="Rac770acfa3fc4098"/>
    <p:sldId xmlns:r="http://schemas.openxmlformats.org/officeDocument/2006/relationships" id="296" r:id="Re46f5c8c392642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47b0268f134978" /><Relationship Type="http://schemas.openxmlformats.org/officeDocument/2006/relationships/slideMaster" Target="/ppt/slideMasters/slideMaster1.xml" Id="R7ae1f7ed279549ca" /><Relationship Type="http://schemas.openxmlformats.org/officeDocument/2006/relationships/notesMaster" Target="/ppt/notesMasters/notesMaster1.xml" Id="R15b5684f662144b4" /><Relationship Type="http://schemas.openxmlformats.org/officeDocument/2006/relationships/presProps" Target="/ppt/presProps.xml" Id="Rf9562e432b3e4b31" /><Relationship Type="http://schemas.openxmlformats.org/officeDocument/2006/relationships/viewProps" Target="/ppt/viewProps.xml" Id="Rd5e4e5da87c34447" /><Relationship Type="http://schemas.openxmlformats.org/officeDocument/2006/relationships/tableStyles" Target="/ppt/tableStyles.xml" Id="R61c5e556218f45e4" /><Relationship Type="http://schemas.openxmlformats.org/officeDocument/2006/relationships/slide" Target="/ppt/slides/slide1.xml" Id="R5f02ad766f2b4ed2" /><Relationship Type="http://schemas.openxmlformats.org/officeDocument/2006/relationships/slide" Target="/ppt/slides/slide2.xml" Id="R39734f16493e4c0f" /><Relationship Type="http://schemas.openxmlformats.org/officeDocument/2006/relationships/slide" Target="/ppt/slides/slide3.xml" Id="Rd4773462df414c79" /><Relationship Type="http://schemas.openxmlformats.org/officeDocument/2006/relationships/slide" Target="/ppt/slides/slide4.xml" Id="R470cab7b8982408e" /><Relationship Type="http://schemas.openxmlformats.org/officeDocument/2006/relationships/slide" Target="/ppt/slides/slide5.xml" Id="Re668e747f7624a12" /><Relationship Type="http://schemas.openxmlformats.org/officeDocument/2006/relationships/slide" Target="/ppt/slides/slide6.xml" Id="Re03f9860da484f4f" /><Relationship Type="http://schemas.openxmlformats.org/officeDocument/2006/relationships/slide" Target="/ppt/slides/slide7.xml" Id="R6c84090234b141e4" /><Relationship Type="http://schemas.openxmlformats.org/officeDocument/2006/relationships/slide" Target="/ppt/slides/slide8.xml" Id="R61873d10f8904e5c" /><Relationship Type="http://schemas.openxmlformats.org/officeDocument/2006/relationships/slide" Target="/ppt/slides/slide9.xml" Id="Re58022c0ac8b4238" /><Relationship Type="http://schemas.openxmlformats.org/officeDocument/2006/relationships/slide" Target="/ppt/slides/slide10.xml" Id="R34e38755aaf845f2" /><Relationship Type="http://schemas.openxmlformats.org/officeDocument/2006/relationships/slide" Target="/ppt/slides/slide11.xml" Id="Re4d852a5d773484c" /><Relationship Type="http://schemas.openxmlformats.org/officeDocument/2006/relationships/slide" Target="/ppt/slides/slide12.xml" Id="Rb326881cebeb4eed" /><Relationship Type="http://schemas.openxmlformats.org/officeDocument/2006/relationships/slide" Target="/ppt/slides/slide13.xml" Id="Ra1ddc67b51914ed7" /><Relationship Type="http://schemas.openxmlformats.org/officeDocument/2006/relationships/slide" Target="/ppt/slides/slide14.xml" Id="R67accc83e2b94a28" /><Relationship Type="http://schemas.openxmlformats.org/officeDocument/2006/relationships/slide" Target="/ppt/slides/slide15.xml" Id="R25d08cc0631d4747" /><Relationship Type="http://schemas.openxmlformats.org/officeDocument/2006/relationships/slide" Target="/ppt/slides/slide16.xml" Id="R9479516d5e754838" /><Relationship Type="http://schemas.openxmlformats.org/officeDocument/2006/relationships/slide" Target="/ppt/slides/slide17.xml" Id="Ra665d06b0d8f40f0" /><Relationship Type="http://schemas.openxmlformats.org/officeDocument/2006/relationships/slide" Target="/ppt/slides/slide18.xml" Id="R4e6bdcfadc064ec7" /><Relationship Type="http://schemas.openxmlformats.org/officeDocument/2006/relationships/slide" Target="/ppt/slides/slide19.xml" Id="R4ae002c6984440eb" /><Relationship Type="http://schemas.openxmlformats.org/officeDocument/2006/relationships/slide" Target="/ppt/slides/slide20.xml" Id="R1e9129cf0df44359" /><Relationship Type="http://schemas.openxmlformats.org/officeDocument/2006/relationships/slide" Target="/ppt/slides/slide21.xml" Id="Rabd72ee595774e38" /><Relationship Type="http://schemas.openxmlformats.org/officeDocument/2006/relationships/slide" Target="/ppt/slides/slide22.xml" Id="R4f118ff7fe034e1b" /><Relationship Type="http://schemas.openxmlformats.org/officeDocument/2006/relationships/slide" Target="/ppt/slides/slide23.xml" Id="R98aef1f899a94bdb" /><Relationship Type="http://schemas.openxmlformats.org/officeDocument/2006/relationships/slide" Target="/ppt/slides/slide24.xml" Id="Ra347bde73448460e" /><Relationship Type="http://schemas.openxmlformats.org/officeDocument/2006/relationships/slide" Target="/ppt/slides/slide25.xml" Id="Rafd3090dd43740a2" /><Relationship Type="http://schemas.openxmlformats.org/officeDocument/2006/relationships/slide" Target="/ppt/slides/slide26.xml" Id="R6d7272f0f5064822" /><Relationship Type="http://schemas.openxmlformats.org/officeDocument/2006/relationships/slide" Target="/ppt/slides/slide27.xml" Id="R4c391b6417044e9c" /><Relationship Type="http://schemas.openxmlformats.org/officeDocument/2006/relationships/slide" Target="/ppt/slides/slide28.xml" Id="Rb864441710334ffe" /><Relationship Type="http://schemas.openxmlformats.org/officeDocument/2006/relationships/slide" Target="/ppt/slides/slide29.xml" Id="R8e56255a60b14968" /><Relationship Type="http://schemas.openxmlformats.org/officeDocument/2006/relationships/slide" Target="/ppt/slides/slide30.xml" Id="R1f256d99022446fd" /><Relationship Type="http://schemas.openxmlformats.org/officeDocument/2006/relationships/slide" Target="/ppt/slides/slide31.xml" Id="R19f0ea8382e54939" /><Relationship Type="http://schemas.openxmlformats.org/officeDocument/2006/relationships/slide" Target="/ppt/slides/slide32.xml" Id="R1cbfa764585f491d" /><Relationship Type="http://schemas.openxmlformats.org/officeDocument/2006/relationships/slide" Target="/ppt/slides/slide33.xml" Id="R5d9b8cae5bec4d20" /><Relationship Type="http://schemas.openxmlformats.org/officeDocument/2006/relationships/slide" Target="/ppt/slides/slide34.xml" Id="Rae2f65d5dee447d9" /><Relationship Type="http://schemas.openxmlformats.org/officeDocument/2006/relationships/slide" Target="/ppt/slides/slide35.xml" Id="Rf21eb42e2d954892" /><Relationship Type="http://schemas.openxmlformats.org/officeDocument/2006/relationships/slide" Target="/ppt/slides/slide36.xml" Id="R64f5b5fc8d714dd7" /><Relationship Type="http://schemas.openxmlformats.org/officeDocument/2006/relationships/slide" Target="/ppt/slides/slide37.xml" Id="R3d00d8ff5b4448c9" /><Relationship Type="http://schemas.openxmlformats.org/officeDocument/2006/relationships/slide" Target="/ppt/slides/slide38.xml" Id="Rca9967ff82dc44aa" /><Relationship Type="http://schemas.openxmlformats.org/officeDocument/2006/relationships/slide" Target="/ppt/slides/slide39.xml" Id="R9e0615ef763f4733" /><Relationship Type="http://schemas.openxmlformats.org/officeDocument/2006/relationships/slide" Target="/ppt/slides/slide40.xml" Id="Rac770acfa3fc4098" /><Relationship Type="http://schemas.openxmlformats.org/officeDocument/2006/relationships/slide" Target="/ppt/slides/slide41.xml" Id="Re46f5c8c392642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26eea3607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f015fefeb4b59" /><Relationship Type="http://schemas.openxmlformats.org/officeDocument/2006/relationships/notesMaster" Target="/ppt/notesMasters/notesMaster1.xml" Id="R6e5428a386884e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b1d586c624b49" /><Relationship Type="http://schemas.openxmlformats.org/officeDocument/2006/relationships/notesMaster" Target="/ppt/notesMasters/notesMaster1.xml" Id="R35cdf193eb3041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573fe4f12049e6" /><Relationship Type="http://schemas.openxmlformats.org/officeDocument/2006/relationships/notesMaster" Target="/ppt/notesMasters/notesMaster1.xml" Id="Ra57ccd8b21a845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1135c367f4e77" /><Relationship Type="http://schemas.openxmlformats.org/officeDocument/2006/relationships/notesMaster" Target="/ppt/notesMasters/notesMaster1.xml" Id="R42e22c17ffc64a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ec2c1b8b842bc" /><Relationship Type="http://schemas.openxmlformats.org/officeDocument/2006/relationships/notesMaster" Target="/ppt/notesMasters/notesMaster1.xml" Id="R5db6eb473c76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d4554b384849a9" /><Relationship Type="http://schemas.openxmlformats.org/officeDocument/2006/relationships/notesMaster" Target="/ppt/notesMasters/notesMaster1.xml" Id="R80b5f8cdf961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69855c71e24c55" /><Relationship Type="http://schemas.openxmlformats.org/officeDocument/2006/relationships/notesMaster" Target="/ppt/notesMasters/notesMaster1.xml" Id="R70752bc3ea5d40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0f745ce8dc45ed" /><Relationship Type="http://schemas.openxmlformats.org/officeDocument/2006/relationships/notesMaster" Target="/ppt/notesMasters/notesMaster1.xml" Id="R2116b4cba1b14d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c33501eec648a1" /><Relationship Type="http://schemas.openxmlformats.org/officeDocument/2006/relationships/notesMaster" Target="/ppt/notesMasters/notesMaster1.xml" Id="Re74ad78c47ec4b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64386ddc0c448d" /><Relationship Type="http://schemas.openxmlformats.org/officeDocument/2006/relationships/notesMaster" Target="/ppt/notesMasters/notesMaster1.xml" Id="R4df10d5ff99740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a870266ba54a0e" /><Relationship Type="http://schemas.openxmlformats.org/officeDocument/2006/relationships/notesMaster" Target="/ppt/notesMasters/notesMaster1.xml" Id="Rd23f6d35f5b548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471c65b76b4dd4" /><Relationship Type="http://schemas.openxmlformats.org/officeDocument/2006/relationships/notesMaster" Target="/ppt/notesMasters/notesMaster1.xml" Id="R904262ce0dbf49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ca9951cd444f0c" /><Relationship Type="http://schemas.openxmlformats.org/officeDocument/2006/relationships/notesMaster" Target="/ppt/notesMasters/notesMaster1.xml" Id="R6b9b1edf86da4e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763cbc20a44874" /><Relationship Type="http://schemas.openxmlformats.org/officeDocument/2006/relationships/notesMaster" Target="/ppt/notesMasters/notesMaster1.xml" Id="Rf2e2dac02a3c4b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5c11fe76ae4b94" /><Relationship Type="http://schemas.openxmlformats.org/officeDocument/2006/relationships/notesMaster" Target="/ppt/notesMasters/notesMaster1.xml" Id="R07ce86f158e14d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1cef9cf50140d4" /><Relationship Type="http://schemas.openxmlformats.org/officeDocument/2006/relationships/notesMaster" Target="/ppt/notesMasters/notesMaster1.xml" Id="Rdef991a93d7643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612810e6094447" /><Relationship Type="http://schemas.openxmlformats.org/officeDocument/2006/relationships/notesMaster" Target="/ppt/notesMasters/notesMaster1.xml" Id="Ra65183025f1b42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c8d7d473274ea5" /><Relationship Type="http://schemas.openxmlformats.org/officeDocument/2006/relationships/notesMaster" Target="/ppt/notesMasters/notesMaster1.xml" Id="R324083d176c440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aeebb13dc94006" /><Relationship Type="http://schemas.openxmlformats.org/officeDocument/2006/relationships/notesMaster" Target="/ppt/notesMasters/notesMaster1.xml" Id="Rce5534952d74417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1b53fe501d48f0" /><Relationship Type="http://schemas.openxmlformats.org/officeDocument/2006/relationships/notesMaster" Target="/ppt/notesMasters/notesMaster1.xml" Id="R1b2e1ba937fe49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372607813246ee" /><Relationship Type="http://schemas.openxmlformats.org/officeDocument/2006/relationships/notesMaster" Target="/ppt/notesMasters/notesMaster1.xml" Id="R15c69ebc0b854e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314ac0626a488e" /><Relationship Type="http://schemas.openxmlformats.org/officeDocument/2006/relationships/notesMaster" Target="/ppt/notesMasters/notesMaster1.xml" Id="R961814952f0047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493c996310422e" /><Relationship Type="http://schemas.openxmlformats.org/officeDocument/2006/relationships/notesMaster" Target="/ppt/notesMasters/notesMaster1.xml" Id="Rfaafb372270f4e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e601d443d4484e" /><Relationship Type="http://schemas.openxmlformats.org/officeDocument/2006/relationships/notesMaster" Target="/ppt/notesMasters/notesMaster1.xml" Id="R2a47dd40e76e45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d3016ac74f9401b" /><Relationship Type="http://schemas.openxmlformats.org/officeDocument/2006/relationships/notesMaster" Target="/ppt/notesMasters/notesMaster1.xml" Id="R948cfcecaae845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092ca8ad3e4e5f" /><Relationship Type="http://schemas.openxmlformats.org/officeDocument/2006/relationships/notesMaster" Target="/ppt/notesMasters/notesMaster1.xml" Id="R8a297c2ff2c94b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18ac97b2804539" /><Relationship Type="http://schemas.openxmlformats.org/officeDocument/2006/relationships/notesMaster" Target="/ppt/notesMasters/notesMaster1.xml" Id="R37dbcfe199df458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b92cd545cb849dd" /><Relationship Type="http://schemas.openxmlformats.org/officeDocument/2006/relationships/notesMaster" Target="/ppt/notesMasters/notesMaster1.xml" Id="R02c3f6298f2c40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7746e7828f4a3e" /><Relationship Type="http://schemas.openxmlformats.org/officeDocument/2006/relationships/notesMaster" Target="/ppt/notesMasters/notesMaster1.xml" Id="R945404a12ae945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7c7b3cec624022" /><Relationship Type="http://schemas.openxmlformats.org/officeDocument/2006/relationships/notesMaster" Target="/ppt/notesMasters/notesMaster1.xml" Id="Rd629f8b65f7f44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67c42b7b03422c" /><Relationship Type="http://schemas.openxmlformats.org/officeDocument/2006/relationships/notesMaster" Target="/ppt/notesMasters/notesMaster1.xml" Id="R748439bfd04d409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8d06c525344ac5" /><Relationship Type="http://schemas.openxmlformats.org/officeDocument/2006/relationships/notesMaster" Target="/ppt/notesMasters/notesMaster1.xml" Id="Rd9f42998219a46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a8cc980f1fe4b32" /><Relationship Type="http://schemas.openxmlformats.org/officeDocument/2006/relationships/notesMaster" Target="/ppt/notesMasters/notesMaster1.xml" Id="Rf36941f3e5e249b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6961ee7582431b" /><Relationship Type="http://schemas.openxmlformats.org/officeDocument/2006/relationships/notesMaster" Target="/ppt/notesMasters/notesMaster1.xml" Id="R778baeb357fe4b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31d1e9f30e4fa7" /><Relationship Type="http://schemas.openxmlformats.org/officeDocument/2006/relationships/notesMaster" Target="/ppt/notesMasters/notesMaster1.xml" Id="R20348e89f40d492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38c026f0ec49ce" /><Relationship Type="http://schemas.openxmlformats.org/officeDocument/2006/relationships/notesMaster" Target="/ppt/notesMasters/notesMaster1.xml" Id="R3fb2260a503a4e6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3f297eef9a74dce" /><Relationship Type="http://schemas.openxmlformats.org/officeDocument/2006/relationships/notesMaster" Target="/ppt/notesMasters/notesMaster1.xml" Id="Rd383b05de85a43a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1d80fb1311469b" /><Relationship Type="http://schemas.openxmlformats.org/officeDocument/2006/relationships/notesMaster" Target="/ppt/notesMasters/notesMaster1.xml" Id="Rb899ab74b16c44f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3a49883d29f4549" /><Relationship Type="http://schemas.openxmlformats.org/officeDocument/2006/relationships/notesMaster" Target="/ppt/notesMasters/notesMaster1.xml" Id="R8a4b71766e4c455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c0c993b476f4c0d" /><Relationship Type="http://schemas.openxmlformats.org/officeDocument/2006/relationships/notesMaster" Target="/ppt/notesMasters/notesMaster1.xml" Id="R589fcb672fd6424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e4a4067c6494e67" /><Relationship Type="http://schemas.openxmlformats.org/officeDocument/2006/relationships/notesMaster" Target="/ppt/notesMasters/notesMaster1.xml" Id="R3fbff275ac48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source: https://physionet.org/content/hmc-sleep-staging/1.1/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Test IDs: SN001, SN004, SN009, SN022. SN identifiers name recordings; partitions are disjoint.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The refinement audit loads the saved checkpoint; it does not retrain the Transformer.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Same labels and epochs are used for the baseline/refinement comparison.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Largest N2 error: 506 N2 epochs predicted N1. Rows are true labels; columns are predictions.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These are project feature boundaries, not AASM staging definitions. Sigma power does not measure spindle density.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Multivariate coefficients depend on correlated features and standardization; do not read them as isolated physiological rules.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Accuracy +3.89 pp; macro F1 +2.10 pp using unrounded values. N1 F1 +4.03 pp; N2 F1 +6.45 pp.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W, N3 and REM predictions are retained. Epochs truly in those stages can still enter refinement if originally predicted N1/N2.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The SN001 evaluation covers 95 minutes. No whole-night performance or external cohort validation is implied.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N2→N1 errors: 506 → 379. All true N1/N2 epochs: accuracy 53.75% → 60.95% (1,680 epochs).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Targeted N1/N2 changes retain the other predicted stages and the recording order.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Recording duration is an evaluated-window measure. Contiguous timing is assumed for the notebook NPZ sequences.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Means of per-epoch relative features across all evaluated epochs, including Wake. Four band/Delta ratios are also retained.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Sample SD uses ddof=1; empirical quantiles use linear interpolation. Reference architecture uses fitted training-recording predictions.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Dataset-derived descriptive boundaries from 16 training recordings. No healthy normative cohort was established.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Any LOW or HIGH metric makes its domain DEVIATED. EEG deviations are shown separately and do not determine domain counts.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Reference boundaries describe the HMC training cohort; profile levels are descriptive domain counts.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SN001: segment profile. HMC reference deviations are neither disease-risk predictions nor validated severity levels.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Select SN001/SN004/SN009/SN022. Inspect domains, sleep architecture, nine EEG features, z-scores, P10/P90, and source artifacts.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>The new label refinement does not recalibrate Transformer probabilities or provide uncertainty for the logistic classifier.</a:t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https://physionet.org/content/hmc-sleep-staging/1.1/</a:t>
            </a:r>
          </a:p>
          <a:p xmlns:a="http://schemas.openxmlformats.org/drawingml/2006/main">
            <a:r>
              <a:t>Independent reproduction script: refinement_artifacts/reproduce.py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HMC is a heterogeneous clinical cohort, not a healthy normative population.</a:t>
            </a:r>
          </a:p>
          <a:p xmlns:a="http://schemas.openxmlformats.org/drawingml/2006/main">
            <a:r>
              <a:t>Deviation levels count domains, not clinical severity or disease risk.</a:t>
            </a:r>
          </a:p>
          <a:p xmlns:a="http://schemas.openxmlformats.org/drawingml/2006/main">
            <a:r>
              <a:t>Stored SN001 has 190 epochs (95 minutes); whole-night interpretation is unsupported.</a:t>
            </a:r>
          </a:p>
          <a:p xmlns:a="http://schemas.openxmlformats.org/drawingml/2006/main">
            <a:r>
              <a:t>Epoch-index timing assumes continuity; original EDF alignment needs separate verification.</a:t>
            </a:r>
          </a:p>
          <a:p xmlns:a="http://schemas.openxmlformats.org/drawingml/2006/main">
            <a:r>
              <a:t>Reference architecture is estimated in sample on training recordings.</a:t>
            </a:r>
          </a:p>
          <a:p xmlns:a="http://schemas.openxmlformats.org/drawingml/2006/main"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ebb99e4464f5e" /></Relationships>
</file>

<file path=ppt/slideLayouts/slideLayout1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bbd55a2834a4b" /><Relationship Type="http://schemas.openxmlformats.org/officeDocument/2006/relationships/slideLayout" Target="/ppt/slideLayouts/slideLayout1.xml" Id="R446f4b70568348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f4b705683488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a43d09d1b494e" /><Relationship Type="http://schemas.openxmlformats.org/officeDocument/2006/relationships/notesSlide" Target="/ppt/notesSlides/notesSlide1.xml" Id="Rfd4c5844736146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162cbc37a4d0b" /><Relationship Type="http://schemas.openxmlformats.org/officeDocument/2006/relationships/notesSlide" Target="/ppt/notesSlides/notesSlide2.xml" Id="R463665b191e64e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8bacb71f94b4b" /><Relationship Type="http://schemas.openxmlformats.org/officeDocument/2006/relationships/notesSlide" Target="/ppt/notesSlides/notesSlide3.xml" Id="R0a979a210376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d6865ed324a9d" /><Relationship Type="http://schemas.openxmlformats.org/officeDocument/2006/relationships/notesSlide" Target="/ppt/notesSlides/notesSlide4.xml" Id="Reeacf4701633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636b0ed4413f" /><Relationship Type="http://schemas.openxmlformats.org/officeDocument/2006/relationships/notesSlide" Target="/ppt/notesSlides/notesSlide5.xml" Id="R83a5a7d5dc094a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09ec021aa41c7" /><Relationship Type="http://schemas.openxmlformats.org/officeDocument/2006/relationships/notesSlide" Target="/ppt/notesSlides/notesSlide6.xml" Id="R701033feb8dd46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c4d5f9ea64fe0" /><Relationship Type="http://schemas.openxmlformats.org/officeDocument/2006/relationships/notesSlide" Target="/ppt/notesSlides/notesSlide7.xml" Id="R3f394932723b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441150b84539" /><Relationship Type="http://schemas.openxmlformats.org/officeDocument/2006/relationships/notesSlide" Target="/ppt/notesSlides/notesSlide8.xml" Id="Rfc2e0f573e1242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0ade4636247fd" /><Relationship Type="http://schemas.openxmlformats.org/officeDocument/2006/relationships/notesSlide" Target="/ppt/notesSlides/notesSlide9.xml" Id="R15f4de3646004e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6dd7f2ca64392" /><Relationship Type="http://schemas.openxmlformats.org/officeDocument/2006/relationships/notesSlide" Target="/ppt/notesSlides/notesSlide10.xml" Id="R68267f2380d540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9539526354923" /><Relationship Type="http://schemas.openxmlformats.org/officeDocument/2006/relationships/notesSlide" Target="/ppt/notesSlides/notesSlide11.xml" Id="Rd1b620412aec4d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d4870cb7b474a" /><Relationship Type="http://schemas.openxmlformats.org/officeDocument/2006/relationships/notesSlide" Target="/ppt/notesSlides/notesSlide12.xml" Id="Rc4473ae709c642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81af6903e475a" /><Relationship Type="http://schemas.openxmlformats.org/officeDocument/2006/relationships/image" Target="/ppt/media/image.png" Id="R5d82f0ad471b4541" /><Relationship Type="http://schemas.openxmlformats.org/officeDocument/2006/relationships/notesSlide" Target="/ppt/notesSlides/notesSlide13.xml" Id="R87fdcdce10864e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ee20738cd440b" /><Relationship Type="http://schemas.openxmlformats.org/officeDocument/2006/relationships/notesSlide" Target="/ppt/notesSlides/notesSlide14.xml" Id="R5e1b5c6b5c3c42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500bd71bc4d5e" /><Relationship Type="http://schemas.openxmlformats.org/officeDocument/2006/relationships/notesSlide" Target="/ppt/notesSlides/notesSlide15.xml" Id="R1ff89d0ebe104e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d610f58a4255" /><Relationship Type="http://schemas.openxmlformats.org/officeDocument/2006/relationships/notesSlide" Target="/ppt/notesSlides/notesSlide16.xml" Id="Rac6ebb2c179e40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be32c84e24e31" /><Relationship Type="http://schemas.openxmlformats.org/officeDocument/2006/relationships/notesSlide" Target="/ppt/notesSlides/notesSlide17.xml" Id="Rbaef2e5a515148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b4f126f7403c" /><Relationship Type="http://schemas.openxmlformats.org/officeDocument/2006/relationships/notesSlide" Target="/ppt/notesSlides/notesSlide18.xml" Id="R61fc3076622c47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b869dd95340d7" /><Relationship Type="http://schemas.openxmlformats.org/officeDocument/2006/relationships/image" Target="/ppt/media/image2.png" Id="R16975ba4ef624b39" /><Relationship Type="http://schemas.openxmlformats.org/officeDocument/2006/relationships/notesSlide" Target="/ppt/notesSlides/notesSlide19.xml" Id="R1ebcdcb83df447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ad23312c94bdd" /><Relationship Type="http://schemas.openxmlformats.org/officeDocument/2006/relationships/notesSlide" Target="/ppt/notesSlides/notesSlide20.xml" Id="R8ea5076e790f4c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add34547249d7" /><Relationship Type="http://schemas.openxmlformats.org/officeDocument/2006/relationships/notesSlide" Target="/ppt/notesSlides/notesSlide21.xml" Id="R955fbdbbfaed48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2f04443884a0d" /><Relationship Type="http://schemas.openxmlformats.org/officeDocument/2006/relationships/image" Target="/ppt/media/image3.png" Id="R305cbb5d8ba24e87" /><Relationship Type="http://schemas.openxmlformats.org/officeDocument/2006/relationships/notesSlide" Target="/ppt/notesSlides/notesSlide22.xml" Id="R280b97c99b4642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10209a32400e" /><Relationship Type="http://schemas.openxmlformats.org/officeDocument/2006/relationships/image" Target="/ppt/media/image4.png" Id="Rd64f1fc010054a8b" /><Relationship Type="http://schemas.openxmlformats.org/officeDocument/2006/relationships/notesSlide" Target="/ppt/notesSlides/notesSlide23.xml" Id="R822bf7dcdfeb4a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5546d1c449c1" /><Relationship Type="http://schemas.openxmlformats.org/officeDocument/2006/relationships/notesSlide" Target="/ppt/notesSlides/notesSlide24.xml" Id="R18d9e1ebbb1843e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5e5ad2f8741d8" /><Relationship Type="http://schemas.openxmlformats.org/officeDocument/2006/relationships/notesSlide" Target="/ppt/notesSlides/notesSlide25.xml" Id="R9ad24369d90242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3713f621b4833" /><Relationship Type="http://schemas.openxmlformats.org/officeDocument/2006/relationships/notesSlide" Target="/ppt/notesSlides/notesSlide26.xml" Id="Ra2092ea9c5cc4d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9ce27bb2f4260" /><Relationship Type="http://schemas.openxmlformats.org/officeDocument/2006/relationships/notesSlide" Target="/ppt/notesSlides/notesSlide27.xml" Id="R631ab1b5a58d42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1cf42ab30425e" /><Relationship Type="http://schemas.openxmlformats.org/officeDocument/2006/relationships/notesSlide" Target="/ppt/notesSlides/notesSlide28.xml" Id="Rc4a3bfa6cb1349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aee0b73784f84" /><Relationship Type="http://schemas.openxmlformats.org/officeDocument/2006/relationships/notesSlide" Target="/ppt/notesSlides/notesSlide29.xml" Id="R06e57e1caad44c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4bc53a4844b68" /><Relationship Type="http://schemas.openxmlformats.org/officeDocument/2006/relationships/notesSlide" Target="/ppt/notesSlides/notesSlide30.xml" Id="R28c19bafca74404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f6667cbf4561" /><Relationship Type="http://schemas.openxmlformats.org/officeDocument/2006/relationships/notesSlide" Target="/ppt/notesSlides/notesSlide31.xml" Id="Rde8a7b2e07fa426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5795bbd0f4747" /><Relationship Type="http://schemas.openxmlformats.org/officeDocument/2006/relationships/notesSlide" Target="/ppt/notesSlides/notesSlide32.xml" Id="R184156f38d08496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c7ca01fe342ae" /><Relationship Type="http://schemas.openxmlformats.org/officeDocument/2006/relationships/notesSlide" Target="/ppt/notesSlides/notesSlide33.xml" Id="R3733452c3de7415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93b653ab2449f" /><Relationship Type="http://schemas.openxmlformats.org/officeDocument/2006/relationships/notesSlide" Target="/ppt/notesSlides/notesSlide34.xml" Id="Refd51bfb4eac42a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a86dc0511487d" /><Relationship Type="http://schemas.openxmlformats.org/officeDocument/2006/relationships/notesSlide" Target="/ppt/notesSlides/notesSlide35.xml" Id="R17cf414b00e24b6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4749546f84bdf" /><Relationship Type="http://schemas.openxmlformats.org/officeDocument/2006/relationships/image" Target="/ppt/media/image5.png" Id="R4e57578de89d4b27" /><Relationship Type="http://schemas.openxmlformats.org/officeDocument/2006/relationships/notesSlide" Target="/ppt/notesSlides/notesSlide36.xml" Id="R285c773bfa7b4b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bcef427194e94" /><Relationship Type="http://schemas.openxmlformats.org/officeDocument/2006/relationships/notesSlide" Target="/ppt/notesSlides/notesSlide37.xml" Id="R37d0fe7b36ab42f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7d9e40a94635" /><Relationship Type="http://schemas.openxmlformats.org/officeDocument/2006/relationships/notesSlide" Target="/ppt/notesSlides/notesSlide38.xml" Id="Rd8782b77f8ec48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898a557cd45f3" /><Relationship Type="http://schemas.openxmlformats.org/officeDocument/2006/relationships/notesSlide" Target="/ppt/notesSlides/notesSlide39.xml" Id="R96ea325fc7504ab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7b49189a540ca" /><Relationship Type="http://schemas.openxmlformats.org/officeDocument/2006/relationships/notesSlide" Target="/ppt/notesSlides/notesSlide40.xml" Id="Re5e3f832bf2f46f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216d28f08428d" /><Relationship Type="http://schemas.openxmlformats.org/officeDocument/2006/relationships/notesSlide" Target="/ppt/notesSlides/notesSlide41.xml" Id="Rfcd7c024e1594c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AB86A-8456-4A0D-B8A4-0C3FB982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35C5C-C23C-416F-A464-72A4DE0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A6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69B"/>
                </a:solidFill>
                <a:latin typeface="Arial"/>
                <a:ea typeface="Arial"/>
                <a:cs typeface="Arial"/>
              </a:rPr>
              <a:t>FINAL PROJECT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F2E87-25A4-4C77-8BFC-AAA5815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EEG Sleep Classification and Reference-Based Sleep-Health Profiling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6C065-D26F-4353-A6C2-FC2FA663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Existing evidential Transformer with targeted N1/N2 spectral refinement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CB3DA-C0A6-4CFF-B6AC-D2C55337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876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Rikin Parekh · Om Ahuja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23BIT044 · 23BIT014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Guide: Dr. Santosh Sathpathy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Information and Communication Technology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Pandit Deendayal Energy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0303F-555B-4CD7-8B06-F8728F3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Verified notebook reproduction ·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220873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894FA-31B3-4A6A-B8EE-6F72BB8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70E4A-4AD3-4CD6-9AB4-856379A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Problem and 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A7CB4-EF07-4FCE-88D8-8C6EFC8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93197-0925-4BD3-841A-19C1889F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8B1C-E1FF-4100-8094-A78191FC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Classify each 30-second EEG epoch as Wake, N1, N2, N3, or REM.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510A1-0846-4417-A8DC-CA14C6B8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9CB4F-2AA4-4595-868B-77FE09D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Baseline confusion: 506 true N2 epochs were predicted N1.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D8029-19F4-4A47-9506-EEF6087D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0B482-965F-43D0-842C-9B92D924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Extend the retained classifier with spectral refinement and recording-level descriptive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B7E86-07B4-49DD-A814-72529731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DDCA0-5279-4A98-BEE3-4C550D64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comparisons are research reference comparisons, not diagnostic conclusions.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B3DE0-8493-4A63-BE76-9D82C5D6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43B06-2804-4721-A90A-08320D8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02 / 41</a:t>
            </a:r>
          </a:p>
        </p:txBody>
      </p:sp>
    </p:spTree>
    <p:extLst>
      <p:ext uri="{BB962C8B-B14F-4D97-AF65-F5344CB8AC3E}">
        <p14:creationId xmlns:p14="http://schemas.microsoft.com/office/powerpoint/2010/main" val="1202001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08CD9-DF7E-41F2-A064-5AD656CA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7A27D-7375-496D-ADFA-C3A8A4DA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Implemented 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0CB6D-805D-43BA-A68A-223684FD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FDBD-269D-4A59-8B0E-70F725C2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4DFA2-DC53-4BFB-966F-6D1C4063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 the five-stage evidential Transformer and its uncertainty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CCCA9-D6E9-4982-BA90-2B0235E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519BC-88EC-4659-89FB-7D75C3F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 Transformer-predicted N1/N2 using nine EEG spectral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FF85F-F828-468D-B49B-6D6AF8FB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62D98-1F46-49B8-8071-E6D191B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Calculate architecture metrics and aggregate spectral biomarkers.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D6D11-6BF1-45BC-B99C-1ABCC90C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592EE-5719-45A1-B261-6A33F27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Compare with the 16-recording training reference and display four-domain deviation profiles.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C9F61-849A-4FAE-8244-732DD64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027BD-4CF9-4FE6-A0B7-2F6B2E6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03 / 41</a:t>
            </a:r>
          </a:p>
        </p:txBody>
      </p:sp>
    </p:spTree>
    <p:extLst>
      <p:ext uri="{BB962C8B-B14F-4D97-AF65-F5344CB8AC3E}">
        <p14:creationId xmlns:p14="http://schemas.microsoft.com/office/powerpoint/2010/main" val="1069184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7F825-4039-498D-9C2F-FFDA1A4D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EC4CF-FB10-48F8-9AA0-BA59DC60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Sleep Staging Database v1.1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EA89A-52BD-477F-920C-279A9035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BDD4A-A0D5-48E1-ACED-490186EF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F983E-7479-4C27-AB81-6CD0F21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151 whole-night PSG recordings; 85 male and 66 female.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4940B-7EBD-47ED-8DFA-9E3F8DC0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1999F-4DEA-4DDF-9500-D878D2C6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Mean age: 53.9 ± 15.4 years.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8DD38-89E6-40E4-8125-60C5DFE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C5FCF-EA82-4796-A9BD-4D01C327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 heterogeneous population referred for PSG examinations.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9E211-22FD-4003-8C8B-859344D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658D8-350E-4684-BE69-49B3C03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project uses 24 recordings and four EEG channels sampled originally at 256 Hz.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231E2-E68A-4999-8FFD-6B6BA04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PhysioNet HMC v1.1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DE6D0-AC1C-47EE-8032-6DAE8DBD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04 / 41</a:t>
            </a:r>
          </a:p>
        </p:txBody>
      </p:sp>
    </p:spTree>
    <p:extLst>
      <p:ext uri="{BB962C8B-B14F-4D97-AF65-F5344CB8AC3E}">
        <p14:creationId xmlns:p14="http://schemas.microsoft.com/office/powerpoint/2010/main" val="4252615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327F5-D7D2-4CD5-B6C2-6C554C0F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7F544-6919-4C47-9A7B-0B21B8E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Recording-wise experimental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72868-2131-472A-AB05-698A18E3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2200"/>
                <a:gridCol w="3632200"/>
                <a:gridCol w="36322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epochs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15,216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3,619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21,944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CBAF3-D2BE-498F-BBF1-E38A2A5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Test IDs: SN001, SN004, SN009, SN022. SN identifiers name recordings; partitions are disjoint.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BF7AC-7B01-4791-B61D-2EC11CA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92BBE-3AF2-4DD6-B8A5-1854D5A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05 / 41</a:t>
            </a:r>
          </a:p>
        </p:txBody>
      </p:sp>
    </p:spTree>
    <p:extLst>
      <p:ext uri="{BB962C8B-B14F-4D97-AF65-F5344CB8AC3E}">
        <p14:creationId xmlns:p14="http://schemas.microsoft.com/office/powerpoint/2010/main" val="2463557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90AC5-DF71-4091-9C32-A6898B5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9C203-A21E-46C2-9787-8901337F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Evaluation scope and SN001 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CBDCE-F02B-414C-8CD9-D2E57AD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A8362-4A28-44F4-B5D7-CBBA1FD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15343-7C0A-4BAD-8703-F2EDBCC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Current notebook: 3,109 test epochs, including SN001’s stored 190 epochs (95 minutes).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6574D-7848-4B1B-AA97-86BEF4C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42F8A-712A-4F98-9B48-04AED127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Earlier EDF alignment audit: SN001 reconstructed to 854 epochs; test total 3,773.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A83FC-412F-42A8-B670-DD591434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F9CCA-433F-47DB-B271-831AE39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55.45% → 59.34% comparison belongs to the current stored-input experiment.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8A303-50BA-40F0-B7AF-BF3EC4D3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F596A-8460-49B4-82A7-7CEE8A34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SN001’s segment duration and onset do not establish whole-night sleep-health measurements.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2DC96-4F0E-4C5D-81F9-AF1BDB6A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092BF-2A9C-41C0-BFCB-C5F698DC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06 / 41</a:t>
            </a:r>
          </a:p>
        </p:txBody>
      </p:sp>
    </p:spTree>
    <p:extLst>
      <p:ext uri="{BB962C8B-B14F-4D97-AF65-F5344CB8AC3E}">
        <p14:creationId xmlns:p14="http://schemas.microsoft.com/office/powerpoint/2010/main" val="2547535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00529-5067-430F-9151-B9E269A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EDC8-3F7F-4829-BB5C-9944093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EEG preprocessing and model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0F0F-1456-4A73-A32A-C7FD5B81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F99B1-438C-44F7-9A0F-3397A9A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EAE77-F672-4ED1-9B9B-6531E913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Channels: EEG F4-M1, EEG C4-M1, EEG O2-M1, EEG C3-M2.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8212E-8A02-4E8F-9709-6A41DFE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CABB0-C52F-4226-96AE-A9B69E67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Actual preprocessing order: 50 Hz notch at the original rate, 0.3–35 Hz bandpass, resample to 100 Hz.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9A9CE-3B9A-49A8-89FE-A6AA6B8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FB335-55B5-4BB3-BC06-BF9F9C4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Complete 30-second epochs; per-epoch, per-channel normalization.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AB1D5-AA77-4E54-BCCD-CF69794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4E8C1-6F19-4708-8D94-D3FC955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Each input epoch: 4 channels × 3,000 samples. Apply the notch before 100 Hz resampling.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5C1A9-24B5-41BC-AE59-D782AEE9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C677B-5F12-40EF-AA59-A12478A4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07 / 41</a:t>
            </a:r>
          </a:p>
        </p:txBody>
      </p:sp>
    </p:spTree>
    <p:extLst>
      <p:ext uri="{BB962C8B-B14F-4D97-AF65-F5344CB8AC3E}">
        <p14:creationId xmlns:p14="http://schemas.microsoft.com/office/powerpoint/2010/main" val="200319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EBAEF-A3F8-46AC-AC28-C2BEA69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C3F62-EAE8-4B00-A78D-5C1F5FE2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Retained Fast SCFormer-U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305BE-40BD-41C3-BF12-34C221EE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9AEC9-B76A-485F-870F-4C313EFE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0D5B4-57A9-4991-906B-1DE1DE63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4 × 3,000 EEG → Conv1D 64 (kernel 7, stride 4) → Conv1D 128 (kernel 5, stride 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8E482-E465-4392-B768-A811A8C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77330-6AD5-422F-A97D-E3D38AC6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Self-attention: 4 heads, key dimension 16; residual normalization and feed-forward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3DE32-59A0-453D-8A45-DC21F2C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B2EBE-1313-4A42-BF99-AEF93B6E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Bidirectional LSTM: 64 units per direction; pooling and dense evidence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C7E75-300B-4B56-A0DD-174B020B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4DA2C-3F6E-4E02-A6EF-5EE0CDD9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Five softplus evidence outputs; 226,309 total parameters. Attention and recurrence operate within the epoch.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67C48-41DC-4AEA-811B-F46440D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DB92C-8CCA-4E6D-A13A-1E27C8D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08 / 41</a:t>
            </a:r>
          </a:p>
        </p:txBody>
      </p:sp>
    </p:spTree>
    <p:extLst>
      <p:ext uri="{BB962C8B-B14F-4D97-AF65-F5344CB8AC3E}">
        <p14:creationId xmlns:p14="http://schemas.microsoft.com/office/powerpoint/2010/main" val="2296572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08EC6-E257-46DB-A946-658CE686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3BD97-F2A9-4E5E-B7EA-E24264EF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Role of the retained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54F50-FDAB-40B1-B643-90A6113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CNN 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Local EEG patterns and temporal downsampling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Self-attention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Relations between positions within each epoch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BiLSTM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Downsampled within-epoch sequence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Evidence head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Five-class Dirichlet evidence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Spectral refinement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Independent classifier for N1/N2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C75E3-B17C-488B-8815-1CD0E30F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89C5E-2D4D-4A83-AF2D-C83E4E2B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09 / 41</a:t>
            </a:r>
          </a:p>
        </p:txBody>
      </p:sp>
    </p:spTree>
    <p:extLst>
      <p:ext uri="{BB962C8B-B14F-4D97-AF65-F5344CB8AC3E}">
        <p14:creationId xmlns:p14="http://schemas.microsoft.com/office/powerpoint/2010/main" val="2721342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93F32-3057-4ED0-99C0-73B54229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7052-AF1A-4FA2-8FDB-F63A93B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Evidential probabilities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B87A1-67CE-42C7-A961-B49F50A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ED0B-7345-44DB-8490-EE1AAD59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572B5-2FF3-423C-8D35-3682CA25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alpha_k = evidence_k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7FF7-127C-44A3-A645-174C621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96874-D92A-45C6-AF93-1FD8540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P_k = alpha_k / sum(alpha)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D152F-8DAE-4CFB-8C4B-723AD64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3B336-ECEE-4FE4-9963-B80DA44E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Uncertainty = 5 / sum(alpha)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131DD-6ABE-4794-972D-7CFC8B3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31ADC-4F6B-46BF-9614-40E50FD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Refinement changes the selected N1/N2 label. Transformer probabilities and uncertainty still refer to the original five-stage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76CEC-A46C-4678-AFA0-EE82253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B0E10-0D02-4339-9932-A2285F2B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10 / 41</a:t>
            </a:r>
          </a:p>
        </p:txBody>
      </p:sp>
    </p:spTree>
    <p:extLst>
      <p:ext uri="{BB962C8B-B14F-4D97-AF65-F5344CB8AC3E}">
        <p14:creationId xmlns:p14="http://schemas.microsoft.com/office/powerpoint/2010/main" val="3617524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D6563-4DAC-49A7-A0DD-C1FBADFA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6EDD9-5FDA-483B-991C-999D2C6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Retained training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D7510-446B-4E5C-9214-6A55FBE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Existing Transformer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Optimizer / learning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Adam / 0.0001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Batch size / maximum epochs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128 / 10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Validation-selected checkpoint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Epoch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Class weighting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Training labels only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Architecture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4061-9AFE-4281-BB7C-E460EFFE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 refinement audit loads the saved checkpoint; it does not retrain the Transformer.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49934-6132-49E1-8811-0A75457C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192AE-5113-496E-AEE7-E383F7A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11 / 41</a:t>
            </a:r>
          </a:p>
        </p:txBody>
      </p:sp>
    </p:spTree>
    <p:extLst>
      <p:ext uri="{BB962C8B-B14F-4D97-AF65-F5344CB8AC3E}">
        <p14:creationId xmlns:p14="http://schemas.microsoft.com/office/powerpoint/2010/main" val="13029339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C1561-171B-4B9C-A57A-324D3AB1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ABC31-0C77-4F95-BFC5-4C241FD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Original Transformer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15942-A823-4CC4-BB67-F08086A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Stored-input test set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55.45%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57.42%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36.60%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N2 F1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57.12%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Evaluated epochs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F9F1D-7FC5-47C8-B696-9062251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Same labels and epochs are used for the baseline/refinement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D3323-9322-4375-B84F-AE6BD32A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DA589-2EA1-4926-AF81-E14F58C0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12 / 41</a:t>
            </a:r>
          </a:p>
        </p:txBody>
      </p:sp>
    </p:spTree>
    <p:extLst>
      <p:ext uri="{BB962C8B-B14F-4D97-AF65-F5344CB8AC3E}">
        <p14:creationId xmlns:p14="http://schemas.microsoft.com/office/powerpoint/2010/main" val="1069679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44328-6A6F-425F-A88D-A1E8C9D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2A713-C63A-4B76-A4F6-66509C2A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Baseline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C39BB-C085-41F7-8018-26128A1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2f0ad471b4541"/>
          <a:stretch xmlns:a="http://schemas.openxmlformats.org/drawingml/2006/main"/>
        </p:blipFill>
        <p:spPr>
          <a:xfrm xmlns:a="http://schemas.openxmlformats.org/drawingml/2006/main">
            <a:off x="3930788" y="1447800"/>
            <a:ext cx="427327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8662B-AEC0-44D5-A68D-F07F54BE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Largest N2 error: 506 N2 epochs predicted N1. Rows are true labels; columns are predictions.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CA2A4-4CA0-4767-BBA0-48D63A2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C13B0-5CCA-4047-981F-B4C25AA0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13 / 41</a:t>
            </a:r>
          </a:p>
        </p:txBody>
      </p:sp>
    </p:spTree>
    <p:extLst>
      <p:ext uri="{BB962C8B-B14F-4D97-AF65-F5344CB8AC3E}">
        <p14:creationId xmlns:p14="http://schemas.microsoft.com/office/powerpoint/2010/main" val="12123568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B6612-E3A4-4204-9920-8D4B8B1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197C9-EC70-4A26-A464-AC41D5FB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Nine EEG features for N1/N2 refinement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99AEA-6BB5-47EC-A728-DDECE2DD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group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Relative band power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Delta, Theta, Alpha, Sigma, Beta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Ratios to Delta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Sigma/Delta, Theta/Delta, Alpha/Delta, Beta/Delta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Frequency bands (Hz)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0.5–4; 4–8; 8–12; 12–16; 16–30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Candidate gate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Transformer predicts N1 or N2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339A1-D29D-40CA-B425-7FB0D724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These are project feature boundaries, not AASM staging definitions. Sigma power does not measure spindle density.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F327B-8489-45DC-981C-3F72AE12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C0847-8E2C-40A8-9BC9-C6C92A81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14 / 41</a:t>
            </a:r>
          </a:p>
        </p:txBody>
      </p:sp>
    </p:spTree>
    <p:extLst>
      <p:ext uri="{BB962C8B-B14F-4D97-AF65-F5344CB8AC3E}">
        <p14:creationId xmlns:p14="http://schemas.microsoft.com/office/powerpoint/2010/main" val="42460448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0B2D-73F3-4396-8604-C10DD3D6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7F152-B388-4D5F-A998-BB24C7B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Welch spectral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93650-668C-4EBF-AE26-D4DB3F9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15708-0D71-40BA-BC1E-696B81FB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170B1-BD37-435B-9C7B-64C40A6C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Welch PSD per channel: 100 Hz, 400-sample windows (4 seconds), 200-sample overlap.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D9144-99D0-4BC9-9BE5-67805BFD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5CE2-12D2-4B2A-A585-4741083F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Integrate each band with a lower-inclusive, upper-exclusive frequency mask.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295F4-C0F9-4286-9BE6-C7A533E5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136F1-8B95-4A6D-84BA-E28EF82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Average band powers across the four channels before computing relative powers and ratios.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71FDE-745F-4C98-8BF6-31B132ED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05519-47D6-4753-93D8-690C2440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Relative power denominator: measured total power in 0.5–30 Hz. Aggregate epoch features by arithmetic mean per recording.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14D96-D5AE-487A-914B-041729FE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5EB3A-44B9-49CA-8E85-4C3B8F02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15 / 41</a:t>
            </a:r>
          </a:p>
        </p:txBody>
      </p:sp>
    </p:spTree>
    <p:extLst>
      <p:ext uri="{BB962C8B-B14F-4D97-AF65-F5344CB8AC3E}">
        <p14:creationId xmlns:p14="http://schemas.microsoft.com/office/powerpoint/2010/main" val="15578115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3C2B5-01E4-4E5B-BE3E-DEA7EC31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46925-5AF0-4EA6-9974-E4CAA340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Relative powers and Delta ratios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5FA49-0119-46E9-961D-031E352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CD684-4532-4D0F-BAC2-E896A3FC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59DBB-0205-4EAE-B058-39945DA0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Relative band power = mean channel band power / mean channel total 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F1624-A326-4228-A7CC-A620D4E5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7EC73-2D0E-4400-A3AD-05B1FFD1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Band/Delta ratio = mean channel band power / mean channel Delta power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861BA-135E-4854-9A01-1EADFE58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C67B9-1411-4748-88B1-91159821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Delta is a project feature-engineering reference, not a mandatory denominator.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720DD-567D-4AD3-A049-5A83F452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B6094-7FAB-416F-8949-95E13B1C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Normalized EEG powers are spectral features; do not describe them as calibrated absolute physical power.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5697C-83B3-4FC8-A8CC-A8881D5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6F947-5562-4018-96DD-02E455F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16 / 41</a:t>
            </a:r>
          </a:p>
        </p:txBody>
      </p:sp>
    </p:spTree>
    <p:extLst>
      <p:ext uri="{BB962C8B-B14F-4D97-AF65-F5344CB8AC3E}">
        <p14:creationId xmlns:p14="http://schemas.microsoft.com/office/powerpoint/2010/main" val="3338452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6F36D-2905-4F0A-86B9-BD46BEE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0991D-0D81-47F2-8ED6-A6A82C28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and inference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9AA00-338D-4CD4-8802-E787092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7484D-58C9-47BA-A2F6-7B7BCC5B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31CA1-6A58-4263-B01A-D1A26C0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Fit the refiner only on training epochs where the true stage AND the Transformer prediction are N1/N2.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CFED3-C14C-4AAF-A053-B4AC8BFB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3A8A3-0BEF-4B94-8285-91A17B60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subset: 1,278 N1 and 4,588 N2 epochs; 5,866 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6D5BC-94A6-4F3B-BC5B-7133776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33C7C-0E71-421D-B16D-6E0C25C8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StandardScaler → LogisticRegression(class_weight="balanced", max_iter=2000, random_state=42).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4E6B3-EFE5-4DDA-827B-B517483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8AA15-F76C-4B6E-A4F1-DA08A3AC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At inference, gate by the Transformer prediction only. Ground truth is never used to route test epochs.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A91B5-193E-4E28-8CB8-73E4176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C3DF3-FDCD-4289-86FB-F1ACF861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17 / 41</a:t>
            </a:r>
          </a:p>
        </p:txBody>
      </p:sp>
    </p:spTree>
    <p:extLst>
      <p:ext uri="{BB962C8B-B14F-4D97-AF65-F5344CB8AC3E}">
        <p14:creationId xmlns:p14="http://schemas.microsoft.com/office/powerpoint/2010/main" val="4348959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3D249-46E6-4D6E-8288-DBE1469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A91DD-ACE4-46F4-9011-49D06DB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Standardized logistic regression coefficients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9AECB-EDB7-45A6-A14F-05C85BB0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 toward N2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0.762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1.377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-0.827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2.135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-1.783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-1.436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-1.066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0.309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C97F1-D970-484B-912D-F80EC5BD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Multivariate coefficients depend on correlated features and standardization; do not read them as isolated physiological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FC214-72CA-4D14-873B-C6696D1B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69959-4DC1-4065-AAAA-8484FF0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18 / 41</a:t>
            </a:r>
          </a:p>
        </p:txBody>
      </p:sp>
    </p:spTree>
    <p:extLst>
      <p:ext uri="{BB962C8B-B14F-4D97-AF65-F5344CB8AC3E}">
        <p14:creationId xmlns:p14="http://schemas.microsoft.com/office/powerpoint/2010/main" val="35671045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58AB8-19EC-4794-9084-6ECA507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FE8A7-8F09-49CF-A555-648A36AD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Effect of targeted N1/N2 refinement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807D4-9990-400F-98FA-99C9104C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75ba4ef624b39"/>
          <a:stretch xmlns:a="http://schemas.openxmlformats.org/drawingml/2006/main"/>
        </p:blipFill>
        <p:spPr>
          <a:xfrm xmlns:a="http://schemas.openxmlformats.org/drawingml/2006/main">
            <a:off x="1497430" y="1447800"/>
            <a:ext cx="9139989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78027-2859-4297-84F6-FB79121B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Accuracy +3.89 pp; macro F1 +2.10 pp using unrounded values. N1 F1 +4.03 pp; N2 F1 +6.45 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B7C5D-F106-4838-8C34-F5CE78B7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E92A5-900C-437C-AFAC-4784793E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19 / 41</a:t>
            </a:r>
          </a:p>
        </p:txBody>
      </p:sp>
    </p:spTree>
    <p:extLst>
      <p:ext uri="{BB962C8B-B14F-4D97-AF65-F5344CB8AC3E}">
        <p14:creationId xmlns:p14="http://schemas.microsoft.com/office/powerpoint/2010/main" val="25971354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92767-A135-4E95-841E-3B19B25B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D3456-3EF7-476A-8412-6B2AAB45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Which predictions changed?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13FC5-7909-448E-BBEC-DCB6CB28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Unchanged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2,871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Corrected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Wrong to wrong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Degraded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Total 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2613-031A-4079-827B-2C104765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W, N3 and REM predictions are retained. Epochs truly in those stages can still enter refinement if originally predicted N1/N2.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EE3F3-B1AF-4CE7-98AD-33670F27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95316-7F6B-4D49-816A-8092BC34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20 / 41</a:t>
            </a:r>
          </a:p>
        </p:txBody>
      </p:sp>
    </p:spTree>
    <p:extLst>
      <p:ext uri="{BB962C8B-B14F-4D97-AF65-F5344CB8AC3E}">
        <p14:creationId xmlns:p14="http://schemas.microsoft.com/office/powerpoint/2010/main" val="1018174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D9969-907B-45CB-8B74-049FF70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5C07C-247A-4D4A-9AE4-5A56A861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Performance by test recording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AFFCF-F8E2-4C93-BE6D-442A2505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2724150"/>
                <a:gridCol w="2724150"/>
                <a:gridCol w="27241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accuracy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Refined accuracy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46.84%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48.42%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1,016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56.79%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64.07%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61.27%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64.48%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1,002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50.50%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52.00%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42E3E-00AE-41FA-A74C-93BFE9F1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 SN001 evaluation covers 95 minutes. No whole-night performance or external cohort validation is implied.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77F04-70E8-4393-8637-1E91CD44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5AF71-04E2-4F86-B783-FC519BF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21 / 41</a:t>
            </a:r>
          </a:p>
        </p:txBody>
      </p:sp>
    </p:spTree>
    <p:extLst>
      <p:ext uri="{BB962C8B-B14F-4D97-AF65-F5344CB8AC3E}">
        <p14:creationId xmlns:p14="http://schemas.microsoft.com/office/powerpoint/2010/main" val="1922512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95717-C9C0-41F2-97BB-9BA6D9AC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3D235-74C1-47D3-BF7D-3A97AB2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Refined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E15F3-AD79-4EBA-9101-D37B875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cbb5d8ba24e87"/>
          <a:stretch xmlns:a="http://schemas.openxmlformats.org/drawingml/2006/main"/>
        </p:blipFill>
        <p:spPr>
          <a:xfrm xmlns:a="http://schemas.openxmlformats.org/drawingml/2006/main">
            <a:off x="3138266" y="1447800"/>
            <a:ext cx="5858317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0C922-B2CE-4C9E-B97F-B8E93A87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N2→N1 errors: 506 → 379. All true N1/N2 epochs: accuracy 53.75% → 60.95% (1,680 epochs).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73E1A-942A-406F-AB5F-433DEF09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63DB4-B252-4A21-8971-E2473A5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22 / 41</a:t>
            </a:r>
          </a:p>
        </p:txBody>
      </p:sp>
    </p:spTree>
    <p:extLst>
      <p:ext uri="{BB962C8B-B14F-4D97-AF65-F5344CB8AC3E}">
        <p14:creationId xmlns:p14="http://schemas.microsoft.com/office/powerpoint/2010/main" val="23967043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D69E9-EDE2-4C31-82FC-BA273CAC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860D7-5A86-48FE-8853-0E3F4333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Original and refined hypnogram — SN009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0FA72-9098-41C5-9184-0EC1A0D6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f1fc010054a8b"/>
          <a:stretch xmlns:a="http://schemas.openxmlformats.org/drawingml/2006/main"/>
        </p:blipFill>
        <p:spPr>
          <a:xfrm xmlns:a="http://schemas.openxmlformats.org/drawingml/2006/main">
            <a:off x="1109412" y="1447800"/>
            <a:ext cx="991602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25BF-314F-4ACE-A9AE-CCF70A1E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Targeted N1/N2 changes retain the other predicted stages and the recording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58B5-B337-41DB-AD37-0C2AC07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F4085-41A3-4BA4-9AF8-3CED50BA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23 / 41</a:t>
            </a:r>
          </a:p>
        </p:txBody>
      </p:sp>
    </p:spTree>
    <p:extLst>
      <p:ext uri="{BB962C8B-B14F-4D97-AF65-F5344CB8AC3E}">
        <p14:creationId xmlns:p14="http://schemas.microsoft.com/office/powerpoint/2010/main" val="37731228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33A01-918A-4681-B18D-53EA8BD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C787F-EB0B-498A-9EBA-C74D445D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architecture measurements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861C-03A8-469C-A660-2610483C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+ N2 + N3 + REM 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100 × TST / evaluated recording duration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Stage percentages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100 × stage sleep time / TST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WASO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Wake time after first sleep to sequence end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Fragmentation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All stage transitions / TST hours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FFE86-4484-4029-9173-6BEAEA3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Recording duration is an evaluated-window measure. Contiguous timing is assumed for the notebook NPZ 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AE14A-2D34-46A2-93B0-1B961C1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547E7-B106-4C75-BB0B-9A79BE74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24 / 41</a:t>
            </a:r>
          </a:p>
        </p:txBody>
      </p:sp>
    </p:spTree>
    <p:extLst>
      <p:ext uri="{BB962C8B-B14F-4D97-AF65-F5344CB8AC3E}">
        <p14:creationId xmlns:p14="http://schemas.microsoft.com/office/powerpoint/2010/main" val="2140904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53688-3B79-4AE0-838D-9C3F513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9EB78-1934-47FA-9614-24890C7A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duration and 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44AD8-D68F-443E-8E0E-10D1122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2F30B-E488-4FF1-9A12-17E95BE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7E9AF-EB94-4862-8914-E45AF31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Each stored epoch contributes 0.5 minutes. Wake is excluded from TST.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44FBA-A3B4-4178-8078-71AE5339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C2A59-EEDC-4D4A-96BC-D317C938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efficiency uses the duration of the evaluated sequence, not independently verified time in bed.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F2130-59ED-4E44-A247-B09FE7C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838F4-3107-47A1-A54F-FFAA8FC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N1/N2 refinement cannot change TST or efficiency because both labels are sleep.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34BDD-3CD6-4D1E-9000-539216F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86EF7-C82F-4775-A706-A481746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SN001’s 91.5 minutes predicted sleep in a 95-minute segment must not be treated as whole-night sleep duration.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8B700-25F4-4CC8-9986-B6330C2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D5A65-A057-49DC-B0CB-507948F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25 / 41</a:t>
            </a:r>
          </a:p>
        </p:txBody>
      </p:sp>
    </p:spTree>
    <p:extLst>
      <p:ext uri="{BB962C8B-B14F-4D97-AF65-F5344CB8AC3E}">
        <p14:creationId xmlns:p14="http://schemas.microsoft.com/office/powerpoint/2010/main" val="2755122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E2682-6D99-45D7-A10C-8938A828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B4F2D-3D08-4BD4-B0E3-AEE92FE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initiation and Wake after sleep onset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975CA-CF98-48E8-A745-C712EDE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51B1A-F915-49C3-AE38-2C3722C9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F827-544D-4063-A3D4-9B7A0B7A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SOL = index of first non-Wake epoch × 0.5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20FA-6EF7-4C6D-AD32-A358D500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B611E-7D67-4B93-B28C-F0329CA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WASO includes every Wake epoch after onset, including Wake at the end of this notebook’s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528B0-5CF7-4D7E-8FA2-963FB4F5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C214E-86B1-4DB3-B9FE-3284D64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REM latency = time from first sleep epoch to first REM epoch.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5B90-62A2-4467-87BC-D936823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68967-226B-4926-B6E9-1FCE815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sleep or no REM makes the corresponding metric unavailable. Segment onset is relative to the segment, not lights-out.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FE175-9C12-48CF-93A2-8CA5193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D270F-2754-4E24-83CB-CDBC715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26 / 41</a:t>
            </a:r>
          </a:p>
        </p:txBody>
      </p:sp>
    </p:spTree>
    <p:extLst>
      <p:ext uri="{BB962C8B-B14F-4D97-AF65-F5344CB8AC3E}">
        <p14:creationId xmlns:p14="http://schemas.microsoft.com/office/powerpoint/2010/main" val="20652662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4F51B-663A-45E5-8656-1467EE46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DD908-22E5-49CE-A9B3-E7D16305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Stage percentages and fragmentation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B9811-4FD4-4B02-9CB1-A2EDFE41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4A765-7306-412C-8D01-1B545DB2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FFA21-339E-4E7D-8FFC-E1E4605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N1%, N2%, N3%, REM% use TST as the denominator and sum to approximately 100%.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CB01D-AF43-44E9-B5C4-BDEF6C1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E7764-79C1-41F4-8922-1494905D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Awakenings count non-Wake → Wake transitions after first sleep.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E07C0-814A-48A4-932E-8DDC66F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4BE42-6ECA-4254-939E-8C888DD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Stage transitions count every adjacent pair whose labels differ.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ABE46-AA1C-40D6-B675-CA0B5B7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19B83-CCB9-414D-B894-27FB5E6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Fragmentation = stage transitions / TST hours. This project-defined index is not EEG micro-arousal scoring.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9DC23-F418-4B2A-ADC4-A0F956E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EA340-944F-44AC-A1BC-82CF88A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27 / 41</a:t>
            </a:r>
          </a:p>
        </p:txBody>
      </p:sp>
    </p:spTree>
    <p:extLst>
      <p:ext uri="{BB962C8B-B14F-4D97-AF65-F5344CB8AC3E}">
        <p14:creationId xmlns:p14="http://schemas.microsoft.com/office/powerpoint/2010/main" val="1830119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6D891-B5C2-4ED5-A6A9-0FAEB945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14118-CE03-4F8E-9B39-269C4B58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Recording-level EEG spectral biomarkers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C8C2C-22C2-485B-86B3-26A603F5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6100"/>
                <a:gridCol w="1816100"/>
                <a:gridCol w="1816100"/>
                <a:gridCol w="1816100"/>
                <a:gridCol w="1816100"/>
                <a:gridCol w="18161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Theta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Sigma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Beta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0.6749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0.0911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0.6632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0.1348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0.0703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0.0430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0.0611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0.6323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0.1284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0.0863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0.0562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0.6826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0.1565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0.0384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0.0254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0.0781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0DA50-BC38-4ED8-B5E4-C0DA5F9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Means of per-epoch relative features across all evaluated epochs, including Wake. Four band/Delta ratios are also retained.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0EE2-6BAA-453A-9BAC-A7E1DEAD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DD3D7-DE66-4BF0-9C9D-92784060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28 / 41</a:t>
            </a:r>
          </a:p>
        </p:txBody>
      </p:sp>
    </p:spTree>
    <p:extLst>
      <p:ext uri="{BB962C8B-B14F-4D97-AF65-F5344CB8AC3E}">
        <p14:creationId xmlns:p14="http://schemas.microsoft.com/office/powerpoint/2010/main" val="38446712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97519-BE25-46E8-B48B-B5BEF9E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7C87A-E8C1-4435-83C6-B045614E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Master feature matrix and training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45A0A-B90F-4D90-B781-1AD0FC50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85E9F-4734-4B24-AC4A-B4BA0EE4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98632-55EE-4656-8E12-BAEEC70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Test matrix: 4 rows × 23 columns = subject ID + 22 numeric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150FA-D1EE-4AF3-AB5B-1FCCFDF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ED378-1F5C-4246-9335-1D7CD24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matrix: 16 rows × 23 columns.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54B0F-4E51-4100-9ACB-AFDD4EC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D4562-5607-4BB8-BECF-F47902D9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Numeric fields: 13 recording/architecture fields + nine EEG spectral features.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63814-8C01-42B4-8911-6C59772D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EAF4D-800F-4475-B868-EE0D219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Deviation analysis excludes recording_minutes: 21 compared fields. Ten architecture metrics feed the four domain statuses.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A0127-A976-4D61-9711-211E8905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FD0C-9768-4850-AEA3-14F4B507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29 / 41</a:t>
            </a:r>
          </a:p>
        </p:txBody>
      </p:sp>
    </p:spTree>
    <p:extLst>
      <p:ext uri="{BB962C8B-B14F-4D97-AF65-F5344CB8AC3E}">
        <p14:creationId xmlns:p14="http://schemas.microsoft.com/office/powerpoint/2010/main" val="24562399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5A97D-4505-4CB1-BF43-0FFC461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A7B46-252C-4223-BED1-A29F9698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—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90C86-A13B-4651-BECA-3B68546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 minutes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377.81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98.53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256.25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512.50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 percent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78.60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14.17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59.16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93.11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onset latency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9.63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7.21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14.25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WASO minutes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88.06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61.09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27.75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179.25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percent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20.33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10.59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7.63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36.58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N2 percent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40.48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14.03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24.70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57.26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N3 percent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26.22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11.39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40.99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REM percent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12.96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5.71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5.80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19.42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1BCA7-9256-441B-9913-FD4DD6B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Sample SD uses ddof=1; empirical quantiles use linear interpolation. Reference architecture uses fitted training-recording predictions.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8826F-BCFC-4266-B2EB-73C87ED4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CFFB4-EF13-40CC-9A5D-450926AC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30 / 41</a:t>
            </a:r>
          </a:p>
        </p:txBody>
      </p:sp>
    </p:spTree>
    <p:extLst>
      <p:ext uri="{BB962C8B-B14F-4D97-AF65-F5344CB8AC3E}">
        <p14:creationId xmlns:p14="http://schemas.microsoft.com/office/powerpoint/2010/main" val="27551258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F6E3A-9E62-4672-9519-07A8026F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2B352-3D5E-411F-84B8-907706BC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— EEG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8801E-F74B-4DAC-8380-C816988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EEG feature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0.6674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0.5775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0.7401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0.1269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0.0219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0.1046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0.1500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0.1557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0.0349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0.0085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0.0236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0.0465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0.0563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0.0926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0.0656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0.0221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0.0364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0.0930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0.2234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0.1706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0.3100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0.1985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0.1704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0.0754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0.3880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0.1148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0.1878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F74E1-FE43-42A6-83CD-D3D95741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Dataset-derived descriptive boundaries from 16 training recordings. No healthy normative cohort was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675F0-6BC2-4743-BC1A-36CFC8C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8250-D025-429B-ADB4-6EE336F2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31 / 41</a:t>
            </a:r>
          </a:p>
        </p:txBody>
      </p:sp>
    </p:spTree>
    <p:extLst>
      <p:ext uri="{BB962C8B-B14F-4D97-AF65-F5344CB8AC3E}">
        <p14:creationId xmlns:p14="http://schemas.microsoft.com/office/powerpoint/2010/main" val="18006709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4A97F-837F-4AB0-8167-86B29CF1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513A5-98EE-4E24-A5C8-7EC1095A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Z-scores and P10/P90 regions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09F85-1C3F-4674-9F5D-9B9F00D2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85435-CE19-42E0-B4D4-94CBC1B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73CC3-E252-4ED4-9F86-6359966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z = (recording value − reference mean) / reference SD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7E568-CEBE-4664-86B2-9E5FBFAC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8B43D-BCBE-4B18-B4F5-B2C4288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LOW: below P10; NORMAL: P10 through P90; HIGH: above P90.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ED014-D5A1-4020-83ED-520BD42E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36627-0EF4-478A-A902-0D1C875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Z-score measures magnitude and direction; percentile regions provide a categorical reference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7B898-E7CE-4AD7-95AA-F9A072D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543B7-CF5B-40D2-9C56-83062694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NORMAL means within the dataset interval. LOW/HIGH do not mean medically bad/good. Equality at either boundary stays within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12130-523E-4806-ADE6-FF3F28B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0ADB0-7133-4379-A3FF-0BB7B97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32 / 41</a:t>
            </a:r>
          </a:p>
        </p:txBody>
      </p:sp>
    </p:spTree>
    <p:extLst>
      <p:ext uri="{BB962C8B-B14F-4D97-AF65-F5344CB8AC3E}">
        <p14:creationId xmlns:p14="http://schemas.microsoft.com/office/powerpoint/2010/main" val="14641534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136DE-3A31-4612-AA2C-A1EF980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2941A-5880-421F-97E0-3CBE747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Four sleep-health domains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D8416-F538-42EC-8E2E-F3A3EC92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Metrics used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Continuity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efficiency, WASO, awakenings, fragmentation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Initiation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N1%, N2%, N3%, REM%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CBC6B-621B-46D8-937F-C8C61931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Any LOW or HIGH metric makes its domain DEVIATED. EEG deviations are shown separately and do not determine domain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9A0DB-DDB1-48EF-A6A8-F4CAA8DF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599AA-9782-4EAB-AC6C-5E73F0F2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33 / 41</a:t>
            </a:r>
          </a:p>
        </p:txBody>
      </p:sp>
    </p:spTree>
    <p:extLst>
      <p:ext uri="{BB962C8B-B14F-4D97-AF65-F5344CB8AC3E}">
        <p14:creationId xmlns:p14="http://schemas.microsoft.com/office/powerpoint/2010/main" val="41238243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84300-B832-4AA0-BC4B-C1E70546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2F063-A334-4E19-9E97-9E06F686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Overall descriptive profile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D3C76-8142-43EA-BE13-F4DB655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Deviated domains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Profile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Mild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Moderate Deviation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 or 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5C90A-24B1-417E-B798-5E4ED59A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Reference boundaries describe the HMC training cohort; profile levels are descriptive domain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4CFE4-222B-49BE-A1E3-6FF83A34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A8EE6-B8CB-4ECC-A944-F89A8CE7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34 / 41</a:t>
            </a:r>
          </a:p>
        </p:txBody>
      </p:sp>
    </p:spTree>
    <p:extLst>
      <p:ext uri="{BB962C8B-B14F-4D97-AF65-F5344CB8AC3E}">
        <p14:creationId xmlns:p14="http://schemas.microsoft.com/office/powerpoint/2010/main" val="2683049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8A6F8-93EF-4F45-B7E1-D872551A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A9509-225B-4B1C-BF80-7D1D6AC9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Test-recording domain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04A0F-04D1-4D30-8311-92CDE4E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6100"/>
                <a:gridCol w="1816100"/>
                <a:gridCol w="1816100"/>
                <a:gridCol w="1816100"/>
                <a:gridCol w="1816100"/>
                <a:gridCol w="181610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Continuity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Initiation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Mild Deviation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Moderate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F4548-79C6-4714-B985-FA983B02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SN001: segment profile. HMC reference deviations are neither disease-risk predictions nor validated severity levels.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3584E-F142-4936-BB28-9D977874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C3972-E86C-4F59-BE34-7A2E370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35 / 41</a:t>
            </a:r>
          </a:p>
        </p:txBody>
      </p:sp>
    </p:spTree>
    <p:extLst>
      <p:ext uri="{BB962C8B-B14F-4D97-AF65-F5344CB8AC3E}">
        <p14:creationId xmlns:p14="http://schemas.microsoft.com/office/powerpoint/2010/main" val="35924990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E4B3A-18C4-4DD3-BD82-A00B19C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F2ED4-46F1-405B-93AB-8DD2454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Interactive Sleep Studio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683F6-B958-41D0-B47D-5026E5C1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7578de89d4b27"/>
          <a:stretch xmlns:a="http://schemas.openxmlformats.org/drawingml/2006/main"/>
        </p:blipFill>
        <p:spPr>
          <a:xfrm xmlns:a="http://schemas.openxmlformats.org/drawingml/2006/main">
            <a:off x="2910284" y="1447800"/>
            <a:ext cx="6314281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A28D-8359-4F93-A524-67F58B4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Select SN001/SN004/SN009/SN022. Inspect domains, sleep architecture, nine EEG features, z-scores, P10/P90, and source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4F75F-E2D7-42A4-9F84-D50FA9CF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2C552-2F3F-46CC-8F6C-EB97FA95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36 / 41</a:t>
            </a:r>
          </a:p>
        </p:txBody>
      </p:sp>
    </p:spTree>
    <p:extLst>
      <p:ext uri="{BB962C8B-B14F-4D97-AF65-F5344CB8AC3E}">
        <p14:creationId xmlns:p14="http://schemas.microsoft.com/office/powerpoint/2010/main" val="22132661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51747-1E00-41F5-976F-5B749D4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0FFA6-3022-41BD-8549-5E0EC865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Complete implemented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F4D93-C91E-4625-A725-BF476E1E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B681E-194D-41F2-A363-FB3FD73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3793F-A01A-4EDF-BB4D-0B125F6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Raw EEG → existing preprocessing → evidential Transformer → targeted N1/N2 spectral refinement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0EBB9-D364-40ED-BB43-7AFB6275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D7620-0B1A-4504-8DF4-B4C86529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Refined hypnogram → sleep architecture; EEG → spectral biomarkers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AEA9C-C93B-4E6F-B6DC-420A177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AE814-97AE-4014-B561-57983936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 feature matrix → 16-recording training reference → z-scores + P10/P90 regions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9422D-3493-4B90-9DE7-AD2BA429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EFE07-20C1-4F85-AD74-E05DFAB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Four domain statuses → descriptive overall deviation profile → interactive dashboard and report exports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80478-2D95-4EF6-A8F9-CC954AA1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5557F-FED5-4B6F-9900-B5527E6C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37 / 41</a:t>
            </a:r>
          </a:p>
        </p:txBody>
      </p:sp>
    </p:spTree>
    <p:extLst>
      <p:ext uri="{BB962C8B-B14F-4D97-AF65-F5344CB8AC3E}">
        <p14:creationId xmlns:p14="http://schemas.microsoft.com/office/powerpoint/2010/main" val="13725820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824F9-CC1B-48A0-8C3F-8506CCD5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3406B-C9C4-4DE6-B64D-8A8CD51D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Limitations and unimplemented extensions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59CB8-9BF2-48FA-91A5-5B1D1F80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354E5-6E1E-48E7-BE8A-741BE18B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DC14-C2E1-41EF-8E2E-4EA51683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explicit spindle detector, dedicated formal SWA metric, or spectral edge frequency.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005D6-3759-4B3A-81DC-640CB48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9ED25-DED3-4AC4-944B-57A8184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clinically validated normative ranges, disease prediction, or diagnostic severity classification.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49FA8-9CD0-4837-86D6-C5E1F87A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02EAB-2D78-4CD8-833A-3E9F50B0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documented repeated-night participant mapping for true longitudinal personalization.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873F4-FA52-4AF9-B00D-4641ADA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E38D4-EAD5-456C-80FF-3CEF2E8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Small clinical reference (16 recordings), assumed NPZ continuity, in-sample reference architecture, and a partial SN001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E9D64-015D-4D7E-92C2-1AE1BC09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6456D-1DC6-49AB-B264-99E9F211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38 / 41</a:t>
            </a:r>
          </a:p>
        </p:txBody>
      </p:sp>
    </p:spTree>
    <p:extLst>
      <p:ext uri="{BB962C8B-B14F-4D97-AF65-F5344CB8AC3E}">
        <p14:creationId xmlns:p14="http://schemas.microsoft.com/office/powerpoint/2010/main" val="3699996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93342-2B26-4855-8DA1-9B25996F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35F99-FB20-4469-A311-18773E3B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Model uncertainty and profile deviation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5F7B4-C693-4027-88AF-5142A14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2200"/>
                <a:gridCol w="3632200"/>
                <a:gridCol w="36322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answered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Transformer uncertainty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How much evidence supports this epoch classification?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 / sum(alpha)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Sleep-health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How does this recording compare with the training reference?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z-score and P10/P90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Overall profile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How many architecture domains deviate?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0–4 domain 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B6D8-95DC-4615-946A-8F4F771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 new label refinement does not recalibrate Transformer probabilities or provide uncertainty for the logistic classifier.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CD98D-DFFB-4A4C-9485-E0CA493C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F6AB9-604F-4E0A-A3EE-428836C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39 / 41</a:t>
            </a:r>
          </a:p>
        </p:txBody>
      </p:sp>
    </p:spTree>
    <p:extLst>
      <p:ext uri="{BB962C8B-B14F-4D97-AF65-F5344CB8AC3E}">
        <p14:creationId xmlns:p14="http://schemas.microsoft.com/office/powerpoint/2010/main" val="28186824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8F832-328B-459A-9D6B-0CC4EBC8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064F5-C8E0-4088-9F01-6AC1D282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F67B5-64C9-4EDA-91C7-9C8D2C28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6E824-3B25-4A9C-87D9-B1555EA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41388-F1D6-4C83-8632-5343DA0D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retained Transformer’s test accuracy improves from 55.45% to 59.34% with targeted spectral refinement.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6E7DE-5FF0-49D0-AB09-50A95723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D14B8-D4BE-4F03-A833-7E1C4AB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Macro F1 improves from 57.42% to 59.51%; N1 and N2 remain challenging.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73210-3A78-476C-8F2A-BF42165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DA4A7-0B08-48E0-87DF-BCE2223C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dashboard combines architecture, EEG spectral features, reference deviations, and four-domain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EE97D-4958-4F5D-B0A1-7E2D027B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0400-3E63-4B6F-9F0A-74D4B76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Reference boundaries describe the HMC training cohort; profile levels are descriptive domain 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DE837-CE7C-4FFE-9AE5-934A7454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C3CCE-B2D8-4EB2-9CFA-346140AB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40 / 41</a:t>
            </a:r>
          </a:p>
        </p:txBody>
      </p:sp>
    </p:spTree>
    <p:extLst>
      <p:ext uri="{BB962C8B-B14F-4D97-AF65-F5344CB8AC3E}">
        <p14:creationId xmlns:p14="http://schemas.microsoft.com/office/powerpoint/2010/main" val="3076503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4111B-A9EB-4173-9747-8B4F295E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EE055-6C07-45AF-A981-DBD8E340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014FC-B729-44D0-86F7-869E89CC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3C9B6-0A0F-4B8D-B642-B6C950C0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038A0-C5C3-458B-8AFB-98C0C79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Implementation: Biomarker_N1_N2_Refinement.ipynb, new pipeline cells 1–46.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52CD1-9347-462C-889D-C56A510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08078-B7B7-4220-AB91-26F7421F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Independent Colab reproduction: HMC-N1N2-20261007; saved checkpoint and stored NPZ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C0029-643E-413A-A8C9-D368ADE0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4DD0E-8DC1-4C36-BFA2-0D3B49A5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v1.1: Alvarez-Estevez &amp; Rijsman (2022), DOI 10.13026/t79q-fr32.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2A355-E963-46A5-A6E5-A6B887DE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52720-916C-403D-BFA1-ED9430F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Full feature tables, refiner scaler/coefficients, per-epoch outputs, hashes, and checks are in refinement_artifacts/verified.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D91C8-8DB6-41C4-B6C1-672E071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D5713-454F-4E4A-99EF-436768CC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41 / 41</a:t>
            </a:r>
          </a:p>
        </p:txBody>
      </p:sp>
    </p:spTree>
    <p:extLst>
      <p:ext uri="{BB962C8B-B14F-4D97-AF65-F5344CB8AC3E}">
        <p14:creationId xmlns:p14="http://schemas.microsoft.com/office/powerpoint/2010/main" val="33558146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2026-10-08T03:33:28.9620000Z</dcterms:created>
  <dcterms:modified xsi:type="dcterms:W3CDTF">2026-10-08T03:33:28.9620000Z</dcterms:modified>
</coreProperties>
</file>